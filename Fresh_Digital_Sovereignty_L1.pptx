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38"/>
    <p:restoredTop sz="94610"/>
  </p:normalViewPr>
  <p:slideViewPr>
    <p:cSldViewPr snapToGrid="0" snapToObjects="1">
      <p:cViewPr varScale="1">
        <p:scale>
          <a:sx n="183" d="100"/>
          <a:sy n="183" d="100"/>
        </p:scale>
        <p:origin x="17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Dixit" userId="ab6c3e37-306d-4503-aec7-51ddf0a52e19" providerId="ADAL" clId="{1B01D6BE-C5B3-5E1A-B22F-D7D7CA513B36}"/>
    <pc:docChg chg="undo custSel modSld">
      <pc:chgData name="Ashutosh Dixit" userId="ab6c3e37-306d-4503-aec7-51ddf0a52e19" providerId="ADAL" clId="{1B01D6BE-C5B3-5E1A-B22F-D7D7CA513B36}" dt="2026-09-08T12:33:05.182" v="5" actId="1076"/>
      <pc:docMkLst>
        <pc:docMk/>
      </pc:docMkLst>
      <pc:sldChg chg="modSp mod">
        <pc:chgData name="Ashutosh Dixit" userId="ab6c3e37-306d-4503-aec7-51ddf0a52e19" providerId="ADAL" clId="{1B01D6BE-C5B3-5E1A-B22F-D7D7CA513B36}" dt="2026-09-08T12:32:22.525" v="3" actId="1076"/>
        <pc:sldMkLst>
          <pc:docMk/>
          <pc:sldMk cId="0" sldId="260"/>
        </pc:sldMkLst>
        <pc:spChg chg="mod">
          <ac:chgData name="Ashutosh Dixit" userId="ab6c3e37-306d-4503-aec7-51ddf0a52e19" providerId="ADAL" clId="{1B01D6BE-C5B3-5E1A-B22F-D7D7CA513B36}" dt="2026-09-08T12:32:08.372" v="1" actId="1076"/>
          <ac:spMkLst>
            <pc:docMk/>
            <pc:sldMk cId="0" sldId="260"/>
            <ac:spMk id="12" creationId="{00000000-0000-0000-0000-000000000000}"/>
          </ac:spMkLst>
        </pc:spChg>
        <pc:spChg chg="mod">
          <ac:chgData name="Ashutosh Dixit" userId="ab6c3e37-306d-4503-aec7-51ddf0a52e19" providerId="ADAL" clId="{1B01D6BE-C5B3-5E1A-B22F-D7D7CA513B36}" dt="2026-09-08T12:32:14.333" v="2" actId="1076"/>
          <ac:spMkLst>
            <pc:docMk/>
            <pc:sldMk cId="0" sldId="260"/>
            <ac:spMk id="13" creationId="{00000000-0000-0000-0000-000000000000}"/>
          </ac:spMkLst>
        </pc:spChg>
        <pc:spChg chg="mod">
          <ac:chgData name="Ashutosh Dixit" userId="ab6c3e37-306d-4503-aec7-51ddf0a52e19" providerId="ADAL" clId="{1B01D6BE-C5B3-5E1A-B22F-D7D7CA513B36}" dt="2026-09-08T12:32:14.333" v="2" actId="1076"/>
          <ac:spMkLst>
            <pc:docMk/>
            <pc:sldMk cId="0" sldId="260"/>
            <ac:spMk id="14" creationId="{00000000-0000-0000-0000-000000000000}"/>
          </ac:spMkLst>
        </pc:spChg>
        <pc:spChg chg="mod">
          <ac:chgData name="Ashutosh Dixit" userId="ab6c3e37-306d-4503-aec7-51ddf0a52e19" providerId="ADAL" clId="{1B01D6BE-C5B3-5E1A-B22F-D7D7CA513B36}" dt="2026-09-08T12:32:14.333" v="2" actId="1076"/>
          <ac:spMkLst>
            <pc:docMk/>
            <pc:sldMk cId="0" sldId="260"/>
            <ac:spMk id="15" creationId="{00000000-0000-0000-0000-000000000000}"/>
          </ac:spMkLst>
        </pc:spChg>
        <pc:spChg chg="mod">
          <ac:chgData name="Ashutosh Dixit" userId="ab6c3e37-306d-4503-aec7-51ddf0a52e19" providerId="ADAL" clId="{1B01D6BE-C5B3-5E1A-B22F-D7D7CA513B36}" dt="2026-09-08T12:32:22.525" v="3" actId="1076"/>
          <ac:spMkLst>
            <pc:docMk/>
            <pc:sldMk cId="0" sldId="260"/>
            <ac:spMk id="17" creationId="{00000000-0000-0000-0000-000000000000}"/>
          </ac:spMkLst>
        </pc:spChg>
        <pc:spChg chg="mod">
          <ac:chgData name="Ashutosh Dixit" userId="ab6c3e37-306d-4503-aec7-51ddf0a52e19" providerId="ADAL" clId="{1B01D6BE-C5B3-5E1A-B22F-D7D7CA513B36}" dt="2026-09-08T12:32:22.525" v="3" actId="1076"/>
          <ac:spMkLst>
            <pc:docMk/>
            <pc:sldMk cId="0" sldId="260"/>
            <ac:spMk id="18" creationId="{00000000-0000-0000-0000-000000000000}"/>
          </ac:spMkLst>
        </pc:spChg>
        <pc:spChg chg="mod">
          <ac:chgData name="Ashutosh Dixit" userId="ab6c3e37-306d-4503-aec7-51ddf0a52e19" providerId="ADAL" clId="{1B01D6BE-C5B3-5E1A-B22F-D7D7CA513B36}" dt="2026-09-08T12:32:22.525" v="3" actId="1076"/>
          <ac:spMkLst>
            <pc:docMk/>
            <pc:sldMk cId="0" sldId="260"/>
            <ac:spMk id="19" creationId="{00000000-0000-0000-0000-000000000000}"/>
          </ac:spMkLst>
        </pc:spChg>
        <pc:spChg chg="mod">
          <ac:chgData name="Ashutosh Dixit" userId="ab6c3e37-306d-4503-aec7-51ddf0a52e19" providerId="ADAL" clId="{1B01D6BE-C5B3-5E1A-B22F-D7D7CA513B36}" dt="2026-09-08T12:32:22.525" v="3" actId="1076"/>
          <ac:spMkLst>
            <pc:docMk/>
            <pc:sldMk cId="0" sldId="260"/>
            <ac:spMk id="20" creationId="{00000000-0000-0000-0000-000000000000}"/>
          </ac:spMkLst>
        </pc:spChg>
        <pc:spChg chg="mod">
          <ac:chgData name="Ashutosh Dixit" userId="ab6c3e37-306d-4503-aec7-51ddf0a52e19" providerId="ADAL" clId="{1B01D6BE-C5B3-5E1A-B22F-D7D7CA513B36}" dt="2026-09-08T12:32:22.525" v="3" actId="1076"/>
          <ac:spMkLst>
            <pc:docMk/>
            <pc:sldMk cId="0" sldId="260"/>
            <ac:spMk id="21" creationId="{00000000-0000-0000-0000-000000000000}"/>
          </ac:spMkLst>
        </pc:spChg>
        <pc:spChg chg="mod">
          <ac:chgData name="Ashutosh Dixit" userId="ab6c3e37-306d-4503-aec7-51ddf0a52e19" providerId="ADAL" clId="{1B01D6BE-C5B3-5E1A-B22F-D7D7CA513B36}" dt="2026-09-08T12:32:22.525" v="3" actId="1076"/>
          <ac:spMkLst>
            <pc:docMk/>
            <pc:sldMk cId="0" sldId="260"/>
            <ac:spMk id="22" creationId="{00000000-0000-0000-0000-000000000000}"/>
          </ac:spMkLst>
        </pc:spChg>
      </pc:sldChg>
      <pc:sldChg chg="modSp mod">
        <pc:chgData name="Ashutosh Dixit" userId="ab6c3e37-306d-4503-aec7-51ddf0a52e19" providerId="ADAL" clId="{1B01D6BE-C5B3-5E1A-B22F-D7D7CA513B36}" dt="2026-09-08T12:33:05.182" v="5" actId="1076"/>
        <pc:sldMkLst>
          <pc:docMk/>
          <pc:sldMk cId="0" sldId="263"/>
        </pc:sldMkLst>
        <pc:spChg chg="mod">
          <ac:chgData name="Ashutosh Dixit" userId="ab6c3e37-306d-4503-aec7-51ddf0a52e19" providerId="ADAL" clId="{1B01D6BE-C5B3-5E1A-B22F-D7D7CA513B36}" dt="2026-09-08T12:32:59.093" v="4" actId="1076"/>
          <ac:spMkLst>
            <pc:docMk/>
            <pc:sldMk cId="0" sldId="263"/>
            <ac:spMk id="13" creationId="{00000000-0000-0000-0000-000000000000}"/>
          </ac:spMkLst>
        </pc:spChg>
        <pc:spChg chg="mod">
          <ac:chgData name="Ashutosh Dixit" userId="ab6c3e37-306d-4503-aec7-51ddf0a52e19" providerId="ADAL" clId="{1B01D6BE-C5B3-5E1A-B22F-D7D7CA513B36}" dt="2026-09-08T12:32:59.093" v="4" actId="1076"/>
          <ac:spMkLst>
            <pc:docMk/>
            <pc:sldMk cId="0" sldId="263"/>
            <ac:spMk id="14" creationId="{00000000-0000-0000-0000-000000000000}"/>
          </ac:spMkLst>
        </pc:spChg>
        <pc:spChg chg="mod">
          <ac:chgData name="Ashutosh Dixit" userId="ab6c3e37-306d-4503-aec7-51ddf0a52e19" providerId="ADAL" clId="{1B01D6BE-C5B3-5E1A-B22F-D7D7CA513B36}" dt="2026-09-08T12:32:59.093" v="4" actId="1076"/>
          <ac:spMkLst>
            <pc:docMk/>
            <pc:sldMk cId="0" sldId="263"/>
            <ac:spMk id="15" creationId="{00000000-0000-0000-0000-000000000000}"/>
          </ac:spMkLst>
        </pc:spChg>
        <pc:spChg chg="mod">
          <ac:chgData name="Ashutosh Dixit" userId="ab6c3e37-306d-4503-aec7-51ddf0a52e19" providerId="ADAL" clId="{1B01D6BE-C5B3-5E1A-B22F-D7D7CA513B36}" dt="2026-09-08T12:33:05.182" v="5" actId="1076"/>
          <ac:spMkLst>
            <pc:docMk/>
            <pc:sldMk cId="0" sldId="263"/>
            <ac:spMk id="17" creationId="{00000000-0000-0000-0000-000000000000}"/>
          </ac:spMkLst>
        </pc:spChg>
        <pc:spChg chg="mod">
          <ac:chgData name="Ashutosh Dixit" userId="ab6c3e37-306d-4503-aec7-51ddf0a52e19" providerId="ADAL" clId="{1B01D6BE-C5B3-5E1A-B22F-D7D7CA513B36}" dt="2026-09-08T12:33:05.182" v="5" actId="1076"/>
          <ac:spMkLst>
            <pc:docMk/>
            <pc:sldMk cId="0" sldId="263"/>
            <ac:spMk id="18" creationId="{00000000-0000-0000-0000-000000000000}"/>
          </ac:spMkLst>
        </pc:spChg>
        <pc:spChg chg="mod">
          <ac:chgData name="Ashutosh Dixit" userId="ab6c3e37-306d-4503-aec7-51ddf0a52e19" providerId="ADAL" clId="{1B01D6BE-C5B3-5E1A-B22F-D7D7CA513B36}" dt="2026-09-08T12:33:05.182" v="5" actId="1076"/>
          <ac:spMkLst>
            <pc:docMk/>
            <pc:sldMk cId="0" sldId="263"/>
            <ac:spMk id="19" creationId="{00000000-0000-0000-0000-000000000000}"/>
          </ac:spMkLst>
        </pc:spChg>
        <pc:spChg chg="mod">
          <ac:chgData name="Ashutosh Dixit" userId="ab6c3e37-306d-4503-aec7-51ddf0a52e19" providerId="ADAL" clId="{1B01D6BE-C5B3-5E1A-B22F-D7D7CA513B36}" dt="2026-09-08T12:33:05.182" v="5" actId="1076"/>
          <ac:spMkLst>
            <pc:docMk/>
            <pc:sldMk cId="0" sldId="263"/>
            <ac:spMk id="20" creationId="{00000000-0000-0000-0000-000000000000}"/>
          </ac:spMkLst>
        </pc:spChg>
        <pc:spChg chg="mod">
          <ac:chgData name="Ashutosh Dixit" userId="ab6c3e37-306d-4503-aec7-51ddf0a52e19" providerId="ADAL" clId="{1B01D6BE-C5B3-5E1A-B22F-D7D7CA513B36}" dt="2026-09-08T12:33:05.182" v="5" actId="1076"/>
          <ac:spMkLst>
            <pc:docMk/>
            <pc:sldMk cId="0" sldId="263"/>
            <ac:spMk id="21" creationId="{00000000-0000-0000-0000-000000000000}"/>
          </ac:spMkLst>
        </pc:spChg>
        <pc:spChg chg="mod">
          <ac:chgData name="Ashutosh Dixit" userId="ab6c3e37-306d-4503-aec7-51ddf0a52e19" providerId="ADAL" clId="{1B01D6BE-C5B3-5E1A-B22F-D7D7CA513B36}" dt="2026-09-08T12:33:05.182" v="5" actId="1076"/>
          <ac:spMkLst>
            <pc:docMk/>
            <pc:sldMk cId="0" sldId="263"/>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548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6E56"/>
        </a:solidFill>
        <a:effectLst/>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0A5643"/>
          </a:solidFill>
          <a:ln/>
        </p:spPr>
        <p:txBody>
          <a:bodyPr/>
          <a:lstStyle/>
          <a:p>
            <a:endParaRPr lang="en-US"/>
          </a:p>
        </p:txBody>
      </p:sp>
      <p:sp>
        <p:nvSpPr>
          <p:cNvPr id="3" name="Text 1"/>
          <p:cNvSpPr txBox="1"/>
          <p:nvPr/>
        </p:nvSpPr>
        <p:spPr>
          <a:xfrm>
            <a:off x="685800" y="640080"/>
            <a:ext cx="7315200" cy="274320"/>
          </a:xfrm>
          <a:prstGeom prst="rect">
            <a:avLst/>
          </a:prstGeom>
          <a:noFill/>
          <a:ln/>
        </p:spPr>
        <p:txBody>
          <a:bodyPr wrap="square" lIns="0" tIns="0" rIns="0" bIns="0" rtlCol="0" anchor="ctr"/>
          <a:lstStyle/>
          <a:p>
            <a:pPr marL="0" indent="0">
              <a:buNone/>
            </a:pPr>
            <a:r>
              <a:rPr lang="en-US" sz="1200" b="1" kern="0" spc="250" dirty="0">
                <a:solidFill>
                  <a:srgbClr val="5DCAA5"/>
                </a:solidFill>
                <a:latin typeface="Calibri" pitchFamily="34" charset="0"/>
                <a:ea typeface="Calibri" pitchFamily="34" charset="-122"/>
                <a:cs typeface="Calibri" pitchFamily="34" charset="-120"/>
              </a:rPr>
              <a:t>PILLAR 02  ·  INFRA TECH ADVISORY</a:t>
            </a:r>
            <a:endParaRPr lang="en-US" sz="1200" dirty="0"/>
          </a:p>
        </p:txBody>
      </p:sp>
      <p:sp>
        <p:nvSpPr>
          <p:cNvPr id="4" name="Text 2"/>
          <p:cNvSpPr txBox="1"/>
          <p:nvPr/>
        </p:nvSpPr>
        <p:spPr>
          <a:xfrm>
            <a:off x="658368" y="1024128"/>
            <a:ext cx="10789920" cy="105156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Digital Sovereignty</a:t>
            </a:r>
            <a:endParaRPr lang="en-US" sz="5200" dirty="0"/>
          </a:p>
        </p:txBody>
      </p:sp>
      <p:sp>
        <p:nvSpPr>
          <p:cNvPr id="5" name="Text 3"/>
          <p:cNvSpPr txBox="1"/>
          <p:nvPr/>
        </p:nvSpPr>
        <p:spPr>
          <a:xfrm>
            <a:off x="685800" y="2148840"/>
            <a:ext cx="9875520" cy="502920"/>
          </a:xfrm>
          <a:prstGeom prst="rect">
            <a:avLst/>
          </a:prstGeom>
          <a:noFill/>
          <a:ln/>
        </p:spPr>
        <p:txBody>
          <a:bodyPr wrap="square" lIns="0" tIns="0" rIns="0" bIns="0" rtlCol="0" anchor="ctr"/>
          <a:lstStyle/>
          <a:p>
            <a:pPr marL="0" indent="0">
              <a:buNone/>
            </a:pPr>
            <a:r>
              <a:rPr lang="en-US" sz="2100" i="1" dirty="0">
                <a:solidFill>
                  <a:srgbClr val="C9EDE0"/>
                </a:solidFill>
                <a:latin typeface="Cambria" pitchFamily="34" charset="0"/>
                <a:ea typeface="Cambria" pitchFamily="34" charset="-122"/>
                <a:cs typeface="Cambria" pitchFamily="34" charset="-120"/>
              </a:rPr>
              <a:t>Can I stay compliant, sovereign and trusted in every jurisdiction I operate in?</a:t>
            </a:r>
            <a:endParaRPr lang="en-US" sz="2100" dirty="0"/>
          </a:p>
        </p:txBody>
      </p:sp>
      <p:sp>
        <p:nvSpPr>
          <p:cNvPr id="6" name="Text 4"/>
          <p:cNvSpPr txBox="1"/>
          <p:nvPr/>
        </p:nvSpPr>
        <p:spPr>
          <a:xfrm>
            <a:off x="685800" y="2880360"/>
            <a:ext cx="7406640" cy="1737360"/>
          </a:xfrm>
          <a:prstGeom prst="rect">
            <a:avLst/>
          </a:prstGeom>
          <a:noFill/>
          <a:ln/>
        </p:spPr>
        <p:txBody>
          <a:bodyPr wrap="square" lIns="0" tIns="0" rIns="0" bIns="0" rtlCol="0" anchor="ctr"/>
          <a:lstStyle/>
          <a:p>
            <a:pPr marL="0" indent="0">
              <a:lnSpc>
                <a:spcPct val="112000"/>
              </a:lnSpc>
              <a:buNone/>
            </a:pPr>
            <a:r>
              <a:rPr lang="en-US" sz="1450" dirty="0">
                <a:solidFill>
                  <a:srgbClr val="EAF6F1"/>
                </a:solidFill>
                <a:latin typeface="Calibri" pitchFamily="34" charset="0"/>
                <a:ea typeface="Calibri" pitchFamily="34" charset="-122"/>
                <a:cs typeface="Calibri" pitchFamily="34" charset="-120"/>
              </a:rPr>
              <a:t>Sovereignty has moved from a policy debate to a budgeted, board-level obligation. Regulators and boards now want proof — not assurance — that critical data and workloads sit within a defensible jurisdiction. This pillar establishes the enterprise’s sovereignty posture across data, infrastructure and regulation, then executes the relocation, remediation and control build that follows.</a:t>
            </a:r>
            <a:endParaRPr lang="en-US" sz="1450" dirty="0"/>
          </a:p>
        </p:txBody>
      </p:sp>
      <p:sp>
        <p:nvSpPr>
          <p:cNvPr id="7" name="Text 5"/>
          <p:cNvSpPr txBox="1"/>
          <p:nvPr/>
        </p:nvSpPr>
        <p:spPr>
          <a:xfrm>
            <a:off x="8366760" y="2724912"/>
            <a:ext cx="3108960" cy="420624"/>
          </a:xfrm>
          <a:prstGeom prst="rect">
            <a:avLst/>
          </a:prstGeom>
          <a:noFill/>
          <a:ln/>
        </p:spPr>
        <p:txBody>
          <a:bodyPr wrap="square" lIns="0" tIns="0" rIns="0" bIns="0" rtlCol="0" anchor="ctr"/>
          <a:lstStyle/>
          <a:p>
            <a:pPr marL="0" indent="0">
              <a:buNone/>
            </a:pPr>
            <a:r>
              <a:rPr lang="en-US" sz="2800" b="1" dirty="0">
                <a:solidFill>
                  <a:srgbClr val="5DCAA5"/>
                </a:solidFill>
                <a:latin typeface="Cambria" pitchFamily="34" charset="0"/>
                <a:ea typeface="Cambria" pitchFamily="34" charset="-122"/>
                <a:cs typeface="Cambria" pitchFamily="34" charset="-120"/>
              </a:rPr>
              <a:t>$80B</a:t>
            </a:r>
            <a:endParaRPr lang="en-US" sz="2800" dirty="0"/>
          </a:p>
        </p:txBody>
      </p:sp>
      <p:sp>
        <p:nvSpPr>
          <p:cNvPr id="8" name="Text 6"/>
          <p:cNvSpPr txBox="1"/>
          <p:nvPr/>
        </p:nvSpPr>
        <p:spPr>
          <a:xfrm>
            <a:off x="8394192" y="3127248"/>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CDEBE1"/>
                </a:solidFill>
                <a:latin typeface="Calibri" pitchFamily="34" charset="0"/>
                <a:ea typeface="Calibri" pitchFamily="34" charset="-122"/>
                <a:cs typeface="Calibri" pitchFamily="34" charset="-120"/>
              </a:rPr>
              <a:t>worldwide sovereign cloud IaaS spend in 2026, up 35.6% YoY</a:t>
            </a:r>
            <a:endParaRPr lang="en-US" sz="1050" dirty="0"/>
          </a:p>
        </p:txBody>
      </p:sp>
      <p:sp>
        <p:nvSpPr>
          <p:cNvPr id="9" name="Text 7"/>
          <p:cNvSpPr txBox="1"/>
          <p:nvPr/>
        </p:nvSpPr>
        <p:spPr>
          <a:xfrm>
            <a:off x="8366760" y="3511296"/>
            <a:ext cx="3108960" cy="420624"/>
          </a:xfrm>
          <a:prstGeom prst="rect">
            <a:avLst/>
          </a:prstGeom>
          <a:noFill/>
          <a:ln/>
        </p:spPr>
        <p:txBody>
          <a:bodyPr wrap="square" lIns="0" tIns="0" rIns="0" bIns="0" rtlCol="0" anchor="ctr"/>
          <a:lstStyle/>
          <a:p>
            <a:pPr marL="0" indent="0">
              <a:buNone/>
            </a:pPr>
            <a:r>
              <a:rPr lang="en-US" sz="2800" b="1" dirty="0">
                <a:solidFill>
                  <a:srgbClr val="5DCAA5"/>
                </a:solidFill>
                <a:latin typeface="Cambria" pitchFamily="34" charset="0"/>
                <a:ea typeface="Cambria" pitchFamily="34" charset="-122"/>
                <a:cs typeface="Cambria" pitchFamily="34" charset="-120"/>
              </a:rPr>
              <a:t>+83%</a:t>
            </a:r>
            <a:endParaRPr lang="en-US" sz="2800" dirty="0"/>
          </a:p>
        </p:txBody>
      </p:sp>
      <p:sp>
        <p:nvSpPr>
          <p:cNvPr id="10" name="Text 8"/>
          <p:cNvSpPr txBox="1"/>
          <p:nvPr/>
        </p:nvSpPr>
        <p:spPr>
          <a:xfrm>
            <a:off x="8394192" y="3913632"/>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CDEBE1"/>
                </a:solidFill>
                <a:latin typeface="Calibri" pitchFamily="34" charset="0"/>
                <a:ea typeface="Calibri" pitchFamily="34" charset="-122"/>
                <a:cs typeface="Calibri" pitchFamily="34" charset="-120"/>
              </a:rPr>
              <a:t>European sovereign cloud growth in 2026 — overtaking N. America by 2027</a:t>
            </a:r>
            <a:endParaRPr lang="en-US" sz="1050" dirty="0"/>
          </a:p>
        </p:txBody>
      </p:sp>
      <p:sp>
        <p:nvSpPr>
          <p:cNvPr id="11" name="Text 9"/>
          <p:cNvSpPr txBox="1"/>
          <p:nvPr/>
        </p:nvSpPr>
        <p:spPr>
          <a:xfrm>
            <a:off x="8366760" y="4297680"/>
            <a:ext cx="3108960" cy="420624"/>
          </a:xfrm>
          <a:prstGeom prst="rect">
            <a:avLst/>
          </a:prstGeom>
          <a:noFill/>
          <a:ln/>
        </p:spPr>
        <p:txBody>
          <a:bodyPr wrap="square" lIns="0" tIns="0" rIns="0" bIns="0" rtlCol="0" anchor="ctr"/>
          <a:lstStyle/>
          <a:p>
            <a:pPr marL="0" indent="0">
              <a:buNone/>
            </a:pPr>
            <a:r>
              <a:rPr lang="en-US" sz="2800" b="1" dirty="0">
                <a:solidFill>
                  <a:srgbClr val="5DCAA5"/>
                </a:solidFill>
                <a:latin typeface="Cambria" pitchFamily="34" charset="0"/>
                <a:ea typeface="Cambria" pitchFamily="34" charset="-122"/>
                <a:cs typeface="Cambria" pitchFamily="34" charset="-120"/>
              </a:rPr>
              <a:t>20%</a:t>
            </a:r>
            <a:endParaRPr lang="en-US" sz="2800" dirty="0"/>
          </a:p>
        </p:txBody>
      </p:sp>
      <p:sp>
        <p:nvSpPr>
          <p:cNvPr id="12" name="Text 10"/>
          <p:cNvSpPr txBox="1"/>
          <p:nvPr/>
        </p:nvSpPr>
        <p:spPr>
          <a:xfrm>
            <a:off x="8394192" y="4700016"/>
            <a:ext cx="3063240" cy="384048"/>
          </a:xfrm>
          <a:prstGeom prst="rect">
            <a:avLst/>
          </a:prstGeom>
          <a:noFill/>
          <a:ln/>
        </p:spPr>
        <p:txBody>
          <a:bodyPr wrap="square" lIns="0" tIns="0" rIns="0" bIns="0" rtlCol="0" anchor="ctr"/>
          <a:lstStyle/>
          <a:p>
            <a:pPr marL="0" indent="0">
              <a:lnSpc>
                <a:spcPct val="95000"/>
              </a:lnSpc>
              <a:buNone/>
            </a:pPr>
            <a:r>
              <a:rPr lang="en-US" sz="1050" dirty="0">
                <a:solidFill>
                  <a:srgbClr val="CDEBE1"/>
                </a:solidFill>
                <a:latin typeface="Calibri" pitchFamily="34" charset="0"/>
                <a:ea typeface="Calibri" pitchFamily="34" charset="-122"/>
                <a:cs typeface="Calibri" pitchFamily="34" charset="-120"/>
              </a:rPr>
              <a:t>of workloads shifting global → local via geopatriation</a:t>
            </a:r>
            <a:endParaRPr lang="en-US" sz="1050" dirty="0"/>
          </a:p>
        </p:txBody>
      </p:sp>
      <p:sp>
        <p:nvSpPr>
          <p:cNvPr id="13" name="Text 11"/>
          <p:cNvSpPr txBox="1"/>
          <p:nvPr/>
        </p:nvSpPr>
        <p:spPr>
          <a:xfrm>
            <a:off x="685800" y="5285232"/>
            <a:ext cx="5486400" cy="274320"/>
          </a:xfrm>
          <a:prstGeom prst="rect">
            <a:avLst/>
          </a:prstGeom>
          <a:noFill/>
          <a:ln/>
        </p:spPr>
        <p:txBody>
          <a:bodyPr wrap="square" lIns="0" tIns="0" rIns="0" bIns="0" rtlCol="0" anchor="ctr"/>
          <a:lstStyle/>
          <a:p>
            <a:pPr marL="0" indent="0">
              <a:buNone/>
            </a:pPr>
            <a:r>
              <a:rPr lang="en-US" sz="1050" b="1" kern="0" spc="200" dirty="0">
                <a:solidFill>
                  <a:srgbClr val="5DCAA5"/>
                </a:solidFill>
                <a:latin typeface="Calibri" pitchFamily="34" charset="0"/>
                <a:ea typeface="Calibri" pitchFamily="34" charset="-122"/>
                <a:cs typeface="Calibri" pitchFamily="34" charset="-120"/>
              </a:rPr>
              <a:t>THE ENGAGEMENT SPINE</a:t>
            </a:r>
            <a:endParaRPr lang="en-US" sz="1050" dirty="0"/>
          </a:p>
        </p:txBody>
      </p:sp>
      <p:sp>
        <p:nvSpPr>
          <p:cNvPr id="14" name="Text 12"/>
          <p:cNvSpPr txBox="1"/>
          <p:nvPr/>
        </p:nvSpPr>
        <p:spPr>
          <a:xfrm>
            <a:off x="685800" y="5596128"/>
            <a:ext cx="10789920" cy="457200"/>
          </a:xfrm>
          <a:prstGeom prst="rect">
            <a:avLst/>
          </a:prstGeom>
          <a:noFill/>
          <a:ln/>
        </p:spPr>
        <p:txBody>
          <a:bodyPr wrap="square" lIns="0" tIns="0" rIns="0" bIns="0" rtlCol="0" anchor="ctr"/>
          <a:lstStyle/>
          <a:p>
            <a:pPr marL="0" indent="0">
              <a:buNone/>
            </a:pPr>
            <a:r>
              <a:rPr lang="en-US" sz="1800" i="1" dirty="0">
                <a:solidFill>
                  <a:srgbClr val="FFFFFF"/>
                </a:solidFill>
                <a:latin typeface="Cambria" pitchFamily="34" charset="0"/>
                <a:ea typeface="Cambria" pitchFamily="34" charset="-122"/>
                <a:cs typeface="Cambria" pitchFamily="34" charset="-120"/>
              </a:rPr>
              <a:t>Diagnostic first → the evidence chooses the path → application roadmap sequences the work → delivery.</a:t>
            </a:r>
            <a:endParaRPr lang="en-US" sz="1800" dirty="0"/>
          </a:p>
        </p:txBody>
      </p:sp>
      <p:sp>
        <p:nvSpPr>
          <p:cNvPr id="15" name="Text 13"/>
          <p:cNvSpPr txBox="1"/>
          <p:nvPr/>
        </p:nvSpPr>
        <p:spPr>
          <a:xfrm>
            <a:off x="685800" y="6108192"/>
            <a:ext cx="7498080" cy="320040"/>
          </a:xfrm>
          <a:prstGeom prst="rect">
            <a:avLst/>
          </a:prstGeom>
          <a:noFill/>
          <a:ln/>
        </p:spPr>
        <p:txBody>
          <a:bodyPr wrap="square" lIns="0" tIns="0" rIns="0" bIns="0" rtlCol="0" anchor="ctr"/>
          <a:lstStyle/>
          <a:p>
            <a:pPr marL="0" indent="0">
              <a:buNone/>
            </a:pPr>
            <a:r>
              <a:rPr lang="en-US" sz="1200" dirty="0">
                <a:solidFill>
                  <a:srgbClr val="A7D9C9"/>
                </a:solidFill>
                <a:latin typeface="Calibri" pitchFamily="34" charset="0"/>
                <a:ea typeface="Calibri" pitchFamily="34" charset="-122"/>
                <a:cs typeface="Calibri" pitchFamily="34" charset="-120"/>
              </a:rPr>
              <a:t>Sovereign IQ  ›  Posture IQ / Regulatory IQ  ›  the offering the evidence points to  ›  02.4 roadmap  ›  migration &amp; build</a:t>
            </a:r>
            <a:endParaRPr lang="en-US" sz="1200" dirty="0"/>
          </a:p>
        </p:txBody>
      </p:sp>
      <p:sp>
        <p:nvSpPr>
          <p:cNvPr id="16" name="Text 14"/>
          <p:cNvSpPr txBox="1"/>
          <p:nvPr/>
        </p:nvSpPr>
        <p:spPr>
          <a:xfrm>
            <a:off x="8366760" y="6108192"/>
            <a:ext cx="3108960" cy="274320"/>
          </a:xfrm>
          <a:prstGeom prst="rect">
            <a:avLst/>
          </a:prstGeom>
          <a:noFill/>
          <a:ln/>
        </p:spPr>
        <p:txBody>
          <a:bodyPr wrap="square" lIns="0" tIns="0" rIns="0" bIns="0" rtlCol="0" anchor="ctr"/>
          <a:lstStyle/>
          <a:p>
            <a:pPr marL="0" indent="0" algn="r">
              <a:buNone/>
            </a:pPr>
            <a:r>
              <a:rPr lang="en-US" sz="900" i="1" dirty="0">
                <a:solidFill>
                  <a:srgbClr val="7FC0AD"/>
                </a:solidFill>
                <a:latin typeface="Calibri" pitchFamily="34" charset="0"/>
                <a:ea typeface="Calibri" pitchFamily="34" charset="-122"/>
                <a:cs typeface="Calibri" pitchFamily="34" charset="-120"/>
              </a:rPr>
              <a:t>Source: Gartner, Feb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The Digital Sovereignty routing map</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Start with a diagnostic, not a pitch. The evidence — not a salesperson — determines which offering the client needs.</a:t>
            </a:r>
            <a:endParaRPr lang="en-US" sz="1200" dirty="0"/>
          </a:p>
        </p:txBody>
      </p:sp>
      <p:sp>
        <p:nvSpPr>
          <p:cNvPr id="5" name="Shape 3"/>
          <p:cNvSpPr/>
          <p:nvPr/>
        </p:nvSpPr>
        <p:spPr>
          <a:xfrm>
            <a:off x="4114800" y="1691640"/>
            <a:ext cx="3959352" cy="603504"/>
          </a:xfrm>
          <a:prstGeom prst="roundRect">
            <a:avLst>
              <a:gd name="adj" fmla="val 9091"/>
            </a:avLst>
          </a:prstGeom>
          <a:solidFill>
            <a:srgbClr val="0F6E56"/>
          </a:solidFill>
          <a:ln/>
        </p:spPr>
        <p:txBody>
          <a:bodyPr/>
          <a:lstStyle/>
          <a:p>
            <a:endParaRPr lang="en-US"/>
          </a:p>
        </p:txBody>
      </p:sp>
      <p:sp>
        <p:nvSpPr>
          <p:cNvPr id="6" name="Text 4"/>
          <p:cNvSpPr txBox="1"/>
          <p:nvPr/>
        </p:nvSpPr>
        <p:spPr>
          <a:xfrm>
            <a:off x="4114800" y="1691640"/>
            <a:ext cx="3959352" cy="60350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Sovereign IQ   </a:t>
            </a:r>
            <a:r>
              <a:rPr lang="en-US" sz="1100" i="1" dirty="0">
                <a:solidFill>
                  <a:srgbClr val="9FE1CB"/>
                </a:solidFill>
                <a:latin typeface="Calibri" pitchFamily="34" charset="0"/>
                <a:ea typeface="Calibri" pitchFamily="34" charset="-122"/>
                <a:cs typeface="Calibri" pitchFamily="34" charset="-120"/>
              </a:rPr>
              <a:t>free self-assessment</a:t>
            </a:r>
            <a:endParaRPr lang="en-US" sz="1500" dirty="0"/>
          </a:p>
        </p:txBody>
      </p:sp>
      <p:sp>
        <p:nvSpPr>
          <p:cNvPr id="7" name="Shape 5"/>
          <p:cNvSpPr/>
          <p:nvPr/>
        </p:nvSpPr>
        <p:spPr>
          <a:xfrm>
            <a:off x="5120640" y="2295144"/>
            <a:ext cx="0" cy="310896"/>
          </a:xfrm>
          <a:prstGeom prst="line">
            <a:avLst/>
          </a:prstGeom>
          <a:noFill/>
          <a:ln w="19050">
            <a:solidFill>
              <a:srgbClr val="0F6E56"/>
            </a:solidFill>
            <a:prstDash val="solid"/>
            <a:tailEnd type="triangle"/>
          </a:ln>
        </p:spPr>
        <p:txBody>
          <a:bodyPr/>
          <a:lstStyle/>
          <a:p>
            <a:endParaRPr lang="en-US"/>
          </a:p>
        </p:txBody>
      </p:sp>
      <p:sp>
        <p:nvSpPr>
          <p:cNvPr id="8" name="Shape 6"/>
          <p:cNvSpPr/>
          <p:nvPr/>
        </p:nvSpPr>
        <p:spPr>
          <a:xfrm>
            <a:off x="7040880" y="2295144"/>
            <a:ext cx="0" cy="310896"/>
          </a:xfrm>
          <a:prstGeom prst="line">
            <a:avLst/>
          </a:prstGeom>
          <a:noFill/>
          <a:ln w="19050">
            <a:solidFill>
              <a:srgbClr val="0F6E56"/>
            </a:solidFill>
            <a:prstDash val="solid"/>
            <a:tailEnd type="triangle"/>
          </a:ln>
        </p:spPr>
        <p:txBody>
          <a:bodyPr/>
          <a:lstStyle/>
          <a:p>
            <a:endParaRPr lang="en-US"/>
          </a:p>
        </p:txBody>
      </p:sp>
      <p:sp>
        <p:nvSpPr>
          <p:cNvPr id="9" name="Shape 7"/>
          <p:cNvSpPr/>
          <p:nvPr/>
        </p:nvSpPr>
        <p:spPr>
          <a:xfrm>
            <a:off x="3108960" y="2651760"/>
            <a:ext cx="2331720" cy="566928"/>
          </a:xfrm>
          <a:prstGeom prst="roundRect">
            <a:avLst>
              <a:gd name="adj" fmla="val 9677"/>
            </a:avLst>
          </a:prstGeom>
          <a:solidFill>
            <a:srgbClr val="0A5643"/>
          </a:solidFill>
          <a:ln/>
        </p:spPr>
        <p:txBody>
          <a:bodyPr/>
          <a:lstStyle/>
          <a:p>
            <a:endParaRPr lang="en-US"/>
          </a:p>
        </p:txBody>
      </p:sp>
      <p:sp>
        <p:nvSpPr>
          <p:cNvPr id="10" name="Text 8"/>
          <p:cNvSpPr txBox="1"/>
          <p:nvPr/>
        </p:nvSpPr>
        <p:spPr>
          <a:xfrm>
            <a:off x="3108960" y="2651760"/>
            <a:ext cx="2331720" cy="566928"/>
          </a:xfrm>
          <a:prstGeom prst="rect">
            <a:avLst/>
          </a:prstGeom>
          <a:noFill/>
          <a:ln/>
        </p:spPr>
        <p:txBody>
          <a:bodyPr wrap="square" lIns="0" tIns="0" rIns="0" bIns="0" rtlCol="0" anchor="ctr"/>
          <a:lstStyle/>
          <a:p>
            <a:pPr marL="0" indent="0" algn="ctr">
              <a:lnSpc>
                <a:spcPct val="90000"/>
              </a:lnSpc>
              <a:buNone/>
            </a:pPr>
            <a:r>
              <a:rPr lang="en-US" sz="1300" b="1" dirty="0">
                <a:solidFill>
                  <a:srgbClr val="FFFFFF"/>
                </a:solidFill>
                <a:latin typeface="Cambria" pitchFamily="34" charset="0"/>
                <a:ea typeface="Cambria" pitchFamily="34" charset="-122"/>
                <a:cs typeface="Cambria" pitchFamily="34" charset="-120"/>
              </a:rPr>
              <a:t>Posture IQ
</a:t>
            </a:r>
            <a:r>
              <a:rPr lang="en-US" sz="900" dirty="0">
                <a:solidFill>
                  <a:srgbClr val="9FE1CB"/>
                </a:solidFill>
                <a:latin typeface="Calibri" pitchFamily="34" charset="0"/>
                <a:ea typeface="Calibri" pitchFamily="34" charset="-122"/>
                <a:cs typeface="Calibri" pitchFamily="34" charset="-120"/>
              </a:rPr>
              <a:t>data · infra · cross-border</a:t>
            </a:r>
            <a:endParaRPr lang="en-US" sz="1300" dirty="0"/>
          </a:p>
        </p:txBody>
      </p:sp>
      <p:sp>
        <p:nvSpPr>
          <p:cNvPr id="11" name="Shape 9"/>
          <p:cNvSpPr/>
          <p:nvPr/>
        </p:nvSpPr>
        <p:spPr>
          <a:xfrm>
            <a:off x="5806440" y="2651760"/>
            <a:ext cx="2331720" cy="566928"/>
          </a:xfrm>
          <a:prstGeom prst="roundRect">
            <a:avLst>
              <a:gd name="adj" fmla="val 9677"/>
            </a:avLst>
          </a:prstGeom>
          <a:solidFill>
            <a:srgbClr val="0A5643"/>
          </a:solidFill>
          <a:ln/>
        </p:spPr>
        <p:txBody>
          <a:bodyPr/>
          <a:lstStyle/>
          <a:p>
            <a:endParaRPr lang="en-US"/>
          </a:p>
        </p:txBody>
      </p:sp>
      <p:sp>
        <p:nvSpPr>
          <p:cNvPr id="12" name="Text 10"/>
          <p:cNvSpPr txBox="1"/>
          <p:nvPr/>
        </p:nvSpPr>
        <p:spPr>
          <a:xfrm>
            <a:off x="5806440" y="2651760"/>
            <a:ext cx="2331720" cy="566928"/>
          </a:xfrm>
          <a:prstGeom prst="rect">
            <a:avLst/>
          </a:prstGeom>
          <a:noFill/>
          <a:ln/>
        </p:spPr>
        <p:txBody>
          <a:bodyPr wrap="square" lIns="0" tIns="0" rIns="0" bIns="0" rtlCol="0" anchor="ctr"/>
          <a:lstStyle/>
          <a:p>
            <a:pPr marL="0" indent="0" algn="ctr">
              <a:lnSpc>
                <a:spcPct val="90000"/>
              </a:lnSpc>
              <a:buNone/>
            </a:pPr>
            <a:r>
              <a:rPr lang="en-US" sz="1300" b="1" dirty="0">
                <a:solidFill>
                  <a:srgbClr val="FFFFFF"/>
                </a:solidFill>
                <a:latin typeface="Cambria" pitchFamily="34" charset="0"/>
                <a:ea typeface="Cambria" pitchFamily="34" charset="-122"/>
                <a:cs typeface="Cambria" pitchFamily="34" charset="-120"/>
              </a:rPr>
              <a:t>Regulatory IQ
</a:t>
            </a:r>
            <a:r>
              <a:rPr lang="en-US" sz="900" dirty="0">
                <a:solidFill>
                  <a:srgbClr val="9FE1CB"/>
                </a:solidFill>
                <a:latin typeface="Calibri" pitchFamily="34" charset="0"/>
                <a:ea typeface="Calibri" pitchFamily="34" charset="-122"/>
                <a:cs typeface="Calibri" pitchFamily="34" charset="-120"/>
              </a:rPr>
              <a:t>compliance vs a specific Act</a:t>
            </a:r>
            <a:endParaRPr lang="en-US" sz="1300" dirty="0"/>
          </a:p>
        </p:txBody>
      </p:sp>
      <p:sp>
        <p:nvSpPr>
          <p:cNvPr id="13" name="Text 11"/>
          <p:cNvSpPr txBox="1"/>
          <p:nvPr/>
        </p:nvSpPr>
        <p:spPr>
          <a:xfrm>
            <a:off x="502920" y="3401568"/>
            <a:ext cx="10972800" cy="256032"/>
          </a:xfrm>
          <a:prstGeom prst="rect">
            <a:avLst/>
          </a:prstGeom>
          <a:noFill/>
          <a:ln/>
        </p:spPr>
        <p:txBody>
          <a:bodyPr wrap="square" lIns="0" tIns="0" rIns="0" bIns="0" rtlCol="0" anchor="ctr"/>
          <a:lstStyle/>
          <a:p>
            <a:pPr marL="0" indent="0" algn="ctr">
              <a:buNone/>
            </a:pPr>
            <a:r>
              <a:rPr lang="en-US" sz="1100" b="1" dirty="0">
                <a:solidFill>
                  <a:srgbClr val="D35400"/>
                </a:solidFill>
                <a:latin typeface="Calibri" pitchFamily="34" charset="0"/>
                <a:ea typeface="Calibri" pitchFamily="34" charset="-122"/>
                <a:cs typeface="Calibri" pitchFamily="34" charset="-120"/>
              </a:rPr>
              <a:t>The evidence routes to the offering that fits ↓</a:t>
            </a:r>
            <a:endParaRPr lang="en-US" sz="1100" dirty="0"/>
          </a:p>
        </p:txBody>
      </p:sp>
      <p:sp>
        <p:nvSpPr>
          <p:cNvPr id="14" name="Shape 12"/>
          <p:cNvSpPr/>
          <p:nvPr/>
        </p:nvSpPr>
        <p:spPr>
          <a:xfrm>
            <a:off x="658368"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15" name="Text 13"/>
          <p:cNvSpPr txBox="1"/>
          <p:nvPr/>
        </p:nvSpPr>
        <p:spPr>
          <a:xfrm>
            <a:off x="768096"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02.1 Posture &amp;</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Geopatriation</a:t>
            </a:r>
            <a:endParaRPr lang="en-US" sz="1250" dirty="0"/>
          </a:p>
        </p:txBody>
      </p:sp>
      <p:sp>
        <p:nvSpPr>
          <p:cNvPr id="16" name="Text 14"/>
          <p:cNvSpPr txBox="1"/>
          <p:nvPr/>
        </p:nvSpPr>
        <p:spPr>
          <a:xfrm>
            <a:off x="768096"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workloads in wrong</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jurisdiction</a:t>
            </a:r>
            <a:endParaRPr lang="en-US" sz="950" dirty="0"/>
          </a:p>
        </p:txBody>
      </p:sp>
      <p:sp>
        <p:nvSpPr>
          <p:cNvPr id="17" name="Shape 15"/>
          <p:cNvSpPr/>
          <p:nvPr/>
        </p:nvSpPr>
        <p:spPr>
          <a:xfrm>
            <a:off x="3419856"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18" name="Text 16"/>
          <p:cNvSpPr txBox="1"/>
          <p:nvPr/>
        </p:nvSpPr>
        <p:spPr>
          <a:xfrm>
            <a:off x="3529584"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02.2 Cross-Border</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Data Strategy</a:t>
            </a:r>
            <a:endParaRPr lang="en-US" sz="1250" dirty="0"/>
          </a:p>
        </p:txBody>
      </p:sp>
      <p:sp>
        <p:nvSpPr>
          <p:cNvPr id="19" name="Text 17"/>
          <p:cNvSpPr txBox="1"/>
          <p:nvPr/>
        </p:nvSpPr>
        <p:spPr>
          <a:xfrm>
            <a:off x="3529584"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data crossing borders</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unprotected</a:t>
            </a:r>
            <a:endParaRPr lang="en-US" sz="950" dirty="0"/>
          </a:p>
        </p:txBody>
      </p:sp>
      <p:sp>
        <p:nvSpPr>
          <p:cNvPr id="20" name="Shape 18"/>
          <p:cNvSpPr/>
          <p:nvPr/>
        </p:nvSpPr>
        <p:spPr>
          <a:xfrm>
            <a:off x="6181344"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21" name="Text 19"/>
          <p:cNvSpPr txBox="1"/>
          <p:nvPr/>
        </p:nvSpPr>
        <p:spPr>
          <a:xfrm>
            <a:off x="6291072"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02.3 Regulatory</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Alignment &amp; Exit</a:t>
            </a:r>
            <a:endParaRPr lang="en-US" sz="1250" dirty="0"/>
          </a:p>
        </p:txBody>
      </p:sp>
      <p:sp>
        <p:nvSpPr>
          <p:cNvPr id="22" name="Text 20"/>
          <p:cNvSpPr txBox="1"/>
          <p:nvPr/>
        </p:nvSpPr>
        <p:spPr>
          <a:xfrm>
            <a:off x="6291072"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weak vs DORA /</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NIS2 / EU AI Act</a:t>
            </a:r>
            <a:endParaRPr lang="en-US" sz="950" dirty="0"/>
          </a:p>
        </p:txBody>
      </p:sp>
      <p:sp>
        <p:nvSpPr>
          <p:cNvPr id="23" name="Shape 21"/>
          <p:cNvSpPr/>
          <p:nvPr/>
        </p:nvSpPr>
        <p:spPr>
          <a:xfrm>
            <a:off x="8942832" y="3767328"/>
            <a:ext cx="2542032" cy="932688"/>
          </a:xfrm>
          <a:prstGeom prst="roundRect">
            <a:avLst>
              <a:gd name="adj" fmla="val 5882"/>
            </a:avLst>
          </a:prstGeom>
          <a:solidFill>
            <a:srgbClr val="E1F5EE"/>
          </a:solidFill>
          <a:ln w="9525">
            <a:solidFill>
              <a:srgbClr val="5DCAA5"/>
            </a:solidFill>
            <a:prstDash val="solid"/>
          </a:ln>
        </p:spPr>
        <p:txBody>
          <a:bodyPr/>
          <a:lstStyle/>
          <a:p>
            <a:endParaRPr lang="en-US"/>
          </a:p>
        </p:txBody>
      </p:sp>
      <p:sp>
        <p:nvSpPr>
          <p:cNvPr id="24" name="Text 22"/>
          <p:cNvSpPr txBox="1"/>
          <p:nvPr/>
        </p:nvSpPr>
        <p:spPr>
          <a:xfrm>
            <a:off x="9052560" y="3895344"/>
            <a:ext cx="2322576" cy="457200"/>
          </a:xfrm>
          <a:prstGeom prst="rect">
            <a:avLst/>
          </a:prstGeom>
          <a:noFill/>
          <a:ln/>
        </p:spPr>
        <p:txBody>
          <a:bodyPr wrap="square" lIns="0" tIns="0" rIns="0" bIns="0" rtlCol="0" anchor="ctr"/>
          <a:lstStyle/>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02.5 Sovereign AI &amp;</a:t>
            </a:r>
            <a:endParaRPr lang="en-US" sz="1250" dirty="0"/>
          </a:p>
          <a:p>
            <a:pPr marL="0" indent="0" algn="ctr">
              <a:lnSpc>
                <a:spcPct val="92000"/>
              </a:lnSpc>
              <a:buNone/>
            </a:pPr>
            <a:r>
              <a:rPr lang="en-US" sz="1250" b="1" dirty="0">
                <a:solidFill>
                  <a:srgbClr val="0F6E56"/>
                </a:solidFill>
                <a:latin typeface="Cambria" pitchFamily="34" charset="0"/>
                <a:ea typeface="Cambria" pitchFamily="34" charset="-122"/>
                <a:cs typeface="Cambria" pitchFamily="34" charset="-120"/>
              </a:rPr>
              <a:t>Data Boundary</a:t>
            </a:r>
            <a:endParaRPr lang="en-US" sz="1250" dirty="0"/>
          </a:p>
        </p:txBody>
      </p:sp>
      <p:sp>
        <p:nvSpPr>
          <p:cNvPr id="25" name="Text 23"/>
          <p:cNvSpPr txBox="1"/>
          <p:nvPr/>
        </p:nvSpPr>
        <p:spPr>
          <a:xfrm>
            <a:off x="9052560" y="4334256"/>
            <a:ext cx="2322576" cy="310896"/>
          </a:xfrm>
          <a:prstGeom prst="rect">
            <a:avLst/>
          </a:prstGeom>
          <a:noFill/>
          <a:ln/>
        </p:spPr>
        <p:txBody>
          <a:bodyPr wrap="square" lIns="0" tIns="0" rIns="0" bIns="0" rtlCol="0" anchor="ctr"/>
          <a:lstStyle/>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AI data leaving</a:t>
            </a:r>
            <a:endParaRPr lang="en-US" sz="950" dirty="0"/>
          </a:p>
          <a:p>
            <a:pPr marL="0" indent="0" algn="ctr">
              <a:lnSpc>
                <a:spcPct val="90000"/>
              </a:lnSpc>
              <a:buNone/>
            </a:pPr>
            <a:r>
              <a:rPr lang="en-US" sz="950" i="1" dirty="0">
                <a:solidFill>
                  <a:srgbClr val="3C6152"/>
                </a:solidFill>
                <a:latin typeface="Calibri" pitchFamily="34" charset="0"/>
                <a:ea typeface="Calibri" pitchFamily="34" charset="-122"/>
                <a:cs typeface="Calibri" pitchFamily="34" charset="-120"/>
              </a:rPr>
              <a:t>the boundary</a:t>
            </a:r>
            <a:endParaRPr lang="en-US" sz="950" dirty="0"/>
          </a:p>
        </p:txBody>
      </p:sp>
      <p:sp>
        <p:nvSpPr>
          <p:cNvPr id="26" name="Shape 24"/>
          <p:cNvSpPr/>
          <p:nvPr/>
        </p:nvSpPr>
        <p:spPr>
          <a:xfrm>
            <a:off x="1929384" y="4700016"/>
            <a:ext cx="0" cy="384048"/>
          </a:xfrm>
          <a:prstGeom prst="line">
            <a:avLst/>
          </a:prstGeom>
          <a:noFill/>
          <a:ln w="15875">
            <a:solidFill>
              <a:srgbClr val="5DCAA5"/>
            </a:solidFill>
            <a:prstDash val="solid"/>
            <a:tailEnd type="triangle"/>
          </a:ln>
        </p:spPr>
        <p:txBody>
          <a:bodyPr/>
          <a:lstStyle/>
          <a:p>
            <a:endParaRPr lang="en-US"/>
          </a:p>
        </p:txBody>
      </p:sp>
      <p:sp>
        <p:nvSpPr>
          <p:cNvPr id="27" name="Shape 25"/>
          <p:cNvSpPr/>
          <p:nvPr/>
        </p:nvSpPr>
        <p:spPr>
          <a:xfrm>
            <a:off x="4480560" y="4700016"/>
            <a:ext cx="0" cy="384048"/>
          </a:xfrm>
          <a:prstGeom prst="line">
            <a:avLst/>
          </a:prstGeom>
          <a:noFill/>
          <a:ln w="15875">
            <a:solidFill>
              <a:srgbClr val="5DCAA5"/>
            </a:solidFill>
            <a:prstDash val="solid"/>
            <a:tailEnd type="triangle"/>
          </a:ln>
        </p:spPr>
        <p:txBody>
          <a:bodyPr/>
          <a:lstStyle/>
          <a:p>
            <a:endParaRPr lang="en-US"/>
          </a:p>
        </p:txBody>
      </p:sp>
      <p:sp>
        <p:nvSpPr>
          <p:cNvPr id="28" name="Shape 26"/>
          <p:cNvSpPr/>
          <p:nvPr/>
        </p:nvSpPr>
        <p:spPr>
          <a:xfrm>
            <a:off x="7022592" y="4700016"/>
            <a:ext cx="0" cy="384048"/>
          </a:xfrm>
          <a:prstGeom prst="line">
            <a:avLst/>
          </a:prstGeom>
          <a:noFill/>
          <a:ln w="15875">
            <a:solidFill>
              <a:srgbClr val="5DCAA5"/>
            </a:solidFill>
            <a:prstDash val="solid"/>
            <a:tailEnd type="triangle"/>
          </a:ln>
        </p:spPr>
        <p:txBody>
          <a:bodyPr/>
          <a:lstStyle/>
          <a:p>
            <a:endParaRPr lang="en-US"/>
          </a:p>
        </p:txBody>
      </p:sp>
      <p:sp>
        <p:nvSpPr>
          <p:cNvPr id="29" name="Shape 27"/>
          <p:cNvSpPr/>
          <p:nvPr/>
        </p:nvSpPr>
        <p:spPr>
          <a:xfrm>
            <a:off x="9564624" y="4700016"/>
            <a:ext cx="0" cy="384048"/>
          </a:xfrm>
          <a:prstGeom prst="line">
            <a:avLst/>
          </a:prstGeom>
          <a:noFill/>
          <a:ln w="15875">
            <a:solidFill>
              <a:srgbClr val="5DCAA5"/>
            </a:solidFill>
            <a:prstDash val="solid"/>
            <a:tailEnd type="triangle"/>
          </a:ln>
        </p:spPr>
        <p:txBody>
          <a:bodyPr/>
          <a:lstStyle/>
          <a:p>
            <a:endParaRPr lang="en-US"/>
          </a:p>
        </p:txBody>
      </p:sp>
      <p:sp>
        <p:nvSpPr>
          <p:cNvPr id="30" name="Shape 28"/>
          <p:cNvSpPr/>
          <p:nvPr/>
        </p:nvSpPr>
        <p:spPr>
          <a:xfrm>
            <a:off x="2651760" y="5138928"/>
            <a:ext cx="6885432" cy="658368"/>
          </a:xfrm>
          <a:prstGeom prst="roundRect">
            <a:avLst>
              <a:gd name="adj" fmla="val 8333"/>
            </a:avLst>
          </a:prstGeom>
          <a:solidFill>
            <a:srgbClr val="0F6E56"/>
          </a:solidFill>
          <a:ln w="15875">
            <a:solidFill>
              <a:srgbClr val="D35400"/>
            </a:solidFill>
            <a:prstDash val="solid"/>
          </a:ln>
        </p:spPr>
        <p:txBody>
          <a:bodyPr/>
          <a:lstStyle/>
          <a:p>
            <a:endParaRPr lang="en-US"/>
          </a:p>
        </p:txBody>
      </p:sp>
      <p:sp>
        <p:nvSpPr>
          <p:cNvPr id="31" name="Text 29"/>
          <p:cNvSpPr txBox="1"/>
          <p:nvPr/>
        </p:nvSpPr>
        <p:spPr>
          <a:xfrm>
            <a:off x="2651760" y="5138928"/>
            <a:ext cx="6885432"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02.4 Application Portfolio Mapping &amp; Roadmap   </a:t>
            </a:r>
            <a:r>
              <a:rPr lang="en-US" sz="1100" i="1" dirty="0">
                <a:solidFill>
                  <a:srgbClr val="9FE1CB"/>
                </a:solidFill>
                <a:latin typeface="Calibri" pitchFamily="34" charset="0"/>
                <a:ea typeface="Calibri" pitchFamily="34" charset="-122"/>
                <a:cs typeface="Calibri" pitchFamily="34" charset="-120"/>
              </a:rPr>
              <a:t>the confluence — every path leads here</a:t>
            </a:r>
            <a:endParaRPr lang="en-US" sz="1400" dirty="0"/>
          </a:p>
        </p:txBody>
      </p:sp>
      <p:sp>
        <p:nvSpPr>
          <p:cNvPr id="32" name="Shape 30"/>
          <p:cNvSpPr/>
          <p:nvPr/>
        </p:nvSpPr>
        <p:spPr>
          <a:xfrm>
            <a:off x="6089904" y="5797296"/>
            <a:ext cx="0" cy="274320"/>
          </a:xfrm>
          <a:prstGeom prst="line">
            <a:avLst/>
          </a:prstGeom>
          <a:noFill/>
          <a:ln w="19050">
            <a:solidFill>
              <a:srgbClr val="0F6E56"/>
            </a:solidFill>
            <a:prstDash val="solid"/>
            <a:tailEnd type="triangle"/>
          </a:ln>
        </p:spPr>
        <p:txBody>
          <a:bodyPr/>
          <a:lstStyle/>
          <a:p>
            <a:endParaRPr lang="en-US"/>
          </a:p>
        </p:txBody>
      </p:sp>
      <p:sp>
        <p:nvSpPr>
          <p:cNvPr id="33" name="Shape 31"/>
          <p:cNvSpPr/>
          <p:nvPr/>
        </p:nvSpPr>
        <p:spPr>
          <a:xfrm>
            <a:off x="4480560" y="6089904"/>
            <a:ext cx="3227832" cy="457200"/>
          </a:xfrm>
          <a:prstGeom prst="roundRect">
            <a:avLst>
              <a:gd name="adj" fmla="val 12000"/>
            </a:avLst>
          </a:prstGeom>
          <a:solidFill>
            <a:srgbClr val="F3F8F6"/>
          </a:solidFill>
          <a:ln w="9525">
            <a:solidFill>
              <a:srgbClr val="D2E4DD"/>
            </a:solidFill>
            <a:prstDash val="solid"/>
          </a:ln>
        </p:spPr>
        <p:txBody>
          <a:bodyPr/>
          <a:lstStyle/>
          <a:p>
            <a:endParaRPr lang="en-US"/>
          </a:p>
        </p:txBody>
      </p:sp>
      <p:sp>
        <p:nvSpPr>
          <p:cNvPr id="34" name="Text 32"/>
          <p:cNvSpPr txBox="1"/>
          <p:nvPr/>
        </p:nvSpPr>
        <p:spPr>
          <a:xfrm>
            <a:off x="4480560" y="6089904"/>
            <a:ext cx="3227832" cy="457200"/>
          </a:xfrm>
          <a:prstGeom prst="rect">
            <a:avLst/>
          </a:prstGeom>
          <a:noFill/>
          <a:ln/>
        </p:spPr>
        <p:txBody>
          <a:bodyPr wrap="square" lIns="0" tIns="0" rIns="0" bIns="0" rtlCol="0" anchor="ctr"/>
          <a:lstStyle/>
          <a:p>
            <a:pPr marL="0" indent="0" algn="ctr">
              <a:buNone/>
            </a:pPr>
            <a:r>
              <a:rPr lang="en-US" sz="1150" b="1" dirty="0">
                <a:solidFill>
                  <a:srgbClr val="0F6E56"/>
                </a:solidFill>
                <a:latin typeface="Calibri" pitchFamily="34" charset="0"/>
                <a:ea typeface="Calibri" pitchFamily="34" charset="-122"/>
                <a:cs typeface="Calibri" pitchFamily="34" charset="-120"/>
              </a:rPr>
              <a:t>Migration &amp; build delivery</a:t>
            </a:r>
            <a:endParaRPr lang="en-US" sz="1150" dirty="0"/>
          </a:p>
        </p:txBody>
      </p:sp>
      <p:sp>
        <p:nvSpPr>
          <p:cNvPr id="35" name="Text 33"/>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4"/>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Routing map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THE ENGAGEMENT SPINE</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One simple path, five entry points</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The default motion, left to right. Each offering is standalone-sellable — clients can enter at any point in the chain.</a:t>
            </a:r>
            <a:endParaRPr lang="en-US" sz="1200" dirty="0"/>
          </a:p>
        </p:txBody>
      </p:sp>
      <p:sp>
        <p:nvSpPr>
          <p:cNvPr id="5" name="Shape 3"/>
          <p:cNvSpPr/>
          <p:nvPr/>
        </p:nvSpPr>
        <p:spPr>
          <a:xfrm>
            <a:off x="566928" y="2560320"/>
            <a:ext cx="2487168" cy="1554480"/>
          </a:xfrm>
          <a:prstGeom prst="roundRect">
            <a:avLst>
              <a:gd name="adj" fmla="val 4706"/>
            </a:avLst>
          </a:prstGeom>
          <a:solidFill>
            <a:srgbClr val="0A5643"/>
          </a:solidFill>
          <a:ln/>
        </p:spPr>
        <p:txBody>
          <a:bodyPr/>
          <a:lstStyle/>
          <a:p>
            <a:endParaRPr lang="en-US"/>
          </a:p>
        </p:txBody>
      </p:sp>
      <p:sp>
        <p:nvSpPr>
          <p:cNvPr id="6" name="Text 4"/>
          <p:cNvSpPr txBox="1"/>
          <p:nvPr/>
        </p:nvSpPr>
        <p:spPr>
          <a:xfrm>
            <a:off x="749808"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786384"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Diagnose</a:t>
            </a:r>
            <a:endParaRPr lang="en-US" sz="1900" dirty="0"/>
          </a:p>
        </p:txBody>
      </p:sp>
      <p:sp>
        <p:nvSpPr>
          <p:cNvPr id="8" name="Text 6"/>
          <p:cNvSpPr txBox="1"/>
          <p:nvPr/>
        </p:nvSpPr>
        <p:spPr>
          <a:xfrm>
            <a:off x="786384"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Sovereign IQ → Posture IQ / Regulatory IQ</a:t>
            </a:r>
            <a:endParaRPr lang="en-US" sz="1050" dirty="0"/>
          </a:p>
        </p:txBody>
      </p:sp>
      <p:sp>
        <p:nvSpPr>
          <p:cNvPr id="9" name="Shape 7"/>
          <p:cNvSpPr/>
          <p:nvPr/>
        </p:nvSpPr>
        <p:spPr>
          <a:xfrm>
            <a:off x="3108960" y="3337560"/>
            <a:ext cx="274320" cy="0"/>
          </a:xfrm>
          <a:prstGeom prst="line">
            <a:avLst/>
          </a:prstGeom>
          <a:noFill/>
          <a:ln w="25400">
            <a:solidFill>
              <a:srgbClr val="5A6B7B"/>
            </a:solidFill>
            <a:prstDash val="solid"/>
            <a:tailEnd type="triangle"/>
          </a:ln>
        </p:spPr>
        <p:txBody>
          <a:bodyPr/>
          <a:lstStyle/>
          <a:p>
            <a:endParaRPr lang="en-US"/>
          </a:p>
        </p:txBody>
      </p:sp>
      <p:sp>
        <p:nvSpPr>
          <p:cNvPr id="10" name="Shape 8"/>
          <p:cNvSpPr/>
          <p:nvPr/>
        </p:nvSpPr>
        <p:spPr>
          <a:xfrm>
            <a:off x="3328416" y="2560320"/>
            <a:ext cx="2487168" cy="1554480"/>
          </a:xfrm>
          <a:prstGeom prst="roundRect">
            <a:avLst>
              <a:gd name="adj" fmla="val 4706"/>
            </a:avLst>
          </a:prstGeom>
          <a:solidFill>
            <a:srgbClr val="0F6E56"/>
          </a:solidFill>
          <a:ln/>
        </p:spPr>
        <p:txBody>
          <a:bodyPr/>
          <a:lstStyle/>
          <a:p>
            <a:endParaRPr lang="en-US"/>
          </a:p>
        </p:txBody>
      </p:sp>
      <p:sp>
        <p:nvSpPr>
          <p:cNvPr id="11" name="Text 9"/>
          <p:cNvSpPr txBox="1"/>
          <p:nvPr/>
        </p:nvSpPr>
        <p:spPr>
          <a:xfrm>
            <a:off x="3511296"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3547872"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Assess</a:t>
            </a:r>
            <a:endParaRPr lang="en-US" sz="1900" dirty="0"/>
          </a:p>
        </p:txBody>
      </p:sp>
      <p:sp>
        <p:nvSpPr>
          <p:cNvPr id="13" name="Text 11"/>
          <p:cNvSpPr txBox="1"/>
          <p:nvPr/>
        </p:nvSpPr>
        <p:spPr>
          <a:xfrm>
            <a:off x="3547872"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02.1 Posture · 02.2 Data · 02.3 Regulatory</a:t>
            </a:r>
            <a:endParaRPr lang="en-US" sz="1050" dirty="0"/>
          </a:p>
        </p:txBody>
      </p:sp>
      <p:sp>
        <p:nvSpPr>
          <p:cNvPr id="14" name="Shape 12"/>
          <p:cNvSpPr/>
          <p:nvPr/>
        </p:nvSpPr>
        <p:spPr>
          <a:xfrm>
            <a:off x="5870448" y="3337560"/>
            <a:ext cx="274320" cy="0"/>
          </a:xfrm>
          <a:prstGeom prst="line">
            <a:avLst/>
          </a:prstGeom>
          <a:noFill/>
          <a:ln w="25400">
            <a:solidFill>
              <a:srgbClr val="5A6B7B"/>
            </a:solidFill>
            <a:prstDash val="solid"/>
            <a:tailEnd type="triangle"/>
          </a:ln>
        </p:spPr>
        <p:txBody>
          <a:bodyPr/>
          <a:lstStyle/>
          <a:p>
            <a:endParaRPr lang="en-US"/>
          </a:p>
        </p:txBody>
      </p:sp>
      <p:sp>
        <p:nvSpPr>
          <p:cNvPr id="15" name="Shape 13"/>
          <p:cNvSpPr/>
          <p:nvPr/>
        </p:nvSpPr>
        <p:spPr>
          <a:xfrm>
            <a:off x="6089904" y="2560320"/>
            <a:ext cx="2487168" cy="1554480"/>
          </a:xfrm>
          <a:prstGeom prst="roundRect">
            <a:avLst>
              <a:gd name="adj" fmla="val 4706"/>
            </a:avLst>
          </a:prstGeom>
          <a:solidFill>
            <a:srgbClr val="D35400"/>
          </a:solidFill>
          <a:ln/>
        </p:spPr>
        <p:txBody>
          <a:bodyPr/>
          <a:lstStyle/>
          <a:p>
            <a:endParaRPr lang="en-US"/>
          </a:p>
        </p:txBody>
      </p:sp>
      <p:sp>
        <p:nvSpPr>
          <p:cNvPr id="16" name="Text 14"/>
          <p:cNvSpPr txBox="1"/>
          <p:nvPr/>
        </p:nvSpPr>
        <p:spPr>
          <a:xfrm>
            <a:off x="6272784"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3</a:t>
            </a:r>
            <a:endParaRPr lang="en-US" sz="2600" dirty="0"/>
          </a:p>
        </p:txBody>
      </p:sp>
      <p:sp>
        <p:nvSpPr>
          <p:cNvPr id="17" name="Text 15"/>
          <p:cNvSpPr txBox="1"/>
          <p:nvPr/>
        </p:nvSpPr>
        <p:spPr>
          <a:xfrm>
            <a:off x="6309360"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Sequence</a:t>
            </a:r>
            <a:endParaRPr lang="en-US" sz="1900" dirty="0"/>
          </a:p>
        </p:txBody>
      </p:sp>
      <p:sp>
        <p:nvSpPr>
          <p:cNvPr id="18" name="Text 16"/>
          <p:cNvSpPr txBox="1"/>
          <p:nvPr/>
        </p:nvSpPr>
        <p:spPr>
          <a:xfrm>
            <a:off x="6309360"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02.4 Application roadmap</a:t>
            </a:r>
            <a:endParaRPr lang="en-US" sz="1050" dirty="0"/>
          </a:p>
        </p:txBody>
      </p:sp>
      <p:sp>
        <p:nvSpPr>
          <p:cNvPr id="19" name="Shape 17"/>
          <p:cNvSpPr/>
          <p:nvPr/>
        </p:nvSpPr>
        <p:spPr>
          <a:xfrm>
            <a:off x="8631936" y="3337560"/>
            <a:ext cx="274320" cy="0"/>
          </a:xfrm>
          <a:prstGeom prst="line">
            <a:avLst/>
          </a:prstGeom>
          <a:noFill/>
          <a:ln w="25400">
            <a:solidFill>
              <a:srgbClr val="5A6B7B"/>
            </a:solidFill>
            <a:prstDash val="solid"/>
            <a:tailEnd type="triangle"/>
          </a:ln>
        </p:spPr>
        <p:txBody>
          <a:bodyPr/>
          <a:lstStyle/>
          <a:p>
            <a:endParaRPr lang="en-US"/>
          </a:p>
        </p:txBody>
      </p:sp>
      <p:sp>
        <p:nvSpPr>
          <p:cNvPr id="20" name="Shape 18"/>
          <p:cNvSpPr/>
          <p:nvPr/>
        </p:nvSpPr>
        <p:spPr>
          <a:xfrm>
            <a:off x="8851392" y="2560320"/>
            <a:ext cx="2487168" cy="1554480"/>
          </a:xfrm>
          <a:prstGeom prst="roundRect">
            <a:avLst>
              <a:gd name="adj" fmla="val 4706"/>
            </a:avLst>
          </a:prstGeom>
          <a:solidFill>
            <a:srgbClr val="5A6B7B"/>
          </a:solidFill>
          <a:ln/>
        </p:spPr>
        <p:txBody>
          <a:bodyPr/>
          <a:lstStyle/>
          <a:p>
            <a:endParaRPr lang="en-US"/>
          </a:p>
        </p:txBody>
      </p:sp>
      <p:sp>
        <p:nvSpPr>
          <p:cNvPr id="21" name="Text 19"/>
          <p:cNvSpPr txBox="1"/>
          <p:nvPr/>
        </p:nvSpPr>
        <p:spPr>
          <a:xfrm>
            <a:off x="9034272" y="2706624"/>
            <a:ext cx="548640" cy="457200"/>
          </a:xfrm>
          <a:prstGeom prst="rect">
            <a:avLst/>
          </a:prstGeom>
          <a:noFill/>
          <a:ln/>
        </p:spPr>
        <p:txBody>
          <a:bodyPr wrap="square" lIns="0" tIns="0" rIns="0" bIns="0" rtlCol="0" anchor="ctr"/>
          <a:lstStyle/>
          <a:p>
            <a:pPr marL="0" indent="0">
              <a:buNone/>
            </a:pPr>
            <a:r>
              <a:rPr lang="en-US" sz="2600" b="1" dirty="0">
                <a:solidFill>
                  <a:srgbClr val="FFFFFF">
                    <a:alpha val="75000"/>
                  </a:srgbClr>
                </a:solidFill>
                <a:latin typeface="Cambria" pitchFamily="34" charset="0"/>
                <a:ea typeface="Cambria" pitchFamily="34" charset="-122"/>
                <a:cs typeface="Cambria" pitchFamily="34" charset="-120"/>
              </a:rPr>
              <a:t>4</a:t>
            </a:r>
            <a:endParaRPr lang="en-US" sz="2600" dirty="0"/>
          </a:p>
        </p:txBody>
      </p:sp>
      <p:sp>
        <p:nvSpPr>
          <p:cNvPr id="22" name="Text 20"/>
          <p:cNvSpPr txBox="1"/>
          <p:nvPr/>
        </p:nvSpPr>
        <p:spPr>
          <a:xfrm>
            <a:off x="9070848" y="3163824"/>
            <a:ext cx="204825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Deliver</a:t>
            </a:r>
            <a:endParaRPr lang="en-US" sz="1900" dirty="0"/>
          </a:p>
        </p:txBody>
      </p:sp>
      <p:sp>
        <p:nvSpPr>
          <p:cNvPr id="23" name="Text 21"/>
          <p:cNvSpPr txBox="1"/>
          <p:nvPr/>
        </p:nvSpPr>
        <p:spPr>
          <a:xfrm>
            <a:off x="9070848" y="3529584"/>
            <a:ext cx="2048256" cy="502920"/>
          </a:xfrm>
          <a:prstGeom prst="rect">
            <a:avLst/>
          </a:prstGeom>
          <a:noFill/>
          <a:ln/>
        </p:spPr>
        <p:txBody>
          <a:bodyPr wrap="square" lIns="0" tIns="0" rIns="0" bIns="0" rtlCol="0" anchor="ctr"/>
          <a:lstStyle/>
          <a:p>
            <a:pPr marL="0" indent="0">
              <a:lnSpc>
                <a:spcPct val="98000"/>
              </a:lnSpc>
              <a:buNone/>
            </a:pPr>
            <a:r>
              <a:rPr lang="en-US" sz="1050" dirty="0">
                <a:solidFill>
                  <a:srgbClr val="F0F7F4"/>
                </a:solidFill>
                <a:latin typeface="Calibri" pitchFamily="34" charset="0"/>
                <a:ea typeface="Calibri" pitchFamily="34" charset="-122"/>
                <a:cs typeface="Calibri" pitchFamily="34" charset="-120"/>
              </a:rPr>
              <a:t>Migration &amp; build — accountable to outcome</a:t>
            </a:r>
            <a:endParaRPr lang="en-US" sz="1050" dirty="0"/>
          </a:p>
        </p:txBody>
      </p:sp>
      <p:sp>
        <p:nvSpPr>
          <p:cNvPr id="24" name="Shape 22"/>
          <p:cNvSpPr/>
          <p:nvPr/>
        </p:nvSpPr>
        <p:spPr>
          <a:xfrm>
            <a:off x="640080" y="4617720"/>
            <a:ext cx="10908792" cy="868680"/>
          </a:xfrm>
          <a:prstGeom prst="roundRect">
            <a:avLst>
              <a:gd name="adj" fmla="val 6316"/>
            </a:avLst>
          </a:prstGeom>
          <a:solidFill>
            <a:srgbClr val="E1F5EE"/>
          </a:solidFill>
          <a:ln w="9525">
            <a:solidFill>
              <a:srgbClr val="5DCAA5"/>
            </a:solidFill>
            <a:prstDash val="solid"/>
          </a:ln>
        </p:spPr>
        <p:txBody>
          <a:bodyPr/>
          <a:lstStyle/>
          <a:p>
            <a:endParaRPr lang="en-US"/>
          </a:p>
        </p:txBody>
      </p:sp>
      <p:sp>
        <p:nvSpPr>
          <p:cNvPr id="25" name="Text 23"/>
          <p:cNvSpPr txBox="1"/>
          <p:nvPr/>
        </p:nvSpPr>
        <p:spPr>
          <a:xfrm>
            <a:off x="868680" y="4709160"/>
            <a:ext cx="10424160" cy="685800"/>
          </a:xfrm>
          <a:prstGeom prst="rect">
            <a:avLst/>
          </a:prstGeom>
          <a:noFill/>
          <a:ln/>
        </p:spPr>
        <p:txBody>
          <a:bodyPr wrap="square" lIns="0" tIns="0" rIns="0" bIns="0" rtlCol="0" anchor="ctr"/>
          <a:lstStyle/>
          <a:p>
            <a:pPr marL="0" indent="0">
              <a:lnSpc>
                <a:spcPct val="105000"/>
              </a:lnSpc>
              <a:buNone/>
            </a:pPr>
            <a:r>
              <a:rPr lang="en-US" sz="1100" b="1" kern="0" spc="100" dirty="0">
                <a:solidFill>
                  <a:srgbClr val="0F6E56"/>
                </a:solidFill>
                <a:latin typeface="Calibri" pitchFamily="34" charset="0"/>
                <a:ea typeface="Calibri" pitchFamily="34" charset="-122"/>
                <a:cs typeface="Calibri" pitchFamily="34" charset="-120"/>
              </a:rPr>
              <a:t>Why this works   </a:t>
            </a:r>
            <a:r>
              <a:rPr lang="en-US" sz="1400" i="1" dirty="0">
                <a:solidFill>
                  <a:srgbClr val="0A5643"/>
                </a:solidFill>
                <a:latin typeface="Cambria" pitchFamily="34" charset="0"/>
                <a:ea typeface="Cambria" pitchFamily="34" charset="-122"/>
                <a:cs typeface="Cambria" pitchFamily="34" charset="-120"/>
              </a:rPr>
              <a:t>Advisory earns the right to the delivery behind it. LTM stays accountable past the recommendation — the team that maps the exposure is the team that moves the workloads.</a:t>
            </a:r>
            <a:endParaRPr lang="en-US" sz="1100" dirty="0"/>
          </a:p>
        </p:txBody>
      </p:sp>
      <p:sp>
        <p:nvSpPr>
          <p:cNvPr id="26" name="Text 24"/>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7" name="Text 25"/>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Engagement spine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HOW EVERY ENGAGEMENT BEGINS</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marL="0" indent="0">
              <a:buNone/>
            </a:pPr>
            <a:r>
              <a:rPr lang="en-US" sz="2500" b="1" dirty="0">
                <a:solidFill>
                  <a:srgbClr val="1B1F23"/>
                </a:solidFill>
                <a:latin typeface="Cambria" pitchFamily="34" charset="0"/>
                <a:ea typeface="Cambria" pitchFamily="34" charset="-122"/>
                <a:cs typeface="Cambria" pitchFamily="34" charset="-120"/>
              </a:rPr>
              <a:t>Three accelerators. Breadth, then depth.</a:t>
            </a:r>
            <a:endParaRPr lang="en-US" sz="2500" dirty="0"/>
          </a:p>
        </p:txBody>
      </p:sp>
      <p:sp>
        <p:nvSpPr>
          <p:cNvPr id="4" name="Text 2"/>
          <p:cNvSpPr txBox="1"/>
          <p:nvPr/>
        </p:nvSpPr>
        <p:spPr>
          <a:xfrm>
            <a:off x="502920" y="1188720"/>
            <a:ext cx="10972800" cy="27432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Start with a diagnostic, not a pitch. A free self-assessment scopes the exposure; a deeper read pinpoints it; the evidence chooses the offering.</a:t>
            </a:r>
            <a:endParaRPr lang="en-US" sz="1200" dirty="0"/>
          </a:p>
        </p:txBody>
      </p:sp>
      <p:sp>
        <p:nvSpPr>
          <p:cNvPr id="5" name="Shape 3"/>
          <p:cNvSpPr/>
          <p:nvPr/>
        </p:nvSpPr>
        <p:spPr>
          <a:xfrm>
            <a:off x="502920" y="1828800"/>
            <a:ext cx="3602736" cy="3200400"/>
          </a:xfrm>
          <a:prstGeom prst="roundRect">
            <a:avLst>
              <a:gd name="adj" fmla="val 2000"/>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828800"/>
            <a:ext cx="3602736" cy="1051560"/>
          </a:xfrm>
          <a:prstGeom prst="roundRect">
            <a:avLst>
              <a:gd name="adj" fmla="val 6087"/>
            </a:avLst>
          </a:prstGeom>
          <a:solidFill>
            <a:srgbClr val="0F6E56"/>
          </a:solidFill>
          <a:ln/>
        </p:spPr>
        <p:txBody>
          <a:bodyPr/>
          <a:lstStyle/>
          <a:p>
            <a:endParaRPr lang="en-US"/>
          </a:p>
        </p:txBody>
      </p:sp>
      <p:sp>
        <p:nvSpPr>
          <p:cNvPr id="7" name="Shape 5"/>
          <p:cNvSpPr/>
          <p:nvPr/>
        </p:nvSpPr>
        <p:spPr>
          <a:xfrm>
            <a:off x="502920" y="2331720"/>
            <a:ext cx="3602736" cy="54864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58952" y="2103120"/>
            <a:ext cx="502920" cy="502920"/>
          </a:xfrm>
          <a:prstGeom prst="rect">
            <a:avLst/>
          </a:prstGeom>
        </p:spPr>
      </p:pic>
      <p:sp>
        <p:nvSpPr>
          <p:cNvPr id="9" name="Text 6"/>
          <p:cNvSpPr txBox="1"/>
          <p:nvPr/>
        </p:nvSpPr>
        <p:spPr>
          <a:xfrm>
            <a:off x="139903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Sovereign IQ</a:t>
            </a:r>
            <a:endParaRPr lang="en-US" sz="1900" dirty="0"/>
          </a:p>
        </p:txBody>
      </p:sp>
      <p:sp>
        <p:nvSpPr>
          <p:cNvPr id="10" name="Text 7"/>
          <p:cNvSpPr txBox="1"/>
          <p:nvPr/>
        </p:nvSpPr>
        <p:spPr>
          <a:xfrm>
            <a:off x="1417320" y="2468880"/>
            <a:ext cx="2596896" cy="256032"/>
          </a:xfrm>
          <a:prstGeom prst="rect">
            <a:avLst/>
          </a:prstGeom>
          <a:noFill/>
          <a:ln/>
        </p:spPr>
        <p:txBody>
          <a:bodyPr wrap="square" lIns="0" tIns="0" rIns="0" bIns="0" rtlCol="0" anchor="ctr"/>
          <a:lstStyle/>
          <a:p>
            <a:pPr marL="0" indent="0">
              <a:buNone/>
            </a:pPr>
            <a:r>
              <a:rPr lang="en-US" sz="950" b="1" kern="0" spc="150" dirty="0">
                <a:solidFill>
                  <a:srgbClr val="9FE1CB"/>
                </a:solidFill>
                <a:latin typeface="Calibri" pitchFamily="34" charset="0"/>
                <a:ea typeface="Calibri" pitchFamily="34" charset="-122"/>
                <a:cs typeface="Calibri" pitchFamily="34" charset="-120"/>
              </a:rPr>
              <a:t>FREE · SELF-SERVE</a:t>
            </a:r>
            <a:endParaRPr lang="en-US" sz="950" dirty="0"/>
          </a:p>
        </p:txBody>
      </p:sp>
      <p:sp>
        <p:nvSpPr>
          <p:cNvPr id="11" name="Text 8"/>
          <p:cNvSpPr txBox="1"/>
          <p:nvPr/>
        </p:nvSpPr>
        <p:spPr>
          <a:xfrm>
            <a:off x="758952" y="3035808"/>
            <a:ext cx="3090672" cy="914400"/>
          </a:xfrm>
          <a:prstGeom prst="rect">
            <a:avLst/>
          </a:prstGeom>
          <a:noFill/>
          <a:ln/>
        </p:spPr>
        <p:txBody>
          <a:bodyPr wrap="square" lIns="0" tIns="0" rIns="0" bIns="0" rtlCol="0" anchor="ctr"/>
          <a:lstStyle/>
          <a:p>
            <a:pPr marL="0" indent="0">
              <a:lnSpc>
                <a:spcPct val="105000"/>
              </a:lnSpc>
              <a:buNone/>
            </a:pPr>
            <a:r>
              <a:rPr lang="en-US" sz="1350" i="1" dirty="0">
                <a:solidFill>
                  <a:srgbClr val="0F6E56"/>
                </a:solidFill>
                <a:latin typeface="Cambria" pitchFamily="34" charset="0"/>
                <a:ea typeface="Cambria" pitchFamily="34" charset="-122"/>
                <a:cs typeface="Cambria" pitchFamily="34" charset="-120"/>
              </a:rPr>
              <a:t>“Where do I broadly stand on sovereignty, and what should I worry about?”</a:t>
            </a:r>
            <a:endParaRPr lang="en-US" sz="1350" dirty="0"/>
          </a:p>
        </p:txBody>
      </p:sp>
      <p:sp>
        <p:nvSpPr>
          <p:cNvPr id="12" name="Shape 9"/>
          <p:cNvSpPr/>
          <p:nvPr/>
        </p:nvSpPr>
        <p:spPr>
          <a:xfrm>
            <a:off x="758952" y="4041648"/>
            <a:ext cx="3090672"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58952" y="4133088"/>
            <a:ext cx="3090672" cy="777240"/>
          </a:xfrm>
          <a:prstGeom prst="rect">
            <a:avLst/>
          </a:prstGeom>
          <a:noFill/>
          <a:ln/>
        </p:spPr>
        <p:txBody>
          <a:bodyPr wrap="square" lIns="0" tIns="0" rIns="0" bIns="0" rtlCol="0" anchor="ctr"/>
          <a:lstStyle/>
          <a:p>
            <a:pPr marL="0" indent="0">
              <a:lnSpc>
                <a:spcPct val="102000"/>
              </a:lnSpc>
              <a:buNone/>
            </a:pPr>
            <a:r>
              <a:rPr lang="en-US" sz="1050" dirty="0">
                <a:solidFill>
                  <a:srgbClr val="3C4A44"/>
                </a:solidFill>
                <a:latin typeface="Calibri" pitchFamily="34" charset="0"/>
                <a:ea typeface="Calibri" pitchFamily="34" charset="-122"/>
                <a:cs typeface="Calibri" pitchFamily="34" charset="-120"/>
              </a:rPr>
              <a:t>A board-level self-assessment anyone can take in minutes. Produces a first exposure signal and a shortlist of where to look harder.</a:t>
            </a:r>
            <a:endParaRPr lang="en-US" sz="1050" dirty="0"/>
          </a:p>
        </p:txBody>
      </p:sp>
      <p:sp>
        <p:nvSpPr>
          <p:cNvPr id="14" name="Shape 11"/>
          <p:cNvSpPr/>
          <p:nvPr/>
        </p:nvSpPr>
        <p:spPr>
          <a:xfrm>
            <a:off x="4343400" y="1828800"/>
            <a:ext cx="3602736" cy="3200400"/>
          </a:xfrm>
          <a:prstGeom prst="roundRect">
            <a:avLst>
              <a:gd name="adj" fmla="val 2000"/>
            </a:avLst>
          </a:prstGeom>
          <a:solidFill>
            <a:srgbClr val="F3F8F6"/>
          </a:solidFill>
          <a:ln w="9525">
            <a:solidFill>
              <a:srgbClr val="D2E4DD"/>
            </a:solidFill>
            <a:prstDash val="solid"/>
          </a:ln>
        </p:spPr>
        <p:txBody>
          <a:bodyPr/>
          <a:lstStyle/>
          <a:p>
            <a:endParaRPr lang="en-US"/>
          </a:p>
        </p:txBody>
      </p:sp>
      <p:sp>
        <p:nvSpPr>
          <p:cNvPr id="15" name="Shape 12"/>
          <p:cNvSpPr/>
          <p:nvPr/>
        </p:nvSpPr>
        <p:spPr>
          <a:xfrm>
            <a:off x="4343400" y="1828800"/>
            <a:ext cx="3602736" cy="1051560"/>
          </a:xfrm>
          <a:prstGeom prst="roundRect">
            <a:avLst>
              <a:gd name="adj" fmla="val 6087"/>
            </a:avLst>
          </a:prstGeom>
          <a:solidFill>
            <a:srgbClr val="0A5643"/>
          </a:solidFill>
          <a:ln/>
        </p:spPr>
        <p:txBody>
          <a:bodyPr/>
          <a:lstStyle/>
          <a:p>
            <a:endParaRPr lang="en-US"/>
          </a:p>
        </p:txBody>
      </p:sp>
      <p:sp>
        <p:nvSpPr>
          <p:cNvPr id="16" name="Shape 13"/>
          <p:cNvSpPr/>
          <p:nvPr/>
        </p:nvSpPr>
        <p:spPr>
          <a:xfrm>
            <a:off x="4343400" y="2331720"/>
            <a:ext cx="3602736" cy="548640"/>
          </a:xfrm>
          <a:prstGeom prst="rect">
            <a:avLst/>
          </a:prstGeom>
          <a:solidFill>
            <a:srgbClr val="0A5643"/>
          </a:solidFill>
          <a:ln/>
        </p:spPr>
        <p:txBody>
          <a:bodyPr/>
          <a:lstStyle/>
          <a:p>
            <a:endParaRPr lang="en-US"/>
          </a:p>
        </p:txBody>
      </p:sp>
      <p:pic>
        <p:nvPicPr>
          <p:cNvPr id="17" name="Image 1" descr="/home/claude/s_postureiq.png"/>
          <p:cNvPicPr>
            <a:picLocks noChangeAspect="1"/>
          </p:cNvPicPr>
          <p:nvPr/>
        </p:nvPicPr>
        <p:blipFill>
          <a:blip r:embed="rId4"/>
          <a:stretch>
            <a:fillRect/>
          </a:stretch>
        </p:blipFill>
        <p:spPr>
          <a:xfrm>
            <a:off x="4599432" y="2103120"/>
            <a:ext cx="502920" cy="502920"/>
          </a:xfrm>
          <a:prstGeom prst="rect">
            <a:avLst/>
          </a:prstGeom>
        </p:spPr>
      </p:pic>
      <p:sp>
        <p:nvSpPr>
          <p:cNvPr id="18" name="Text 14"/>
          <p:cNvSpPr txBox="1"/>
          <p:nvPr/>
        </p:nvSpPr>
        <p:spPr>
          <a:xfrm>
            <a:off x="523951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Posture IQ</a:t>
            </a:r>
            <a:endParaRPr lang="en-US" sz="1900" dirty="0"/>
          </a:p>
        </p:txBody>
      </p:sp>
      <p:sp>
        <p:nvSpPr>
          <p:cNvPr id="19" name="Text 15"/>
          <p:cNvSpPr txBox="1"/>
          <p:nvPr/>
        </p:nvSpPr>
        <p:spPr>
          <a:xfrm>
            <a:off x="5257800" y="2468880"/>
            <a:ext cx="2596896" cy="256032"/>
          </a:xfrm>
          <a:prstGeom prst="rect">
            <a:avLst/>
          </a:prstGeom>
          <a:noFill/>
          <a:ln/>
        </p:spPr>
        <p:txBody>
          <a:bodyPr wrap="square" lIns="0" tIns="0" rIns="0" bIns="0" rtlCol="0" anchor="ctr"/>
          <a:lstStyle/>
          <a:p>
            <a:pPr marL="0" indent="0">
              <a:buNone/>
            </a:pPr>
            <a:r>
              <a:rPr lang="en-US" sz="950" b="1" kern="0" spc="150" dirty="0">
                <a:solidFill>
                  <a:srgbClr val="9FE1CB"/>
                </a:solidFill>
                <a:latin typeface="Calibri" pitchFamily="34" charset="0"/>
                <a:ea typeface="Calibri" pitchFamily="34" charset="-122"/>
                <a:cs typeface="Calibri" pitchFamily="34" charset="-120"/>
              </a:rPr>
              <a:t>GATED · LTM-LED</a:t>
            </a:r>
            <a:endParaRPr lang="en-US" sz="950" dirty="0"/>
          </a:p>
        </p:txBody>
      </p:sp>
      <p:sp>
        <p:nvSpPr>
          <p:cNvPr id="20" name="Text 16"/>
          <p:cNvSpPr txBox="1"/>
          <p:nvPr/>
        </p:nvSpPr>
        <p:spPr>
          <a:xfrm>
            <a:off x="4599432" y="3035808"/>
            <a:ext cx="3090672" cy="914400"/>
          </a:xfrm>
          <a:prstGeom prst="rect">
            <a:avLst/>
          </a:prstGeom>
          <a:noFill/>
          <a:ln/>
        </p:spPr>
        <p:txBody>
          <a:bodyPr wrap="square" lIns="0" tIns="0" rIns="0" bIns="0" rtlCol="0" anchor="ctr"/>
          <a:lstStyle/>
          <a:p>
            <a:pPr marL="0" indent="0">
              <a:lnSpc>
                <a:spcPct val="105000"/>
              </a:lnSpc>
              <a:buNone/>
            </a:pPr>
            <a:r>
              <a:rPr lang="en-US" sz="1350" i="1" dirty="0">
                <a:solidFill>
                  <a:srgbClr val="0F6E56"/>
                </a:solidFill>
                <a:latin typeface="Cambria" pitchFamily="34" charset="0"/>
                <a:ea typeface="Cambria" pitchFamily="34" charset="-122"/>
                <a:cs typeface="Cambria" pitchFamily="34" charset="-120"/>
              </a:rPr>
              <a:t>“Where is my real exposure across data, infrastructure and cross-border flows?”</a:t>
            </a:r>
            <a:endParaRPr lang="en-US" sz="1350" dirty="0"/>
          </a:p>
        </p:txBody>
      </p:sp>
      <p:sp>
        <p:nvSpPr>
          <p:cNvPr id="21" name="Shape 17"/>
          <p:cNvSpPr/>
          <p:nvPr/>
        </p:nvSpPr>
        <p:spPr>
          <a:xfrm>
            <a:off x="4599432" y="4041648"/>
            <a:ext cx="3090672" cy="0"/>
          </a:xfrm>
          <a:prstGeom prst="line">
            <a:avLst/>
          </a:prstGeom>
          <a:noFill/>
          <a:ln w="12700">
            <a:solidFill>
              <a:srgbClr val="D2E4DD"/>
            </a:solidFill>
            <a:prstDash val="solid"/>
          </a:ln>
        </p:spPr>
        <p:txBody>
          <a:bodyPr/>
          <a:lstStyle/>
          <a:p>
            <a:endParaRPr lang="en-US"/>
          </a:p>
        </p:txBody>
      </p:sp>
      <p:sp>
        <p:nvSpPr>
          <p:cNvPr id="22" name="Text 18"/>
          <p:cNvSpPr txBox="1"/>
          <p:nvPr/>
        </p:nvSpPr>
        <p:spPr>
          <a:xfrm>
            <a:off x="4599432" y="4133088"/>
            <a:ext cx="3090672" cy="777240"/>
          </a:xfrm>
          <a:prstGeom prst="rect">
            <a:avLst/>
          </a:prstGeom>
          <a:noFill/>
          <a:ln/>
        </p:spPr>
        <p:txBody>
          <a:bodyPr wrap="square" lIns="0" tIns="0" rIns="0" bIns="0" rtlCol="0" anchor="ctr"/>
          <a:lstStyle/>
          <a:p>
            <a:pPr marL="0" indent="0">
              <a:lnSpc>
                <a:spcPct val="102000"/>
              </a:lnSpc>
              <a:buNone/>
            </a:pPr>
            <a:r>
              <a:rPr lang="en-US" sz="1050" dirty="0">
                <a:solidFill>
                  <a:srgbClr val="3C4A44"/>
                </a:solidFill>
                <a:latin typeface="Calibri" pitchFamily="34" charset="0"/>
                <a:ea typeface="Calibri" pitchFamily="34" charset="-122"/>
                <a:cs typeface="Calibri" pitchFamily="34" charset="-120"/>
              </a:rPr>
              <a:t>The technical depth read behind the posture, data and sovereign-AI offerings (02.1, 02.2, 02.5).</a:t>
            </a:r>
            <a:endParaRPr lang="en-US" sz="1050" dirty="0"/>
          </a:p>
        </p:txBody>
      </p:sp>
      <p:sp>
        <p:nvSpPr>
          <p:cNvPr id="23" name="Shape 19"/>
          <p:cNvSpPr/>
          <p:nvPr/>
        </p:nvSpPr>
        <p:spPr>
          <a:xfrm>
            <a:off x="8183880" y="1828800"/>
            <a:ext cx="3602736" cy="3200400"/>
          </a:xfrm>
          <a:prstGeom prst="roundRect">
            <a:avLst>
              <a:gd name="adj" fmla="val 2000"/>
            </a:avLst>
          </a:prstGeom>
          <a:solidFill>
            <a:srgbClr val="F3F8F6"/>
          </a:solidFill>
          <a:ln w="9525">
            <a:solidFill>
              <a:srgbClr val="D2E4DD"/>
            </a:solidFill>
            <a:prstDash val="solid"/>
          </a:ln>
        </p:spPr>
        <p:txBody>
          <a:bodyPr/>
          <a:lstStyle/>
          <a:p>
            <a:endParaRPr lang="en-US"/>
          </a:p>
        </p:txBody>
      </p:sp>
      <p:sp>
        <p:nvSpPr>
          <p:cNvPr id="24" name="Shape 20"/>
          <p:cNvSpPr/>
          <p:nvPr/>
        </p:nvSpPr>
        <p:spPr>
          <a:xfrm>
            <a:off x="8183880" y="1828800"/>
            <a:ext cx="3602736" cy="1051560"/>
          </a:xfrm>
          <a:prstGeom prst="roundRect">
            <a:avLst>
              <a:gd name="adj" fmla="val 6087"/>
            </a:avLst>
          </a:prstGeom>
          <a:solidFill>
            <a:srgbClr val="0A5643"/>
          </a:solidFill>
          <a:ln/>
        </p:spPr>
        <p:txBody>
          <a:bodyPr/>
          <a:lstStyle/>
          <a:p>
            <a:endParaRPr lang="en-US"/>
          </a:p>
        </p:txBody>
      </p:sp>
      <p:sp>
        <p:nvSpPr>
          <p:cNvPr id="25" name="Shape 21"/>
          <p:cNvSpPr/>
          <p:nvPr/>
        </p:nvSpPr>
        <p:spPr>
          <a:xfrm>
            <a:off x="8183880" y="2331720"/>
            <a:ext cx="3602736" cy="548640"/>
          </a:xfrm>
          <a:prstGeom prst="rect">
            <a:avLst/>
          </a:prstGeom>
          <a:solidFill>
            <a:srgbClr val="0A5643"/>
          </a:solidFill>
          <a:ln/>
        </p:spPr>
        <p:txBody>
          <a:bodyPr/>
          <a:lstStyle/>
          <a:p>
            <a:endParaRPr lang="en-US"/>
          </a:p>
        </p:txBody>
      </p:sp>
      <p:pic>
        <p:nvPicPr>
          <p:cNvPr id="26" name="Image 2" descr="/home/claude/s_regiq.png"/>
          <p:cNvPicPr>
            <a:picLocks noChangeAspect="1"/>
          </p:cNvPicPr>
          <p:nvPr/>
        </p:nvPicPr>
        <p:blipFill>
          <a:blip r:embed="rId5"/>
          <a:stretch>
            <a:fillRect/>
          </a:stretch>
        </p:blipFill>
        <p:spPr>
          <a:xfrm>
            <a:off x="8439912" y="2103120"/>
            <a:ext cx="502920" cy="502920"/>
          </a:xfrm>
          <a:prstGeom prst="rect">
            <a:avLst/>
          </a:prstGeom>
        </p:spPr>
      </p:pic>
      <p:sp>
        <p:nvSpPr>
          <p:cNvPr id="27" name="Text 22"/>
          <p:cNvSpPr txBox="1"/>
          <p:nvPr/>
        </p:nvSpPr>
        <p:spPr>
          <a:xfrm>
            <a:off x="9079992" y="2066544"/>
            <a:ext cx="2596896"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Regulatory IQ</a:t>
            </a:r>
            <a:endParaRPr lang="en-US" sz="1900" dirty="0"/>
          </a:p>
        </p:txBody>
      </p:sp>
      <p:sp>
        <p:nvSpPr>
          <p:cNvPr id="28" name="Text 23"/>
          <p:cNvSpPr txBox="1"/>
          <p:nvPr/>
        </p:nvSpPr>
        <p:spPr>
          <a:xfrm>
            <a:off x="9098280" y="2468880"/>
            <a:ext cx="2596896" cy="256032"/>
          </a:xfrm>
          <a:prstGeom prst="rect">
            <a:avLst/>
          </a:prstGeom>
          <a:noFill/>
          <a:ln/>
        </p:spPr>
        <p:txBody>
          <a:bodyPr wrap="square" lIns="0" tIns="0" rIns="0" bIns="0" rtlCol="0" anchor="ctr"/>
          <a:lstStyle/>
          <a:p>
            <a:pPr marL="0" indent="0">
              <a:buNone/>
            </a:pPr>
            <a:r>
              <a:rPr lang="en-US" sz="950" b="1" kern="0" spc="150" dirty="0">
                <a:solidFill>
                  <a:srgbClr val="9FE1CB"/>
                </a:solidFill>
                <a:latin typeface="Calibri" pitchFamily="34" charset="0"/>
                <a:ea typeface="Calibri" pitchFamily="34" charset="-122"/>
                <a:cs typeface="Calibri" pitchFamily="34" charset="-120"/>
              </a:rPr>
              <a:t>GATED · LTM-LED</a:t>
            </a:r>
            <a:endParaRPr lang="en-US" sz="950" dirty="0"/>
          </a:p>
        </p:txBody>
      </p:sp>
      <p:sp>
        <p:nvSpPr>
          <p:cNvPr id="29" name="Text 24"/>
          <p:cNvSpPr txBox="1"/>
          <p:nvPr/>
        </p:nvSpPr>
        <p:spPr>
          <a:xfrm>
            <a:off x="8439912" y="3035808"/>
            <a:ext cx="3090672" cy="914400"/>
          </a:xfrm>
          <a:prstGeom prst="rect">
            <a:avLst/>
          </a:prstGeom>
          <a:noFill/>
          <a:ln/>
        </p:spPr>
        <p:txBody>
          <a:bodyPr wrap="square" lIns="0" tIns="0" rIns="0" bIns="0" rtlCol="0" anchor="ctr"/>
          <a:lstStyle/>
          <a:p>
            <a:pPr marL="0" indent="0">
              <a:lnSpc>
                <a:spcPct val="105000"/>
              </a:lnSpc>
              <a:buNone/>
            </a:pPr>
            <a:r>
              <a:rPr lang="en-US" sz="1350" i="1" dirty="0">
                <a:solidFill>
                  <a:srgbClr val="0F6E56"/>
                </a:solidFill>
                <a:latin typeface="Cambria" pitchFamily="34" charset="0"/>
                <a:ea typeface="Cambria" pitchFamily="34" charset="-122"/>
                <a:cs typeface="Cambria" pitchFamily="34" charset="-120"/>
              </a:rPr>
              <a:t>“How compliant am I against the specific Act that binds me?”</a:t>
            </a:r>
            <a:endParaRPr lang="en-US" sz="1350" dirty="0"/>
          </a:p>
        </p:txBody>
      </p:sp>
      <p:sp>
        <p:nvSpPr>
          <p:cNvPr id="30" name="Shape 25"/>
          <p:cNvSpPr/>
          <p:nvPr/>
        </p:nvSpPr>
        <p:spPr>
          <a:xfrm>
            <a:off x="8439912" y="4041648"/>
            <a:ext cx="3090672" cy="0"/>
          </a:xfrm>
          <a:prstGeom prst="line">
            <a:avLst/>
          </a:prstGeom>
          <a:noFill/>
          <a:ln w="12700">
            <a:solidFill>
              <a:srgbClr val="D2E4DD"/>
            </a:solidFill>
            <a:prstDash val="solid"/>
          </a:ln>
        </p:spPr>
        <p:txBody>
          <a:bodyPr/>
          <a:lstStyle/>
          <a:p>
            <a:endParaRPr lang="en-US"/>
          </a:p>
        </p:txBody>
      </p:sp>
      <p:sp>
        <p:nvSpPr>
          <p:cNvPr id="31" name="Text 26"/>
          <p:cNvSpPr txBox="1"/>
          <p:nvPr/>
        </p:nvSpPr>
        <p:spPr>
          <a:xfrm>
            <a:off x="8439912" y="4133088"/>
            <a:ext cx="3090672" cy="777240"/>
          </a:xfrm>
          <a:prstGeom prst="rect">
            <a:avLst/>
          </a:prstGeom>
          <a:noFill/>
          <a:ln/>
        </p:spPr>
        <p:txBody>
          <a:bodyPr wrap="square" lIns="0" tIns="0" rIns="0" bIns="0" rtlCol="0" anchor="ctr"/>
          <a:lstStyle/>
          <a:p>
            <a:pPr marL="0" indent="0">
              <a:lnSpc>
                <a:spcPct val="102000"/>
              </a:lnSpc>
              <a:buNone/>
            </a:pPr>
            <a:r>
              <a:rPr lang="en-US" sz="1050" dirty="0">
                <a:solidFill>
                  <a:srgbClr val="3C4A44"/>
                </a:solidFill>
                <a:latin typeface="Calibri" pitchFamily="34" charset="0"/>
                <a:ea typeface="Calibri" pitchFamily="34" charset="-122"/>
                <a:cs typeface="Calibri" pitchFamily="34" charset="-120"/>
              </a:rPr>
              <a:t>A per-Act gap read — DORA, NIS2, EU AI Act, DPDP. Feeds Regulatory Alignment &amp; Exit Strategy (02.3).</a:t>
            </a:r>
            <a:endParaRPr lang="en-US" sz="1050" dirty="0"/>
          </a:p>
        </p:txBody>
      </p:sp>
      <p:sp>
        <p:nvSpPr>
          <p:cNvPr id="32" name="Shape 27"/>
          <p:cNvSpPr/>
          <p:nvPr/>
        </p:nvSpPr>
        <p:spPr>
          <a:xfrm>
            <a:off x="502920" y="5285232"/>
            <a:ext cx="11183112" cy="658368"/>
          </a:xfrm>
          <a:prstGeom prst="roundRect">
            <a:avLst>
              <a:gd name="adj" fmla="val 8333"/>
            </a:avLst>
          </a:prstGeom>
          <a:solidFill>
            <a:srgbClr val="E1F5EE"/>
          </a:solidFill>
          <a:ln w="9525">
            <a:solidFill>
              <a:srgbClr val="5DCAA5"/>
            </a:solidFill>
            <a:prstDash val="solid"/>
          </a:ln>
        </p:spPr>
        <p:txBody>
          <a:bodyPr/>
          <a:lstStyle/>
          <a:p>
            <a:endParaRPr lang="en-US"/>
          </a:p>
        </p:txBody>
      </p:sp>
      <p:sp>
        <p:nvSpPr>
          <p:cNvPr id="33" name="Text 28"/>
          <p:cNvSpPr txBox="1"/>
          <p:nvPr/>
        </p:nvSpPr>
        <p:spPr>
          <a:xfrm>
            <a:off x="777240" y="5394960"/>
            <a:ext cx="10698480" cy="457200"/>
          </a:xfrm>
          <a:prstGeom prst="rect">
            <a:avLst/>
          </a:prstGeom>
          <a:noFill/>
          <a:ln/>
        </p:spPr>
        <p:txBody>
          <a:bodyPr wrap="square" lIns="0" tIns="0" rIns="0" bIns="0" rtlCol="0" anchor="ctr"/>
          <a:lstStyle/>
          <a:p>
            <a:pPr marL="0" indent="0">
              <a:buNone/>
            </a:pPr>
            <a:r>
              <a:rPr lang="en-US" sz="1050" b="1" kern="0" spc="150" dirty="0">
                <a:solidFill>
                  <a:srgbClr val="0F6E56"/>
                </a:solidFill>
                <a:latin typeface="Calibri" pitchFamily="34" charset="0"/>
                <a:ea typeface="Calibri" pitchFamily="34" charset="-122"/>
                <a:cs typeface="Calibri" pitchFamily="34" charset="-120"/>
              </a:rPr>
              <a:t>THE PATH   </a:t>
            </a:r>
            <a:r>
              <a:rPr lang="en-US" sz="1400" i="1" dirty="0">
                <a:solidFill>
                  <a:srgbClr val="0A5643"/>
                </a:solidFill>
                <a:latin typeface="Cambria" pitchFamily="34" charset="0"/>
                <a:ea typeface="Cambria" pitchFamily="34" charset="-122"/>
                <a:cs typeface="Cambria" pitchFamily="34" charset="-120"/>
              </a:rPr>
              <a:t>Sovereign IQ  →  Posture IQ / Regulatory IQ  →  the offering the evidence points to  →  02.4 roadmap  →  delivery</a:t>
            </a:r>
            <a:endParaRPr lang="en-US" sz="1050" dirty="0"/>
          </a:p>
        </p:txBody>
      </p:sp>
      <p:sp>
        <p:nvSpPr>
          <p:cNvPr id="34" name="Text 29"/>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5" name="Text 30"/>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Accelerators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OUT-GOVERN THE MAP.</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02.1   </a:t>
            </a:r>
            <a:r>
              <a:rPr lang="en-US" sz="2400" b="1" dirty="0">
                <a:solidFill>
                  <a:srgbClr val="1B1F23"/>
                </a:solidFill>
                <a:latin typeface="Cambria" pitchFamily="34" charset="0"/>
                <a:ea typeface="Cambria" pitchFamily="34" charset="-122"/>
                <a:cs typeface="Cambria" pitchFamily="34" charset="-120"/>
              </a:rPr>
              <a:t>Sovereignty Posture &amp; Geopatriation Advisory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Posture IQ (infra / jurisdiction lens)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02.4 Application Portfolio Mapping &amp; Roadmap → migration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Gives the CIO a defensible, board-ready answer to where our data lives, who can reach it, and what happens if that access is withdrawn. It establishes the enterprise’s true sovereignty posture across infrastructure, data and third-party exposure, then builds a costed geopatriation case — which workloads move to regional or sovereign providers, at what cost, and in what sequence. LTM stays accountable past the recommendation: the team that maps the exposure can move the workloads.</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Worldwide sovereign cloud IaaS spending is forecast to reach $80B in 2026, up 35.6% YoY; in Europe it rises 83% to $12.6B and overtakes North America by 2027. Gartner estimates geopatriation will shift 20% of current workloads from global to local providers. The budget conversation is live today — and sovereign-provider capacity is finite.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792224"/>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048256"/>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CIOs are being asked to prove a level of sovereignty they cannot currently evidence.</a:t>
            </a:r>
            <a:endParaRPr lang="en-US" sz="1150" dirty="0"/>
          </a:p>
        </p:txBody>
      </p:sp>
      <p:sp>
        <p:nvSpPr>
          <p:cNvPr id="15" name="Text 13"/>
          <p:cNvSpPr txBox="1"/>
          <p:nvPr/>
        </p:nvSpPr>
        <p:spPr>
          <a:xfrm>
            <a:off x="6492240" y="2587752"/>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Boards and regulators want proof, not assurance, that critical data sits in a defensible jurisdiction — most enterprises can’t produce it.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Data flows are undocumented across applications, jurisdictions and sub-processors; there’s no single evidenced view of exposure.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Encryption keys and control-plane access often sit with the provider, leaving “sovereign” asserted in slideware, not architecture.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Concentration risk on a single hyperscaler creates exposure to extraterritorial legislation and geopolitical disruption.</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Without a costed plan, the only options are “do nothing” or “repatriate everything” — both wrong.</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352544"/>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2686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defensible position, not an opinion  </a:t>
            </a:r>
            <a:r>
              <a:rPr lang="en-US" sz="900" dirty="0">
                <a:solidFill>
                  <a:srgbClr val="44515E"/>
                </a:solidFill>
                <a:latin typeface="Calibri" pitchFamily="34" charset="0"/>
                <a:ea typeface="Calibri" pitchFamily="34" charset="-122"/>
                <a:cs typeface="Calibri" pitchFamily="34" charset="-120"/>
              </a:rPr>
              <a:t>— A board-ready posture evidenced by mapped data flows — able to survive a regulator’s or auditor’s challenge.</a:t>
            </a:r>
            <a:endParaRPr lang="en-US" sz="950" dirty="0"/>
          </a:p>
        </p:txBody>
      </p:sp>
      <p:sp>
        <p:nvSpPr>
          <p:cNvPr id="19" name="Text 17"/>
          <p:cNvSpPr txBox="1"/>
          <p:nvPr/>
        </p:nvSpPr>
        <p:spPr>
          <a:xfrm>
            <a:off x="6492240" y="4860950"/>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costed, sequenced geopatriation case  </a:t>
            </a:r>
            <a:r>
              <a:rPr lang="en-US" sz="900" dirty="0">
                <a:solidFill>
                  <a:srgbClr val="44515E"/>
                </a:solidFill>
                <a:latin typeface="Calibri" pitchFamily="34" charset="0"/>
                <a:ea typeface="Calibri" pitchFamily="34" charset="-122"/>
                <a:cs typeface="Calibri" pitchFamily="34" charset="-120"/>
              </a:rPr>
              <a:t>— Deliberate action on the ~20% of workloads that actually need to move, avoiding the cost of “repatriate everything.”</a:t>
            </a:r>
            <a:endParaRPr lang="en-US" sz="950" dirty="0"/>
          </a:p>
        </p:txBody>
      </p:sp>
      <p:sp>
        <p:nvSpPr>
          <p:cNvPr id="20" name="Text 18"/>
          <p:cNvSpPr txBox="1"/>
          <p:nvPr/>
        </p:nvSpPr>
        <p:spPr>
          <a:xfrm>
            <a:off x="6492240" y="509503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Concentration risk retired at source  </a:t>
            </a:r>
            <a:r>
              <a:rPr lang="en-US" sz="900" dirty="0">
                <a:solidFill>
                  <a:srgbClr val="44515E"/>
                </a:solidFill>
                <a:latin typeface="Calibri" pitchFamily="34" charset="0"/>
                <a:ea typeface="Calibri" pitchFamily="34" charset="-122"/>
                <a:cs typeface="Calibri" pitchFamily="34" charset="-120"/>
              </a:rPr>
              <a:t>— Single-provider dependency surfaced and mitigated before it becomes a DORA / NIS2 finding.</a:t>
            </a:r>
            <a:endParaRPr lang="en-US" sz="950" dirty="0"/>
          </a:p>
        </p:txBody>
      </p:sp>
      <p:sp>
        <p:nvSpPr>
          <p:cNvPr id="21" name="Text 19"/>
          <p:cNvSpPr txBox="1"/>
          <p:nvPr/>
        </p:nvSpPr>
        <p:spPr>
          <a:xfrm>
            <a:off x="6492240" y="5329123"/>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Early-mover advantage  </a:t>
            </a:r>
            <a:r>
              <a:rPr lang="en-US" sz="900" dirty="0">
                <a:solidFill>
                  <a:srgbClr val="44515E"/>
                </a:solidFill>
                <a:latin typeface="Calibri" pitchFamily="34" charset="0"/>
                <a:ea typeface="Calibri" pitchFamily="34" charset="-122"/>
                <a:cs typeface="Calibri" pitchFamily="34" charset="-120"/>
              </a:rPr>
              <a:t>— With sovereign demand up 83% in Europe, moving early secures provider capacity, pricing and migration windows.</a:t>
            </a:r>
            <a:endParaRPr lang="en-US" sz="950" dirty="0"/>
          </a:p>
        </p:txBody>
      </p:sp>
      <p:sp>
        <p:nvSpPr>
          <p:cNvPr id="22" name="Text 20"/>
          <p:cNvSpPr txBox="1"/>
          <p:nvPr/>
        </p:nvSpPr>
        <p:spPr>
          <a:xfrm>
            <a:off x="6492240" y="5563210"/>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One accountable partner  </a:t>
            </a:r>
            <a:r>
              <a:rPr lang="en-US" sz="900" dirty="0">
                <a:solidFill>
                  <a:srgbClr val="44515E"/>
                </a:solidFill>
                <a:latin typeface="Calibri" pitchFamily="34" charset="0"/>
                <a:ea typeface="Calibri" pitchFamily="34" charset="-122"/>
                <a:cs typeface="Calibri" pitchFamily="34" charset="-120"/>
              </a:rPr>
              <a:t>— The team that assesses the exposure can move the workload — no hand-off, no re-discovery.</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02.1  ·  Overview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02.1   </a:t>
            </a:r>
            <a:r>
              <a:rPr lang="en-US" sz="2400" b="1" dirty="0">
                <a:solidFill>
                  <a:srgbClr val="1B1F23"/>
                </a:solidFill>
                <a:latin typeface="Cambria" pitchFamily="34" charset="0"/>
                <a:ea typeface="Cambria" pitchFamily="34" charset="-122"/>
                <a:cs typeface="Cambria" pitchFamily="34" charset="-120"/>
              </a:rPr>
              <a:t>Sovereignty Posture &amp; Geopatriation Advisory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posture across infrastructure ownership, data residency, key control and third-party jurisdiction access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cross-border data flows across applications, jurisdictions and sub-processors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Validate exposure against the regulations that actually bind the client</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Current-state posture · cross-border data-flow map · quantified exposure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Co-create the target sovereign blueprint (sovereign / private cloud, on-prem enclaves, key management)</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Build the geopatriation business case — which workloads move, at what cost, on what timeline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Produce the application disposition roadmap (keep / refactor / repatriate / replace), prioritized by impact</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Target sovereign blueprint · geopatriation business case · disposition roadmap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sovereignty strategy</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the trusted-infrastructure operating model and demonstrable controls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strategy · operating model &amp; controls · mobilization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02.1  ·  Solution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02.1   </a:t>
            </a:r>
            <a:r>
              <a:rPr lang="en-US" sz="2400" b="1" dirty="0">
                <a:solidFill>
                  <a:srgbClr val="1B1F23"/>
                </a:solidFill>
                <a:latin typeface="Cambria" pitchFamily="34" charset="0"/>
                <a:ea typeface="Cambria" pitchFamily="34" charset="-122"/>
                <a:cs typeface="Cambria" pitchFamily="34" charset="-120"/>
              </a:rPr>
              <a:t>Sovereignty Posture &amp; Geopatriation Advisory</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Current-state sovereignty posture assessment</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Cross-border data-flow map &amp; exposure register</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Target sovereign infrastructure blueprint</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Geopatriation business case &amp; application disposition roadmap</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sovereignty strategy &amp; mobilization plan</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Sovereignty posture assessment across infrastructure, data and third-party exposure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Cross-border data-flow mapping and data-residency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Encryption-key control and control-plane sovereignty review</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Geopatriation business case and workload prioritization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Target sovereign infrastructure blueprint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Application disposition roadmap and mobilization plan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Article-by-article regulatory remediation and exit engineering</a:t>
            </a:r>
            <a:r>
              <a:rPr lang="en-US" sz="900" i="1" dirty="0">
                <a:solidFill>
                  <a:srgbClr val="9A5541"/>
                </a:solidFill>
                <a:latin typeface="Calibri" pitchFamily="34" charset="0"/>
                <a:ea typeface="Calibri" pitchFamily="34" charset="-122"/>
                <a:cs typeface="Calibri" pitchFamily="34" charset="-120"/>
              </a:rPr>
              <a:t>   → 02.3</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transfer-mechanism design (SCCs / adequacy / BCRs)</a:t>
            </a:r>
            <a:r>
              <a:rPr lang="en-US" sz="900" i="1" dirty="0">
                <a:solidFill>
                  <a:srgbClr val="9A5541"/>
                </a:solidFill>
                <a:latin typeface="Calibri" pitchFamily="34" charset="0"/>
                <a:ea typeface="Calibri" pitchFamily="34" charset="-122"/>
                <a:cs typeface="Calibri" pitchFamily="34" charset="-120"/>
              </a:rPr>
              <a:t>   → 02.2</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 AI model-hosting and data-boundary architecture</a:t>
            </a:r>
            <a:r>
              <a:rPr lang="en-US" sz="900" i="1" dirty="0">
                <a:solidFill>
                  <a:srgbClr val="9A5541"/>
                </a:solidFill>
                <a:latin typeface="Calibri" pitchFamily="34" charset="0"/>
                <a:ea typeface="Calibri" pitchFamily="34" charset="-122"/>
                <a:cs typeface="Calibri" pitchFamily="34" charset="-120"/>
              </a:rPr>
              <a:t>   → 02.5</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opinion on jurisdictional law</a:t>
            </a:r>
            <a:r>
              <a:rPr lang="en-US" sz="900" i="1" dirty="0">
                <a:solidFill>
                  <a:srgbClr val="9A5541"/>
                </a:solidFill>
                <a:latin typeface="Calibri" pitchFamily="34" charset="0"/>
                <a:ea typeface="Calibri" pitchFamily="34" charset="-122"/>
                <a:cs typeface="Calibri" pitchFamily="34" charset="-120"/>
              </a:rPr>
              <a:t>   → Client legal counsel</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The migration build itself</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02.1  ·  Deliverables &amp; scope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OUT-MANEUVER THE BORDERS.</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02.2   </a:t>
            </a:r>
            <a:r>
              <a:rPr lang="en-US" sz="2400" b="1" dirty="0">
                <a:solidFill>
                  <a:srgbClr val="1B1F23"/>
                </a:solidFill>
                <a:latin typeface="Cambria" pitchFamily="34" charset="0"/>
                <a:ea typeface="Cambria" pitchFamily="34" charset="-122"/>
                <a:cs typeface="Cambria" pitchFamily="34" charset="-120"/>
              </a:rPr>
              <a:t>Cross-Border Data Strategy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Posture IQ (data-flow lens)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02.4 Application Portfolio Mapping &amp; Roadmap</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Gives the CIO a clear, defensible view of how personal and regulated data moves across jurisdictions — and a legally-grounded architecture to keep those flows compliant as frameworks shift. It maps where data resides, moves and is processed, tests each transfer against the mechanism that actually protects it (adequacy, SCCs, BCRs), and defines a multi-region data architecture the enterprise can stand behind — a position that survives the next legal challenge rather than one re-papered every time a framework moves.</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Enforcement is real and large: Meta was fined €1.2B in 2023 for unlawful EU–US transfers, and cross-border violations have drawn over €2B in GDPR fines since 2020. The EU–US Data Privacy Framework remains valid in 2026 but faces active legal challenge, with a CJEU ruling plausible in 2026–2027. CIOs without a dual-mechanism, fallback-ready position are one court decision away from a scramble.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81051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06654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Enterprises move regulated data across borders every day without a defensible, evidenced basis for doing so.</a:t>
            </a:r>
            <a:endParaRPr lang="en-US" sz="1150" dirty="0"/>
          </a:p>
        </p:txBody>
      </p:sp>
      <p:sp>
        <p:nvSpPr>
          <p:cNvPr id="15" name="Text 13"/>
          <p:cNvSpPr txBox="1"/>
          <p:nvPr/>
        </p:nvSpPr>
        <p:spPr>
          <a:xfrm>
            <a:off x="6492240" y="260604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Every cloud platform, analytics tool and remote-access path that touches EEA data is a cross-border transfer — most go unmapped and unassessed.</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SCCs alone are no longer enough: since Schrems II, each transfer needs a Transfer Impact Assessment against destination-country law — rarely done.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The EU-US Data Privacy Framework is legally unstable; enterprises relying on it as a sole mechanism have no fallback if it falls.</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Data flows change with every new SaaS tool and sub-processor, so any point-in-time compliance snapshot is stale on arrival.</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Sector rules (financial services, healthcare) layer on top of GDPR, multiplying exposure where these overlap.</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389120"/>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63440"/>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transfer position that survives challenge  </a:t>
            </a:r>
            <a:r>
              <a:rPr lang="en-US" sz="900" dirty="0">
                <a:solidFill>
                  <a:srgbClr val="44515E"/>
                </a:solidFill>
                <a:latin typeface="Calibri" pitchFamily="34" charset="0"/>
                <a:ea typeface="Calibri" pitchFamily="34" charset="-122"/>
                <a:cs typeface="Calibri" pitchFamily="34" charset="-120"/>
              </a:rPr>
              <a:t>— A dual-mechanism architecture (primary + fallback) that holds even if the DPF is struck down — no emergency re-papering.</a:t>
            </a:r>
            <a:endParaRPr lang="en-US" sz="950" dirty="0"/>
          </a:p>
        </p:txBody>
      </p:sp>
      <p:sp>
        <p:nvSpPr>
          <p:cNvPr id="19" name="Text 17"/>
          <p:cNvSpPr txBox="1"/>
          <p:nvPr/>
        </p:nvSpPr>
        <p:spPr>
          <a:xfrm>
            <a:off x="6492240" y="4897526"/>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Exposure quantified, not assumed  </a:t>
            </a:r>
            <a:r>
              <a:rPr lang="en-US" sz="900" dirty="0">
                <a:solidFill>
                  <a:srgbClr val="44515E"/>
                </a:solidFill>
                <a:latin typeface="Calibri" pitchFamily="34" charset="0"/>
                <a:ea typeface="Calibri" pitchFamily="34" charset="-122"/>
                <a:cs typeface="Calibri" pitchFamily="34" charset="-120"/>
              </a:rPr>
              <a:t>— Every material data flow mapped and assessed, so the CIO knows where the real risk sits rather than guessing.</a:t>
            </a:r>
            <a:endParaRPr lang="en-US" sz="950" dirty="0"/>
          </a:p>
        </p:txBody>
      </p:sp>
      <p:sp>
        <p:nvSpPr>
          <p:cNvPr id="20" name="Text 18"/>
          <p:cNvSpPr txBox="1"/>
          <p:nvPr/>
        </p:nvSpPr>
        <p:spPr>
          <a:xfrm>
            <a:off x="6492240" y="5131613"/>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Penalty risk retired  </a:t>
            </a:r>
            <a:r>
              <a:rPr lang="en-US" sz="900" dirty="0">
                <a:solidFill>
                  <a:srgbClr val="44515E"/>
                </a:solidFill>
                <a:latin typeface="Calibri" pitchFamily="34" charset="0"/>
                <a:ea typeface="Calibri" pitchFamily="34" charset="-122"/>
                <a:cs typeface="Calibri" pitchFamily="34" charset="-120"/>
              </a:rPr>
              <a:t>— Against fines reaching 4% of global revenue or €20M, a defensible position is cheap insurance.</a:t>
            </a:r>
            <a:endParaRPr lang="en-US" sz="950" dirty="0"/>
          </a:p>
        </p:txBody>
      </p:sp>
      <p:sp>
        <p:nvSpPr>
          <p:cNvPr id="21" name="Text 19"/>
          <p:cNvSpPr txBox="1"/>
          <p:nvPr/>
        </p:nvSpPr>
        <p:spPr>
          <a:xfrm>
            <a:off x="6492240" y="5365699"/>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Faster, safer tooling decisions  </a:t>
            </a:r>
            <a:r>
              <a:rPr lang="en-US" sz="900" dirty="0">
                <a:solidFill>
                  <a:srgbClr val="44515E"/>
                </a:solidFill>
                <a:latin typeface="Calibri" pitchFamily="34" charset="0"/>
                <a:ea typeface="Calibri" pitchFamily="34" charset="-122"/>
                <a:cs typeface="Calibri" pitchFamily="34" charset="-120"/>
              </a:rPr>
              <a:t>— A transfer-mechanism screen built into procurement, so new SaaS and sub-processors are cleared before they create exposure.</a:t>
            </a:r>
            <a:endParaRPr lang="en-US" sz="950" dirty="0"/>
          </a:p>
        </p:txBody>
      </p:sp>
      <p:sp>
        <p:nvSpPr>
          <p:cNvPr id="22" name="Text 20"/>
          <p:cNvSpPr txBox="1"/>
          <p:nvPr/>
        </p:nvSpPr>
        <p:spPr>
          <a:xfrm>
            <a:off x="6492240" y="5599786"/>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One position across regions  </a:t>
            </a:r>
            <a:r>
              <a:rPr lang="en-US" sz="900" dirty="0">
                <a:solidFill>
                  <a:srgbClr val="44515E"/>
                </a:solidFill>
                <a:latin typeface="Calibri" pitchFamily="34" charset="0"/>
                <a:ea typeface="Calibri" pitchFamily="34" charset="-122"/>
                <a:cs typeface="Calibri" pitchFamily="34" charset="-120"/>
              </a:rPr>
              <a:t>— A coherent multi-region data architecture rather than country-by-country firefighting.</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02.2  ·  Overview</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02.2   </a:t>
            </a:r>
            <a:r>
              <a:rPr lang="en-US" sz="2400" b="1" dirty="0">
                <a:solidFill>
                  <a:srgbClr val="1B1F23"/>
                </a:solidFill>
                <a:latin typeface="Cambria" pitchFamily="34" charset="0"/>
                <a:ea typeface="Cambria" pitchFamily="34" charset="-122"/>
                <a:cs typeface="Cambria" pitchFamily="34" charset="-120"/>
              </a:rPr>
              <a:t>Cross-Border Data Strategy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where data resides, moves and is processed across applications, jurisdictions and sub-processors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Inventory current transfer mechanisms in place (adequacy, SCCs, BCRs, derogations)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Identify the highest-exposure flows and gaps against Schrems II / TIA obligations</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Cross-border data-flow map · transfer-mechanism inventory · exposure gap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transfer mechanisms per flow and define the target dual-mechanism approach (primary + fallback)</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Design supplementary technical safeguards where destination law requires (encryption, pseudonymization, PETs)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the target multi-region data architecture and a defensible cross-border position</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Transfer-mechanism target model · multi-region architecture options · safeguards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cross-border data strategy</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Embed a transfer-mechanism screen into procurement and vendor onboarding</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remediation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cross-border strategy · procurement screen &amp; governance · remediation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02.2  ·  Solution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02.2   </a:t>
            </a:r>
            <a:r>
              <a:rPr lang="en-US" sz="2400" b="1" dirty="0">
                <a:solidFill>
                  <a:srgbClr val="1B1F23"/>
                </a:solidFill>
                <a:latin typeface="Cambria" pitchFamily="34" charset="0"/>
                <a:ea typeface="Cambria" pitchFamily="34" charset="-122"/>
                <a:cs typeface="Cambria" pitchFamily="34" charset="-120"/>
              </a:rPr>
              <a:t>Cross-Border Data Strategy</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Cross-border data-flow map and transfer-mechanism inventory</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Exposure gap register against GDPR Chapter V / Schrems II</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Target dual-mechanism transfer model and supplementary-safeguards design</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Multi-region data architecture options</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cross-border data strategy and remediation plan</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Data-flow mapping across applications, jurisdictions and sub-processors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Transfer-mechanism assessment (adequacy, SCCs, BCRs, derogations)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Transfer Impact Assessment framing and prioritization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Supplementary technical safeguard design (encryption, pseudonymization, PETs)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Multi-region data architecture options and target cross-border position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Procurement / vendor-onboarding transfer screen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opinion, drafting or execution of SCC / BCR contracts</a:t>
            </a:r>
            <a:r>
              <a:rPr lang="en-US" sz="900" i="1" dirty="0">
                <a:solidFill>
                  <a:srgbClr val="9A5541"/>
                </a:solidFill>
                <a:latin typeface="Calibri" pitchFamily="34" charset="0"/>
                <a:ea typeface="Calibri" pitchFamily="34" charset="-122"/>
                <a:cs typeface="Calibri" pitchFamily="34" charset="-120"/>
              </a:rPr>
              <a:t>   → Client legal / DPO</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Broader sovereignty posture and workload relocation</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Article-by-article regulatory remediation delivery</a:t>
            </a:r>
            <a:r>
              <a:rPr lang="en-US" sz="900" i="1" dirty="0">
                <a:solidFill>
                  <a:srgbClr val="9A5541"/>
                </a:solidFill>
                <a:latin typeface="Calibri" pitchFamily="34" charset="0"/>
                <a:ea typeface="Calibri" pitchFamily="34" charset="-122"/>
                <a:cs typeface="Calibri" pitchFamily="34" charset="-120"/>
              </a:rPr>
              <a:t>   → 02.3</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AI-specific data-boundary and model-hosting architecture</a:t>
            </a:r>
            <a:r>
              <a:rPr lang="en-US" sz="900" i="1" dirty="0">
                <a:solidFill>
                  <a:srgbClr val="9A5541"/>
                </a:solidFill>
                <a:latin typeface="Calibri" pitchFamily="34" charset="0"/>
                <a:ea typeface="Calibri" pitchFamily="34" charset="-122"/>
                <a:cs typeface="Calibri" pitchFamily="34" charset="-120"/>
              </a:rPr>
              <a:t>   → 02.5</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Data platform build and data quality</a:t>
            </a:r>
            <a:r>
              <a:rPr lang="en-US" sz="900" i="1" dirty="0">
                <a:solidFill>
                  <a:srgbClr val="9A5541"/>
                </a:solidFill>
                <a:latin typeface="Calibri" pitchFamily="34" charset="0"/>
                <a:ea typeface="Calibri" pitchFamily="34" charset="-122"/>
                <a:cs typeface="Calibri" pitchFamily="34" charset="-120"/>
              </a:rPr>
              <a:t>   → LTM Data practice</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02.2  ·  Deliverables &amp; scope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OUT-LAST THE AUDIT.</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02.3   </a:t>
            </a:r>
            <a:r>
              <a:rPr lang="en-US" sz="2400" b="1" dirty="0">
                <a:solidFill>
                  <a:srgbClr val="1B1F23"/>
                </a:solidFill>
                <a:latin typeface="Cambria" pitchFamily="34" charset="0"/>
                <a:ea typeface="Cambria" pitchFamily="34" charset="-122"/>
                <a:cs typeface="Cambria" pitchFamily="34" charset="-120"/>
              </a:rPr>
              <a:t>Regulatory Alignment &amp; Exit Strategy</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Regulatory IQ (per-Act depth)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02.4 (application-level exit) → remediation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Tells the CIO exactly where the estate stands against the regulations that actually bind it — DORA, NIS2, EU AI Act, DPDP — and closes the gaps that matter. It builds the concentration-risk and exit-readiness position regulators now demand as evidence, not intent, and defines credible exit paths from hyperscalers and critical vendors. The outcome is a defensible, audit-ready posture the CIO can show a supervisor, backed by a prioritized remediation plan rather than a shelf of policy documents.</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2026 is the enforcement reckoning. DORA regulators have signaled they will act on incident-reporting failures and deficient Registers of Information; NIS2 hits its October compliance milestone. French ACPR inspections in 2025 already flagged incomplete ICT registers, missing exit strategies for cloud providers, and theoretical-only resilience testing. The grace period is over.</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Regulators have shifted from guidance to enforcement — and now ask for evidence most enterprises can’t produce.</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Enforcement is live: DORA has applied since Jan 2025 and is in its first real supervisory cycle; NIS2 obligations culminate in an Oct 2026 deadline.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Exit strategies are mandatory, not optional — DORA requires one for every critical ICT provider, and inspections already flag their absence.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Concentration risk on hyperscalers is a named finding — regulators expect a demonstrated over-dependency analysis.</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Most enterprises hold policy documents, not evidence — the Register of Information and tested exit plans are what supervisors want.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Overlapping regimes (DORA lex specialis, NIS2, GDPR in parallel) create duplicated effort and gaps without a single mapped view.</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Audit-ready evidence, not paperwork  </a:t>
            </a:r>
            <a:r>
              <a:rPr lang="en-US" sz="900" dirty="0">
                <a:solidFill>
                  <a:srgbClr val="44515E"/>
                </a:solidFill>
                <a:latin typeface="Calibri" pitchFamily="34" charset="0"/>
                <a:ea typeface="Calibri" pitchFamily="34" charset="-122"/>
                <a:cs typeface="Calibri" pitchFamily="34" charset="-120"/>
              </a:rPr>
              <a:t>— A structured, article-mapped position the CIO can put in front of a supervisor with confidence.</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The exit strategy regulators demand  </a:t>
            </a:r>
            <a:r>
              <a:rPr lang="en-US" sz="900" dirty="0">
                <a:solidFill>
                  <a:srgbClr val="44515E"/>
                </a:solidFill>
                <a:latin typeface="Calibri" pitchFamily="34" charset="0"/>
                <a:ea typeface="Calibri" pitchFamily="34" charset="-122"/>
                <a:cs typeface="Calibri" pitchFamily="34" charset="-120"/>
              </a:rPr>
              <a:t>— Credible, tested exit paths from critical providers — closing the single most-cited inspection gap.</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Concentration risk quantified  </a:t>
            </a:r>
            <a:r>
              <a:rPr lang="en-US" sz="900" dirty="0">
                <a:solidFill>
                  <a:srgbClr val="44515E"/>
                </a:solidFill>
                <a:latin typeface="Calibri" pitchFamily="34" charset="0"/>
                <a:ea typeface="Calibri" pitchFamily="34" charset="-122"/>
                <a:cs typeface="Calibri" pitchFamily="34" charset="-120"/>
              </a:rPr>
              <a:t>— The hyperscaler-dependency analysis DORA expects, with a mitigation path.</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Penalty exposure reduced  </a:t>
            </a:r>
            <a:r>
              <a:rPr lang="en-US" sz="900" dirty="0">
                <a:solidFill>
                  <a:srgbClr val="44515E"/>
                </a:solidFill>
                <a:latin typeface="Calibri" pitchFamily="34" charset="0"/>
                <a:ea typeface="Calibri" pitchFamily="34" charset="-122"/>
                <a:cs typeface="Calibri" pitchFamily="34" charset="-120"/>
              </a:rPr>
              <a:t>— Against NIS2 fines up to €10M or 2% of worldwide turnover for essential entities, remediation is the cheaper path.</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One program across overlapping regimes  </a:t>
            </a:r>
            <a:r>
              <a:rPr lang="en-US" sz="900" dirty="0">
                <a:solidFill>
                  <a:srgbClr val="44515E"/>
                </a:solidFill>
                <a:latin typeface="Calibri" pitchFamily="34" charset="0"/>
                <a:ea typeface="Calibri" pitchFamily="34" charset="-122"/>
                <a:cs typeface="Calibri" pitchFamily="34" charset="-120"/>
              </a:rPr>
              <a:t>— DORA, NIS2 and GDPR reconciled into a single remediation backlog, removing duplicated effort.</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02.3  ·  Overview</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02.3   </a:t>
            </a:r>
            <a:r>
              <a:rPr lang="en-US" sz="2400" b="1" dirty="0">
                <a:solidFill>
                  <a:srgbClr val="1B1F23"/>
                </a:solidFill>
                <a:latin typeface="Cambria" pitchFamily="34" charset="0"/>
                <a:ea typeface="Cambria" pitchFamily="34" charset="-122"/>
                <a:cs typeface="Cambria" pitchFamily="34" charset="-120"/>
              </a:rPr>
              <a:t>Regulatory Alignment &amp; Exit Strategy</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Diagnose readiness against the regulations that actually bind the client (DORA, NIS2, EU AI Act, DPDP)</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the Register of Information, third-party inventory and concentration exposure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Identify the material gaps — missing exit strategies, evidence gaps, untested resilience</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Regulatory gap map (article-level) · concentration-risk view · remediation backlog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Design the regulatory response: controls, evidence artifacts, testing regime and reporting cadence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Build the third-party / concentration-risk framework DORA requires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credible exit strategies (architectural, data, contractual, operational) for critical providers</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Target control &amp; evidence model · concentration-risk framework · exit-strategy designs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regulatory posture and remediation roadmap</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Set up governance, evidence-collection cadence and horizon-scanning to sustain alignment</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remediation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regulatory posture · remediation roadmap · governance &amp; evidence cadence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02.3  ·  Solution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02.3   </a:t>
            </a:r>
            <a:r>
              <a:rPr lang="en-US" sz="2400" b="1" dirty="0">
                <a:solidFill>
                  <a:srgbClr val="1B1F23"/>
                </a:solidFill>
                <a:latin typeface="Cambria" pitchFamily="34" charset="0"/>
                <a:ea typeface="Cambria" pitchFamily="34" charset="-122"/>
                <a:cs typeface="Cambria" pitchFamily="34" charset="-120"/>
              </a:rPr>
              <a:t>Regulatory Alignment &amp; Exit Strategy</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Article-level regulatory gap map across the binding regimes</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Concentration-risk analysis and third-party framework</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Exit-strategy designs for critical ICT providers</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Target control, evidence and testing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regulatory posture and remediation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Readiness diagnosis against DORA, NIS2, EU AI Act, DPDP (and equivalents in client geographies)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Register of Information and third-party inventory review</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Concentration-risk analysis (including hyperscaler dependency)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Control, evidence, testing and reporting-cadence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Exit-strategy design for critical providers (architecture, data, contractual, operational)</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Remediation roadmap and sustaining governance model</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Legal interpretation, legal opinion or regulatory filing</a:t>
            </a:r>
            <a:r>
              <a:rPr lang="en-US" sz="900" i="1" dirty="0">
                <a:solidFill>
                  <a:srgbClr val="9A5541"/>
                </a:solidFill>
                <a:latin typeface="Calibri" pitchFamily="34" charset="0"/>
                <a:ea typeface="Calibri" pitchFamily="34" charset="-122"/>
                <a:cs typeface="Calibri" pitchFamily="34" charset="-120"/>
              </a:rPr>
              <a:t>   → Client legal / compliance</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Sovereignty posture and workload relocation</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Cross-border transfer-mechanism design</a:t>
            </a:r>
            <a:r>
              <a:rPr lang="en-US" sz="900" i="1" dirty="0">
                <a:solidFill>
                  <a:srgbClr val="9A5541"/>
                </a:solidFill>
                <a:latin typeface="Calibri" pitchFamily="34" charset="0"/>
                <a:ea typeface="Calibri" pitchFamily="34" charset="-122"/>
                <a:cs typeface="Calibri" pitchFamily="34" charset="-120"/>
              </a:rPr>
              <a:t>   → 02.2</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Cyber security services and SOC operations</a:t>
            </a:r>
            <a:r>
              <a:rPr lang="en-US" sz="900" i="1" dirty="0">
                <a:solidFill>
                  <a:srgbClr val="9A5541"/>
                </a:solidFill>
                <a:latin typeface="Calibri" pitchFamily="34" charset="0"/>
                <a:ea typeface="Calibri" pitchFamily="34" charset="-122"/>
                <a:cs typeface="Calibri" pitchFamily="34" charset="-120"/>
              </a:rPr>
              <a:t>   → LTM Security practice</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Exit-readiness engineering and remediation build</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02.3  ·  Deliverables &amp; scope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OUT-SEQUENCE THE MOVE.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02.4   </a:t>
            </a:r>
            <a:r>
              <a:rPr lang="en-US" sz="2400" b="1" dirty="0">
                <a:solidFill>
                  <a:srgbClr val="1B1F23"/>
                </a:solidFill>
                <a:latin typeface="Cambria" pitchFamily="34" charset="0"/>
                <a:ea typeface="Cambria" pitchFamily="34" charset="-122"/>
                <a:cs typeface="Cambria" pitchFamily="34" charset="-120"/>
              </a:rPr>
              <a:t>Application Portfolio Mapping &amp; Roadmap</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Outputs of 02.1 / 02.2 / 02.3 (posture, data rules, regulatory constraints)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Migration &amp; build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Turns a sovereignty decision into an application-level plan the enterprise can execute without breaking the business. It inventories the application estate, classifies each application by sovereignty exposure, criticality and dependency, and sequences a dependency-aware wave plan — which applications to keep, refactor, repatriate or replace, and in what order. This is the confluence of the pillar: posture (02.1), data rules (02.2) and regulatory constraints (02.3) all feed in, and this offering produces the single roadmap a migration or remediation program runs on.</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Geopatriation is a funded, active motion — Gartner estimates it will shift 20% of current workloads from global to local providers, with European sovereign cloud spending up 83% in 2026. That movement is application-by-application work; the enterprises that can name and sequence the specific applications to move capture provider capacity and migration windows first, rather than stalling on an undocumented estate.</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Enterprises have decided to act on sovereignty but have no dependency-aware map of which applications move, in what order.</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The application estate is poorly documented — ownership, hosting, data classification and interdependencies are scattered or stale.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Sovereignty and regulatory constraints are understood in principle but not mapped to specific applications.</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Hidden dependencies mean moving one application breaks three others — the reason migrations stall mid-flight.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Disposition decisions get made on gut feel or vendor push, not a consistent scoring of exposure, criticality and effort.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Without a sequenced wave plan, the program becomes a big-bang risk the business won’t approve.</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single, trusted application map  </a:t>
            </a:r>
            <a:r>
              <a:rPr lang="en-US" sz="900" dirty="0">
                <a:solidFill>
                  <a:srgbClr val="44515E"/>
                </a:solidFill>
                <a:latin typeface="Calibri" pitchFamily="34" charset="0"/>
                <a:ea typeface="Calibri" pitchFamily="34" charset="-122"/>
                <a:cs typeface="Calibri" pitchFamily="34" charset="-120"/>
              </a:rPr>
              <a:t>— One authoritative view with sovereignty exposure, criticality and dependencies per application.</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Disposition decisions you can defend  </a:t>
            </a:r>
            <a:r>
              <a:rPr lang="en-US" sz="900" dirty="0">
                <a:solidFill>
                  <a:srgbClr val="44515E"/>
                </a:solidFill>
                <a:latin typeface="Calibri" pitchFamily="34" charset="0"/>
                <a:ea typeface="Calibri" pitchFamily="34" charset="-122"/>
                <a:cs typeface="Calibri" pitchFamily="34" charset="-120"/>
              </a:rPr>
              <a:t>— Every keep / refactor / repatriate / replace call scored consistently, not argued case by case.</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Migrations that don’t break the business  </a:t>
            </a:r>
            <a:r>
              <a:rPr lang="en-US" sz="900" dirty="0">
                <a:solidFill>
                  <a:srgbClr val="44515E"/>
                </a:solidFill>
                <a:latin typeface="Calibri" pitchFamily="34" charset="0"/>
                <a:ea typeface="Calibri" pitchFamily="34" charset="-122"/>
                <a:cs typeface="Calibri" pitchFamily="34" charset="-120"/>
              </a:rPr>
              <a:t>— Dependency-aware sequencing that avoids the stalled-program failure mode.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fundable wave plan  </a:t>
            </a:r>
            <a:r>
              <a:rPr lang="en-US" sz="900" dirty="0">
                <a:solidFill>
                  <a:srgbClr val="44515E"/>
                </a:solidFill>
                <a:latin typeface="Calibri" pitchFamily="34" charset="0"/>
                <a:ea typeface="Calibri" pitchFamily="34" charset="-122"/>
                <a:cs typeface="Calibri" pitchFamily="34" charset="-120"/>
              </a:rPr>
              <a:t>— Phased so early waves land value fast and the board can approve incrementally.</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reusable asset  </a:t>
            </a:r>
            <a:r>
              <a:rPr lang="en-US" sz="900" dirty="0">
                <a:solidFill>
                  <a:srgbClr val="44515E"/>
                </a:solidFill>
                <a:latin typeface="Calibri" pitchFamily="34" charset="0"/>
                <a:ea typeface="Calibri" pitchFamily="34" charset="-122"/>
                <a:cs typeface="Calibri" pitchFamily="34" charset="-120"/>
              </a:rPr>
              <a:t>— The map keeps serving modernization, cost and resilience decisions long after the program closes.</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02.4  ·  Overview</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02.4   </a:t>
            </a:r>
            <a:r>
              <a:rPr lang="en-US" sz="2400" b="1" dirty="0">
                <a:solidFill>
                  <a:srgbClr val="1B1F23"/>
                </a:solidFill>
                <a:latin typeface="Cambria" pitchFamily="34" charset="0"/>
                <a:ea typeface="Cambria" pitchFamily="34" charset="-122"/>
                <a:cs typeface="Cambria" pitchFamily="34" charset="-120"/>
              </a:rPr>
              <a:t>Application Portfolio Mapping &amp; Roadmap</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Inventory the application estate — ownership, hosting, data classification, business function</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dependencies and integration points across applications and data flows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Ingest constraints from prior phases (posture, data-residency rules, regulatory obligations)</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Application inventory · dependency map · consolidated constraint set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Score each application on sovereignty exposure, criticality and remediation effort</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Assign disposition per application (keep / refactor / repatriate / replace) against consistent criteria</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Sequence the dependency-aware remediation wave plan</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Disposition scoring model · per-application disposition map · sequenced wave plan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an executive-ready portfolio roadmap with early, fundable waves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Confirm wave-level business cases, go / no-go criteria and value milestones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portfolio roadmap · wave business cases · mobilization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02.4  ·  Solution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02.4   </a:t>
            </a:r>
            <a:r>
              <a:rPr lang="en-US" sz="2400" b="1" dirty="0">
                <a:solidFill>
                  <a:srgbClr val="1B1F23"/>
                </a:solidFill>
                <a:latin typeface="Cambria" pitchFamily="34" charset="0"/>
                <a:ea typeface="Cambria" pitchFamily="34" charset="-122"/>
                <a:cs typeface="Cambria" pitchFamily="34" charset="-120"/>
              </a:rPr>
              <a:t>Application Portfolio Mapping &amp; Roadmap</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Application inventory and dependency map</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Per-application sovereignty exposure and criticality classification</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Disposition scoring model and per-application disposition map</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Sequenced, dependency-aware remediation wave plan</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portfolio roadmap with wave business cases</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Application estate inventory and metadata capture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Dependency and integration mapping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Exposure and criticality classification per application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Disposition scoring and assignment (keep / refactor / repatriate / replace)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Dependency-aware wave sequencing and roadmap</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Wave-level business case framing</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Estate-level sovereignty posture and geopatriation business case</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Cross-border transfer-mechanism design</a:t>
            </a:r>
            <a:r>
              <a:rPr lang="en-US" sz="900" i="1" dirty="0">
                <a:solidFill>
                  <a:srgbClr val="9A5541"/>
                </a:solidFill>
                <a:latin typeface="Calibri" pitchFamily="34" charset="0"/>
                <a:ea typeface="Calibri" pitchFamily="34" charset="-122"/>
                <a:cs typeface="Calibri" pitchFamily="34" charset="-120"/>
              </a:rPr>
              <a:t>   → 02.2</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Article-level regulatory remediation design</a:t>
            </a:r>
            <a:r>
              <a:rPr lang="en-US" sz="900" i="1" dirty="0">
                <a:solidFill>
                  <a:srgbClr val="9A5541"/>
                </a:solidFill>
                <a:latin typeface="Calibri" pitchFamily="34" charset="0"/>
                <a:ea typeface="Calibri" pitchFamily="34" charset="-122"/>
                <a:cs typeface="Calibri" pitchFamily="34" charset="-120"/>
              </a:rPr>
              <a:t>   → 02.3</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Application refactoring, re-platforming or migration build</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General (non-sovereignty) modernization disposition</a:t>
            </a:r>
            <a:r>
              <a:rPr lang="en-US" sz="900" i="1" dirty="0">
                <a:solidFill>
                  <a:srgbClr val="9A5541"/>
                </a:solidFill>
                <a:latin typeface="Calibri" pitchFamily="34" charset="0"/>
                <a:ea typeface="Calibri" pitchFamily="34" charset="-122"/>
                <a:cs typeface="Calibri" pitchFamily="34" charset="-120"/>
              </a:rPr>
              <a:t>   → 03.4</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02.4  ·  Deliverables &amp; scope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OUT-THINK THE BOUNDARY.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02.5   </a:t>
            </a:r>
            <a:r>
              <a:rPr lang="en-US" sz="2400" b="1" dirty="0">
                <a:solidFill>
                  <a:srgbClr val="1B1F23"/>
                </a:solidFill>
                <a:latin typeface="Cambria" pitchFamily="34" charset="0"/>
                <a:ea typeface="Cambria" pitchFamily="34" charset="-122"/>
                <a:cs typeface="Cambria" pitchFamily="34" charset="-120"/>
              </a:rPr>
              <a:t>Sovereign AI &amp; Data Boundary Architecture</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marL="0" indent="0">
              <a:buNone/>
            </a:pPr>
            <a:r>
              <a:rPr lang="en-US" sz="900" b="1" kern="0" spc="100" dirty="0">
                <a:solidFill>
                  <a:srgbClr val="5DCAA5"/>
                </a:solidFill>
                <a:latin typeface="Calibri" pitchFamily="34" charset="0"/>
                <a:ea typeface="Calibri" pitchFamily="34" charset="-122"/>
                <a:cs typeface="Calibri" pitchFamily="34" charset="-120"/>
              </a:rPr>
              <a:t>STARTS FROM  </a:t>
            </a:r>
            <a:r>
              <a:rPr lang="en-US" sz="1050" dirty="0">
                <a:solidFill>
                  <a:srgbClr val="44515E"/>
                </a:solidFill>
                <a:latin typeface="Calibri" pitchFamily="34" charset="0"/>
                <a:ea typeface="Calibri" pitchFamily="34" charset="-122"/>
                <a:cs typeface="Calibri" pitchFamily="34" charset="-120"/>
              </a:rPr>
              <a:t>Sovereign IQ → Posture IQ (AI / data lens)      </a:t>
            </a:r>
            <a:r>
              <a:rPr lang="en-US" sz="900" b="1" kern="0" spc="100" dirty="0">
                <a:solidFill>
                  <a:srgbClr val="5DCAA5"/>
                </a:solidFill>
                <a:latin typeface="Calibri" pitchFamily="34" charset="0"/>
                <a:ea typeface="Calibri" pitchFamily="34" charset="-122"/>
                <a:cs typeface="Calibri" pitchFamily="34" charset="-120"/>
              </a:rPr>
              <a:t>LEADS TO  </a:t>
            </a:r>
            <a:r>
              <a:rPr lang="en-US" sz="1050" dirty="0">
                <a:solidFill>
                  <a:srgbClr val="44515E"/>
                </a:solidFill>
                <a:latin typeface="Calibri" pitchFamily="34" charset="0"/>
                <a:ea typeface="Calibri" pitchFamily="34" charset="-122"/>
                <a:cs typeface="Calibri" pitchFamily="34" charset="-120"/>
              </a:rPr>
              <a:t>Sovereign AI platform build</a:t>
            </a:r>
            <a:endParaRPr lang="en-US" sz="900" dirty="0"/>
          </a:p>
        </p:txBody>
      </p:sp>
      <p:sp>
        <p:nvSpPr>
          <p:cNvPr id="5" name="Shape 3"/>
          <p:cNvSpPr/>
          <p:nvPr/>
        </p:nvSpPr>
        <p:spPr>
          <a:xfrm>
            <a:off x="502920" y="1737360"/>
            <a:ext cx="5394960" cy="2395728"/>
          </a:xfrm>
          <a:prstGeom prst="roundRect">
            <a:avLst>
              <a:gd name="adj" fmla="val 2290"/>
            </a:avLst>
          </a:prstGeom>
          <a:solidFill>
            <a:srgbClr val="F3F8F6"/>
          </a:solidFill>
          <a:ln w="9525">
            <a:solidFill>
              <a:srgbClr val="D2E4DD"/>
            </a:solidFill>
            <a:prstDash val="solid"/>
          </a:ln>
        </p:spPr>
        <p:txBody>
          <a:bodyPr/>
          <a:lstStyle/>
          <a:p>
            <a:endParaRPr lang="en-US"/>
          </a:p>
        </p:txBody>
      </p:sp>
      <p:sp>
        <p:nvSpPr>
          <p:cNvPr id="6" name="Text 4"/>
          <p:cNvSpPr txBox="1"/>
          <p:nvPr/>
        </p:nvSpPr>
        <p:spPr>
          <a:xfrm>
            <a:off x="731520" y="1901952"/>
            <a:ext cx="4937760" cy="256032"/>
          </a:xfrm>
          <a:prstGeom prst="rect">
            <a:avLst/>
          </a:prstGeom>
          <a:noFill/>
          <a:ln/>
        </p:spPr>
        <p:txBody>
          <a:bodyPr wrap="square" lIns="0" tIns="0" rIns="0" bIns="0" rtlCol="0" anchor="ctr"/>
          <a:lstStyle/>
          <a:p>
            <a:pPr marL="0" indent="0">
              <a:buNone/>
            </a:pPr>
            <a:r>
              <a:rPr lang="en-US" sz="1100" b="1" kern="0" spc="150" dirty="0">
                <a:solidFill>
                  <a:srgbClr val="0F6E56"/>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marL="0" indent="0">
              <a:lnSpc>
                <a:spcPct val="104000"/>
              </a:lnSpc>
              <a:buNone/>
            </a:pPr>
            <a:r>
              <a:rPr lang="en-US" sz="1150" dirty="0">
                <a:solidFill>
                  <a:srgbClr val="2C3A34"/>
                </a:solidFill>
                <a:latin typeface="Calibri" pitchFamily="34" charset="0"/>
                <a:ea typeface="Calibri" pitchFamily="34" charset="-122"/>
                <a:cs typeface="Calibri" pitchFamily="34" charset="-120"/>
              </a:rPr>
              <a:t>Lets the enterprise adopt enterprise AI without letting sensitive data, model provenance or inference cross a boundary it shouldn’t. It assesses where AI workloads create sovereignty and residency risk, designs the data-boundary architecture that keeps prompts, embeddings, context and outputs inside a regulated perimeter, and sizes the honest trade-offs between sovereign, private and public AI patterns. The outcome is a sequenced path to AI the enterprise can run in regulated jurisdictions with confidence — an architecture, not a governance document.</a:t>
            </a:r>
            <a:endParaRPr lang="en-US" sz="1150" dirty="0"/>
          </a:p>
        </p:txBody>
      </p:sp>
      <p:sp>
        <p:nvSpPr>
          <p:cNvPr id="8" name="Shape 6"/>
          <p:cNvSpPr/>
          <p:nvPr/>
        </p:nvSpPr>
        <p:spPr>
          <a:xfrm>
            <a:off x="502920" y="4279392"/>
            <a:ext cx="5394960" cy="1627632"/>
          </a:xfrm>
          <a:prstGeom prst="roundRect">
            <a:avLst>
              <a:gd name="adj" fmla="val 3371"/>
            </a:avLst>
          </a:prstGeom>
          <a:solidFill>
            <a:srgbClr val="0F6E56"/>
          </a:solidFill>
          <a:ln w="9525">
            <a:solidFill>
              <a:srgbClr val="0F6E56"/>
            </a:solidFill>
            <a:prstDash val="solid"/>
          </a:ln>
        </p:spPr>
        <p:txBody>
          <a:bodyPr/>
          <a:lstStyle/>
          <a:p>
            <a:endParaRPr lang="en-US"/>
          </a:p>
        </p:txBody>
      </p:sp>
      <p:sp>
        <p:nvSpPr>
          <p:cNvPr id="9" name="Text 7"/>
          <p:cNvSpPr txBox="1"/>
          <p:nvPr/>
        </p:nvSpPr>
        <p:spPr>
          <a:xfrm>
            <a:off x="731520" y="4425696"/>
            <a:ext cx="4937760" cy="256032"/>
          </a:xfrm>
          <a:prstGeom prst="rect">
            <a:avLst/>
          </a:prstGeom>
          <a:noFill/>
          <a:ln/>
        </p:spPr>
        <p:txBody>
          <a:bodyPr wrap="square" lIns="0" tIns="0" rIns="0" bIns="0" rtlCol="0" anchor="ctr"/>
          <a:lstStyle/>
          <a:p>
            <a:pPr marL="0" indent="0">
              <a:buNone/>
            </a:pPr>
            <a:r>
              <a:rPr lang="en-US" sz="1100" b="1" kern="0" spc="150" dirty="0">
                <a:solidFill>
                  <a:srgbClr val="9FE1CB"/>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marL="0" indent="0">
              <a:lnSpc>
                <a:spcPct val="103000"/>
              </a:lnSpc>
              <a:buNone/>
            </a:pPr>
            <a:r>
              <a:rPr lang="en-US" sz="1100" dirty="0">
                <a:solidFill>
                  <a:srgbClr val="EAF6F1"/>
                </a:solidFill>
                <a:latin typeface="Calibri" pitchFamily="34" charset="0"/>
                <a:ea typeface="Calibri" pitchFamily="34" charset="-122"/>
                <a:cs typeface="Calibri" pitchFamily="34" charset="-120"/>
              </a:rPr>
              <a:t>AI adoption and sovereignty pressure are peaking together. European end-user spending on GenAI models is forecast to grow 78% in 2026, while sovereign-cloud demand rises 83% and the EU AI Act phases into force — putting residency, provenance and oversight obligations onto AI stacks built without them. Enterprises designing the data boundary now avoid re-architecting a live AI estate under regulatory pressure later.</a:t>
            </a:r>
            <a:endParaRPr lang="en-US" sz="110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marL="0" indent="0">
              <a:buNone/>
            </a:pPr>
            <a:r>
              <a:rPr lang="en-US" sz="850" i="1" dirty="0">
                <a:solidFill>
                  <a:srgbClr val="8FC9B7"/>
                </a:solidFill>
                <a:latin typeface="Calibri" pitchFamily="34" charset="0"/>
                <a:ea typeface="Calibri" pitchFamily="34" charset="-122"/>
                <a:cs typeface="Calibri" pitchFamily="34" charset="-120"/>
              </a:rPr>
              <a:t>Source: Gartner / regulatory bodies, 2025–2026.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D2E4DD"/>
            </a:solidFill>
            <a:prstDash val="solid"/>
          </a:ln>
        </p:spPr>
        <p:txBody>
          <a:bodyPr/>
          <a:lstStyle/>
          <a:p>
            <a:endParaRPr lang="en-US"/>
          </a:p>
        </p:txBody>
      </p:sp>
      <p:sp>
        <p:nvSpPr>
          <p:cNvPr id="13" name="Text 11"/>
          <p:cNvSpPr txBox="1"/>
          <p:nvPr/>
        </p:nvSpPr>
        <p:spPr>
          <a:xfrm>
            <a:off x="6492240" y="1901952"/>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marL="0" indent="0">
              <a:lnSpc>
                <a:spcPct val="95000"/>
              </a:lnSpc>
              <a:buNone/>
            </a:pPr>
            <a:r>
              <a:rPr lang="en-US" sz="1150" i="1" dirty="0">
                <a:solidFill>
                  <a:srgbClr val="D35400"/>
                </a:solidFill>
                <a:latin typeface="Cambria" pitchFamily="34" charset="0"/>
                <a:ea typeface="Cambria" pitchFamily="34" charset="-122"/>
                <a:cs typeface="Cambria" pitchFamily="34" charset="-120"/>
              </a:rPr>
              <a:t>Enterprises want enterprise AI but can’t yet prove their AI stack respects data residency, provenance and jurisdictional limits.</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AI pipelines move sensitive data to wherever the model runs — often outside the sovereign or regulated perimeter, invisibly.</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Model provenance and training-data lineage are opaque, creating IP, licensing and compliance exposure.</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Prompts, embeddings and outputs are rarely governed as regulated data, though they often contain it.</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Public, private and sovereign AI patterns carry very different cost, capability and residency trade-offs — rarely sized honestly.</a:t>
            </a:r>
            <a:endParaRPr lang="en-US" sz="1000" dirty="0"/>
          </a:p>
          <a:p>
            <a:pPr marL="152400" indent="-152400">
              <a:lnSpc>
                <a:spcPct val="95000"/>
              </a:lnSpc>
              <a:spcAft>
                <a:spcPts val="400"/>
              </a:spcAft>
              <a:buSzPct val="100000"/>
              <a:buChar char="•"/>
            </a:pPr>
            <a:r>
              <a:rPr lang="en-US" sz="1000" dirty="0">
                <a:solidFill>
                  <a:srgbClr val="2C3A34"/>
                </a:solidFill>
                <a:latin typeface="Calibri" pitchFamily="34" charset="0"/>
                <a:ea typeface="Calibri" pitchFamily="34" charset="-122"/>
                <a:cs typeface="Calibri" pitchFamily="34" charset="-120"/>
              </a:rPr>
              <a:t>The EU AI Act and sector regulators add provenance, transparency and oversight obligations most AI stacks weren’t built for.</a:t>
            </a:r>
            <a:endParaRPr lang="en-US" sz="1000" dirty="0"/>
          </a:p>
        </p:txBody>
      </p:sp>
      <p:sp>
        <p:nvSpPr>
          <p:cNvPr id="16" name="Shape 14"/>
          <p:cNvSpPr/>
          <p:nvPr/>
        </p:nvSpPr>
        <p:spPr>
          <a:xfrm>
            <a:off x="6263640" y="4279392"/>
            <a:ext cx="5394960" cy="1627632"/>
          </a:xfrm>
          <a:prstGeom prst="roundRect">
            <a:avLst>
              <a:gd name="adj" fmla="val 3371"/>
            </a:avLst>
          </a:prstGeom>
          <a:solidFill>
            <a:srgbClr val="F3F8F6"/>
          </a:solidFill>
          <a:ln w="9525">
            <a:solidFill>
              <a:srgbClr val="D2E4DD"/>
            </a:solidFill>
            <a:prstDash val="solid"/>
          </a:ln>
        </p:spPr>
        <p:txBody>
          <a:bodyPr/>
          <a:lstStyle/>
          <a:p>
            <a:endParaRPr lang="en-US"/>
          </a:p>
        </p:txBody>
      </p:sp>
      <p:sp>
        <p:nvSpPr>
          <p:cNvPr id="17" name="Text 15"/>
          <p:cNvSpPr txBox="1"/>
          <p:nvPr/>
        </p:nvSpPr>
        <p:spPr>
          <a:xfrm>
            <a:off x="6492240" y="4407408"/>
            <a:ext cx="4937760" cy="256032"/>
          </a:xfrm>
          <a:prstGeom prst="rect">
            <a:avLst/>
          </a:prstGeom>
          <a:noFill/>
          <a:ln/>
        </p:spPr>
        <p:txBody>
          <a:bodyPr wrap="square" lIns="0" tIns="0" rIns="0" bIns="0" rtlCol="0" anchor="ctr"/>
          <a:lstStyle/>
          <a:p>
            <a:pPr marL="0" indent="0">
              <a:buNone/>
            </a:pPr>
            <a:r>
              <a:rPr lang="en-US" sz="1100" b="1" kern="0" spc="120" dirty="0">
                <a:solidFill>
                  <a:srgbClr val="0F6E56"/>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AI you can run in regulated jurisdictions  </a:t>
            </a:r>
            <a:r>
              <a:rPr lang="en-US" sz="900" dirty="0">
                <a:solidFill>
                  <a:srgbClr val="44515E"/>
                </a:solidFill>
                <a:latin typeface="Calibri" pitchFamily="34" charset="0"/>
                <a:ea typeface="Calibri" pitchFamily="34" charset="-122"/>
                <a:cs typeface="Calibri" pitchFamily="34" charset="-120"/>
              </a:rPr>
              <a:t>— A data-boundary architecture that keeps sensitive prompts, embeddings and outputs inside the perimeter.</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Provenance you can evidence  </a:t>
            </a:r>
            <a:r>
              <a:rPr lang="en-US" sz="900" dirty="0">
                <a:solidFill>
                  <a:srgbClr val="44515E"/>
                </a:solidFill>
                <a:latin typeface="Calibri" pitchFamily="34" charset="0"/>
                <a:ea typeface="Calibri" pitchFamily="34" charset="-122"/>
                <a:cs typeface="Calibri" pitchFamily="34" charset="-120"/>
              </a:rPr>
              <a:t>— Model and data lineage documented to the standard regulators and boards now expect.</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Honest trade-offs, sized  </a:t>
            </a:r>
            <a:r>
              <a:rPr lang="en-US" sz="900" dirty="0">
                <a:solidFill>
                  <a:srgbClr val="44515E"/>
                </a:solidFill>
                <a:latin typeface="Calibri" pitchFamily="34" charset="0"/>
                <a:ea typeface="Calibri" pitchFamily="34" charset="-122"/>
                <a:cs typeface="Calibri" pitchFamily="34" charset="-120"/>
              </a:rPr>
              <a:t>— Sovereign vs private vs public AI compared on cost, capability and residency, so the choice is deliberate.</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Regulatory exposure closed early  </a:t>
            </a:r>
            <a:r>
              <a:rPr lang="en-US" sz="900" dirty="0">
                <a:solidFill>
                  <a:srgbClr val="44515E"/>
                </a:solidFill>
                <a:latin typeface="Calibri" pitchFamily="34" charset="0"/>
                <a:ea typeface="Calibri" pitchFamily="34" charset="-122"/>
                <a:cs typeface="Calibri" pitchFamily="34" charset="-120"/>
              </a:rPr>
              <a:t>— EU AI Act obligations met by design rather than retrofitted under pressure.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marL="0" indent="0">
              <a:lnSpc>
                <a:spcPct val="88000"/>
              </a:lnSpc>
              <a:buNone/>
            </a:pPr>
            <a:r>
              <a:rPr lang="en-US" sz="950" b="1" dirty="0">
                <a:solidFill>
                  <a:srgbClr val="0F6E56"/>
                </a:solidFill>
                <a:latin typeface="Calibri" pitchFamily="34" charset="0"/>
                <a:ea typeface="Calibri" pitchFamily="34" charset="-122"/>
                <a:cs typeface="Calibri" pitchFamily="34" charset="-120"/>
              </a:rPr>
              <a:t>A sequenced path, not a moratorium  </a:t>
            </a:r>
            <a:r>
              <a:rPr lang="en-US" sz="900" dirty="0">
                <a:solidFill>
                  <a:srgbClr val="44515E"/>
                </a:solidFill>
                <a:latin typeface="Calibri" pitchFamily="34" charset="0"/>
                <a:ea typeface="Calibri" pitchFamily="34" charset="-122"/>
                <a:cs typeface="Calibri" pitchFamily="34" charset="-120"/>
              </a:rPr>
              <a:t>— Regulated use-cases enabled in the right order instead of AI being blocked wholesale.</a:t>
            </a:r>
            <a:endParaRPr lang="en-US" sz="950" dirty="0"/>
          </a:p>
        </p:txBody>
      </p:sp>
      <p:sp>
        <p:nvSpPr>
          <p:cNvPr id="23" name="Text 21"/>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24" name="Text 22"/>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02.5  ·  Overview</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02.5   </a:t>
            </a:r>
            <a:r>
              <a:rPr lang="en-US" sz="2400" b="1" dirty="0">
                <a:solidFill>
                  <a:srgbClr val="1B1F23"/>
                </a:solidFill>
                <a:latin typeface="Cambria" pitchFamily="34" charset="0"/>
                <a:ea typeface="Cambria" pitchFamily="34" charset="-122"/>
                <a:cs typeface="Cambria" pitchFamily="34" charset="-120"/>
              </a:rPr>
              <a:t>Sovereign AI &amp; Data Boundary Architecture</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6" name="Shape 4"/>
          <p:cNvSpPr/>
          <p:nvPr/>
        </p:nvSpPr>
        <p:spPr>
          <a:xfrm>
            <a:off x="502920" y="1783080"/>
            <a:ext cx="3602736" cy="868680"/>
          </a:xfrm>
          <a:prstGeom prst="roundRect">
            <a:avLst>
              <a:gd name="adj" fmla="val 7368"/>
            </a:avLst>
          </a:prstGeom>
          <a:solidFill>
            <a:srgbClr val="0F6E56"/>
          </a:solidFill>
          <a:ln/>
        </p:spPr>
        <p:txBody>
          <a:bodyPr/>
          <a:lstStyle/>
          <a:p>
            <a:endParaRPr lang="en-US"/>
          </a:p>
        </p:txBody>
      </p:sp>
      <p:sp>
        <p:nvSpPr>
          <p:cNvPr id="7" name="Shape 5"/>
          <p:cNvSpPr/>
          <p:nvPr/>
        </p:nvSpPr>
        <p:spPr>
          <a:xfrm>
            <a:off x="502920" y="2194560"/>
            <a:ext cx="3602736" cy="457200"/>
          </a:xfrm>
          <a:prstGeom prst="rect">
            <a:avLst/>
          </a:prstGeom>
          <a:solidFill>
            <a:srgbClr val="0F6E56"/>
          </a:solidFill>
          <a:ln/>
        </p:spPr>
        <p:txBody>
          <a:bodyPr/>
          <a:lstStyle/>
          <a:p>
            <a:endParaRPr lang="en-US"/>
          </a:p>
        </p:txBody>
      </p:sp>
      <p:pic>
        <p:nvPicPr>
          <p:cNvPr id="8" name="Image 0" descr="/home/claude/x_ph_understand.png"/>
          <p:cNvPicPr>
            <a:picLocks noChangeAspect="1"/>
          </p:cNvPicPr>
          <p:nvPr/>
        </p:nvPicPr>
        <p:blipFill>
          <a:blip r:embed="rId3"/>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Assess AI workload sovereignty risk — data residency, model provenance, inference location, prompt / output governance</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Map where AI pipelines move sensitive data across boundaries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Identify the regulated use-cases and the obligations that bind them</a:t>
            </a:r>
            <a:endParaRPr lang="en-US" sz="1000" dirty="0"/>
          </a:p>
        </p:txBody>
      </p:sp>
      <p:sp>
        <p:nvSpPr>
          <p:cNvPr id="12" name="Shape 9"/>
          <p:cNvSpPr/>
          <p:nvPr/>
        </p:nvSpPr>
        <p:spPr>
          <a:xfrm>
            <a:off x="740664" y="4983480"/>
            <a:ext cx="3127248" cy="0"/>
          </a:xfrm>
          <a:prstGeom prst="line">
            <a:avLst/>
          </a:prstGeom>
          <a:noFill/>
          <a:ln w="12700">
            <a:solidFill>
              <a:srgbClr val="D2E4DD"/>
            </a:solidFill>
            <a:prstDash val="solid"/>
          </a:ln>
        </p:spPr>
        <p:txBody>
          <a:bodyPr/>
          <a:lstStyle/>
          <a:p>
            <a:endParaRPr lang="en-US"/>
          </a:p>
        </p:txBody>
      </p:sp>
      <p:sp>
        <p:nvSpPr>
          <p:cNvPr id="13" name="Text 10"/>
          <p:cNvSpPr txBox="1"/>
          <p:nvPr/>
        </p:nvSpPr>
        <p:spPr>
          <a:xfrm>
            <a:off x="74066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AI sovereignty risk assessment · AI data-flow map · use-case / obligation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17" name="Shape 14"/>
          <p:cNvSpPr/>
          <p:nvPr/>
        </p:nvSpPr>
        <p:spPr>
          <a:xfrm>
            <a:off x="4343400" y="1783080"/>
            <a:ext cx="3602736" cy="868680"/>
          </a:xfrm>
          <a:prstGeom prst="roundRect">
            <a:avLst>
              <a:gd name="adj" fmla="val 7368"/>
            </a:avLst>
          </a:prstGeom>
          <a:solidFill>
            <a:srgbClr val="0A5643"/>
          </a:solidFill>
          <a:ln/>
        </p:spPr>
        <p:txBody>
          <a:bodyPr/>
          <a:lstStyle/>
          <a:p>
            <a:endParaRPr lang="en-US"/>
          </a:p>
        </p:txBody>
      </p:sp>
      <p:sp>
        <p:nvSpPr>
          <p:cNvPr id="18" name="Shape 15"/>
          <p:cNvSpPr/>
          <p:nvPr/>
        </p:nvSpPr>
        <p:spPr>
          <a:xfrm>
            <a:off x="4343400" y="2194560"/>
            <a:ext cx="3602736" cy="457200"/>
          </a:xfrm>
          <a:prstGeom prst="rect">
            <a:avLst/>
          </a:prstGeom>
          <a:solidFill>
            <a:srgbClr val="0A5643"/>
          </a:solidFill>
          <a:ln/>
        </p:spPr>
        <p:txBody>
          <a:bodyPr/>
          <a:lstStyle/>
          <a:p>
            <a:endParaRPr lang="en-US"/>
          </a:p>
        </p:txBody>
      </p:sp>
      <p:pic>
        <p:nvPicPr>
          <p:cNvPr id="19" name="Image 1" descr="/home/claude/x_ph_ideate.png"/>
          <p:cNvPicPr>
            <a:picLocks noChangeAspect="1"/>
          </p:cNvPicPr>
          <p:nvPr/>
        </p:nvPicPr>
        <p:blipFill>
          <a:blip r:embed="rId4"/>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Design the data-boundary architecture (regulated perimeter for prompts, embeddings, context, outputs)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Define the sovereign AI stack options — on-prem / sovereign-cloud hosting, private-model patterns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Size the sovereign vs private vs public trade-offs and align the AI operating model to the EU AI Act</a:t>
            </a:r>
            <a:endParaRPr lang="en-US" sz="1000" dirty="0"/>
          </a:p>
        </p:txBody>
      </p:sp>
      <p:sp>
        <p:nvSpPr>
          <p:cNvPr id="23" name="Shape 19"/>
          <p:cNvSpPr/>
          <p:nvPr/>
        </p:nvSpPr>
        <p:spPr>
          <a:xfrm>
            <a:off x="4581144" y="4983480"/>
            <a:ext cx="3127248" cy="0"/>
          </a:xfrm>
          <a:prstGeom prst="line">
            <a:avLst/>
          </a:prstGeom>
          <a:noFill/>
          <a:ln w="12700">
            <a:solidFill>
              <a:srgbClr val="D2E4DD"/>
            </a:solidFill>
            <a:prstDash val="solid"/>
          </a:ln>
        </p:spPr>
        <p:txBody>
          <a:bodyPr/>
          <a:lstStyle/>
          <a:p>
            <a:endParaRPr lang="en-US"/>
          </a:p>
        </p:txBody>
      </p:sp>
      <p:sp>
        <p:nvSpPr>
          <p:cNvPr id="24" name="Text 20"/>
          <p:cNvSpPr txBox="1"/>
          <p:nvPr/>
        </p:nvSpPr>
        <p:spPr>
          <a:xfrm>
            <a:off x="458114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Data-boundary architecture · sovereign AI stack options · trade-off analysis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marL="0" indent="0" algn="ctr">
              <a:buNone/>
            </a:pPr>
            <a:r>
              <a:rPr lang="en-US" sz="2000" dirty="0">
                <a:solidFill>
                  <a:srgbClr val="5A6B7B"/>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3F8F6"/>
          </a:solidFill>
          <a:ln w="9525">
            <a:solidFill>
              <a:srgbClr val="D2E4DD"/>
            </a:solidFill>
            <a:prstDash val="solid"/>
          </a:ln>
        </p:spPr>
        <p:txBody>
          <a:bodyPr/>
          <a:lstStyle/>
          <a:p>
            <a:endParaRPr lang="en-US"/>
          </a:p>
        </p:txBody>
      </p:sp>
      <p:sp>
        <p:nvSpPr>
          <p:cNvPr id="28" name="Shape 24"/>
          <p:cNvSpPr/>
          <p:nvPr/>
        </p:nvSpPr>
        <p:spPr>
          <a:xfrm>
            <a:off x="8183880" y="1783080"/>
            <a:ext cx="3602736" cy="868680"/>
          </a:xfrm>
          <a:prstGeom prst="roundRect">
            <a:avLst>
              <a:gd name="adj" fmla="val 7368"/>
            </a:avLst>
          </a:prstGeom>
          <a:solidFill>
            <a:srgbClr val="084438"/>
          </a:solidFill>
          <a:ln/>
        </p:spPr>
        <p:txBody>
          <a:bodyPr/>
          <a:lstStyle/>
          <a:p>
            <a:endParaRPr lang="en-US"/>
          </a:p>
        </p:txBody>
      </p:sp>
      <p:sp>
        <p:nvSpPr>
          <p:cNvPr id="29" name="Shape 25"/>
          <p:cNvSpPr/>
          <p:nvPr/>
        </p:nvSpPr>
        <p:spPr>
          <a:xfrm>
            <a:off x="8183880" y="2194560"/>
            <a:ext cx="3602736" cy="457200"/>
          </a:xfrm>
          <a:prstGeom prst="rect">
            <a:avLst/>
          </a:prstGeom>
          <a:solidFill>
            <a:srgbClr val="084438"/>
          </a:solidFill>
          <a:ln/>
        </p:spPr>
        <p:txBody>
          <a:bodyPr/>
          <a:lstStyle/>
          <a:p>
            <a:endParaRPr lang="en-US"/>
          </a:p>
        </p:txBody>
      </p:sp>
      <p:pic>
        <p:nvPicPr>
          <p:cNvPr id="30" name="Image 2" descr="/home/claude/x_ph_outcreate.png"/>
          <p:cNvPicPr>
            <a:picLocks noChangeAspect="1"/>
          </p:cNvPicPr>
          <p:nvPr/>
        </p:nvPicPr>
        <p:blipFill>
          <a:blip r:embed="rId5"/>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marL="0" indent="0">
              <a:buNone/>
            </a:pPr>
            <a:r>
              <a:rPr lang="en-US" sz="1000" b="1" kern="0" spc="100" dirty="0">
                <a:solidFill>
                  <a:srgbClr val="9FE1CB"/>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Consolidate into a sequenced sovereign AI roadmap linking use-cases to infrastructure and governance readiness</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Confirm the target architecture and mobilization plan</a:t>
            </a:r>
            <a:endParaRPr lang="en-US" sz="1000" dirty="0"/>
          </a:p>
          <a:p>
            <a:pPr marL="152400" indent="-152400">
              <a:lnSpc>
                <a:spcPct val="98000"/>
              </a:lnSpc>
              <a:spcAft>
                <a:spcPts val="700"/>
              </a:spcAft>
              <a:buSzPct val="100000"/>
              <a:buChar char="•"/>
            </a:pPr>
            <a:r>
              <a:rPr lang="en-US" sz="1000" dirty="0">
                <a:solidFill>
                  <a:srgbClr val="2C3A34"/>
                </a:solidFill>
                <a:latin typeface="Calibri" pitchFamily="34" charset="0"/>
                <a:ea typeface="Calibri" pitchFamily="34" charset="-122"/>
                <a:cs typeface="Calibri" pitchFamily="34" charset="-120"/>
              </a:rPr>
              <a:t>Executive playback, decision sign-off, first-use-case mobilization</a:t>
            </a:r>
            <a:endParaRPr lang="en-US" sz="1000" dirty="0"/>
          </a:p>
        </p:txBody>
      </p:sp>
      <p:sp>
        <p:nvSpPr>
          <p:cNvPr id="34" name="Shape 29"/>
          <p:cNvSpPr/>
          <p:nvPr/>
        </p:nvSpPr>
        <p:spPr>
          <a:xfrm>
            <a:off x="8421624" y="4983480"/>
            <a:ext cx="3127248" cy="0"/>
          </a:xfrm>
          <a:prstGeom prst="line">
            <a:avLst/>
          </a:prstGeom>
          <a:noFill/>
          <a:ln w="12700">
            <a:solidFill>
              <a:srgbClr val="D2E4DD"/>
            </a:solidFill>
            <a:prstDash val="solid"/>
          </a:ln>
        </p:spPr>
        <p:txBody>
          <a:bodyPr/>
          <a:lstStyle/>
          <a:p>
            <a:endParaRPr lang="en-US"/>
          </a:p>
        </p:txBody>
      </p:sp>
      <p:sp>
        <p:nvSpPr>
          <p:cNvPr id="35" name="Text 30"/>
          <p:cNvSpPr txBox="1"/>
          <p:nvPr/>
        </p:nvSpPr>
        <p:spPr>
          <a:xfrm>
            <a:off x="8421624" y="5056632"/>
            <a:ext cx="3127248" cy="219456"/>
          </a:xfrm>
          <a:prstGeom prst="rect">
            <a:avLst/>
          </a:prstGeom>
          <a:noFill/>
          <a:ln/>
        </p:spPr>
        <p:txBody>
          <a:bodyPr wrap="square" lIns="0" tIns="0" rIns="0" bIns="0" rtlCol="0" anchor="ctr"/>
          <a:lstStyle/>
          <a:p>
            <a:pPr marL="0" indent="0">
              <a:buNone/>
            </a:pPr>
            <a:r>
              <a:rPr lang="en-US" sz="900" b="1" kern="0" spc="10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marL="0" indent="0">
              <a:lnSpc>
                <a:spcPct val="100000"/>
              </a:lnSpc>
              <a:buNone/>
            </a:pPr>
            <a:r>
              <a:rPr lang="en-US" sz="950" dirty="0">
                <a:solidFill>
                  <a:srgbClr val="0F6E56"/>
                </a:solidFill>
                <a:latin typeface="Calibri" pitchFamily="34" charset="0"/>
                <a:ea typeface="Calibri" pitchFamily="34" charset="-122"/>
                <a:cs typeface="Calibri" pitchFamily="34" charset="-120"/>
              </a:rPr>
              <a:t>Board-ready sovereign AI roadmap · target architecture · mobilization plan · Executive Playback · Closure Pack</a:t>
            </a:r>
            <a:endParaRPr lang="en-US" sz="950" dirty="0"/>
          </a:p>
        </p:txBody>
      </p:sp>
      <p:sp>
        <p:nvSpPr>
          <p:cNvPr id="37" name="Text 32"/>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8" name="Text 33"/>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02.5  ·  Solution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8229600" cy="274320"/>
          </a:xfrm>
          <a:prstGeom prst="rect">
            <a:avLst/>
          </a:prstGeom>
          <a:noFill/>
          <a:ln/>
        </p:spPr>
        <p:txBody>
          <a:bodyPr wrap="square" lIns="0" tIns="0" rIns="0" bIns="0" rtlCol="0" anchor="ctr"/>
          <a:lstStyle/>
          <a:p>
            <a:pPr marL="0" indent="0">
              <a:buNone/>
            </a:pPr>
            <a:r>
              <a:rPr lang="en-US" sz="1100" b="1" kern="0" spc="200" dirty="0">
                <a:solidFill>
                  <a:srgbClr val="0F6E56"/>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247120" cy="502920"/>
          </a:xfrm>
          <a:prstGeom prst="rect">
            <a:avLst/>
          </a:prstGeom>
          <a:noFill/>
          <a:ln/>
        </p:spPr>
        <p:txBody>
          <a:bodyPr wrap="square" lIns="0" tIns="0" rIns="0" bIns="0" rtlCol="0" anchor="ctr"/>
          <a:lstStyle/>
          <a:p>
            <a:pPr marL="0" indent="0">
              <a:buNone/>
            </a:pPr>
            <a:r>
              <a:rPr lang="en-US" sz="2400" b="1" dirty="0">
                <a:solidFill>
                  <a:srgbClr val="5DCAA5"/>
                </a:solidFill>
                <a:latin typeface="Cambria" pitchFamily="34" charset="0"/>
                <a:ea typeface="Cambria" pitchFamily="34" charset="-122"/>
                <a:cs typeface="Cambria" pitchFamily="34" charset="-120"/>
              </a:rPr>
              <a:t>02.5   </a:t>
            </a:r>
            <a:r>
              <a:rPr lang="en-US" sz="2400" b="1" dirty="0">
                <a:solidFill>
                  <a:srgbClr val="1B1F23"/>
                </a:solidFill>
                <a:latin typeface="Cambria" pitchFamily="34" charset="0"/>
                <a:ea typeface="Cambria" pitchFamily="34" charset="-122"/>
                <a:cs typeface="Cambria" pitchFamily="34" charset="-120"/>
              </a:rPr>
              <a:t>Sovereign AI &amp; Data Boundary Architecture</a:t>
            </a:r>
            <a:endParaRPr lang="en-US" sz="2400" dirty="0"/>
          </a:p>
        </p:txBody>
      </p:sp>
      <p:sp>
        <p:nvSpPr>
          <p:cNvPr id="4" name="Shape 2"/>
          <p:cNvSpPr/>
          <p:nvPr/>
        </p:nvSpPr>
        <p:spPr>
          <a:xfrm>
            <a:off x="502920" y="1600200"/>
            <a:ext cx="5394960" cy="4480560"/>
          </a:xfrm>
          <a:prstGeom prst="roundRect">
            <a:avLst>
              <a:gd name="adj" fmla="val 1429"/>
            </a:avLst>
          </a:prstGeom>
          <a:solidFill>
            <a:srgbClr val="0F6E56"/>
          </a:solidFill>
          <a:ln/>
        </p:spPr>
        <p:txBody>
          <a:bodyPr/>
          <a:lstStyle/>
          <a:p>
            <a:endParaRPr lang="en-US"/>
          </a:p>
        </p:txBody>
      </p:sp>
      <p:pic>
        <p:nvPicPr>
          <p:cNvPr id="5" name="Image 0" descr="/home/claude/x_deliver.png"/>
          <p:cNvPicPr>
            <a:picLocks noChangeAspect="1"/>
          </p:cNvPicPr>
          <p:nvPr/>
        </p:nvPicPr>
        <p:blipFill>
          <a:blip r:embed="rId3"/>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marL="0" indent="0">
              <a:buNone/>
            </a:pPr>
            <a:r>
              <a:rPr lang="en-US" sz="1050" i="1" dirty="0">
                <a:solidFill>
                  <a:srgbClr val="9FE1CB"/>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5DCAA5"/>
          </a:solidFill>
          <a:ln/>
        </p:spPr>
        <p:txBody>
          <a:bodyPr/>
          <a:lstStyle/>
          <a:p>
            <a:endParaRPr lang="en-US"/>
          </a:p>
        </p:txBody>
      </p:sp>
      <p:sp>
        <p:nvSpPr>
          <p:cNvPr id="9" name="Text 6"/>
          <p:cNvSpPr txBox="1"/>
          <p:nvPr/>
        </p:nvSpPr>
        <p:spPr>
          <a:xfrm>
            <a:off x="777240" y="2880360"/>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AI sovereignty risk assessment and AI data-flow map</a:t>
            </a:r>
            <a:endParaRPr lang="en-US" sz="1150" dirty="0"/>
          </a:p>
        </p:txBody>
      </p:sp>
      <p:sp>
        <p:nvSpPr>
          <p:cNvPr id="11" name="Shape 8"/>
          <p:cNvSpPr/>
          <p:nvPr/>
        </p:nvSpPr>
        <p:spPr>
          <a:xfrm>
            <a:off x="777240" y="3483864"/>
            <a:ext cx="310896" cy="310896"/>
          </a:xfrm>
          <a:prstGeom prst="roundRect">
            <a:avLst>
              <a:gd name="adj" fmla="val 14706"/>
            </a:avLst>
          </a:prstGeom>
          <a:solidFill>
            <a:srgbClr val="5DCAA5"/>
          </a:solidFill>
          <a:ln/>
        </p:spPr>
        <p:txBody>
          <a:bodyPr/>
          <a:lstStyle/>
          <a:p>
            <a:endParaRPr lang="en-US"/>
          </a:p>
        </p:txBody>
      </p:sp>
      <p:sp>
        <p:nvSpPr>
          <p:cNvPr id="12" name="Text 9"/>
          <p:cNvSpPr txBox="1"/>
          <p:nvPr/>
        </p:nvSpPr>
        <p:spPr>
          <a:xfrm>
            <a:off x="777240" y="3483864"/>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Data-boundary architecture (regulated perimeter design)</a:t>
            </a:r>
            <a:endParaRPr lang="en-US" sz="1150" dirty="0"/>
          </a:p>
        </p:txBody>
      </p:sp>
      <p:sp>
        <p:nvSpPr>
          <p:cNvPr id="14" name="Shape 11"/>
          <p:cNvSpPr/>
          <p:nvPr/>
        </p:nvSpPr>
        <p:spPr>
          <a:xfrm>
            <a:off x="777240" y="4087368"/>
            <a:ext cx="310896" cy="310896"/>
          </a:xfrm>
          <a:prstGeom prst="roundRect">
            <a:avLst>
              <a:gd name="adj" fmla="val 14706"/>
            </a:avLst>
          </a:prstGeom>
          <a:solidFill>
            <a:srgbClr val="5DCAA5"/>
          </a:solidFill>
          <a:ln/>
        </p:spPr>
        <p:txBody>
          <a:bodyPr/>
          <a:lstStyle/>
          <a:p>
            <a:endParaRPr lang="en-US"/>
          </a:p>
        </p:txBody>
      </p:sp>
      <p:sp>
        <p:nvSpPr>
          <p:cNvPr id="15" name="Text 12"/>
          <p:cNvSpPr txBox="1"/>
          <p:nvPr/>
        </p:nvSpPr>
        <p:spPr>
          <a:xfrm>
            <a:off x="777240" y="4087368"/>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Sovereign vs private vs public AI trade-off analysis</a:t>
            </a:r>
            <a:endParaRPr lang="en-US" sz="1150" dirty="0"/>
          </a:p>
        </p:txBody>
      </p:sp>
      <p:sp>
        <p:nvSpPr>
          <p:cNvPr id="17" name="Shape 14"/>
          <p:cNvSpPr/>
          <p:nvPr/>
        </p:nvSpPr>
        <p:spPr>
          <a:xfrm>
            <a:off x="777240" y="4690872"/>
            <a:ext cx="310896" cy="310896"/>
          </a:xfrm>
          <a:prstGeom prst="roundRect">
            <a:avLst>
              <a:gd name="adj" fmla="val 14706"/>
            </a:avLst>
          </a:prstGeom>
          <a:solidFill>
            <a:srgbClr val="5DCAA5"/>
          </a:solidFill>
          <a:ln/>
        </p:spPr>
        <p:txBody>
          <a:bodyPr/>
          <a:lstStyle/>
          <a:p>
            <a:endParaRPr lang="en-US"/>
          </a:p>
        </p:txBody>
      </p:sp>
      <p:sp>
        <p:nvSpPr>
          <p:cNvPr id="18" name="Text 15"/>
          <p:cNvSpPr txBox="1"/>
          <p:nvPr/>
        </p:nvSpPr>
        <p:spPr>
          <a:xfrm>
            <a:off x="777240" y="4690872"/>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EU AI Act–aligned AI operating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5DCAA5"/>
          </a:solidFill>
          <a:ln/>
        </p:spPr>
        <p:txBody>
          <a:bodyPr/>
          <a:lstStyle/>
          <a:p>
            <a:endParaRPr lang="en-US"/>
          </a:p>
        </p:txBody>
      </p:sp>
      <p:sp>
        <p:nvSpPr>
          <p:cNvPr id="21" name="Text 18"/>
          <p:cNvSpPr txBox="1"/>
          <p:nvPr/>
        </p:nvSpPr>
        <p:spPr>
          <a:xfrm>
            <a:off x="777240" y="5294376"/>
            <a:ext cx="310896" cy="310896"/>
          </a:xfrm>
          <a:prstGeom prst="rect">
            <a:avLst/>
          </a:prstGeom>
          <a:noFill/>
          <a:ln/>
        </p:spPr>
        <p:txBody>
          <a:bodyPr wrap="square" lIns="0" tIns="0" rIns="0" bIns="0" rtlCol="0" anchor="ctr"/>
          <a:lstStyle/>
          <a:p>
            <a:pPr marL="0" indent="0" algn="ctr">
              <a:buNone/>
            </a:pPr>
            <a:r>
              <a:rPr lang="en-US" sz="1300" b="1" dirty="0">
                <a:solidFill>
                  <a:srgbClr val="0A5643"/>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marL="0" indent="0">
              <a:lnSpc>
                <a:spcPct val="97000"/>
              </a:lnSpc>
              <a:buNone/>
            </a:pPr>
            <a:r>
              <a:rPr lang="en-US" sz="1150" dirty="0">
                <a:solidFill>
                  <a:srgbClr val="EAF6F1"/>
                </a:solidFill>
                <a:latin typeface="Calibri" pitchFamily="34" charset="0"/>
                <a:ea typeface="Calibri" pitchFamily="34" charset="-122"/>
                <a:cs typeface="Calibri" pitchFamily="34" charset="-120"/>
              </a:rPr>
              <a:t>Board-ready, sequenced sovereign AI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F3F8F6"/>
          </a:solidFill>
          <a:ln w="9525">
            <a:solidFill>
              <a:srgbClr val="BFE3D2"/>
            </a:solidFill>
            <a:prstDash val="solid"/>
          </a:ln>
        </p:spPr>
        <p:txBody>
          <a:bodyPr/>
          <a:lstStyle/>
          <a:p>
            <a:endParaRPr lang="en-US"/>
          </a:p>
        </p:txBody>
      </p:sp>
      <p:pic>
        <p:nvPicPr>
          <p:cNvPr id="24" name="Image 1" descr="/home/claude/x_chk_in.png"/>
          <p:cNvPicPr>
            <a:picLocks noChangeAspect="1"/>
          </p:cNvPicPr>
          <p:nvPr/>
        </p:nvPicPr>
        <p:blipFill>
          <a:blip r:embed="rId4"/>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marL="0" indent="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workload sovereignty and residency risk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data-flow mapping (prompts, embeddings, context, outputs)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Data-boundary architecture design (regulated perimeter)</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Sovereign / private / public AI pattern trade-off analysis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EU AI Act alignment of the AI operating model</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Sequenced sovereign AI roadmap</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txBody>
          <a:bodyPr/>
          <a:lstStyle/>
          <a:p>
            <a:endParaRPr lang="en-US"/>
          </a:p>
        </p:txBody>
      </p:sp>
      <p:pic>
        <p:nvPicPr>
          <p:cNvPr id="28" name="Image 2" descr="/home/claude/x_chk_out.png"/>
          <p:cNvPicPr>
            <a:picLocks noChangeAspect="1"/>
          </p:cNvPicPr>
          <p:nvPr/>
        </p:nvPicPr>
        <p:blipFill>
          <a:blip r:embed="rId5"/>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marL="0" indent="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General AI readiness, opportunity and operating model</a:t>
            </a:r>
            <a:r>
              <a:rPr lang="en-US" sz="900" i="1" dirty="0">
                <a:solidFill>
                  <a:srgbClr val="9A5541"/>
                </a:solidFill>
                <a:latin typeface="Calibri" pitchFamily="34" charset="0"/>
                <a:ea typeface="Calibri" pitchFamily="34" charset="-122"/>
                <a:cs typeface="Calibri" pitchFamily="34" charset="-120"/>
              </a:rPr>
              <a:t>   → Pillar 04</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Responsible-AI governance framework and platform</a:t>
            </a:r>
            <a:r>
              <a:rPr lang="en-US" sz="900" i="1" dirty="0">
                <a:solidFill>
                  <a:srgbClr val="9A5541"/>
                </a:solidFill>
                <a:latin typeface="Calibri" pitchFamily="34" charset="0"/>
                <a:ea typeface="Calibri" pitchFamily="34" charset="-122"/>
                <a:cs typeface="Calibri" pitchFamily="34" charset="-120"/>
              </a:rPr>
              <a:t>   → 04.3</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Estate-wide sovereignty posture</a:t>
            </a:r>
            <a:r>
              <a:rPr lang="en-US" sz="900" i="1" dirty="0">
                <a:solidFill>
                  <a:srgbClr val="9A5541"/>
                </a:solidFill>
                <a:latin typeface="Calibri" pitchFamily="34" charset="0"/>
                <a:ea typeface="Calibri" pitchFamily="34" charset="-122"/>
                <a:cs typeface="Calibri" pitchFamily="34" charset="-120"/>
              </a:rPr>
              <a:t>   → 02.1</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Sovereign AI platform build and model deployment</a:t>
            </a:r>
            <a:r>
              <a:rPr lang="en-US" sz="900" i="1" dirty="0">
                <a:solidFill>
                  <a:srgbClr val="9A5541"/>
                </a:solidFill>
                <a:latin typeface="Calibri" pitchFamily="34" charset="0"/>
                <a:ea typeface="Calibri" pitchFamily="34" charset="-122"/>
                <a:cs typeface="Calibri" pitchFamily="34" charset="-120"/>
              </a:rPr>
              <a:t>   → Separate delivery engagement</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marL="0" indent="0">
              <a:lnSpc>
                <a:spcPct val="90000"/>
              </a:lnSpc>
              <a:buNone/>
            </a:pPr>
            <a:r>
              <a:rPr lang="en-US" sz="970" dirty="0">
                <a:solidFill>
                  <a:srgbClr val="3A2C28"/>
                </a:solidFill>
                <a:latin typeface="Calibri" pitchFamily="34" charset="0"/>
                <a:ea typeface="Calibri" pitchFamily="34" charset="-122"/>
                <a:cs typeface="Calibri" pitchFamily="34" charset="-120"/>
              </a:rPr>
              <a:t>Data platform, pipelines and data quality</a:t>
            </a:r>
            <a:r>
              <a:rPr lang="en-US" sz="900" i="1" dirty="0">
                <a:solidFill>
                  <a:srgbClr val="9A5541"/>
                </a:solidFill>
                <a:latin typeface="Calibri" pitchFamily="34" charset="0"/>
                <a:ea typeface="Calibri" pitchFamily="34" charset="-122"/>
                <a:cs typeface="Calibri" pitchFamily="34" charset="-120"/>
              </a:rPr>
              <a:t>   → LTM Data practice</a:t>
            </a:r>
            <a:endParaRPr lang="en-US" sz="970" dirty="0"/>
          </a:p>
        </p:txBody>
      </p:sp>
      <p:sp>
        <p:nvSpPr>
          <p:cNvPr id="35" name="Text 30"/>
          <p:cNvSpPr txBox="1"/>
          <p:nvPr/>
        </p:nvSpPr>
        <p:spPr>
          <a:xfrm>
            <a:off x="502920" y="6473952"/>
            <a:ext cx="7315200" cy="274320"/>
          </a:xfrm>
          <a:prstGeom prst="rect">
            <a:avLst/>
          </a:prstGeom>
          <a:noFill/>
          <a:ln/>
        </p:spPr>
        <p:txBody>
          <a:bodyPr wrap="square" lIns="0" tIns="0" rIns="0" bIns="0" rtlCol="0" anchor="ctr"/>
          <a:lstStyle/>
          <a:p>
            <a:pPr marL="0" indent="0">
              <a:buNone/>
            </a:pPr>
            <a:r>
              <a:rPr lang="en-US" sz="950" dirty="0">
                <a:solidFill>
                  <a:srgbClr val="9AA7B4"/>
                </a:solidFill>
                <a:latin typeface="Calibri" pitchFamily="34" charset="0"/>
                <a:ea typeface="Calibri" pitchFamily="34" charset="-122"/>
                <a:cs typeface="Calibri" pitchFamily="34" charset="-120"/>
              </a:rPr>
              <a:t>LTM  ·  Infra Tech Advisory  ·  Digital Sovereignty</a:t>
            </a:r>
            <a:endParaRPr lang="en-US" sz="950" dirty="0"/>
          </a:p>
        </p:txBody>
      </p:sp>
      <p:sp>
        <p:nvSpPr>
          <p:cNvPr id="36" name="Text 31"/>
          <p:cNvSpPr txBox="1"/>
          <p:nvPr/>
        </p:nvSpPr>
        <p:spPr>
          <a:xfrm>
            <a:off x="8686800" y="6473952"/>
            <a:ext cx="2999232" cy="274320"/>
          </a:xfrm>
          <a:prstGeom prst="rect">
            <a:avLst/>
          </a:prstGeom>
          <a:noFill/>
          <a:ln/>
        </p:spPr>
        <p:txBody>
          <a:bodyPr wrap="square" lIns="0" tIns="0" rIns="0" bIns="0" rtlCol="0" anchor="ctr"/>
          <a:lstStyle/>
          <a:p>
            <a:pPr marL="0" indent="0" algn="r">
              <a:buNone/>
            </a:pPr>
            <a:r>
              <a:rPr lang="en-US" sz="950" dirty="0">
                <a:solidFill>
                  <a:srgbClr val="9AA7B4"/>
                </a:solidFill>
                <a:latin typeface="Calibri" pitchFamily="34" charset="0"/>
                <a:ea typeface="Calibri" pitchFamily="34" charset="-122"/>
                <a:cs typeface="Calibri" pitchFamily="34" charset="-120"/>
              </a:rPr>
              <a:t>02.5  ·  Deliverables &amp; scope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4831</Words>
  <Application>Microsoft Macintosh PowerPoint</Application>
  <PresentationFormat>Widescreen</PresentationFormat>
  <Paragraphs>496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Ashutosh Dixit</cp:lastModifiedBy>
  <cp:revision>1</cp:revision>
  <dcterms:created xsi:type="dcterms:W3CDTF">2026-09-08T12:14:24Z</dcterms:created>
  <dcterms:modified xsi:type="dcterms:W3CDTF">2026-09-08T12:33:09Z</dcterms:modified>
</cp:coreProperties>
</file>
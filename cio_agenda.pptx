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F6C377-CAD0-1345-A3FB-015B25F05E6A}" v="5" dt="2026-09-09T13:57:59.6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19"/>
    <p:restoredTop sz="94610"/>
  </p:normalViewPr>
  <p:slideViewPr>
    <p:cSldViewPr snapToGrid="0" snapToObjects="1">
      <p:cViewPr varScale="1">
        <p:scale>
          <a:sx n="148" d="100"/>
          <a:sy n="148" d="100"/>
        </p:scale>
        <p:origin x="72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utosh Dixit" userId="ab6c3e37-306d-4503-aec7-51ddf0a52e19" providerId="ADAL" clId="{1B01D6BE-C5B3-5E1A-B22F-D7D7CA513B36}"/>
    <pc:docChg chg="custSel addSld modSld">
      <pc:chgData name="Ashutosh Dixit" userId="ab6c3e37-306d-4503-aec7-51ddf0a52e19" providerId="ADAL" clId="{1B01D6BE-C5B3-5E1A-B22F-D7D7CA513B36}" dt="2026-09-10T08:38:05.216" v="59" actId="207"/>
      <pc:docMkLst>
        <pc:docMk/>
      </pc:docMkLst>
      <pc:sldChg chg="addSp delSp modSp mod">
        <pc:chgData name="Ashutosh Dixit" userId="ab6c3e37-306d-4503-aec7-51ddf0a52e19" providerId="ADAL" clId="{1B01D6BE-C5B3-5E1A-B22F-D7D7CA513B36}" dt="2026-09-09T13:54:08.714" v="54" actId="2711"/>
        <pc:sldMkLst>
          <pc:docMk/>
          <pc:sldMk cId="0" sldId="256"/>
        </pc:sldMkLst>
        <pc:spChg chg="del">
          <ac:chgData name="Ashutosh Dixit" userId="ab6c3e37-306d-4503-aec7-51ddf0a52e19" providerId="ADAL" clId="{1B01D6BE-C5B3-5E1A-B22F-D7D7CA513B36}" dt="2026-09-09T13:52:26.836" v="5" actId="478"/>
          <ac:spMkLst>
            <pc:docMk/>
            <pc:sldMk cId="0" sldId="256"/>
            <ac:spMk id="2" creationId="{00000000-0000-0000-0000-000000000000}"/>
          </ac:spMkLst>
        </pc:spChg>
        <pc:spChg chg="mod">
          <ac:chgData name="Ashutosh Dixit" userId="ab6c3e37-306d-4503-aec7-51ddf0a52e19" providerId="ADAL" clId="{1B01D6BE-C5B3-5E1A-B22F-D7D7CA513B36}" dt="2026-09-09T13:53:29.490" v="50" actId="1076"/>
          <ac:spMkLst>
            <pc:docMk/>
            <pc:sldMk cId="0" sldId="256"/>
            <ac:spMk id="3" creationId="{00000000-0000-0000-0000-000000000000}"/>
          </ac:spMkLst>
        </pc:spChg>
        <pc:spChg chg="del">
          <ac:chgData name="Ashutosh Dixit" userId="ab6c3e37-306d-4503-aec7-51ddf0a52e19" providerId="ADAL" clId="{1B01D6BE-C5B3-5E1A-B22F-D7D7CA513B36}" dt="2026-09-09T12:10:27.534" v="3" actId="478"/>
          <ac:spMkLst>
            <pc:docMk/>
            <pc:sldMk cId="0" sldId="256"/>
            <ac:spMk id="4" creationId="{00000000-0000-0000-0000-000000000000}"/>
          </ac:spMkLst>
        </pc:spChg>
        <pc:spChg chg="del">
          <ac:chgData name="Ashutosh Dixit" userId="ab6c3e37-306d-4503-aec7-51ddf0a52e19" providerId="ADAL" clId="{1B01D6BE-C5B3-5E1A-B22F-D7D7CA513B36}" dt="2026-09-09T13:53:14.099" v="37" actId="478"/>
          <ac:spMkLst>
            <pc:docMk/>
            <pc:sldMk cId="0" sldId="256"/>
            <ac:spMk id="5" creationId="{00000000-0000-0000-0000-000000000000}"/>
          </ac:spMkLst>
        </pc:spChg>
        <pc:spChg chg="del">
          <ac:chgData name="Ashutosh Dixit" userId="ab6c3e37-306d-4503-aec7-51ddf0a52e19" providerId="ADAL" clId="{1B01D6BE-C5B3-5E1A-B22F-D7D7CA513B36}" dt="2026-09-09T13:53:14.099" v="37" actId="478"/>
          <ac:spMkLst>
            <pc:docMk/>
            <pc:sldMk cId="0" sldId="256"/>
            <ac:spMk id="6" creationId="{00000000-0000-0000-0000-000000000000}"/>
          </ac:spMkLst>
        </pc:spChg>
        <pc:spChg chg="del">
          <ac:chgData name="Ashutosh Dixit" userId="ab6c3e37-306d-4503-aec7-51ddf0a52e19" providerId="ADAL" clId="{1B01D6BE-C5B3-5E1A-B22F-D7D7CA513B36}" dt="2026-09-09T13:53:14.099" v="37" actId="478"/>
          <ac:spMkLst>
            <pc:docMk/>
            <pc:sldMk cId="0" sldId="256"/>
            <ac:spMk id="7" creationId="{00000000-0000-0000-0000-000000000000}"/>
          </ac:spMkLst>
        </pc:spChg>
        <pc:spChg chg="del">
          <ac:chgData name="Ashutosh Dixit" userId="ab6c3e37-306d-4503-aec7-51ddf0a52e19" providerId="ADAL" clId="{1B01D6BE-C5B3-5E1A-B22F-D7D7CA513B36}" dt="2026-09-09T13:53:14.099" v="37" actId="478"/>
          <ac:spMkLst>
            <pc:docMk/>
            <pc:sldMk cId="0" sldId="256"/>
            <ac:spMk id="8" creationId="{00000000-0000-0000-0000-000000000000}"/>
          </ac:spMkLst>
        </pc:spChg>
        <pc:spChg chg="del">
          <ac:chgData name="Ashutosh Dixit" userId="ab6c3e37-306d-4503-aec7-51ddf0a52e19" providerId="ADAL" clId="{1B01D6BE-C5B3-5E1A-B22F-D7D7CA513B36}" dt="2026-09-09T13:53:14.099" v="37" actId="478"/>
          <ac:spMkLst>
            <pc:docMk/>
            <pc:sldMk cId="0" sldId="256"/>
            <ac:spMk id="9" creationId="{00000000-0000-0000-0000-000000000000}"/>
          </ac:spMkLst>
        </pc:spChg>
        <pc:spChg chg="mod">
          <ac:chgData name="Ashutosh Dixit" userId="ab6c3e37-306d-4503-aec7-51ddf0a52e19" providerId="ADAL" clId="{1B01D6BE-C5B3-5E1A-B22F-D7D7CA513B36}" dt="2026-09-09T13:54:08.714" v="54" actId="2711"/>
          <ac:spMkLst>
            <pc:docMk/>
            <pc:sldMk cId="0" sldId="256"/>
            <ac:spMk id="27" creationId="{00000000-0000-0000-0000-000000000000}"/>
          </ac:spMkLst>
        </pc:spChg>
        <pc:spChg chg="mod">
          <ac:chgData name="Ashutosh Dixit" userId="ab6c3e37-306d-4503-aec7-51ddf0a52e19" providerId="ADAL" clId="{1B01D6BE-C5B3-5E1A-B22F-D7D7CA513B36}" dt="2026-09-09T13:54:08.714" v="54" actId="2711"/>
          <ac:spMkLst>
            <pc:docMk/>
            <pc:sldMk cId="0" sldId="256"/>
            <ac:spMk id="31" creationId="{00000000-0000-0000-0000-000000000000}"/>
          </ac:spMkLst>
        </pc:spChg>
        <pc:spChg chg="mod">
          <ac:chgData name="Ashutosh Dixit" userId="ab6c3e37-306d-4503-aec7-51ddf0a52e19" providerId="ADAL" clId="{1B01D6BE-C5B3-5E1A-B22F-D7D7CA513B36}" dt="2026-09-09T13:54:08.714" v="54" actId="2711"/>
          <ac:spMkLst>
            <pc:docMk/>
            <pc:sldMk cId="0" sldId="256"/>
            <ac:spMk id="32" creationId="{00000000-0000-0000-0000-000000000000}"/>
          </ac:spMkLst>
        </pc:spChg>
        <pc:spChg chg="mod">
          <ac:chgData name="Ashutosh Dixit" userId="ab6c3e37-306d-4503-aec7-51ddf0a52e19" providerId="ADAL" clId="{1B01D6BE-C5B3-5E1A-B22F-D7D7CA513B36}" dt="2026-09-09T13:54:08.714" v="54" actId="2711"/>
          <ac:spMkLst>
            <pc:docMk/>
            <pc:sldMk cId="0" sldId="256"/>
            <ac:spMk id="44" creationId="{00000000-0000-0000-0000-000000000000}"/>
          </ac:spMkLst>
        </pc:spChg>
        <pc:spChg chg="mod">
          <ac:chgData name="Ashutosh Dixit" userId="ab6c3e37-306d-4503-aec7-51ddf0a52e19" providerId="ADAL" clId="{1B01D6BE-C5B3-5E1A-B22F-D7D7CA513B36}" dt="2026-09-09T13:54:08.714" v="54" actId="2711"/>
          <ac:spMkLst>
            <pc:docMk/>
            <pc:sldMk cId="0" sldId="256"/>
            <ac:spMk id="47" creationId="{00000000-0000-0000-0000-000000000000}"/>
          </ac:spMkLst>
        </pc:spChg>
        <pc:spChg chg="mod">
          <ac:chgData name="Ashutosh Dixit" userId="ab6c3e37-306d-4503-aec7-51ddf0a52e19" providerId="ADAL" clId="{1B01D6BE-C5B3-5E1A-B22F-D7D7CA513B36}" dt="2026-09-09T13:54:08.714" v="54" actId="2711"/>
          <ac:spMkLst>
            <pc:docMk/>
            <pc:sldMk cId="0" sldId="256"/>
            <ac:spMk id="51" creationId="{00000000-0000-0000-0000-000000000000}"/>
          </ac:spMkLst>
        </pc:spChg>
        <pc:spChg chg="mod">
          <ac:chgData name="Ashutosh Dixit" userId="ab6c3e37-306d-4503-aec7-51ddf0a52e19" providerId="ADAL" clId="{1B01D6BE-C5B3-5E1A-B22F-D7D7CA513B36}" dt="2026-09-09T13:54:08.714" v="54" actId="2711"/>
          <ac:spMkLst>
            <pc:docMk/>
            <pc:sldMk cId="0" sldId="256"/>
            <ac:spMk id="53" creationId="{00000000-0000-0000-0000-000000000000}"/>
          </ac:spMkLst>
        </pc:spChg>
        <pc:spChg chg="mod">
          <ac:chgData name="Ashutosh Dixit" userId="ab6c3e37-306d-4503-aec7-51ddf0a52e19" providerId="ADAL" clId="{1B01D6BE-C5B3-5E1A-B22F-D7D7CA513B36}" dt="2026-09-09T13:54:08.714" v="54" actId="2711"/>
          <ac:spMkLst>
            <pc:docMk/>
            <pc:sldMk cId="0" sldId="256"/>
            <ac:spMk id="58" creationId="{00000000-0000-0000-0000-000000000000}"/>
          </ac:spMkLst>
        </pc:spChg>
        <pc:spChg chg="mod">
          <ac:chgData name="Ashutosh Dixit" userId="ab6c3e37-306d-4503-aec7-51ddf0a52e19" providerId="ADAL" clId="{1B01D6BE-C5B3-5E1A-B22F-D7D7CA513B36}" dt="2026-09-09T13:54:08.714" v="54" actId="2711"/>
          <ac:spMkLst>
            <pc:docMk/>
            <pc:sldMk cId="0" sldId="256"/>
            <ac:spMk id="66" creationId="{00000000-0000-0000-0000-000000000000}"/>
          </ac:spMkLst>
        </pc:spChg>
        <pc:spChg chg="add mod">
          <ac:chgData name="Ashutosh Dixit" userId="ab6c3e37-306d-4503-aec7-51ddf0a52e19" providerId="ADAL" clId="{1B01D6BE-C5B3-5E1A-B22F-D7D7CA513B36}" dt="2026-09-09T13:54:08.714" v="54" actId="2711"/>
          <ac:spMkLst>
            <pc:docMk/>
            <pc:sldMk cId="0" sldId="256"/>
            <ac:spMk id="72" creationId="{0FC441C1-F66B-26FA-B570-E7282DB4B05B}"/>
          </ac:spMkLst>
        </pc:spChg>
        <pc:spChg chg="add mod">
          <ac:chgData name="Ashutosh Dixit" userId="ab6c3e37-306d-4503-aec7-51ddf0a52e19" providerId="ADAL" clId="{1B01D6BE-C5B3-5E1A-B22F-D7D7CA513B36}" dt="2026-09-09T13:53:14.446" v="38"/>
          <ac:spMkLst>
            <pc:docMk/>
            <pc:sldMk cId="0" sldId="256"/>
            <ac:spMk id="73" creationId="{E120C586-0788-F05B-AE6E-557CF5B0F5E2}"/>
          </ac:spMkLst>
        </pc:spChg>
        <pc:spChg chg="add mod">
          <ac:chgData name="Ashutosh Dixit" userId="ab6c3e37-306d-4503-aec7-51ddf0a52e19" providerId="ADAL" clId="{1B01D6BE-C5B3-5E1A-B22F-D7D7CA513B36}" dt="2026-09-09T13:53:14.446" v="38"/>
          <ac:spMkLst>
            <pc:docMk/>
            <pc:sldMk cId="0" sldId="256"/>
            <ac:spMk id="74" creationId="{CFD2F75A-0C1F-49BE-3B10-F874A951690D}"/>
          </ac:spMkLst>
        </pc:spChg>
        <pc:spChg chg="add mod">
          <ac:chgData name="Ashutosh Dixit" userId="ab6c3e37-306d-4503-aec7-51ddf0a52e19" providerId="ADAL" clId="{1B01D6BE-C5B3-5E1A-B22F-D7D7CA513B36}" dt="2026-09-09T13:53:14.446" v="38"/>
          <ac:spMkLst>
            <pc:docMk/>
            <pc:sldMk cId="0" sldId="256"/>
            <ac:spMk id="75" creationId="{C075BF8C-11F8-FB6E-A7BA-8B170EF9E2FA}"/>
          </ac:spMkLst>
        </pc:spChg>
        <pc:spChg chg="add mod">
          <ac:chgData name="Ashutosh Dixit" userId="ab6c3e37-306d-4503-aec7-51ddf0a52e19" providerId="ADAL" clId="{1B01D6BE-C5B3-5E1A-B22F-D7D7CA513B36}" dt="2026-09-09T13:53:14.446" v="38"/>
          <ac:spMkLst>
            <pc:docMk/>
            <pc:sldMk cId="0" sldId="256"/>
            <ac:spMk id="76" creationId="{026A88D3-9800-DEE1-62AE-832B810B7C17}"/>
          </ac:spMkLst>
        </pc:spChg>
      </pc:sldChg>
      <pc:sldChg chg="addSp delSp modSp mod">
        <pc:chgData name="Ashutosh Dixit" userId="ab6c3e37-306d-4503-aec7-51ddf0a52e19" providerId="ADAL" clId="{1B01D6BE-C5B3-5E1A-B22F-D7D7CA513B36}" dt="2026-09-09T13:53:58.901" v="53" actId="2711"/>
        <pc:sldMkLst>
          <pc:docMk/>
          <pc:sldMk cId="0" sldId="257"/>
        </pc:sldMkLst>
        <pc:spChg chg="del">
          <ac:chgData name="Ashutosh Dixit" userId="ab6c3e37-306d-4503-aec7-51ddf0a52e19" providerId="ADAL" clId="{1B01D6BE-C5B3-5E1A-B22F-D7D7CA513B36}" dt="2026-09-09T13:52:31.170" v="6" actId="478"/>
          <ac:spMkLst>
            <pc:docMk/>
            <pc:sldMk cId="0" sldId="257"/>
            <ac:spMk id="2" creationId="{00000000-0000-0000-0000-000000000000}"/>
          </ac:spMkLst>
        </pc:spChg>
        <pc:spChg chg="del">
          <ac:chgData name="Ashutosh Dixit" userId="ab6c3e37-306d-4503-aec7-51ddf0a52e19" providerId="ADAL" clId="{1B01D6BE-C5B3-5E1A-B22F-D7D7CA513B36}" dt="2026-09-09T13:53:33.780" v="51" actId="478"/>
          <ac:spMkLst>
            <pc:docMk/>
            <pc:sldMk cId="0" sldId="257"/>
            <ac:spMk id="3" creationId="{00000000-0000-0000-0000-000000000000}"/>
          </ac:spMkLst>
        </pc:spChg>
        <pc:spChg chg="del">
          <ac:chgData name="Ashutosh Dixit" userId="ab6c3e37-306d-4503-aec7-51ddf0a52e19" providerId="ADAL" clId="{1B01D6BE-C5B3-5E1A-B22F-D7D7CA513B36}" dt="2026-09-09T12:10:32.496" v="4" actId="478"/>
          <ac:spMkLst>
            <pc:docMk/>
            <pc:sldMk cId="0" sldId="257"/>
            <ac:spMk id="4" creationId="{00000000-0000-0000-0000-000000000000}"/>
          </ac:spMkLst>
        </pc:spChg>
        <pc:spChg chg="mod">
          <ac:chgData name="Ashutosh Dixit" userId="ab6c3e37-306d-4503-aec7-51ddf0a52e19" providerId="ADAL" clId="{1B01D6BE-C5B3-5E1A-B22F-D7D7CA513B36}" dt="2026-09-09T13:52:53.936" v="28" actId="20577"/>
          <ac:spMkLst>
            <pc:docMk/>
            <pc:sldMk cId="0" sldId="257"/>
            <ac:spMk id="5" creationId="{00000000-0000-0000-0000-000000000000}"/>
          </ac:spMkLst>
        </pc:spChg>
        <pc:spChg chg="mod">
          <ac:chgData name="Ashutosh Dixit" userId="ab6c3e37-306d-4503-aec7-51ddf0a52e19" providerId="ADAL" clId="{1B01D6BE-C5B3-5E1A-B22F-D7D7CA513B36}" dt="2026-09-09T13:53:01.909" v="36" actId="20577"/>
          <ac:spMkLst>
            <pc:docMk/>
            <pc:sldMk cId="0" sldId="257"/>
            <ac:spMk id="8" creationId="{00000000-0000-0000-0000-000000000000}"/>
          </ac:spMkLst>
        </pc:spChg>
        <pc:spChg chg="mod">
          <ac:chgData name="Ashutosh Dixit" userId="ab6c3e37-306d-4503-aec7-51ddf0a52e19" providerId="ADAL" clId="{1B01D6BE-C5B3-5E1A-B22F-D7D7CA513B36}" dt="2026-09-09T13:53:58.901" v="53" actId="2711"/>
          <ac:spMkLst>
            <pc:docMk/>
            <pc:sldMk cId="0" sldId="257"/>
            <ac:spMk id="15" creationId="{00000000-0000-0000-0000-000000000000}"/>
          </ac:spMkLst>
        </pc:spChg>
        <pc:spChg chg="mod">
          <ac:chgData name="Ashutosh Dixit" userId="ab6c3e37-306d-4503-aec7-51ddf0a52e19" providerId="ADAL" clId="{1B01D6BE-C5B3-5E1A-B22F-D7D7CA513B36}" dt="2026-09-09T13:53:58.901" v="53" actId="2711"/>
          <ac:spMkLst>
            <pc:docMk/>
            <pc:sldMk cId="0" sldId="257"/>
            <ac:spMk id="20" creationId="{00000000-0000-0000-0000-000000000000}"/>
          </ac:spMkLst>
        </pc:spChg>
        <pc:spChg chg="mod">
          <ac:chgData name="Ashutosh Dixit" userId="ab6c3e37-306d-4503-aec7-51ddf0a52e19" providerId="ADAL" clId="{1B01D6BE-C5B3-5E1A-B22F-D7D7CA513B36}" dt="2026-09-09T13:53:58.901" v="53" actId="2711"/>
          <ac:spMkLst>
            <pc:docMk/>
            <pc:sldMk cId="0" sldId="257"/>
            <ac:spMk id="21" creationId="{00000000-0000-0000-0000-000000000000}"/>
          </ac:spMkLst>
        </pc:spChg>
        <pc:spChg chg="mod">
          <ac:chgData name="Ashutosh Dixit" userId="ab6c3e37-306d-4503-aec7-51ddf0a52e19" providerId="ADAL" clId="{1B01D6BE-C5B3-5E1A-B22F-D7D7CA513B36}" dt="2026-09-09T13:53:58.901" v="53" actId="2711"/>
          <ac:spMkLst>
            <pc:docMk/>
            <pc:sldMk cId="0" sldId="257"/>
            <ac:spMk id="29" creationId="{00000000-0000-0000-0000-000000000000}"/>
          </ac:spMkLst>
        </pc:spChg>
        <pc:spChg chg="mod">
          <ac:chgData name="Ashutosh Dixit" userId="ab6c3e37-306d-4503-aec7-51ddf0a52e19" providerId="ADAL" clId="{1B01D6BE-C5B3-5E1A-B22F-D7D7CA513B36}" dt="2026-09-09T13:53:58.901" v="53" actId="2711"/>
          <ac:spMkLst>
            <pc:docMk/>
            <pc:sldMk cId="0" sldId="257"/>
            <ac:spMk id="42" creationId="{00000000-0000-0000-0000-000000000000}"/>
          </ac:spMkLst>
        </pc:spChg>
        <pc:spChg chg="mod">
          <ac:chgData name="Ashutosh Dixit" userId="ab6c3e37-306d-4503-aec7-51ddf0a52e19" providerId="ADAL" clId="{1B01D6BE-C5B3-5E1A-B22F-D7D7CA513B36}" dt="2026-09-09T13:53:58.901" v="53" actId="2711"/>
          <ac:spMkLst>
            <pc:docMk/>
            <pc:sldMk cId="0" sldId="257"/>
            <ac:spMk id="56" creationId="{00000000-0000-0000-0000-000000000000}"/>
          </ac:spMkLst>
        </pc:spChg>
        <pc:spChg chg="mod">
          <ac:chgData name="Ashutosh Dixit" userId="ab6c3e37-306d-4503-aec7-51ddf0a52e19" providerId="ADAL" clId="{1B01D6BE-C5B3-5E1A-B22F-D7D7CA513B36}" dt="2026-09-09T13:53:58.901" v="53" actId="2711"/>
          <ac:spMkLst>
            <pc:docMk/>
            <pc:sldMk cId="0" sldId="257"/>
            <ac:spMk id="57" creationId="{00000000-0000-0000-0000-000000000000}"/>
          </ac:spMkLst>
        </pc:spChg>
        <pc:spChg chg="mod">
          <ac:chgData name="Ashutosh Dixit" userId="ab6c3e37-306d-4503-aec7-51ddf0a52e19" providerId="ADAL" clId="{1B01D6BE-C5B3-5E1A-B22F-D7D7CA513B36}" dt="2026-09-09T13:53:58.901" v="53" actId="2711"/>
          <ac:spMkLst>
            <pc:docMk/>
            <pc:sldMk cId="0" sldId="257"/>
            <ac:spMk id="63" creationId="{00000000-0000-0000-0000-000000000000}"/>
          </ac:spMkLst>
        </pc:spChg>
        <pc:spChg chg="mod">
          <ac:chgData name="Ashutosh Dixit" userId="ab6c3e37-306d-4503-aec7-51ddf0a52e19" providerId="ADAL" clId="{1B01D6BE-C5B3-5E1A-B22F-D7D7CA513B36}" dt="2026-09-09T13:53:58.901" v="53" actId="2711"/>
          <ac:spMkLst>
            <pc:docMk/>
            <pc:sldMk cId="0" sldId="257"/>
            <ac:spMk id="65" creationId="{00000000-0000-0000-0000-000000000000}"/>
          </ac:spMkLst>
        </pc:spChg>
        <pc:spChg chg="add mod">
          <ac:chgData name="Ashutosh Dixit" userId="ab6c3e37-306d-4503-aec7-51ddf0a52e19" providerId="ADAL" clId="{1B01D6BE-C5B3-5E1A-B22F-D7D7CA513B36}" dt="2026-09-09T13:53:58.901" v="53" actId="2711"/>
          <ac:spMkLst>
            <pc:docMk/>
            <pc:sldMk cId="0" sldId="257"/>
            <ac:spMk id="72" creationId="{F5575F48-485E-C9E8-48FF-ED34CE871220}"/>
          </ac:spMkLst>
        </pc:spChg>
      </pc:sldChg>
      <pc:sldChg chg="add">
        <pc:chgData name="Ashutosh Dixit" userId="ab6c3e37-306d-4503-aec7-51ddf0a52e19" providerId="ADAL" clId="{1B01D6BE-C5B3-5E1A-B22F-D7D7CA513B36}" dt="2026-09-09T11:24:19.466" v="0"/>
        <pc:sldMkLst>
          <pc:docMk/>
          <pc:sldMk cId="0" sldId="258"/>
        </pc:sldMkLst>
      </pc:sldChg>
      <pc:sldChg chg="modSp add mod">
        <pc:chgData name="Ashutosh Dixit" userId="ab6c3e37-306d-4503-aec7-51ddf0a52e19" providerId="ADAL" clId="{1B01D6BE-C5B3-5E1A-B22F-D7D7CA513B36}" dt="2026-09-09T11:24:44.217" v="2" actId="1076"/>
        <pc:sldMkLst>
          <pc:docMk/>
          <pc:sldMk cId="0" sldId="259"/>
        </pc:sldMkLst>
        <pc:spChg chg="mod">
          <ac:chgData name="Ashutosh Dixit" userId="ab6c3e37-306d-4503-aec7-51ddf0a52e19" providerId="ADAL" clId="{1B01D6BE-C5B3-5E1A-B22F-D7D7CA513B36}" dt="2026-09-09T11:24:44.217" v="2" actId="1076"/>
          <ac:spMkLst>
            <pc:docMk/>
            <pc:sldMk cId="0" sldId="259"/>
            <ac:spMk id="13" creationId="{00000000-0000-0000-0000-000000000000}"/>
          </ac:spMkLst>
        </pc:spChg>
      </pc:sldChg>
      <pc:sldChg chg="modSp add mod setBg">
        <pc:chgData name="Ashutosh Dixit" userId="ab6c3e37-306d-4503-aec7-51ddf0a52e19" providerId="ADAL" clId="{1B01D6BE-C5B3-5E1A-B22F-D7D7CA513B36}" dt="2026-09-10T08:38:05.216" v="59" actId="207"/>
        <pc:sldMkLst>
          <pc:docMk/>
          <pc:sldMk cId="0" sldId="260"/>
        </pc:sldMkLst>
        <pc:spChg chg="mod">
          <ac:chgData name="Ashutosh Dixit" userId="ab6c3e37-306d-4503-aec7-51ddf0a52e19" providerId="ADAL" clId="{1B01D6BE-C5B3-5E1A-B22F-D7D7CA513B36}" dt="2026-09-10T08:38:05.216" v="59" actId="207"/>
          <ac:spMkLst>
            <pc:docMk/>
            <pc:sldMk cId="0" sldId="260"/>
            <ac:spMk id="4" creationId="{00000000-0000-0000-0000-000000000000}"/>
          </ac:spMkLst>
        </pc:spChg>
      </pc:sldChg>
      <pc:sldChg chg="add setBg">
        <pc:chgData name="Ashutosh Dixit" userId="ab6c3e37-306d-4503-aec7-51ddf0a52e19" providerId="ADAL" clId="{1B01D6BE-C5B3-5E1A-B22F-D7D7CA513B36}" dt="2026-09-09T13:57:32.139" v="55"/>
        <pc:sldMkLst>
          <pc:docMk/>
          <pc:sldMk cId="0" sldId="261"/>
        </pc:sldMkLst>
      </pc:sldChg>
      <pc:sldChg chg="add setBg">
        <pc:chgData name="Ashutosh Dixit" userId="ab6c3e37-306d-4503-aec7-51ddf0a52e19" providerId="ADAL" clId="{1B01D6BE-C5B3-5E1A-B22F-D7D7CA513B36}" dt="2026-09-09T13:57:32.139" v="55"/>
        <pc:sldMkLst>
          <pc:docMk/>
          <pc:sldMk cId="0" sldId="262"/>
        </pc:sldMkLst>
      </pc:sldChg>
      <pc:sldChg chg="add setBg">
        <pc:chgData name="Ashutosh Dixit" userId="ab6c3e37-306d-4503-aec7-51ddf0a52e19" providerId="ADAL" clId="{1B01D6BE-C5B3-5E1A-B22F-D7D7CA513B36}" dt="2026-09-09T13:57:32.139" v="55"/>
        <pc:sldMkLst>
          <pc:docMk/>
          <pc:sldMk cId="0" sldId="263"/>
        </pc:sldMkLst>
      </pc:sldChg>
      <pc:sldChg chg="add setBg">
        <pc:chgData name="Ashutosh Dixit" userId="ab6c3e37-306d-4503-aec7-51ddf0a52e19" providerId="ADAL" clId="{1B01D6BE-C5B3-5E1A-B22F-D7D7CA513B36}" dt="2026-09-09T13:57:32.139" v="55"/>
        <pc:sldMkLst>
          <pc:docMk/>
          <pc:sldMk cId="0" sldId="264"/>
        </pc:sldMkLst>
      </pc:sldChg>
      <pc:sldChg chg="add setBg">
        <pc:chgData name="Ashutosh Dixit" userId="ab6c3e37-306d-4503-aec7-51ddf0a52e19" providerId="ADAL" clId="{1B01D6BE-C5B3-5E1A-B22F-D7D7CA513B36}" dt="2026-09-09T13:57:32.139" v="55"/>
        <pc:sldMkLst>
          <pc:docMk/>
          <pc:sldMk cId="0" sldId="265"/>
        </pc:sldMkLst>
      </pc:sldChg>
      <pc:sldChg chg="add setBg">
        <pc:chgData name="Ashutosh Dixit" userId="ab6c3e37-306d-4503-aec7-51ddf0a52e19" providerId="ADAL" clId="{1B01D6BE-C5B3-5E1A-B22F-D7D7CA513B36}" dt="2026-09-09T13:57:32.139" v="55"/>
        <pc:sldMkLst>
          <pc:docMk/>
          <pc:sldMk cId="0" sldId="266"/>
        </pc:sldMkLst>
      </pc:sldChg>
      <pc:sldChg chg="add setBg">
        <pc:chgData name="Ashutosh Dixit" userId="ab6c3e37-306d-4503-aec7-51ddf0a52e19" providerId="ADAL" clId="{1B01D6BE-C5B3-5E1A-B22F-D7D7CA513B36}" dt="2026-09-09T13:57:32.139" v="55"/>
        <pc:sldMkLst>
          <pc:docMk/>
          <pc:sldMk cId="0" sldId="267"/>
        </pc:sldMkLst>
      </pc:sldChg>
      <pc:sldChg chg="add setBg">
        <pc:chgData name="Ashutosh Dixit" userId="ab6c3e37-306d-4503-aec7-51ddf0a52e19" providerId="ADAL" clId="{1B01D6BE-C5B3-5E1A-B22F-D7D7CA513B36}" dt="2026-09-09T13:57:32.139" v="55"/>
        <pc:sldMkLst>
          <pc:docMk/>
          <pc:sldMk cId="0" sldId="268"/>
        </pc:sldMkLst>
      </pc:sldChg>
      <pc:sldChg chg="add setBg">
        <pc:chgData name="Ashutosh Dixit" userId="ab6c3e37-306d-4503-aec7-51ddf0a52e19" providerId="ADAL" clId="{1B01D6BE-C5B3-5E1A-B22F-D7D7CA513B36}" dt="2026-09-09T13:57:32.139" v="55"/>
        <pc:sldMkLst>
          <pc:docMk/>
          <pc:sldMk cId="0" sldId="269"/>
        </pc:sldMkLst>
      </pc:sldChg>
      <pc:sldChg chg="add setBg">
        <pc:chgData name="Ashutosh Dixit" userId="ab6c3e37-306d-4503-aec7-51ddf0a52e19" providerId="ADAL" clId="{1B01D6BE-C5B3-5E1A-B22F-D7D7CA513B36}" dt="2026-09-09T13:57:32.139" v="55"/>
        <pc:sldMkLst>
          <pc:docMk/>
          <pc:sldMk cId="0" sldId="270"/>
        </pc:sldMkLst>
      </pc:sldChg>
      <pc:sldChg chg="add setBg">
        <pc:chgData name="Ashutosh Dixit" userId="ab6c3e37-306d-4503-aec7-51ddf0a52e19" providerId="ADAL" clId="{1B01D6BE-C5B3-5E1A-B22F-D7D7CA513B36}" dt="2026-09-09T13:57:32.139" v="55"/>
        <pc:sldMkLst>
          <pc:docMk/>
          <pc:sldMk cId="0" sldId="271"/>
        </pc:sldMkLst>
      </pc:sldChg>
      <pc:sldChg chg="add setBg">
        <pc:chgData name="Ashutosh Dixit" userId="ab6c3e37-306d-4503-aec7-51ddf0a52e19" providerId="ADAL" clId="{1B01D6BE-C5B3-5E1A-B22F-D7D7CA513B36}" dt="2026-09-09T13:57:32.139" v="55"/>
        <pc:sldMkLst>
          <pc:docMk/>
          <pc:sldMk cId="0" sldId="272"/>
        </pc:sldMkLst>
      </pc:sldChg>
      <pc:sldChg chg="add setBg">
        <pc:chgData name="Ashutosh Dixit" userId="ab6c3e37-306d-4503-aec7-51ddf0a52e19" providerId="ADAL" clId="{1B01D6BE-C5B3-5E1A-B22F-D7D7CA513B36}" dt="2026-09-09T13:57:32.139" v="55"/>
        <pc:sldMkLst>
          <pc:docMk/>
          <pc:sldMk cId="0" sldId="273"/>
        </pc:sldMkLst>
      </pc:sldChg>
      <pc:sldChg chg="add setBg">
        <pc:chgData name="Ashutosh Dixit" userId="ab6c3e37-306d-4503-aec7-51ddf0a52e19" providerId="ADAL" clId="{1B01D6BE-C5B3-5E1A-B22F-D7D7CA513B36}" dt="2026-09-09T13:57:32.139" v="55"/>
        <pc:sldMkLst>
          <pc:docMk/>
          <pc:sldMk cId="0" sldId="274"/>
        </pc:sldMkLst>
      </pc:sldChg>
      <pc:sldChg chg="add setBg">
        <pc:chgData name="Ashutosh Dixit" userId="ab6c3e37-306d-4503-aec7-51ddf0a52e19" providerId="ADAL" clId="{1B01D6BE-C5B3-5E1A-B22F-D7D7CA513B36}" dt="2026-09-09T13:57:32.139" v="55"/>
        <pc:sldMkLst>
          <pc:docMk/>
          <pc:sldMk cId="0" sldId="275"/>
        </pc:sldMkLst>
      </pc:sldChg>
      <pc:sldChg chg="add setBg">
        <pc:chgData name="Ashutosh Dixit" userId="ab6c3e37-306d-4503-aec7-51ddf0a52e19" providerId="ADAL" clId="{1B01D6BE-C5B3-5E1A-B22F-D7D7CA513B36}" dt="2026-09-09T13:57:32.139" v="55"/>
        <pc:sldMkLst>
          <pc:docMk/>
          <pc:sldMk cId="0" sldId="276"/>
        </pc:sldMkLst>
      </pc:sldChg>
      <pc:sldChg chg="add setBg">
        <pc:chgData name="Ashutosh Dixit" userId="ab6c3e37-306d-4503-aec7-51ddf0a52e19" providerId="ADAL" clId="{1B01D6BE-C5B3-5E1A-B22F-D7D7CA513B36}" dt="2026-09-09T13:57:32.139" v="55"/>
        <pc:sldMkLst>
          <pc:docMk/>
          <pc:sldMk cId="0" sldId="277"/>
        </pc:sldMkLst>
      </pc:sldChg>
      <pc:sldChg chg="add setBg">
        <pc:chgData name="Ashutosh Dixit" userId="ab6c3e37-306d-4503-aec7-51ddf0a52e19" providerId="ADAL" clId="{1B01D6BE-C5B3-5E1A-B22F-D7D7CA513B36}" dt="2026-09-09T13:57:32.139" v="55"/>
        <pc:sldMkLst>
          <pc:docMk/>
          <pc:sldMk cId="0" sldId="278"/>
        </pc:sldMkLst>
      </pc:sldChg>
      <pc:sldChg chg="add setBg">
        <pc:chgData name="Ashutosh Dixit" userId="ab6c3e37-306d-4503-aec7-51ddf0a52e19" providerId="ADAL" clId="{1B01D6BE-C5B3-5E1A-B22F-D7D7CA513B36}" dt="2026-09-09T13:57:59.636" v="56"/>
        <pc:sldMkLst>
          <pc:docMk/>
          <pc:sldMk cId="0" sldId="279"/>
        </pc:sldMkLst>
      </pc:sldChg>
      <pc:sldChg chg="add setBg">
        <pc:chgData name="Ashutosh Dixit" userId="ab6c3e37-306d-4503-aec7-51ddf0a52e19" providerId="ADAL" clId="{1B01D6BE-C5B3-5E1A-B22F-D7D7CA513B36}" dt="2026-09-09T13:57:59.636" v="56"/>
        <pc:sldMkLst>
          <pc:docMk/>
          <pc:sldMk cId="0" sldId="280"/>
        </pc:sldMkLst>
      </pc:sldChg>
      <pc:sldChg chg="add setBg">
        <pc:chgData name="Ashutosh Dixit" userId="ab6c3e37-306d-4503-aec7-51ddf0a52e19" providerId="ADAL" clId="{1B01D6BE-C5B3-5E1A-B22F-D7D7CA513B36}" dt="2026-09-09T13:57:59.636" v="56"/>
        <pc:sldMkLst>
          <pc:docMk/>
          <pc:sldMk cId="0" sldId="281"/>
        </pc:sldMkLst>
      </pc:sldChg>
      <pc:sldChg chg="add setBg">
        <pc:chgData name="Ashutosh Dixit" userId="ab6c3e37-306d-4503-aec7-51ddf0a52e19" providerId="ADAL" clId="{1B01D6BE-C5B3-5E1A-B22F-D7D7CA513B36}" dt="2026-09-09T13:57:59.636" v="56"/>
        <pc:sldMkLst>
          <pc:docMk/>
          <pc:sldMk cId="0" sldId="282"/>
        </pc:sldMkLst>
      </pc:sldChg>
      <pc:sldChg chg="add setBg">
        <pc:chgData name="Ashutosh Dixit" userId="ab6c3e37-306d-4503-aec7-51ddf0a52e19" providerId="ADAL" clId="{1B01D6BE-C5B3-5E1A-B22F-D7D7CA513B36}" dt="2026-09-09T13:57:59.636" v="56"/>
        <pc:sldMkLst>
          <pc:docMk/>
          <pc:sldMk cId="0" sldId="283"/>
        </pc:sldMkLst>
      </pc:sldChg>
      <pc:sldChg chg="add setBg">
        <pc:chgData name="Ashutosh Dixit" userId="ab6c3e37-306d-4503-aec7-51ddf0a52e19" providerId="ADAL" clId="{1B01D6BE-C5B3-5E1A-B22F-D7D7CA513B36}" dt="2026-09-09T13:57:59.636" v="56"/>
        <pc:sldMkLst>
          <pc:docMk/>
          <pc:sldMk cId="0" sldId="284"/>
        </pc:sldMkLst>
      </pc:sldChg>
      <pc:sldChg chg="add setBg">
        <pc:chgData name="Ashutosh Dixit" userId="ab6c3e37-306d-4503-aec7-51ddf0a52e19" providerId="ADAL" clId="{1B01D6BE-C5B3-5E1A-B22F-D7D7CA513B36}" dt="2026-09-09T13:57:59.636" v="56"/>
        <pc:sldMkLst>
          <pc:docMk/>
          <pc:sldMk cId="0" sldId="285"/>
        </pc:sldMkLst>
      </pc:sldChg>
      <pc:sldChg chg="add setBg">
        <pc:chgData name="Ashutosh Dixit" userId="ab6c3e37-306d-4503-aec7-51ddf0a52e19" providerId="ADAL" clId="{1B01D6BE-C5B3-5E1A-B22F-D7D7CA513B36}" dt="2026-09-09T13:57:59.636" v="56"/>
        <pc:sldMkLst>
          <pc:docMk/>
          <pc:sldMk cId="0" sldId="286"/>
        </pc:sldMkLst>
      </pc:sldChg>
      <pc:sldChg chg="add setBg">
        <pc:chgData name="Ashutosh Dixit" userId="ab6c3e37-306d-4503-aec7-51ddf0a52e19" providerId="ADAL" clId="{1B01D6BE-C5B3-5E1A-B22F-D7D7CA513B36}" dt="2026-09-09T13:57:59.636" v="56"/>
        <pc:sldMkLst>
          <pc:docMk/>
          <pc:sldMk cId="0" sldId="287"/>
        </pc:sldMkLst>
      </pc:sldChg>
      <pc:sldChg chg="add setBg">
        <pc:chgData name="Ashutosh Dixit" userId="ab6c3e37-306d-4503-aec7-51ddf0a52e19" providerId="ADAL" clId="{1B01D6BE-C5B3-5E1A-B22F-D7D7CA513B36}" dt="2026-09-09T13:57:59.636" v="56"/>
        <pc:sldMkLst>
          <pc:docMk/>
          <pc:sldMk cId="0" sldId="288"/>
        </pc:sldMkLst>
      </pc:sldChg>
      <pc:sldChg chg="add setBg">
        <pc:chgData name="Ashutosh Dixit" userId="ab6c3e37-306d-4503-aec7-51ddf0a52e19" providerId="ADAL" clId="{1B01D6BE-C5B3-5E1A-B22F-D7D7CA513B36}" dt="2026-09-09T13:57:59.636" v="56"/>
        <pc:sldMkLst>
          <pc:docMk/>
          <pc:sldMk cId="0" sldId="289"/>
        </pc:sldMkLst>
      </pc:sldChg>
      <pc:sldChg chg="add setBg">
        <pc:chgData name="Ashutosh Dixit" userId="ab6c3e37-306d-4503-aec7-51ddf0a52e19" providerId="ADAL" clId="{1B01D6BE-C5B3-5E1A-B22F-D7D7CA513B36}" dt="2026-09-09T13:57:59.636" v="56"/>
        <pc:sldMkLst>
          <pc:docMk/>
          <pc:sldMk cId="0" sldId="290"/>
        </pc:sldMkLst>
      </pc:sldChg>
      <pc:sldChg chg="add setBg">
        <pc:chgData name="Ashutosh Dixit" userId="ab6c3e37-306d-4503-aec7-51ddf0a52e19" providerId="ADAL" clId="{1B01D6BE-C5B3-5E1A-B22F-D7D7CA513B36}" dt="2026-09-09T13:57:59.636" v="56"/>
        <pc:sldMkLst>
          <pc:docMk/>
          <pc:sldMk cId="0" sldId="291"/>
        </pc:sldMkLst>
      </pc:sldChg>
      <pc:sldChg chg="add setBg">
        <pc:chgData name="Ashutosh Dixit" userId="ab6c3e37-306d-4503-aec7-51ddf0a52e19" providerId="ADAL" clId="{1B01D6BE-C5B3-5E1A-B22F-D7D7CA513B36}" dt="2026-09-09T13:57:59.636" v="56"/>
        <pc:sldMkLst>
          <pc:docMk/>
          <pc:sldMk cId="0" sldId="292"/>
        </pc:sldMkLst>
      </pc:sldChg>
      <pc:sldChg chg="add setBg">
        <pc:chgData name="Ashutosh Dixit" userId="ab6c3e37-306d-4503-aec7-51ddf0a52e19" providerId="ADAL" clId="{1B01D6BE-C5B3-5E1A-B22F-D7D7CA513B36}" dt="2026-09-09T13:57:59.636" v="56"/>
        <pc:sldMkLst>
          <pc:docMk/>
          <pc:sldMk cId="0" sldId="293"/>
        </pc:sldMkLst>
      </pc:sldChg>
      <pc:sldChg chg="add setBg">
        <pc:chgData name="Ashutosh Dixit" userId="ab6c3e37-306d-4503-aec7-51ddf0a52e19" providerId="ADAL" clId="{1B01D6BE-C5B3-5E1A-B22F-D7D7CA513B36}" dt="2026-09-09T13:57:59.636" v="56"/>
        <pc:sldMkLst>
          <pc:docMk/>
          <pc:sldMk cId="0" sldId="294"/>
        </pc:sldMkLst>
      </pc:sldChg>
      <pc:sldChg chg="add setBg">
        <pc:chgData name="Ashutosh Dixit" userId="ab6c3e37-306d-4503-aec7-51ddf0a52e19" providerId="ADAL" clId="{1B01D6BE-C5B3-5E1A-B22F-D7D7CA513B36}" dt="2026-09-09T13:57:59.636" v="56"/>
        <pc:sldMkLst>
          <pc:docMk/>
          <pc:sldMk cId="0" sldId="295"/>
        </pc:sldMkLst>
      </pc:sldChg>
      <pc:sldChg chg="add setBg">
        <pc:chgData name="Ashutosh Dixit" userId="ab6c3e37-306d-4503-aec7-51ddf0a52e19" providerId="ADAL" clId="{1B01D6BE-C5B3-5E1A-B22F-D7D7CA513B36}" dt="2026-09-09T13:57:59.636" v="56"/>
        <pc:sldMkLst>
          <pc:docMk/>
          <pc:sldMk cId="0" sldId="296"/>
        </pc:sldMkLst>
      </pc:sldChg>
      <pc:sldChg chg="add setBg">
        <pc:chgData name="Ashutosh Dixit" userId="ab6c3e37-306d-4503-aec7-51ddf0a52e19" providerId="ADAL" clId="{1B01D6BE-C5B3-5E1A-B22F-D7D7CA513B36}" dt="2026-09-09T13:57:59.636" v="56"/>
        <pc:sldMkLst>
          <pc:docMk/>
          <pc:sldMk cId="0" sldId="297"/>
        </pc:sldMkLst>
      </pc:sldChg>
      <pc:sldChg chg="add setBg">
        <pc:chgData name="Ashutosh Dixit" userId="ab6c3e37-306d-4503-aec7-51ddf0a52e19" providerId="ADAL" clId="{1B01D6BE-C5B3-5E1A-B22F-D7D7CA513B36}" dt="2026-09-09T13:57:59.636" v="56"/>
        <pc:sldMkLst>
          <pc:docMk/>
          <pc:sldMk cId="0" sldId="298"/>
        </pc:sldMkLst>
      </pc:sldChg>
      <pc:sldChg chg="add setBg">
        <pc:chgData name="Ashutosh Dixit" userId="ab6c3e37-306d-4503-aec7-51ddf0a52e19" providerId="ADAL" clId="{1B01D6BE-C5B3-5E1A-B22F-D7D7CA513B36}" dt="2026-09-09T13:57:59.636" v="56"/>
        <pc:sldMkLst>
          <pc:docMk/>
          <pc:sldMk cId="0" sldId="299"/>
        </pc:sldMkLst>
      </pc:sldChg>
      <pc:sldChg chg="add setBg">
        <pc:chgData name="Ashutosh Dixit" userId="ab6c3e37-306d-4503-aec7-51ddf0a52e19" providerId="ADAL" clId="{1B01D6BE-C5B3-5E1A-B22F-D7D7CA513B36}" dt="2026-09-09T13:57:59.636" v="56"/>
        <pc:sldMkLst>
          <pc:docMk/>
          <pc:sldMk cId="0" sldId="30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1777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84632" y="256032"/>
            <a:ext cx="10515600" cy="457200"/>
          </a:xfrm>
          <a:prstGeom prst="rect">
            <a:avLst/>
          </a:prstGeom>
          <a:noFill/>
          <a:ln/>
        </p:spPr>
        <p:txBody>
          <a:bodyPr wrap="square" lIns="0" tIns="0" rIns="0" bIns="0" rtlCol="0" anchor="ctr"/>
          <a:lstStyle/>
          <a:p>
            <a:pPr marL="0" indent="0">
              <a:buNone/>
            </a:pPr>
            <a:r>
              <a:rPr lang="en-US" sz="2400" b="1" dirty="0">
                <a:solidFill>
                  <a:srgbClr val="1B1F23"/>
                </a:solidFill>
                <a:latin typeface="Cambria" pitchFamily="34" charset="0"/>
                <a:ea typeface="Cambria" pitchFamily="34" charset="-122"/>
                <a:cs typeface="Cambria" pitchFamily="34" charset="-120"/>
              </a:rPr>
              <a:t>The CEO Ask</a:t>
            </a:r>
            <a:endParaRPr lang="en-US" sz="2400" dirty="0"/>
          </a:p>
        </p:txBody>
      </p:sp>
      <p:sp>
        <p:nvSpPr>
          <p:cNvPr id="10" name="Shape 8"/>
          <p:cNvSpPr/>
          <p:nvPr/>
        </p:nvSpPr>
        <p:spPr>
          <a:xfrm>
            <a:off x="502920" y="1874520"/>
            <a:ext cx="11183112" cy="859536"/>
          </a:xfrm>
          <a:prstGeom prst="roundRect">
            <a:avLst>
              <a:gd name="adj" fmla="val 5319"/>
            </a:avLst>
          </a:prstGeom>
          <a:solidFill>
            <a:srgbClr val="F4F6FA"/>
          </a:solidFill>
          <a:ln w="6350">
            <a:solidFill>
              <a:srgbClr val="D8DFEA"/>
            </a:solidFill>
            <a:prstDash val="solid"/>
          </a:ln>
        </p:spPr>
        <p:txBody>
          <a:bodyPr/>
          <a:lstStyle/>
          <a:p>
            <a:endParaRPr lang="en-US"/>
          </a:p>
        </p:txBody>
      </p:sp>
      <p:sp>
        <p:nvSpPr>
          <p:cNvPr id="11" name="Shape 9"/>
          <p:cNvSpPr/>
          <p:nvPr/>
        </p:nvSpPr>
        <p:spPr>
          <a:xfrm>
            <a:off x="502920" y="1874520"/>
            <a:ext cx="82296" cy="859536"/>
          </a:xfrm>
          <a:prstGeom prst="rect">
            <a:avLst/>
          </a:prstGeom>
          <a:solidFill>
            <a:srgbClr val="0B2545"/>
          </a:solidFill>
          <a:ln/>
        </p:spPr>
        <p:txBody>
          <a:bodyPr/>
          <a:lstStyle/>
          <a:p>
            <a:endParaRPr lang="en-US"/>
          </a:p>
        </p:txBody>
      </p:sp>
      <p:sp>
        <p:nvSpPr>
          <p:cNvPr id="12" name="Text 10"/>
          <p:cNvSpPr txBox="1"/>
          <p:nvPr/>
        </p:nvSpPr>
        <p:spPr>
          <a:xfrm>
            <a:off x="713232" y="1984248"/>
            <a:ext cx="3246120" cy="274320"/>
          </a:xfrm>
          <a:prstGeom prst="rect">
            <a:avLst/>
          </a:prstGeom>
          <a:noFill/>
          <a:ln/>
        </p:spPr>
        <p:txBody>
          <a:bodyPr wrap="square" lIns="0" tIns="0" rIns="0" bIns="0" rtlCol="0" anchor="ctr"/>
          <a:lstStyle/>
          <a:p>
            <a:pPr marL="0" indent="0">
              <a:buNone/>
            </a:pPr>
            <a:r>
              <a:rPr lang="en-US" sz="1500" b="1" dirty="0">
                <a:solidFill>
                  <a:srgbClr val="0B2545"/>
                </a:solidFill>
                <a:ea typeface="Cambria" pitchFamily="34" charset="-122"/>
                <a:cs typeface="Cambria" pitchFamily="34" charset="-120"/>
              </a:rPr>
              <a:t>01  </a:t>
            </a:r>
            <a:r>
              <a:rPr lang="en-US" sz="1300" b="1" dirty="0">
                <a:solidFill>
                  <a:srgbClr val="1B1F23"/>
                </a:solidFill>
                <a:ea typeface="Cambria" pitchFamily="34" charset="-122"/>
                <a:cs typeface="Cambria" pitchFamily="34" charset="-120"/>
              </a:rPr>
              <a:t>Value for Money</a:t>
            </a:r>
            <a:endParaRPr lang="en-US" sz="1500" dirty="0"/>
          </a:p>
        </p:txBody>
      </p:sp>
      <p:sp>
        <p:nvSpPr>
          <p:cNvPr id="13" name="Text 11"/>
          <p:cNvSpPr txBox="1"/>
          <p:nvPr/>
        </p:nvSpPr>
        <p:spPr>
          <a:xfrm>
            <a:off x="731520" y="2276856"/>
            <a:ext cx="3200400" cy="402336"/>
          </a:xfrm>
          <a:prstGeom prst="rect">
            <a:avLst/>
          </a:prstGeom>
          <a:noFill/>
          <a:ln/>
        </p:spPr>
        <p:txBody>
          <a:bodyPr wrap="square" lIns="0" tIns="0" rIns="0" bIns="0" rtlCol="0" anchor="t"/>
          <a:lstStyle/>
          <a:p>
            <a:pPr marL="0" indent="0">
              <a:lnSpc>
                <a:spcPct val="95000"/>
              </a:lnSpc>
              <a:buNone/>
            </a:pPr>
            <a:r>
              <a:rPr lang="en-US" sz="950" i="1" dirty="0">
                <a:solidFill>
                  <a:srgbClr val="44515E"/>
                </a:solidFill>
                <a:ea typeface="Calibri" pitchFamily="34" charset="-122"/>
                <a:cs typeface="Calibri" pitchFamily="34" charset="-120"/>
              </a:rPr>
              <a:t>“Am I getting value for what I pour into IT — and can I free up cash to fund AI without a fresh budget ask?”</a:t>
            </a:r>
            <a:endParaRPr lang="en-US" sz="950" dirty="0"/>
          </a:p>
        </p:txBody>
      </p:sp>
      <p:sp>
        <p:nvSpPr>
          <p:cNvPr id="14" name="Shape 12"/>
          <p:cNvSpPr/>
          <p:nvPr/>
        </p:nvSpPr>
        <p:spPr>
          <a:xfrm>
            <a:off x="4041648" y="2130552"/>
            <a:ext cx="1737360" cy="347472"/>
          </a:xfrm>
          <a:prstGeom prst="roundRect">
            <a:avLst>
              <a:gd name="adj" fmla="val 13158"/>
            </a:avLst>
          </a:prstGeom>
          <a:solidFill>
            <a:srgbClr val="0B2545"/>
          </a:solidFill>
          <a:ln/>
        </p:spPr>
        <p:txBody>
          <a:bodyPr/>
          <a:lstStyle/>
          <a:p>
            <a:endParaRPr lang="en-US"/>
          </a:p>
        </p:txBody>
      </p:sp>
      <p:sp>
        <p:nvSpPr>
          <p:cNvPr id="15" name="Text 13"/>
          <p:cNvSpPr txBox="1"/>
          <p:nvPr/>
        </p:nvSpPr>
        <p:spPr>
          <a:xfrm>
            <a:off x="4078224" y="2130552"/>
            <a:ext cx="1664208" cy="347472"/>
          </a:xfrm>
          <a:prstGeom prst="rect">
            <a:avLst/>
          </a:prstGeom>
          <a:noFill/>
          <a:ln/>
        </p:spPr>
        <p:txBody>
          <a:bodyPr wrap="square" lIns="0" tIns="0" rIns="0" bIns="0" rtlCol="0" anchor="ctr"/>
          <a:lstStyle/>
          <a:p>
            <a:pPr marL="0" indent="0" algn="ctr">
              <a:lnSpc>
                <a:spcPct val="90000"/>
              </a:lnSpc>
              <a:buNone/>
            </a:pPr>
            <a:r>
              <a:rPr lang="en-US" sz="1100" b="1" dirty="0">
                <a:solidFill>
                  <a:srgbClr val="FFFFFF"/>
                </a:solidFill>
                <a:ea typeface="Cambria" pitchFamily="34" charset="-122"/>
                <a:cs typeface="Cambria" pitchFamily="34" charset="-120"/>
              </a:rPr>
              <a:t>P1 · Enterprise</a:t>
            </a:r>
            <a:endParaRPr lang="en-US" sz="1100" dirty="0"/>
          </a:p>
          <a:p>
            <a:pPr marL="0" indent="0" algn="ctr">
              <a:lnSpc>
                <a:spcPct val="90000"/>
              </a:lnSpc>
              <a:buNone/>
            </a:pPr>
            <a:r>
              <a:rPr lang="en-US" sz="1100" b="1" dirty="0">
                <a:solidFill>
                  <a:srgbClr val="FFFFFF"/>
                </a:solidFill>
                <a:ea typeface="Cambria" pitchFamily="34" charset="-122"/>
                <a:cs typeface="Cambria" pitchFamily="34" charset="-120"/>
              </a:rPr>
              <a:t>IT Strategy</a:t>
            </a:r>
            <a:endParaRPr lang="en-US" sz="1100" dirty="0"/>
          </a:p>
        </p:txBody>
      </p:sp>
      <p:sp>
        <p:nvSpPr>
          <p:cNvPr id="16" name="Text 14"/>
          <p:cNvSpPr txBox="1"/>
          <p:nvPr/>
        </p:nvSpPr>
        <p:spPr>
          <a:xfrm>
            <a:off x="5779008" y="1874520"/>
            <a:ext cx="182880"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17" name="Text 15"/>
          <p:cNvSpPr txBox="1"/>
          <p:nvPr/>
        </p:nvSpPr>
        <p:spPr>
          <a:xfrm>
            <a:off x="5943600" y="1965960"/>
            <a:ext cx="1627632" cy="676656"/>
          </a:xfrm>
          <a:prstGeom prst="rect">
            <a:avLst/>
          </a:prstGeom>
          <a:noFill/>
          <a:ln/>
        </p:spPr>
        <p:txBody>
          <a:bodyPr wrap="square" lIns="0" tIns="0" rIns="0" bIns="0" rtlCol="0" anchor="ctr"/>
          <a:lstStyle/>
          <a:p>
            <a:pPr marL="0" indent="0" algn="ctr">
              <a:lnSpc>
                <a:spcPct val="92000"/>
              </a:lnSpc>
              <a:buNone/>
            </a:pPr>
            <a:r>
              <a:rPr lang="en-US" sz="950" b="1" dirty="0">
                <a:solidFill>
                  <a:srgbClr val="0B2545"/>
                </a:solidFill>
                <a:ea typeface="Calibri" pitchFamily="34" charset="-122"/>
                <a:cs typeface="Calibri" pitchFamily="34" charset="-120"/>
              </a:rPr>
              <a:t>Cost IQ</a:t>
            </a:r>
            <a:endParaRPr lang="en-US" sz="950" dirty="0"/>
          </a:p>
        </p:txBody>
      </p:sp>
      <p:sp>
        <p:nvSpPr>
          <p:cNvPr id="18" name="Text 16"/>
          <p:cNvSpPr txBox="1"/>
          <p:nvPr/>
        </p:nvSpPr>
        <p:spPr>
          <a:xfrm>
            <a:off x="7534656" y="1874520"/>
            <a:ext cx="164592"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19" name="Text 17"/>
          <p:cNvSpPr txBox="1"/>
          <p:nvPr/>
        </p:nvSpPr>
        <p:spPr>
          <a:xfrm>
            <a:off x="7699248" y="1965960"/>
            <a:ext cx="2121408" cy="676656"/>
          </a:xfrm>
          <a:prstGeom prst="rect">
            <a:avLst/>
          </a:prstGeom>
          <a:noFill/>
          <a:ln/>
        </p:spPr>
        <p:txBody>
          <a:bodyPr wrap="square" lIns="0" tIns="0" rIns="0" bIns="0" rtlCol="0" anchor="ctr"/>
          <a:lstStyle/>
          <a:p>
            <a:pPr marL="0" indent="0" algn="l">
              <a:lnSpc>
                <a:spcPct val="95000"/>
              </a:lnSpc>
              <a:buNone/>
            </a:pPr>
            <a:r>
              <a:rPr lang="en-US" sz="950" dirty="0">
                <a:solidFill>
                  <a:srgbClr val="1B1F23"/>
                </a:solidFill>
                <a:ea typeface="Calibri" pitchFamily="34" charset="-122"/>
                <a:cs typeface="Calibri" pitchFamily="34" charset="-120"/>
              </a:rPr>
              <a:t>IT Economics · FinOps · AI Cost</a:t>
            </a:r>
            <a:endParaRPr lang="en-US" sz="950" dirty="0"/>
          </a:p>
        </p:txBody>
      </p:sp>
      <p:sp>
        <p:nvSpPr>
          <p:cNvPr id="20" name="Text 18"/>
          <p:cNvSpPr txBox="1"/>
          <p:nvPr/>
        </p:nvSpPr>
        <p:spPr>
          <a:xfrm>
            <a:off x="9802368" y="1874520"/>
            <a:ext cx="164592"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21" name="Text 19"/>
          <p:cNvSpPr txBox="1"/>
          <p:nvPr/>
        </p:nvSpPr>
        <p:spPr>
          <a:xfrm>
            <a:off x="9966960" y="1965960"/>
            <a:ext cx="1719072" cy="676656"/>
          </a:xfrm>
          <a:prstGeom prst="rect">
            <a:avLst/>
          </a:prstGeom>
          <a:noFill/>
          <a:ln/>
        </p:spPr>
        <p:txBody>
          <a:bodyPr wrap="square" lIns="0" tIns="0" rIns="0" bIns="0" rtlCol="0" anchor="ctr"/>
          <a:lstStyle/>
          <a:p>
            <a:pPr marL="0" indent="0" algn="l">
              <a:lnSpc>
                <a:spcPct val="95000"/>
              </a:lnSpc>
              <a:buNone/>
            </a:pPr>
            <a:r>
              <a:rPr lang="en-US" sz="1050" b="1" dirty="0">
                <a:solidFill>
                  <a:srgbClr val="0B2545"/>
                </a:solidFill>
                <a:ea typeface="Cambria" pitchFamily="34" charset="-122"/>
                <a:cs typeface="Cambria" pitchFamily="34" charset="-120"/>
              </a:rPr>
              <a:t>IT cost becomes growth capital</a:t>
            </a:r>
            <a:endParaRPr lang="en-US" sz="1050" dirty="0"/>
          </a:p>
        </p:txBody>
      </p:sp>
      <p:sp>
        <p:nvSpPr>
          <p:cNvPr id="22" name="Shape 20"/>
          <p:cNvSpPr/>
          <p:nvPr/>
        </p:nvSpPr>
        <p:spPr>
          <a:xfrm>
            <a:off x="502920" y="2807208"/>
            <a:ext cx="11183112" cy="859536"/>
          </a:xfrm>
          <a:prstGeom prst="roundRect">
            <a:avLst>
              <a:gd name="adj" fmla="val 5319"/>
            </a:avLst>
          </a:prstGeom>
          <a:solidFill>
            <a:srgbClr val="F4F6FA"/>
          </a:solidFill>
          <a:ln w="6350">
            <a:solidFill>
              <a:srgbClr val="D8DFEA"/>
            </a:solidFill>
            <a:prstDash val="solid"/>
          </a:ln>
        </p:spPr>
        <p:txBody>
          <a:bodyPr/>
          <a:lstStyle/>
          <a:p>
            <a:endParaRPr lang="en-US"/>
          </a:p>
        </p:txBody>
      </p:sp>
      <p:sp>
        <p:nvSpPr>
          <p:cNvPr id="23" name="Shape 21"/>
          <p:cNvSpPr/>
          <p:nvPr/>
        </p:nvSpPr>
        <p:spPr>
          <a:xfrm>
            <a:off x="502920" y="2807208"/>
            <a:ext cx="82296" cy="859536"/>
          </a:xfrm>
          <a:prstGeom prst="rect">
            <a:avLst/>
          </a:prstGeom>
          <a:solidFill>
            <a:srgbClr val="0B2545"/>
          </a:solidFill>
          <a:ln/>
        </p:spPr>
        <p:txBody>
          <a:bodyPr/>
          <a:lstStyle/>
          <a:p>
            <a:endParaRPr lang="en-US"/>
          </a:p>
        </p:txBody>
      </p:sp>
      <p:sp>
        <p:nvSpPr>
          <p:cNvPr id="24" name="Text 22"/>
          <p:cNvSpPr txBox="1"/>
          <p:nvPr/>
        </p:nvSpPr>
        <p:spPr>
          <a:xfrm>
            <a:off x="713232" y="2916936"/>
            <a:ext cx="3246120" cy="274320"/>
          </a:xfrm>
          <a:prstGeom prst="rect">
            <a:avLst/>
          </a:prstGeom>
          <a:noFill/>
          <a:ln/>
        </p:spPr>
        <p:txBody>
          <a:bodyPr wrap="square" lIns="0" tIns="0" rIns="0" bIns="0" rtlCol="0" anchor="ctr"/>
          <a:lstStyle/>
          <a:p>
            <a:pPr marL="0" indent="0">
              <a:buNone/>
            </a:pPr>
            <a:r>
              <a:rPr lang="en-US" sz="1500" b="1" dirty="0">
                <a:solidFill>
                  <a:srgbClr val="0B2545"/>
                </a:solidFill>
                <a:ea typeface="Cambria" pitchFamily="34" charset="-122"/>
                <a:cs typeface="Cambria" pitchFamily="34" charset="-120"/>
              </a:rPr>
              <a:t>02  </a:t>
            </a:r>
            <a:r>
              <a:rPr lang="en-US" sz="1300" b="1" dirty="0">
                <a:solidFill>
                  <a:srgbClr val="1B1F23"/>
                </a:solidFill>
                <a:ea typeface="Cambria" pitchFamily="34" charset="-122"/>
                <a:cs typeface="Cambria" pitchFamily="34" charset="-120"/>
              </a:rPr>
              <a:t>The Right Foundation</a:t>
            </a:r>
            <a:endParaRPr lang="en-US" sz="1500" dirty="0"/>
          </a:p>
        </p:txBody>
      </p:sp>
      <p:sp>
        <p:nvSpPr>
          <p:cNvPr id="25" name="Text 23"/>
          <p:cNvSpPr txBox="1"/>
          <p:nvPr/>
        </p:nvSpPr>
        <p:spPr>
          <a:xfrm>
            <a:off x="731520" y="3209544"/>
            <a:ext cx="3200400" cy="402336"/>
          </a:xfrm>
          <a:prstGeom prst="rect">
            <a:avLst/>
          </a:prstGeom>
          <a:noFill/>
          <a:ln/>
        </p:spPr>
        <p:txBody>
          <a:bodyPr wrap="square" lIns="0" tIns="0" rIns="0" bIns="0" rtlCol="0" anchor="t"/>
          <a:lstStyle/>
          <a:p>
            <a:pPr marL="0" indent="0">
              <a:lnSpc>
                <a:spcPct val="95000"/>
              </a:lnSpc>
              <a:buNone/>
            </a:pPr>
            <a:r>
              <a:rPr lang="en-US" sz="950" i="1" dirty="0">
                <a:solidFill>
                  <a:srgbClr val="44515E"/>
                </a:solidFill>
                <a:ea typeface="Calibri" pitchFamily="34" charset="-122"/>
                <a:cs typeface="Calibri" pitchFamily="34" charset="-120"/>
              </a:rPr>
              <a:t>“Is my IT organised, sourced and governed right for the next 3–5 years — or is the operating model the bottleneck?”</a:t>
            </a:r>
            <a:endParaRPr lang="en-US" sz="950" dirty="0"/>
          </a:p>
        </p:txBody>
      </p:sp>
      <p:sp>
        <p:nvSpPr>
          <p:cNvPr id="26" name="Shape 24"/>
          <p:cNvSpPr/>
          <p:nvPr/>
        </p:nvSpPr>
        <p:spPr>
          <a:xfrm>
            <a:off x="4041648" y="3063240"/>
            <a:ext cx="1737360" cy="347472"/>
          </a:xfrm>
          <a:prstGeom prst="roundRect">
            <a:avLst>
              <a:gd name="adj" fmla="val 13158"/>
            </a:avLst>
          </a:prstGeom>
          <a:solidFill>
            <a:srgbClr val="0B2545"/>
          </a:solidFill>
          <a:ln/>
        </p:spPr>
        <p:txBody>
          <a:bodyPr/>
          <a:lstStyle/>
          <a:p>
            <a:endParaRPr lang="en-US"/>
          </a:p>
        </p:txBody>
      </p:sp>
      <p:sp>
        <p:nvSpPr>
          <p:cNvPr id="27" name="Text 25"/>
          <p:cNvSpPr txBox="1"/>
          <p:nvPr/>
        </p:nvSpPr>
        <p:spPr>
          <a:xfrm>
            <a:off x="4078224" y="3063240"/>
            <a:ext cx="1664208" cy="347472"/>
          </a:xfrm>
          <a:prstGeom prst="rect">
            <a:avLst/>
          </a:prstGeom>
          <a:noFill/>
          <a:ln/>
        </p:spPr>
        <p:txBody>
          <a:bodyPr wrap="square" lIns="0" tIns="0" rIns="0" bIns="0" rtlCol="0" anchor="ctr"/>
          <a:lstStyle/>
          <a:p>
            <a:pPr marL="0" indent="0" algn="ctr">
              <a:lnSpc>
                <a:spcPct val="90000"/>
              </a:lnSpc>
              <a:buNone/>
            </a:pPr>
            <a:r>
              <a:rPr lang="en-US" sz="1100" b="1" dirty="0">
                <a:solidFill>
                  <a:srgbClr val="FFFFFF"/>
                </a:solidFill>
                <a:ea typeface="Cambria" pitchFamily="34" charset="-122"/>
                <a:cs typeface="Cambria" pitchFamily="34" charset="-120"/>
              </a:rPr>
              <a:t>P1 · Enterprise</a:t>
            </a:r>
            <a:endParaRPr lang="en-US" sz="1100" dirty="0"/>
          </a:p>
          <a:p>
            <a:pPr marL="0" indent="0" algn="ctr">
              <a:lnSpc>
                <a:spcPct val="90000"/>
              </a:lnSpc>
              <a:buNone/>
            </a:pPr>
            <a:r>
              <a:rPr lang="en-US" sz="1100" b="1" dirty="0">
                <a:solidFill>
                  <a:srgbClr val="FFFFFF"/>
                </a:solidFill>
                <a:ea typeface="Cambria" pitchFamily="34" charset="-122"/>
                <a:cs typeface="Cambria" pitchFamily="34" charset="-120"/>
              </a:rPr>
              <a:t>IT Strategy</a:t>
            </a:r>
            <a:endParaRPr lang="en-US" sz="1100" dirty="0"/>
          </a:p>
        </p:txBody>
      </p:sp>
      <p:sp>
        <p:nvSpPr>
          <p:cNvPr id="28" name="Text 26"/>
          <p:cNvSpPr txBox="1"/>
          <p:nvPr/>
        </p:nvSpPr>
        <p:spPr>
          <a:xfrm>
            <a:off x="5779008" y="2807208"/>
            <a:ext cx="182880"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29" name="Text 27"/>
          <p:cNvSpPr txBox="1"/>
          <p:nvPr/>
        </p:nvSpPr>
        <p:spPr>
          <a:xfrm>
            <a:off x="5943600" y="2898648"/>
            <a:ext cx="1627632" cy="676656"/>
          </a:xfrm>
          <a:prstGeom prst="rect">
            <a:avLst/>
          </a:prstGeom>
          <a:noFill/>
          <a:ln/>
        </p:spPr>
        <p:txBody>
          <a:bodyPr wrap="square" lIns="0" tIns="0" rIns="0" bIns="0" rtlCol="0" anchor="ctr"/>
          <a:lstStyle/>
          <a:p>
            <a:pPr marL="0" indent="0" algn="ctr">
              <a:lnSpc>
                <a:spcPct val="92000"/>
              </a:lnSpc>
              <a:buNone/>
            </a:pPr>
            <a:r>
              <a:rPr lang="en-US" sz="950" dirty="0">
                <a:solidFill>
                  <a:srgbClr val="A9B4C0"/>
                </a:solidFill>
                <a:ea typeface="Calibri" pitchFamily="34" charset="-122"/>
                <a:cs typeface="Calibri" pitchFamily="34" charset="-120"/>
              </a:rPr>
              <a:t>—</a:t>
            </a:r>
            <a:endParaRPr lang="en-US" sz="950" dirty="0"/>
          </a:p>
        </p:txBody>
      </p:sp>
      <p:sp>
        <p:nvSpPr>
          <p:cNvPr id="30" name="Text 28"/>
          <p:cNvSpPr txBox="1"/>
          <p:nvPr/>
        </p:nvSpPr>
        <p:spPr>
          <a:xfrm>
            <a:off x="7534656" y="2807208"/>
            <a:ext cx="164592"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31" name="Text 29"/>
          <p:cNvSpPr txBox="1"/>
          <p:nvPr/>
        </p:nvSpPr>
        <p:spPr>
          <a:xfrm>
            <a:off x="7699248" y="2898648"/>
            <a:ext cx="2121408" cy="676656"/>
          </a:xfrm>
          <a:prstGeom prst="rect">
            <a:avLst/>
          </a:prstGeom>
          <a:noFill/>
          <a:ln/>
        </p:spPr>
        <p:txBody>
          <a:bodyPr wrap="square" lIns="0" tIns="0" rIns="0" bIns="0" rtlCol="0" anchor="ctr"/>
          <a:lstStyle/>
          <a:p>
            <a:pPr marL="0" indent="0" algn="l">
              <a:lnSpc>
                <a:spcPct val="95000"/>
              </a:lnSpc>
              <a:buNone/>
            </a:pPr>
            <a:r>
              <a:rPr lang="en-US" sz="950" dirty="0">
                <a:solidFill>
                  <a:srgbClr val="1B1F23"/>
                </a:solidFill>
                <a:ea typeface="Calibri" pitchFamily="34" charset="-122"/>
                <a:cs typeface="Calibri" pitchFamily="34" charset="-120"/>
              </a:rPr>
              <a:t>Target Operating Model</a:t>
            </a:r>
            <a:endParaRPr lang="en-US" sz="950" dirty="0"/>
          </a:p>
        </p:txBody>
      </p:sp>
      <p:sp>
        <p:nvSpPr>
          <p:cNvPr id="32" name="Text 30"/>
          <p:cNvSpPr txBox="1"/>
          <p:nvPr/>
        </p:nvSpPr>
        <p:spPr>
          <a:xfrm>
            <a:off x="9802368" y="2807208"/>
            <a:ext cx="164592"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33" name="Text 31"/>
          <p:cNvSpPr txBox="1"/>
          <p:nvPr/>
        </p:nvSpPr>
        <p:spPr>
          <a:xfrm>
            <a:off x="9966960" y="2898648"/>
            <a:ext cx="1719072" cy="676656"/>
          </a:xfrm>
          <a:prstGeom prst="rect">
            <a:avLst/>
          </a:prstGeom>
          <a:noFill/>
          <a:ln/>
        </p:spPr>
        <p:txBody>
          <a:bodyPr wrap="square" lIns="0" tIns="0" rIns="0" bIns="0" rtlCol="0" anchor="ctr"/>
          <a:lstStyle/>
          <a:p>
            <a:pPr marL="0" indent="0" algn="l">
              <a:lnSpc>
                <a:spcPct val="95000"/>
              </a:lnSpc>
              <a:buNone/>
            </a:pPr>
            <a:r>
              <a:rPr lang="en-US" sz="1050" b="1" dirty="0">
                <a:solidFill>
                  <a:srgbClr val="0B2545"/>
                </a:solidFill>
                <a:ea typeface="Cambria" pitchFamily="34" charset="-122"/>
                <a:cs typeface="Cambria" pitchFamily="34" charset="-120"/>
              </a:rPr>
              <a:t>A board-fundable IT strategy</a:t>
            </a:r>
            <a:endParaRPr lang="en-US" sz="1050" dirty="0"/>
          </a:p>
        </p:txBody>
      </p:sp>
      <p:sp>
        <p:nvSpPr>
          <p:cNvPr id="34" name="Shape 32"/>
          <p:cNvSpPr/>
          <p:nvPr/>
        </p:nvSpPr>
        <p:spPr>
          <a:xfrm>
            <a:off x="502920" y="3739896"/>
            <a:ext cx="11183112" cy="859536"/>
          </a:xfrm>
          <a:prstGeom prst="roundRect">
            <a:avLst>
              <a:gd name="adj" fmla="val 5319"/>
            </a:avLst>
          </a:prstGeom>
          <a:solidFill>
            <a:srgbClr val="F4F6FA"/>
          </a:solidFill>
          <a:ln w="6350">
            <a:solidFill>
              <a:srgbClr val="D8DFEA"/>
            </a:solidFill>
            <a:prstDash val="solid"/>
          </a:ln>
        </p:spPr>
        <p:txBody>
          <a:bodyPr/>
          <a:lstStyle/>
          <a:p>
            <a:endParaRPr lang="en-US"/>
          </a:p>
        </p:txBody>
      </p:sp>
      <p:sp>
        <p:nvSpPr>
          <p:cNvPr id="35" name="Shape 33"/>
          <p:cNvSpPr/>
          <p:nvPr/>
        </p:nvSpPr>
        <p:spPr>
          <a:xfrm>
            <a:off x="502920" y="3739896"/>
            <a:ext cx="82296" cy="859536"/>
          </a:xfrm>
          <a:prstGeom prst="rect">
            <a:avLst/>
          </a:prstGeom>
          <a:solidFill>
            <a:srgbClr val="0B2545"/>
          </a:solidFill>
          <a:ln/>
        </p:spPr>
        <p:txBody>
          <a:bodyPr/>
          <a:lstStyle/>
          <a:p>
            <a:endParaRPr lang="en-US"/>
          </a:p>
        </p:txBody>
      </p:sp>
      <p:sp>
        <p:nvSpPr>
          <p:cNvPr id="36" name="Text 34"/>
          <p:cNvSpPr txBox="1"/>
          <p:nvPr/>
        </p:nvSpPr>
        <p:spPr>
          <a:xfrm>
            <a:off x="713232" y="3849624"/>
            <a:ext cx="3246120" cy="274320"/>
          </a:xfrm>
          <a:prstGeom prst="rect">
            <a:avLst/>
          </a:prstGeom>
          <a:noFill/>
          <a:ln/>
        </p:spPr>
        <p:txBody>
          <a:bodyPr wrap="square" lIns="0" tIns="0" rIns="0" bIns="0" rtlCol="0" anchor="ctr"/>
          <a:lstStyle/>
          <a:p>
            <a:pPr marL="0" indent="0">
              <a:buNone/>
            </a:pPr>
            <a:r>
              <a:rPr lang="en-US" sz="1500" b="1" dirty="0">
                <a:solidFill>
                  <a:srgbClr val="0B2545"/>
                </a:solidFill>
                <a:ea typeface="Cambria" pitchFamily="34" charset="-122"/>
                <a:cs typeface="Cambria" pitchFamily="34" charset="-120"/>
              </a:rPr>
              <a:t>03  </a:t>
            </a:r>
            <a:r>
              <a:rPr lang="en-US" sz="1300" b="1" dirty="0">
                <a:solidFill>
                  <a:srgbClr val="1B1F23"/>
                </a:solidFill>
                <a:ea typeface="Cambria" pitchFamily="34" charset="-122"/>
                <a:cs typeface="Cambria" pitchFamily="34" charset="-120"/>
              </a:rPr>
              <a:t>Resilience &amp; Continuity</a:t>
            </a:r>
            <a:endParaRPr lang="en-US" sz="1500" dirty="0"/>
          </a:p>
        </p:txBody>
      </p:sp>
      <p:sp>
        <p:nvSpPr>
          <p:cNvPr id="37" name="Text 35"/>
          <p:cNvSpPr txBox="1"/>
          <p:nvPr/>
        </p:nvSpPr>
        <p:spPr>
          <a:xfrm>
            <a:off x="731520" y="4142232"/>
            <a:ext cx="3200400" cy="402336"/>
          </a:xfrm>
          <a:prstGeom prst="rect">
            <a:avLst/>
          </a:prstGeom>
          <a:noFill/>
          <a:ln/>
        </p:spPr>
        <p:txBody>
          <a:bodyPr wrap="square" lIns="0" tIns="0" rIns="0" bIns="0" rtlCol="0" anchor="t"/>
          <a:lstStyle/>
          <a:p>
            <a:pPr marL="0" indent="0">
              <a:lnSpc>
                <a:spcPct val="95000"/>
              </a:lnSpc>
              <a:buNone/>
            </a:pPr>
            <a:r>
              <a:rPr lang="en-US" sz="950" i="1" dirty="0">
                <a:solidFill>
                  <a:srgbClr val="44515E"/>
                </a:solidFill>
                <a:ea typeface="Calibri" pitchFamily="34" charset="-122"/>
                <a:cs typeface="Calibri" pitchFamily="34" charset="-120"/>
              </a:rPr>
              <a:t>“If we’re hit — ransomware, outage, supplier failure — can we keep trading, and can I prove it beforehand?”</a:t>
            </a:r>
            <a:endParaRPr lang="en-US" sz="950" dirty="0"/>
          </a:p>
        </p:txBody>
      </p:sp>
      <p:sp>
        <p:nvSpPr>
          <p:cNvPr id="38" name="Shape 36"/>
          <p:cNvSpPr/>
          <p:nvPr/>
        </p:nvSpPr>
        <p:spPr>
          <a:xfrm>
            <a:off x="4041648" y="3995928"/>
            <a:ext cx="1737360" cy="347472"/>
          </a:xfrm>
          <a:prstGeom prst="roundRect">
            <a:avLst>
              <a:gd name="adj" fmla="val 13158"/>
            </a:avLst>
          </a:prstGeom>
          <a:solidFill>
            <a:srgbClr val="0B2545"/>
          </a:solidFill>
          <a:ln/>
        </p:spPr>
        <p:txBody>
          <a:bodyPr/>
          <a:lstStyle/>
          <a:p>
            <a:endParaRPr lang="en-US"/>
          </a:p>
        </p:txBody>
      </p:sp>
      <p:sp>
        <p:nvSpPr>
          <p:cNvPr id="39" name="Text 37"/>
          <p:cNvSpPr txBox="1"/>
          <p:nvPr/>
        </p:nvSpPr>
        <p:spPr>
          <a:xfrm>
            <a:off x="4078224" y="3995928"/>
            <a:ext cx="1664208" cy="347472"/>
          </a:xfrm>
          <a:prstGeom prst="rect">
            <a:avLst/>
          </a:prstGeom>
          <a:noFill/>
          <a:ln/>
        </p:spPr>
        <p:txBody>
          <a:bodyPr wrap="square" lIns="0" tIns="0" rIns="0" bIns="0" rtlCol="0" anchor="ctr"/>
          <a:lstStyle/>
          <a:p>
            <a:pPr marL="0" indent="0" algn="ctr">
              <a:lnSpc>
                <a:spcPct val="90000"/>
              </a:lnSpc>
              <a:buNone/>
            </a:pPr>
            <a:r>
              <a:rPr lang="en-US" sz="1100" b="1" dirty="0">
                <a:solidFill>
                  <a:srgbClr val="FFFFFF"/>
                </a:solidFill>
                <a:ea typeface="Cambria" pitchFamily="34" charset="-122"/>
                <a:cs typeface="Cambria" pitchFamily="34" charset="-120"/>
              </a:rPr>
              <a:t>P1 · Enterprise</a:t>
            </a:r>
            <a:endParaRPr lang="en-US" sz="1100" dirty="0"/>
          </a:p>
          <a:p>
            <a:pPr marL="0" indent="0" algn="ctr">
              <a:lnSpc>
                <a:spcPct val="90000"/>
              </a:lnSpc>
              <a:buNone/>
            </a:pPr>
            <a:r>
              <a:rPr lang="en-US" sz="1100" b="1" dirty="0">
                <a:solidFill>
                  <a:srgbClr val="FFFFFF"/>
                </a:solidFill>
                <a:ea typeface="Cambria" pitchFamily="34" charset="-122"/>
                <a:cs typeface="Cambria" pitchFamily="34" charset="-120"/>
              </a:rPr>
              <a:t>IT Strategy</a:t>
            </a:r>
            <a:endParaRPr lang="en-US" sz="1100" dirty="0"/>
          </a:p>
        </p:txBody>
      </p:sp>
      <p:sp>
        <p:nvSpPr>
          <p:cNvPr id="40" name="Text 38"/>
          <p:cNvSpPr txBox="1"/>
          <p:nvPr/>
        </p:nvSpPr>
        <p:spPr>
          <a:xfrm>
            <a:off x="5779008" y="3739896"/>
            <a:ext cx="182880"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41" name="Text 39"/>
          <p:cNvSpPr txBox="1"/>
          <p:nvPr/>
        </p:nvSpPr>
        <p:spPr>
          <a:xfrm>
            <a:off x="5943600" y="3831336"/>
            <a:ext cx="1627632" cy="676656"/>
          </a:xfrm>
          <a:prstGeom prst="rect">
            <a:avLst/>
          </a:prstGeom>
          <a:noFill/>
          <a:ln/>
        </p:spPr>
        <p:txBody>
          <a:bodyPr wrap="square" lIns="0" tIns="0" rIns="0" bIns="0" rtlCol="0" anchor="ctr"/>
          <a:lstStyle/>
          <a:p>
            <a:pPr marL="0" indent="0" algn="ctr">
              <a:lnSpc>
                <a:spcPct val="92000"/>
              </a:lnSpc>
              <a:buNone/>
            </a:pPr>
            <a:r>
              <a:rPr lang="en-US" sz="950" dirty="0">
                <a:solidFill>
                  <a:srgbClr val="A9B4C0"/>
                </a:solidFill>
                <a:ea typeface="Calibri" pitchFamily="34" charset="-122"/>
                <a:cs typeface="Calibri" pitchFamily="34" charset="-120"/>
              </a:rPr>
              <a:t>—</a:t>
            </a:r>
            <a:endParaRPr lang="en-US" sz="950" dirty="0"/>
          </a:p>
        </p:txBody>
      </p:sp>
      <p:sp>
        <p:nvSpPr>
          <p:cNvPr id="42" name="Text 40"/>
          <p:cNvSpPr txBox="1"/>
          <p:nvPr/>
        </p:nvSpPr>
        <p:spPr>
          <a:xfrm>
            <a:off x="7534656" y="3739896"/>
            <a:ext cx="164592"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43" name="Text 41"/>
          <p:cNvSpPr txBox="1"/>
          <p:nvPr/>
        </p:nvSpPr>
        <p:spPr>
          <a:xfrm>
            <a:off x="7699248" y="3831336"/>
            <a:ext cx="2121408" cy="676656"/>
          </a:xfrm>
          <a:prstGeom prst="rect">
            <a:avLst/>
          </a:prstGeom>
          <a:noFill/>
          <a:ln/>
        </p:spPr>
        <p:txBody>
          <a:bodyPr wrap="square" lIns="0" tIns="0" rIns="0" bIns="0" rtlCol="0" anchor="ctr"/>
          <a:lstStyle/>
          <a:p>
            <a:pPr marL="0" indent="0" algn="l">
              <a:lnSpc>
                <a:spcPct val="95000"/>
              </a:lnSpc>
              <a:buNone/>
            </a:pPr>
            <a:r>
              <a:rPr lang="en-US" sz="950" dirty="0">
                <a:solidFill>
                  <a:srgbClr val="1B1F23"/>
                </a:solidFill>
                <a:ea typeface="Calibri" pitchFamily="34" charset="-122"/>
                <a:cs typeface="Calibri" pitchFamily="34" charset="-120"/>
              </a:rPr>
              <a:t>Resilience &amp; Business Continuity</a:t>
            </a:r>
            <a:endParaRPr lang="en-US" sz="950" dirty="0"/>
          </a:p>
        </p:txBody>
      </p:sp>
      <p:sp>
        <p:nvSpPr>
          <p:cNvPr id="44" name="Text 42"/>
          <p:cNvSpPr txBox="1"/>
          <p:nvPr/>
        </p:nvSpPr>
        <p:spPr>
          <a:xfrm>
            <a:off x="9802368" y="3739896"/>
            <a:ext cx="164592"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45" name="Text 43"/>
          <p:cNvSpPr txBox="1"/>
          <p:nvPr/>
        </p:nvSpPr>
        <p:spPr>
          <a:xfrm>
            <a:off x="9966960" y="3831336"/>
            <a:ext cx="1719072" cy="676656"/>
          </a:xfrm>
          <a:prstGeom prst="rect">
            <a:avLst/>
          </a:prstGeom>
          <a:noFill/>
          <a:ln/>
        </p:spPr>
        <p:txBody>
          <a:bodyPr wrap="square" lIns="0" tIns="0" rIns="0" bIns="0" rtlCol="0" anchor="ctr"/>
          <a:lstStyle/>
          <a:p>
            <a:pPr marL="0" indent="0" algn="l">
              <a:lnSpc>
                <a:spcPct val="95000"/>
              </a:lnSpc>
              <a:buNone/>
            </a:pPr>
            <a:r>
              <a:rPr lang="en-US" sz="1050" b="1" dirty="0">
                <a:solidFill>
                  <a:srgbClr val="0B2545"/>
                </a:solidFill>
                <a:ea typeface="Cambria" pitchFamily="34" charset="-122"/>
                <a:cs typeface="Cambria" pitchFamily="34" charset="-120"/>
              </a:rPr>
              <a:t>A defensible survival floor</a:t>
            </a:r>
            <a:endParaRPr lang="en-US" sz="1050" dirty="0"/>
          </a:p>
        </p:txBody>
      </p:sp>
      <p:sp>
        <p:nvSpPr>
          <p:cNvPr id="46" name="Shape 44"/>
          <p:cNvSpPr/>
          <p:nvPr/>
        </p:nvSpPr>
        <p:spPr>
          <a:xfrm>
            <a:off x="502920" y="4672584"/>
            <a:ext cx="11183112" cy="859536"/>
          </a:xfrm>
          <a:prstGeom prst="roundRect">
            <a:avLst>
              <a:gd name="adj" fmla="val 5319"/>
            </a:avLst>
          </a:prstGeom>
          <a:solidFill>
            <a:srgbClr val="F4F6FA"/>
          </a:solidFill>
          <a:ln w="6350">
            <a:solidFill>
              <a:srgbClr val="D8DFEA"/>
            </a:solidFill>
            <a:prstDash val="solid"/>
          </a:ln>
        </p:spPr>
        <p:txBody>
          <a:bodyPr/>
          <a:lstStyle/>
          <a:p>
            <a:endParaRPr lang="en-US"/>
          </a:p>
        </p:txBody>
      </p:sp>
      <p:sp>
        <p:nvSpPr>
          <p:cNvPr id="47" name="Shape 45"/>
          <p:cNvSpPr/>
          <p:nvPr/>
        </p:nvSpPr>
        <p:spPr>
          <a:xfrm>
            <a:off x="502920" y="4672584"/>
            <a:ext cx="82296" cy="859536"/>
          </a:xfrm>
          <a:prstGeom prst="rect">
            <a:avLst/>
          </a:prstGeom>
          <a:solidFill>
            <a:srgbClr val="0B2545"/>
          </a:solidFill>
          <a:ln/>
        </p:spPr>
        <p:txBody>
          <a:bodyPr/>
          <a:lstStyle/>
          <a:p>
            <a:endParaRPr lang="en-US"/>
          </a:p>
        </p:txBody>
      </p:sp>
      <p:sp>
        <p:nvSpPr>
          <p:cNvPr id="48" name="Text 46"/>
          <p:cNvSpPr txBox="1"/>
          <p:nvPr/>
        </p:nvSpPr>
        <p:spPr>
          <a:xfrm>
            <a:off x="713232" y="4782312"/>
            <a:ext cx="3246120" cy="274320"/>
          </a:xfrm>
          <a:prstGeom prst="rect">
            <a:avLst/>
          </a:prstGeom>
          <a:noFill/>
          <a:ln/>
        </p:spPr>
        <p:txBody>
          <a:bodyPr wrap="square" lIns="0" tIns="0" rIns="0" bIns="0" rtlCol="0" anchor="ctr"/>
          <a:lstStyle/>
          <a:p>
            <a:pPr marL="0" indent="0">
              <a:buNone/>
            </a:pPr>
            <a:r>
              <a:rPr lang="en-US" sz="1500" b="1" dirty="0">
                <a:solidFill>
                  <a:srgbClr val="0B2545"/>
                </a:solidFill>
                <a:ea typeface="Cambria" pitchFamily="34" charset="-122"/>
                <a:cs typeface="Cambria" pitchFamily="34" charset="-120"/>
              </a:rPr>
              <a:t>04  </a:t>
            </a:r>
            <a:r>
              <a:rPr lang="en-US" sz="1300" b="1" dirty="0">
                <a:solidFill>
                  <a:srgbClr val="1B1F23"/>
                </a:solidFill>
                <a:ea typeface="Cambria" pitchFamily="34" charset="-122"/>
                <a:cs typeface="Cambria" pitchFamily="34" charset="-120"/>
              </a:rPr>
              <a:t>Deal-Ready IT</a:t>
            </a:r>
            <a:endParaRPr lang="en-US" sz="1500" dirty="0"/>
          </a:p>
        </p:txBody>
      </p:sp>
      <p:sp>
        <p:nvSpPr>
          <p:cNvPr id="49" name="Text 47"/>
          <p:cNvSpPr txBox="1"/>
          <p:nvPr/>
        </p:nvSpPr>
        <p:spPr>
          <a:xfrm>
            <a:off x="731520" y="5074920"/>
            <a:ext cx="3200400" cy="402336"/>
          </a:xfrm>
          <a:prstGeom prst="rect">
            <a:avLst/>
          </a:prstGeom>
          <a:noFill/>
          <a:ln/>
        </p:spPr>
        <p:txBody>
          <a:bodyPr wrap="square" lIns="0" tIns="0" rIns="0" bIns="0" rtlCol="0" anchor="t"/>
          <a:lstStyle/>
          <a:p>
            <a:pPr marL="0" indent="0">
              <a:lnSpc>
                <a:spcPct val="95000"/>
              </a:lnSpc>
              <a:buNone/>
            </a:pPr>
            <a:r>
              <a:rPr lang="en-US" sz="950" i="1" dirty="0">
                <a:solidFill>
                  <a:srgbClr val="44515E"/>
                </a:solidFill>
                <a:ea typeface="Calibri" pitchFamily="34" charset="-122"/>
                <a:cs typeface="Calibri" pitchFamily="34" charset="-120"/>
              </a:rPr>
              <a:t>“When the next deal lands, can IT deliver Day 1, exit the TSA on time, and realise the synergies?”</a:t>
            </a:r>
            <a:endParaRPr lang="en-US" sz="950" dirty="0"/>
          </a:p>
        </p:txBody>
      </p:sp>
      <p:sp>
        <p:nvSpPr>
          <p:cNvPr id="50" name="Shape 48"/>
          <p:cNvSpPr/>
          <p:nvPr/>
        </p:nvSpPr>
        <p:spPr>
          <a:xfrm>
            <a:off x="4041648" y="4928616"/>
            <a:ext cx="1737360" cy="347472"/>
          </a:xfrm>
          <a:prstGeom prst="roundRect">
            <a:avLst>
              <a:gd name="adj" fmla="val 13158"/>
            </a:avLst>
          </a:prstGeom>
          <a:solidFill>
            <a:srgbClr val="0B2545"/>
          </a:solidFill>
          <a:ln/>
        </p:spPr>
        <p:txBody>
          <a:bodyPr/>
          <a:lstStyle/>
          <a:p>
            <a:endParaRPr lang="en-US"/>
          </a:p>
        </p:txBody>
      </p:sp>
      <p:sp>
        <p:nvSpPr>
          <p:cNvPr id="51" name="Text 49"/>
          <p:cNvSpPr txBox="1"/>
          <p:nvPr/>
        </p:nvSpPr>
        <p:spPr>
          <a:xfrm>
            <a:off x="4078224" y="4928616"/>
            <a:ext cx="1664208" cy="347472"/>
          </a:xfrm>
          <a:prstGeom prst="rect">
            <a:avLst/>
          </a:prstGeom>
          <a:noFill/>
          <a:ln/>
        </p:spPr>
        <p:txBody>
          <a:bodyPr wrap="square" lIns="0" tIns="0" rIns="0" bIns="0" rtlCol="0" anchor="ctr"/>
          <a:lstStyle/>
          <a:p>
            <a:pPr marL="0" indent="0" algn="ctr">
              <a:lnSpc>
                <a:spcPct val="90000"/>
              </a:lnSpc>
              <a:buNone/>
            </a:pPr>
            <a:r>
              <a:rPr lang="en-US" sz="1100" b="1" dirty="0">
                <a:solidFill>
                  <a:srgbClr val="FFFFFF"/>
                </a:solidFill>
                <a:ea typeface="Cambria" pitchFamily="34" charset="-122"/>
                <a:cs typeface="Cambria" pitchFamily="34" charset="-120"/>
              </a:rPr>
              <a:t>P1 · Enterprise</a:t>
            </a:r>
            <a:endParaRPr lang="en-US" sz="1100" dirty="0"/>
          </a:p>
          <a:p>
            <a:pPr marL="0" indent="0" algn="ctr">
              <a:lnSpc>
                <a:spcPct val="90000"/>
              </a:lnSpc>
              <a:buNone/>
            </a:pPr>
            <a:r>
              <a:rPr lang="en-US" sz="1100" b="1" dirty="0">
                <a:solidFill>
                  <a:srgbClr val="FFFFFF"/>
                </a:solidFill>
                <a:ea typeface="Cambria" pitchFamily="34" charset="-122"/>
                <a:cs typeface="Cambria" pitchFamily="34" charset="-120"/>
              </a:rPr>
              <a:t>IT Strategy</a:t>
            </a:r>
            <a:endParaRPr lang="en-US" sz="1100" dirty="0"/>
          </a:p>
        </p:txBody>
      </p:sp>
      <p:sp>
        <p:nvSpPr>
          <p:cNvPr id="52" name="Text 50"/>
          <p:cNvSpPr txBox="1"/>
          <p:nvPr/>
        </p:nvSpPr>
        <p:spPr>
          <a:xfrm>
            <a:off x="5779008" y="4672584"/>
            <a:ext cx="182880"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53" name="Text 51"/>
          <p:cNvSpPr txBox="1"/>
          <p:nvPr/>
        </p:nvSpPr>
        <p:spPr>
          <a:xfrm>
            <a:off x="5943600" y="4764024"/>
            <a:ext cx="1627632" cy="676656"/>
          </a:xfrm>
          <a:prstGeom prst="rect">
            <a:avLst/>
          </a:prstGeom>
          <a:noFill/>
          <a:ln/>
        </p:spPr>
        <p:txBody>
          <a:bodyPr wrap="square" lIns="0" tIns="0" rIns="0" bIns="0" rtlCol="0" anchor="ctr"/>
          <a:lstStyle/>
          <a:p>
            <a:pPr marL="0" indent="0" algn="ctr">
              <a:lnSpc>
                <a:spcPct val="92000"/>
              </a:lnSpc>
              <a:buNone/>
            </a:pPr>
            <a:r>
              <a:rPr lang="en-US" sz="950" dirty="0">
                <a:solidFill>
                  <a:srgbClr val="A9B4C0"/>
                </a:solidFill>
                <a:ea typeface="Calibri" pitchFamily="34" charset="-122"/>
                <a:cs typeface="Calibri" pitchFamily="34" charset="-120"/>
              </a:rPr>
              <a:t>—</a:t>
            </a:r>
            <a:endParaRPr lang="en-US" sz="950" dirty="0"/>
          </a:p>
        </p:txBody>
      </p:sp>
      <p:sp>
        <p:nvSpPr>
          <p:cNvPr id="54" name="Text 52"/>
          <p:cNvSpPr txBox="1"/>
          <p:nvPr/>
        </p:nvSpPr>
        <p:spPr>
          <a:xfrm>
            <a:off x="7534656" y="4672584"/>
            <a:ext cx="164592"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55" name="Text 53"/>
          <p:cNvSpPr txBox="1"/>
          <p:nvPr/>
        </p:nvSpPr>
        <p:spPr>
          <a:xfrm>
            <a:off x="7699248" y="4764024"/>
            <a:ext cx="2121408" cy="676656"/>
          </a:xfrm>
          <a:prstGeom prst="rect">
            <a:avLst/>
          </a:prstGeom>
          <a:noFill/>
          <a:ln/>
        </p:spPr>
        <p:txBody>
          <a:bodyPr wrap="square" lIns="0" tIns="0" rIns="0" bIns="0" rtlCol="0" anchor="ctr"/>
          <a:lstStyle/>
          <a:p>
            <a:pPr marL="0" indent="0" algn="l">
              <a:lnSpc>
                <a:spcPct val="95000"/>
              </a:lnSpc>
              <a:buNone/>
            </a:pPr>
            <a:r>
              <a:rPr lang="en-US" sz="950" dirty="0">
                <a:solidFill>
                  <a:srgbClr val="1B1F23"/>
                </a:solidFill>
                <a:ea typeface="Calibri" pitchFamily="34" charset="-122"/>
                <a:cs typeface="Calibri" pitchFamily="34" charset="-120"/>
              </a:rPr>
              <a:t>M&amp;A Advisory</a:t>
            </a:r>
            <a:endParaRPr lang="en-US" sz="950" dirty="0"/>
          </a:p>
        </p:txBody>
      </p:sp>
      <p:sp>
        <p:nvSpPr>
          <p:cNvPr id="56" name="Text 54"/>
          <p:cNvSpPr txBox="1"/>
          <p:nvPr/>
        </p:nvSpPr>
        <p:spPr>
          <a:xfrm>
            <a:off x="9802368" y="4672584"/>
            <a:ext cx="164592"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57" name="Text 55"/>
          <p:cNvSpPr txBox="1"/>
          <p:nvPr/>
        </p:nvSpPr>
        <p:spPr>
          <a:xfrm>
            <a:off x="9966960" y="4764024"/>
            <a:ext cx="1719072" cy="676656"/>
          </a:xfrm>
          <a:prstGeom prst="rect">
            <a:avLst/>
          </a:prstGeom>
          <a:noFill/>
          <a:ln/>
        </p:spPr>
        <p:txBody>
          <a:bodyPr wrap="square" lIns="0" tIns="0" rIns="0" bIns="0" rtlCol="0" anchor="ctr"/>
          <a:lstStyle/>
          <a:p>
            <a:pPr marL="0" indent="0" algn="l">
              <a:lnSpc>
                <a:spcPct val="95000"/>
              </a:lnSpc>
              <a:buNone/>
            </a:pPr>
            <a:r>
              <a:rPr lang="en-US" sz="1050" b="1" dirty="0">
                <a:solidFill>
                  <a:srgbClr val="0B2545"/>
                </a:solidFill>
                <a:ea typeface="Cambria" pitchFamily="34" charset="-122"/>
                <a:cs typeface="Cambria" pitchFamily="34" charset="-120"/>
              </a:rPr>
              <a:t>Deals that land on time</a:t>
            </a:r>
            <a:endParaRPr lang="en-US" sz="1050" dirty="0"/>
          </a:p>
        </p:txBody>
      </p:sp>
      <p:sp>
        <p:nvSpPr>
          <p:cNvPr id="58" name="Shape 56"/>
          <p:cNvSpPr/>
          <p:nvPr/>
        </p:nvSpPr>
        <p:spPr>
          <a:xfrm>
            <a:off x="502920" y="5605272"/>
            <a:ext cx="11183112" cy="859536"/>
          </a:xfrm>
          <a:prstGeom prst="roundRect">
            <a:avLst>
              <a:gd name="adj" fmla="val 5319"/>
            </a:avLst>
          </a:prstGeom>
          <a:solidFill>
            <a:srgbClr val="F4F6FA"/>
          </a:solidFill>
          <a:ln w="6350">
            <a:solidFill>
              <a:srgbClr val="D8DFEA"/>
            </a:solidFill>
            <a:prstDash val="solid"/>
          </a:ln>
        </p:spPr>
        <p:txBody>
          <a:bodyPr/>
          <a:lstStyle/>
          <a:p>
            <a:endParaRPr lang="en-US"/>
          </a:p>
        </p:txBody>
      </p:sp>
      <p:sp>
        <p:nvSpPr>
          <p:cNvPr id="59" name="Shape 57"/>
          <p:cNvSpPr/>
          <p:nvPr/>
        </p:nvSpPr>
        <p:spPr>
          <a:xfrm>
            <a:off x="502920" y="5605272"/>
            <a:ext cx="82296" cy="859536"/>
          </a:xfrm>
          <a:prstGeom prst="rect">
            <a:avLst/>
          </a:prstGeom>
          <a:solidFill>
            <a:srgbClr val="0F6E56"/>
          </a:solidFill>
          <a:ln/>
        </p:spPr>
        <p:txBody>
          <a:bodyPr/>
          <a:lstStyle/>
          <a:p>
            <a:endParaRPr lang="en-US"/>
          </a:p>
        </p:txBody>
      </p:sp>
      <p:sp>
        <p:nvSpPr>
          <p:cNvPr id="60" name="Text 58"/>
          <p:cNvSpPr txBox="1"/>
          <p:nvPr/>
        </p:nvSpPr>
        <p:spPr>
          <a:xfrm>
            <a:off x="713232" y="5715000"/>
            <a:ext cx="3246120" cy="274320"/>
          </a:xfrm>
          <a:prstGeom prst="rect">
            <a:avLst/>
          </a:prstGeom>
          <a:noFill/>
          <a:ln/>
        </p:spPr>
        <p:txBody>
          <a:bodyPr wrap="square" lIns="0" tIns="0" rIns="0" bIns="0" rtlCol="0" anchor="ctr"/>
          <a:lstStyle/>
          <a:p>
            <a:pPr marL="0" indent="0">
              <a:buNone/>
            </a:pPr>
            <a:r>
              <a:rPr lang="en-US" sz="1500" b="1" dirty="0">
                <a:solidFill>
                  <a:srgbClr val="0F6E56"/>
                </a:solidFill>
                <a:ea typeface="Cambria" pitchFamily="34" charset="-122"/>
                <a:cs typeface="Cambria" pitchFamily="34" charset="-120"/>
              </a:rPr>
              <a:t>05  </a:t>
            </a:r>
            <a:r>
              <a:rPr lang="en-US" sz="1300" b="1" dirty="0">
                <a:solidFill>
                  <a:srgbClr val="1B1F23"/>
                </a:solidFill>
                <a:ea typeface="Cambria" pitchFamily="34" charset="-122"/>
                <a:cs typeface="Cambria" pitchFamily="34" charset="-120"/>
              </a:rPr>
              <a:t>Regulatory Survival</a:t>
            </a:r>
            <a:endParaRPr lang="en-US" sz="1500" dirty="0"/>
          </a:p>
        </p:txBody>
      </p:sp>
      <p:sp>
        <p:nvSpPr>
          <p:cNvPr id="61" name="Text 59"/>
          <p:cNvSpPr txBox="1"/>
          <p:nvPr/>
        </p:nvSpPr>
        <p:spPr>
          <a:xfrm>
            <a:off x="731520" y="6007608"/>
            <a:ext cx="3200400" cy="402336"/>
          </a:xfrm>
          <a:prstGeom prst="rect">
            <a:avLst/>
          </a:prstGeom>
          <a:noFill/>
          <a:ln/>
        </p:spPr>
        <p:txBody>
          <a:bodyPr wrap="square" lIns="0" tIns="0" rIns="0" bIns="0" rtlCol="0" anchor="t"/>
          <a:lstStyle/>
          <a:p>
            <a:pPr marL="0" indent="0">
              <a:lnSpc>
                <a:spcPct val="95000"/>
              </a:lnSpc>
              <a:buNone/>
            </a:pPr>
            <a:r>
              <a:rPr lang="en-US" sz="950" i="1" dirty="0">
                <a:solidFill>
                  <a:srgbClr val="44515E"/>
                </a:solidFill>
                <a:ea typeface="Calibri" pitchFamily="34" charset="-122"/>
                <a:cs typeface="Calibri" pitchFamily="34" charset="-120"/>
              </a:rPr>
              <a:t>“If a regulator walks in tomorrow — DORA, NIS2, EU AI Act — do I have evidence, or just policy documents?”</a:t>
            </a:r>
            <a:endParaRPr lang="en-US" sz="950" dirty="0"/>
          </a:p>
        </p:txBody>
      </p:sp>
      <p:sp>
        <p:nvSpPr>
          <p:cNvPr id="62" name="Shape 60"/>
          <p:cNvSpPr/>
          <p:nvPr/>
        </p:nvSpPr>
        <p:spPr>
          <a:xfrm>
            <a:off x="4041648" y="5861304"/>
            <a:ext cx="1737360" cy="347472"/>
          </a:xfrm>
          <a:prstGeom prst="roundRect">
            <a:avLst>
              <a:gd name="adj" fmla="val 13158"/>
            </a:avLst>
          </a:prstGeom>
          <a:solidFill>
            <a:srgbClr val="0F6E56"/>
          </a:solidFill>
          <a:ln/>
        </p:spPr>
        <p:txBody>
          <a:bodyPr/>
          <a:lstStyle/>
          <a:p>
            <a:endParaRPr lang="en-US"/>
          </a:p>
        </p:txBody>
      </p:sp>
      <p:sp>
        <p:nvSpPr>
          <p:cNvPr id="63" name="Text 61"/>
          <p:cNvSpPr txBox="1"/>
          <p:nvPr/>
        </p:nvSpPr>
        <p:spPr>
          <a:xfrm>
            <a:off x="4078224" y="5861304"/>
            <a:ext cx="1664208" cy="347472"/>
          </a:xfrm>
          <a:prstGeom prst="rect">
            <a:avLst/>
          </a:prstGeom>
          <a:noFill/>
          <a:ln/>
        </p:spPr>
        <p:txBody>
          <a:bodyPr wrap="square" lIns="0" tIns="0" rIns="0" bIns="0" rtlCol="0" anchor="ctr"/>
          <a:lstStyle/>
          <a:p>
            <a:pPr marL="0" indent="0" algn="ctr">
              <a:lnSpc>
                <a:spcPct val="90000"/>
              </a:lnSpc>
              <a:buNone/>
            </a:pPr>
            <a:r>
              <a:rPr lang="en-US" sz="1100" b="1" dirty="0">
                <a:solidFill>
                  <a:srgbClr val="FFFFFF"/>
                </a:solidFill>
                <a:ea typeface="Cambria" pitchFamily="34" charset="-122"/>
                <a:cs typeface="Cambria" pitchFamily="34" charset="-120"/>
              </a:rPr>
              <a:t>P2 · Digital</a:t>
            </a:r>
            <a:endParaRPr lang="en-US" sz="1100" dirty="0"/>
          </a:p>
          <a:p>
            <a:pPr marL="0" indent="0" algn="ctr">
              <a:lnSpc>
                <a:spcPct val="90000"/>
              </a:lnSpc>
              <a:buNone/>
            </a:pPr>
            <a:r>
              <a:rPr lang="en-US" sz="1100" b="1" dirty="0">
                <a:solidFill>
                  <a:srgbClr val="FFFFFF"/>
                </a:solidFill>
                <a:ea typeface="Cambria" pitchFamily="34" charset="-122"/>
                <a:cs typeface="Cambria" pitchFamily="34" charset="-120"/>
              </a:rPr>
              <a:t>Sovereignty</a:t>
            </a:r>
            <a:endParaRPr lang="en-US" sz="1100" dirty="0"/>
          </a:p>
        </p:txBody>
      </p:sp>
      <p:sp>
        <p:nvSpPr>
          <p:cNvPr id="64" name="Text 62"/>
          <p:cNvSpPr txBox="1"/>
          <p:nvPr/>
        </p:nvSpPr>
        <p:spPr>
          <a:xfrm>
            <a:off x="5779008" y="5605272"/>
            <a:ext cx="182880"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65" name="Text 63"/>
          <p:cNvSpPr txBox="1"/>
          <p:nvPr/>
        </p:nvSpPr>
        <p:spPr>
          <a:xfrm>
            <a:off x="5943600" y="5696712"/>
            <a:ext cx="1627632" cy="676656"/>
          </a:xfrm>
          <a:prstGeom prst="rect">
            <a:avLst/>
          </a:prstGeom>
          <a:noFill/>
          <a:ln/>
        </p:spPr>
        <p:txBody>
          <a:bodyPr wrap="square" lIns="0" tIns="0" rIns="0" bIns="0" rtlCol="0" anchor="ctr"/>
          <a:lstStyle/>
          <a:p>
            <a:pPr marL="0" indent="0" algn="ctr">
              <a:lnSpc>
                <a:spcPct val="92000"/>
              </a:lnSpc>
              <a:buNone/>
            </a:pPr>
            <a:r>
              <a:rPr lang="en-US" sz="950" b="1" dirty="0">
                <a:solidFill>
                  <a:srgbClr val="0F6E56"/>
                </a:solidFill>
                <a:ea typeface="Calibri" pitchFamily="34" charset="-122"/>
                <a:cs typeface="Calibri" pitchFamily="34" charset="-120"/>
              </a:rPr>
              <a:t>Posture IQ</a:t>
            </a:r>
            <a:endParaRPr lang="en-US" sz="950" dirty="0"/>
          </a:p>
        </p:txBody>
      </p:sp>
      <p:sp>
        <p:nvSpPr>
          <p:cNvPr id="66" name="Text 64"/>
          <p:cNvSpPr txBox="1"/>
          <p:nvPr/>
        </p:nvSpPr>
        <p:spPr>
          <a:xfrm>
            <a:off x="7534656" y="5605272"/>
            <a:ext cx="164592"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67" name="Text 65"/>
          <p:cNvSpPr txBox="1"/>
          <p:nvPr/>
        </p:nvSpPr>
        <p:spPr>
          <a:xfrm>
            <a:off x="7699248" y="5696712"/>
            <a:ext cx="2121408" cy="676656"/>
          </a:xfrm>
          <a:prstGeom prst="rect">
            <a:avLst/>
          </a:prstGeom>
          <a:noFill/>
          <a:ln/>
        </p:spPr>
        <p:txBody>
          <a:bodyPr wrap="square" lIns="0" tIns="0" rIns="0" bIns="0" rtlCol="0" anchor="ctr"/>
          <a:lstStyle/>
          <a:p>
            <a:pPr marL="0" indent="0" algn="l">
              <a:lnSpc>
                <a:spcPct val="95000"/>
              </a:lnSpc>
              <a:buNone/>
            </a:pPr>
            <a:r>
              <a:rPr lang="en-US" sz="950" dirty="0">
                <a:solidFill>
                  <a:srgbClr val="1B1F23"/>
                </a:solidFill>
                <a:ea typeface="Calibri" pitchFamily="34" charset="-122"/>
                <a:cs typeface="Calibri" pitchFamily="34" charset="-120"/>
              </a:rPr>
              <a:t>Regulatory Alignment &amp; Exit · Cross-Border Data</a:t>
            </a:r>
            <a:endParaRPr lang="en-US" sz="950" dirty="0"/>
          </a:p>
        </p:txBody>
      </p:sp>
      <p:sp>
        <p:nvSpPr>
          <p:cNvPr id="68" name="Text 66"/>
          <p:cNvSpPr txBox="1"/>
          <p:nvPr/>
        </p:nvSpPr>
        <p:spPr>
          <a:xfrm>
            <a:off x="9802368" y="5605272"/>
            <a:ext cx="164592"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69" name="Text 67"/>
          <p:cNvSpPr txBox="1"/>
          <p:nvPr/>
        </p:nvSpPr>
        <p:spPr>
          <a:xfrm>
            <a:off x="9966960" y="5696712"/>
            <a:ext cx="1719072" cy="676656"/>
          </a:xfrm>
          <a:prstGeom prst="rect">
            <a:avLst/>
          </a:prstGeom>
          <a:noFill/>
          <a:ln/>
        </p:spPr>
        <p:txBody>
          <a:bodyPr wrap="square" lIns="0" tIns="0" rIns="0" bIns="0" rtlCol="0" anchor="ctr"/>
          <a:lstStyle/>
          <a:p>
            <a:pPr marL="0" indent="0" algn="l">
              <a:lnSpc>
                <a:spcPct val="95000"/>
              </a:lnSpc>
              <a:buNone/>
            </a:pPr>
            <a:r>
              <a:rPr lang="en-US" sz="1050" b="1" dirty="0">
                <a:solidFill>
                  <a:srgbClr val="0F6E56"/>
                </a:solidFill>
                <a:ea typeface="Cambria" pitchFamily="34" charset="-122"/>
                <a:cs typeface="Cambria" pitchFamily="34" charset="-120"/>
              </a:rPr>
              <a:t>Audit-ready, not paperwork</a:t>
            </a:r>
            <a:endParaRPr lang="en-US" sz="1050" dirty="0"/>
          </a:p>
        </p:txBody>
      </p:sp>
      <p:sp>
        <p:nvSpPr>
          <p:cNvPr id="70" name="Text 68"/>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9AA7B4"/>
                </a:solidFill>
                <a:ea typeface="Calibri" pitchFamily="34" charset="-122"/>
                <a:cs typeface="Calibri" pitchFamily="34" charset="-120"/>
              </a:rPr>
              <a:t>LTM  ·  Infra Tech Advisory  ·  The CIO Agenda</a:t>
            </a:r>
            <a:endParaRPr lang="en-US" sz="950" dirty="0"/>
          </a:p>
        </p:txBody>
      </p:sp>
      <p:sp>
        <p:nvSpPr>
          <p:cNvPr id="71" name="Text 69"/>
          <p:cNvSpPr txBox="1"/>
          <p:nvPr/>
        </p:nvSpPr>
        <p:spPr>
          <a:xfrm>
            <a:off x="9418320" y="6473952"/>
            <a:ext cx="2267712" cy="274320"/>
          </a:xfrm>
          <a:prstGeom prst="rect">
            <a:avLst/>
          </a:prstGeom>
          <a:noFill/>
          <a:ln/>
        </p:spPr>
        <p:txBody>
          <a:bodyPr wrap="square" lIns="0" tIns="0" rIns="0" bIns="0" rtlCol="0" anchor="ctr"/>
          <a:lstStyle/>
          <a:p>
            <a:pPr marL="0" indent="0" algn="r">
              <a:buNone/>
            </a:pPr>
            <a:r>
              <a:rPr lang="en-US" sz="950" dirty="0">
                <a:solidFill>
                  <a:srgbClr val="9AA7B4"/>
                </a:solidFill>
                <a:ea typeface="Calibri" pitchFamily="34" charset="-122"/>
                <a:cs typeface="Calibri" pitchFamily="34" charset="-120"/>
              </a:rPr>
              <a:t>The CIO Agenda · 1 of 2</a:t>
            </a:r>
            <a:endParaRPr lang="en-US" sz="950" dirty="0"/>
          </a:p>
        </p:txBody>
      </p:sp>
      <p:sp>
        <p:nvSpPr>
          <p:cNvPr id="72" name="Text 3">
            <a:extLst>
              <a:ext uri="{FF2B5EF4-FFF2-40B4-BE49-F238E27FC236}">
                <a16:creationId xmlns:a16="http://schemas.microsoft.com/office/drawing/2014/main" id="{0FC441C1-F66B-26FA-B570-E7282DB4B05B}"/>
              </a:ext>
            </a:extLst>
          </p:cNvPr>
          <p:cNvSpPr txBox="1"/>
          <p:nvPr/>
        </p:nvSpPr>
        <p:spPr>
          <a:xfrm>
            <a:off x="502920" y="1572768"/>
            <a:ext cx="3383280" cy="228600"/>
          </a:xfrm>
          <a:prstGeom prst="rect">
            <a:avLst/>
          </a:prstGeom>
          <a:noFill/>
          <a:ln/>
        </p:spPr>
        <p:txBody>
          <a:bodyPr wrap="square" lIns="0" tIns="0" rIns="0" bIns="0" rtlCol="0" anchor="ctr"/>
          <a:lstStyle/>
          <a:p>
            <a:pPr marL="0" indent="0">
              <a:buNone/>
            </a:pPr>
            <a:r>
              <a:rPr lang="en-US" sz="900" b="1" kern="0" spc="150" dirty="0">
                <a:solidFill>
                  <a:srgbClr val="8DA9C4"/>
                </a:solidFill>
                <a:ea typeface="Calibri" pitchFamily="34" charset="-122"/>
                <a:cs typeface="Calibri" pitchFamily="34" charset="-120"/>
              </a:rPr>
              <a:t>THE CIO QUESTION</a:t>
            </a:r>
            <a:endParaRPr lang="en-US" sz="900" dirty="0"/>
          </a:p>
        </p:txBody>
      </p:sp>
      <p:sp>
        <p:nvSpPr>
          <p:cNvPr id="73" name="Text 4">
            <a:extLst>
              <a:ext uri="{FF2B5EF4-FFF2-40B4-BE49-F238E27FC236}">
                <a16:creationId xmlns:a16="http://schemas.microsoft.com/office/drawing/2014/main" id="{E120C586-0788-F05B-AE6E-557CF5B0F5E2}"/>
              </a:ext>
            </a:extLst>
          </p:cNvPr>
          <p:cNvSpPr txBox="1"/>
          <p:nvPr/>
        </p:nvSpPr>
        <p:spPr>
          <a:xfrm>
            <a:off x="4041648" y="1572768"/>
            <a:ext cx="1737360" cy="228600"/>
          </a:xfrm>
          <a:prstGeom prst="rect">
            <a:avLst/>
          </a:prstGeom>
          <a:noFill/>
          <a:ln/>
        </p:spPr>
        <p:txBody>
          <a:bodyPr wrap="square" lIns="0" tIns="0" rIns="0" bIns="0" rtlCol="0" anchor="ctr"/>
          <a:lstStyle/>
          <a:p>
            <a:pPr marL="0" indent="0">
              <a:buNone/>
            </a:pPr>
            <a:r>
              <a:rPr lang="en-US" sz="900" b="1" kern="0" spc="150" dirty="0">
                <a:solidFill>
                  <a:srgbClr val="8DA9C4"/>
                </a:solidFill>
                <a:ea typeface="Calibri" pitchFamily="34" charset="-122"/>
                <a:cs typeface="Calibri" pitchFamily="34" charset="-120"/>
              </a:rPr>
              <a:t>PILLAR</a:t>
            </a:r>
            <a:endParaRPr lang="en-US" sz="900" dirty="0"/>
          </a:p>
        </p:txBody>
      </p:sp>
      <p:sp>
        <p:nvSpPr>
          <p:cNvPr id="74" name="Text 5">
            <a:extLst>
              <a:ext uri="{FF2B5EF4-FFF2-40B4-BE49-F238E27FC236}">
                <a16:creationId xmlns:a16="http://schemas.microsoft.com/office/drawing/2014/main" id="{CFD2F75A-0C1F-49BE-3B10-F874A951690D}"/>
              </a:ext>
            </a:extLst>
          </p:cNvPr>
          <p:cNvSpPr txBox="1"/>
          <p:nvPr/>
        </p:nvSpPr>
        <p:spPr>
          <a:xfrm>
            <a:off x="5943600" y="1572768"/>
            <a:ext cx="1600200" cy="228600"/>
          </a:xfrm>
          <a:prstGeom prst="rect">
            <a:avLst/>
          </a:prstGeom>
          <a:noFill/>
          <a:ln/>
        </p:spPr>
        <p:txBody>
          <a:bodyPr wrap="square" lIns="0" tIns="0" rIns="0" bIns="0" rtlCol="0" anchor="ctr"/>
          <a:lstStyle/>
          <a:p>
            <a:pPr marL="0" indent="0">
              <a:buNone/>
            </a:pPr>
            <a:r>
              <a:rPr lang="en-US" sz="900" b="1" kern="0" spc="150" dirty="0">
                <a:solidFill>
                  <a:srgbClr val="8DA9C4"/>
                </a:solidFill>
                <a:ea typeface="Calibri" pitchFamily="34" charset="-122"/>
                <a:cs typeface="Calibri" pitchFamily="34" charset="-120"/>
              </a:rPr>
              <a:t>DIAGNOSE</a:t>
            </a:r>
            <a:endParaRPr lang="en-US" sz="900" dirty="0"/>
          </a:p>
        </p:txBody>
      </p:sp>
      <p:sp>
        <p:nvSpPr>
          <p:cNvPr id="75" name="Text 6">
            <a:extLst>
              <a:ext uri="{FF2B5EF4-FFF2-40B4-BE49-F238E27FC236}">
                <a16:creationId xmlns:a16="http://schemas.microsoft.com/office/drawing/2014/main" id="{C075BF8C-11F8-FB6E-A7BA-8B170EF9E2FA}"/>
              </a:ext>
            </a:extLst>
          </p:cNvPr>
          <p:cNvSpPr txBox="1"/>
          <p:nvPr/>
        </p:nvSpPr>
        <p:spPr>
          <a:xfrm>
            <a:off x="7680960" y="1572768"/>
            <a:ext cx="2148840" cy="228600"/>
          </a:xfrm>
          <a:prstGeom prst="rect">
            <a:avLst/>
          </a:prstGeom>
          <a:noFill/>
          <a:ln/>
        </p:spPr>
        <p:txBody>
          <a:bodyPr wrap="square" lIns="0" tIns="0" rIns="0" bIns="0" rtlCol="0" anchor="ctr"/>
          <a:lstStyle/>
          <a:p>
            <a:pPr marL="0" indent="0">
              <a:buNone/>
            </a:pPr>
            <a:r>
              <a:rPr lang="en-US" sz="900" b="1" kern="0" spc="150" dirty="0">
                <a:solidFill>
                  <a:srgbClr val="8DA9C4"/>
                </a:solidFill>
                <a:ea typeface="Calibri" pitchFamily="34" charset="-122"/>
                <a:cs typeface="Calibri" pitchFamily="34" charset="-120"/>
              </a:rPr>
              <a:t>OFFERING</a:t>
            </a:r>
            <a:endParaRPr lang="en-US" sz="900" dirty="0"/>
          </a:p>
        </p:txBody>
      </p:sp>
      <p:sp>
        <p:nvSpPr>
          <p:cNvPr id="76" name="Text 7">
            <a:extLst>
              <a:ext uri="{FF2B5EF4-FFF2-40B4-BE49-F238E27FC236}">
                <a16:creationId xmlns:a16="http://schemas.microsoft.com/office/drawing/2014/main" id="{026A88D3-9800-DEE1-62AE-832B810B7C17}"/>
              </a:ext>
            </a:extLst>
          </p:cNvPr>
          <p:cNvSpPr txBox="1"/>
          <p:nvPr/>
        </p:nvSpPr>
        <p:spPr>
          <a:xfrm>
            <a:off x="9966960" y="1572768"/>
            <a:ext cx="1737360" cy="228600"/>
          </a:xfrm>
          <a:prstGeom prst="rect">
            <a:avLst/>
          </a:prstGeom>
          <a:noFill/>
          <a:ln/>
        </p:spPr>
        <p:txBody>
          <a:bodyPr wrap="square" lIns="0" tIns="0" rIns="0" bIns="0" rtlCol="0" anchor="ctr"/>
          <a:lstStyle/>
          <a:p>
            <a:pPr marL="0" indent="0">
              <a:buNone/>
            </a:pPr>
            <a:r>
              <a:rPr lang="en-US" sz="900" b="1" kern="0" spc="150" dirty="0">
                <a:solidFill>
                  <a:srgbClr val="8DA9C4"/>
                </a:solidFill>
                <a:ea typeface="Calibri" pitchFamily="34" charset="-122"/>
                <a:cs typeface="Calibri" pitchFamily="34" charset="-120"/>
              </a:rPr>
              <a:t>OUTCOME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5" name="Text 3"/>
          <p:cNvSpPr txBox="1"/>
          <p:nvPr/>
        </p:nvSpPr>
        <p:spPr>
          <a:xfrm>
            <a:off x="502920" y="1572768"/>
            <a:ext cx="3383280" cy="228600"/>
          </a:xfrm>
          <a:prstGeom prst="rect">
            <a:avLst/>
          </a:prstGeom>
          <a:noFill/>
          <a:ln/>
        </p:spPr>
        <p:txBody>
          <a:bodyPr wrap="square" lIns="0" tIns="0" rIns="0" bIns="0" rtlCol="0" anchor="ctr"/>
          <a:lstStyle/>
          <a:p>
            <a:pPr marL="0" indent="0">
              <a:buNone/>
            </a:pPr>
            <a:r>
              <a:rPr lang="en-US" sz="900" b="1" kern="0" spc="150" dirty="0">
                <a:solidFill>
                  <a:srgbClr val="8DA9C4"/>
                </a:solidFill>
                <a:ea typeface="Calibri" pitchFamily="34" charset="-122"/>
                <a:cs typeface="Calibri" pitchFamily="34" charset="-120"/>
              </a:rPr>
              <a:t>THE CIO QUESTION</a:t>
            </a:r>
            <a:endParaRPr lang="en-US" sz="900" dirty="0"/>
          </a:p>
        </p:txBody>
      </p:sp>
      <p:sp>
        <p:nvSpPr>
          <p:cNvPr id="6" name="Text 4"/>
          <p:cNvSpPr txBox="1"/>
          <p:nvPr/>
        </p:nvSpPr>
        <p:spPr>
          <a:xfrm>
            <a:off x="4041648" y="1572768"/>
            <a:ext cx="1737360" cy="228600"/>
          </a:xfrm>
          <a:prstGeom prst="rect">
            <a:avLst/>
          </a:prstGeom>
          <a:noFill/>
          <a:ln/>
        </p:spPr>
        <p:txBody>
          <a:bodyPr wrap="square" lIns="0" tIns="0" rIns="0" bIns="0" rtlCol="0" anchor="ctr"/>
          <a:lstStyle/>
          <a:p>
            <a:pPr marL="0" indent="0">
              <a:buNone/>
            </a:pPr>
            <a:r>
              <a:rPr lang="en-US" sz="900" b="1" kern="0" spc="150" dirty="0">
                <a:solidFill>
                  <a:srgbClr val="8DA9C4"/>
                </a:solidFill>
                <a:ea typeface="Calibri" pitchFamily="34" charset="-122"/>
                <a:cs typeface="Calibri" pitchFamily="34" charset="-120"/>
              </a:rPr>
              <a:t>PILLAR</a:t>
            </a:r>
            <a:endParaRPr lang="en-US" sz="900" dirty="0"/>
          </a:p>
        </p:txBody>
      </p:sp>
      <p:sp>
        <p:nvSpPr>
          <p:cNvPr id="7" name="Text 5"/>
          <p:cNvSpPr txBox="1"/>
          <p:nvPr/>
        </p:nvSpPr>
        <p:spPr>
          <a:xfrm>
            <a:off x="5943600" y="1572768"/>
            <a:ext cx="1600200" cy="228600"/>
          </a:xfrm>
          <a:prstGeom prst="rect">
            <a:avLst/>
          </a:prstGeom>
          <a:noFill/>
          <a:ln/>
        </p:spPr>
        <p:txBody>
          <a:bodyPr wrap="square" lIns="0" tIns="0" rIns="0" bIns="0" rtlCol="0" anchor="ctr"/>
          <a:lstStyle/>
          <a:p>
            <a:pPr marL="0" indent="0">
              <a:buNone/>
            </a:pPr>
            <a:r>
              <a:rPr lang="en-US" sz="900" b="1" kern="0" spc="150" dirty="0">
                <a:solidFill>
                  <a:srgbClr val="8DA9C4"/>
                </a:solidFill>
                <a:ea typeface="Calibri" pitchFamily="34" charset="-122"/>
                <a:cs typeface="Calibri" pitchFamily="34" charset="-120"/>
              </a:rPr>
              <a:t>DIAGNOSE</a:t>
            </a:r>
            <a:endParaRPr lang="en-US" sz="900" dirty="0"/>
          </a:p>
        </p:txBody>
      </p:sp>
      <p:sp>
        <p:nvSpPr>
          <p:cNvPr id="8" name="Text 6"/>
          <p:cNvSpPr txBox="1"/>
          <p:nvPr/>
        </p:nvSpPr>
        <p:spPr>
          <a:xfrm>
            <a:off x="7680960" y="1572768"/>
            <a:ext cx="2148840" cy="228600"/>
          </a:xfrm>
          <a:prstGeom prst="rect">
            <a:avLst/>
          </a:prstGeom>
          <a:noFill/>
          <a:ln/>
        </p:spPr>
        <p:txBody>
          <a:bodyPr wrap="square" lIns="0" tIns="0" rIns="0" bIns="0" rtlCol="0" anchor="ctr"/>
          <a:lstStyle/>
          <a:p>
            <a:pPr marL="0" indent="0">
              <a:buNone/>
            </a:pPr>
            <a:r>
              <a:rPr lang="en-US" sz="900" b="1" kern="0" spc="150" dirty="0">
                <a:solidFill>
                  <a:srgbClr val="8DA9C4"/>
                </a:solidFill>
                <a:ea typeface="Calibri" pitchFamily="34" charset="-122"/>
                <a:cs typeface="Calibri" pitchFamily="34" charset="-120"/>
              </a:rPr>
              <a:t>OFFERING</a:t>
            </a:r>
            <a:endParaRPr lang="en-US" sz="900" dirty="0"/>
          </a:p>
        </p:txBody>
      </p:sp>
      <p:sp>
        <p:nvSpPr>
          <p:cNvPr id="9" name="Text 7"/>
          <p:cNvSpPr txBox="1"/>
          <p:nvPr/>
        </p:nvSpPr>
        <p:spPr>
          <a:xfrm>
            <a:off x="9966960" y="1572768"/>
            <a:ext cx="1737360" cy="228600"/>
          </a:xfrm>
          <a:prstGeom prst="rect">
            <a:avLst/>
          </a:prstGeom>
          <a:noFill/>
          <a:ln/>
        </p:spPr>
        <p:txBody>
          <a:bodyPr wrap="square" lIns="0" tIns="0" rIns="0" bIns="0" rtlCol="0" anchor="ctr"/>
          <a:lstStyle/>
          <a:p>
            <a:pPr marL="0" indent="0">
              <a:buNone/>
            </a:pPr>
            <a:r>
              <a:rPr lang="en-US" sz="900" b="1" kern="0" spc="150" dirty="0">
                <a:solidFill>
                  <a:srgbClr val="8DA9C4"/>
                </a:solidFill>
                <a:ea typeface="Calibri" pitchFamily="34" charset="-122"/>
                <a:cs typeface="Calibri" pitchFamily="34" charset="-120"/>
              </a:rPr>
              <a:t>OUTCOME</a:t>
            </a:r>
            <a:endParaRPr lang="en-US" sz="900" dirty="0"/>
          </a:p>
        </p:txBody>
      </p:sp>
      <p:sp>
        <p:nvSpPr>
          <p:cNvPr id="10" name="Shape 8"/>
          <p:cNvSpPr/>
          <p:nvPr/>
        </p:nvSpPr>
        <p:spPr>
          <a:xfrm>
            <a:off x="502920" y="1874520"/>
            <a:ext cx="11183112" cy="859536"/>
          </a:xfrm>
          <a:prstGeom prst="roundRect">
            <a:avLst>
              <a:gd name="adj" fmla="val 5319"/>
            </a:avLst>
          </a:prstGeom>
          <a:solidFill>
            <a:srgbClr val="F4F6FA"/>
          </a:solidFill>
          <a:ln w="6350">
            <a:solidFill>
              <a:srgbClr val="D8DFEA"/>
            </a:solidFill>
            <a:prstDash val="solid"/>
          </a:ln>
        </p:spPr>
        <p:txBody>
          <a:bodyPr/>
          <a:lstStyle/>
          <a:p>
            <a:endParaRPr lang="en-US"/>
          </a:p>
        </p:txBody>
      </p:sp>
      <p:sp>
        <p:nvSpPr>
          <p:cNvPr id="11" name="Shape 9"/>
          <p:cNvSpPr/>
          <p:nvPr/>
        </p:nvSpPr>
        <p:spPr>
          <a:xfrm>
            <a:off x="502920" y="1874520"/>
            <a:ext cx="82296" cy="859536"/>
          </a:xfrm>
          <a:prstGeom prst="rect">
            <a:avLst/>
          </a:prstGeom>
          <a:solidFill>
            <a:srgbClr val="0F6E56"/>
          </a:solidFill>
          <a:ln/>
        </p:spPr>
        <p:txBody>
          <a:bodyPr/>
          <a:lstStyle/>
          <a:p>
            <a:endParaRPr lang="en-US"/>
          </a:p>
        </p:txBody>
      </p:sp>
      <p:sp>
        <p:nvSpPr>
          <p:cNvPr id="12" name="Text 10"/>
          <p:cNvSpPr txBox="1"/>
          <p:nvPr/>
        </p:nvSpPr>
        <p:spPr>
          <a:xfrm>
            <a:off x="713232" y="1984248"/>
            <a:ext cx="3246120" cy="274320"/>
          </a:xfrm>
          <a:prstGeom prst="rect">
            <a:avLst/>
          </a:prstGeom>
          <a:noFill/>
          <a:ln/>
        </p:spPr>
        <p:txBody>
          <a:bodyPr wrap="square" lIns="0" tIns="0" rIns="0" bIns="0" rtlCol="0" anchor="ctr"/>
          <a:lstStyle/>
          <a:p>
            <a:pPr marL="0" indent="0">
              <a:buNone/>
            </a:pPr>
            <a:r>
              <a:rPr lang="en-US" sz="1500" b="1" dirty="0">
                <a:solidFill>
                  <a:srgbClr val="0F6E56"/>
                </a:solidFill>
                <a:ea typeface="Cambria" pitchFamily="34" charset="-122"/>
                <a:cs typeface="Cambria" pitchFamily="34" charset="-120"/>
              </a:rPr>
              <a:t>06  </a:t>
            </a:r>
            <a:r>
              <a:rPr lang="en-US" sz="1300" b="1" dirty="0">
                <a:solidFill>
                  <a:srgbClr val="1B1F23"/>
                </a:solidFill>
                <a:ea typeface="Cambria" pitchFamily="34" charset="-122"/>
                <a:cs typeface="Cambria" pitchFamily="34" charset="-120"/>
              </a:rPr>
              <a:t>Digital Sovereignty</a:t>
            </a:r>
            <a:endParaRPr lang="en-US" sz="1500" dirty="0"/>
          </a:p>
        </p:txBody>
      </p:sp>
      <p:sp>
        <p:nvSpPr>
          <p:cNvPr id="13" name="Text 11"/>
          <p:cNvSpPr txBox="1"/>
          <p:nvPr/>
        </p:nvSpPr>
        <p:spPr>
          <a:xfrm>
            <a:off x="731520" y="2276856"/>
            <a:ext cx="3200400" cy="402336"/>
          </a:xfrm>
          <a:prstGeom prst="rect">
            <a:avLst/>
          </a:prstGeom>
          <a:noFill/>
          <a:ln/>
        </p:spPr>
        <p:txBody>
          <a:bodyPr wrap="square" lIns="0" tIns="0" rIns="0" bIns="0" rtlCol="0" anchor="t"/>
          <a:lstStyle/>
          <a:p>
            <a:pPr marL="0" indent="0">
              <a:lnSpc>
                <a:spcPct val="95000"/>
              </a:lnSpc>
              <a:buNone/>
            </a:pPr>
            <a:r>
              <a:rPr lang="en-US" sz="950" i="1" dirty="0">
                <a:solidFill>
                  <a:srgbClr val="44515E"/>
                </a:solidFill>
                <a:ea typeface="Calibri" pitchFamily="34" charset="-122"/>
                <a:cs typeface="Calibri" pitchFamily="34" charset="-120"/>
              </a:rPr>
              <a:t>“Can I prove where our data lives, who can reach it, and keep AI inside a boundary I can defend?”</a:t>
            </a:r>
            <a:endParaRPr lang="en-US" sz="950" dirty="0"/>
          </a:p>
        </p:txBody>
      </p:sp>
      <p:sp>
        <p:nvSpPr>
          <p:cNvPr id="14" name="Shape 12"/>
          <p:cNvSpPr/>
          <p:nvPr/>
        </p:nvSpPr>
        <p:spPr>
          <a:xfrm>
            <a:off x="4041648" y="2130552"/>
            <a:ext cx="1737360" cy="347472"/>
          </a:xfrm>
          <a:prstGeom prst="roundRect">
            <a:avLst>
              <a:gd name="adj" fmla="val 13158"/>
            </a:avLst>
          </a:prstGeom>
          <a:solidFill>
            <a:srgbClr val="0F6E56"/>
          </a:solidFill>
          <a:ln/>
        </p:spPr>
        <p:txBody>
          <a:bodyPr/>
          <a:lstStyle/>
          <a:p>
            <a:endParaRPr lang="en-US"/>
          </a:p>
        </p:txBody>
      </p:sp>
      <p:sp>
        <p:nvSpPr>
          <p:cNvPr id="15" name="Text 13"/>
          <p:cNvSpPr txBox="1"/>
          <p:nvPr/>
        </p:nvSpPr>
        <p:spPr>
          <a:xfrm>
            <a:off x="4078224" y="2130552"/>
            <a:ext cx="1664208" cy="347472"/>
          </a:xfrm>
          <a:prstGeom prst="rect">
            <a:avLst/>
          </a:prstGeom>
          <a:noFill/>
          <a:ln/>
        </p:spPr>
        <p:txBody>
          <a:bodyPr wrap="square" lIns="0" tIns="0" rIns="0" bIns="0" rtlCol="0" anchor="ctr"/>
          <a:lstStyle/>
          <a:p>
            <a:pPr marL="0" indent="0" algn="ctr">
              <a:lnSpc>
                <a:spcPct val="90000"/>
              </a:lnSpc>
              <a:buNone/>
            </a:pPr>
            <a:r>
              <a:rPr lang="en-US" sz="1100" b="1" dirty="0">
                <a:solidFill>
                  <a:srgbClr val="FFFFFF"/>
                </a:solidFill>
                <a:ea typeface="Cambria" pitchFamily="34" charset="-122"/>
                <a:cs typeface="Cambria" pitchFamily="34" charset="-120"/>
              </a:rPr>
              <a:t>P2 · Digital</a:t>
            </a:r>
            <a:endParaRPr lang="en-US" sz="1100" dirty="0"/>
          </a:p>
          <a:p>
            <a:pPr marL="0" indent="0" algn="ctr">
              <a:lnSpc>
                <a:spcPct val="90000"/>
              </a:lnSpc>
              <a:buNone/>
            </a:pPr>
            <a:r>
              <a:rPr lang="en-US" sz="1100" b="1" dirty="0">
                <a:solidFill>
                  <a:srgbClr val="FFFFFF"/>
                </a:solidFill>
                <a:ea typeface="Cambria" pitchFamily="34" charset="-122"/>
                <a:cs typeface="Cambria" pitchFamily="34" charset="-120"/>
              </a:rPr>
              <a:t>Sovereignty</a:t>
            </a:r>
            <a:endParaRPr lang="en-US" sz="1100" dirty="0"/>
          </a:p>
        </p:txBody>
      </p:sp>
      <p:sp>
        <p:nvSpPr>
          <p:cNvPr id="16" name="Text 14"/>
          <p:cNvSpPr txBox="1"/>
          <p:nvPr/>
        </p:nvSpPr>
        <p:spPr>
          <a:xfrm>
            <a:off x="5779008" y="1874520"/>
            <a:ext cx="182880"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17" name="Text 15"/>
          <p:cNvSpPr txBox="1"/>
          <p:nvPr/>
        </p:nvSpPr>
        <p:spPr>
          <a:xfrm>
            <a:off x="5943600" y="1965960"/>
            <a:ext cx="1627632" cy="676656"/>
          </a:xfrm>
          <a:prstGeom prst="rect">
            <a:avLst/>
          </a:prstGeom>
          <a:noFill/>
          <a:ln/>
        </p:spPr>
        <p:txBody>
          <a:bodyPr wrap="square" lIns="0" tIns="0" rIns="0" bIns="0" rtlCol="0" anchor="ctr"/>
          <a:lstStyle/>
          <a:p>
            <a:pPr marL="0" indent="0" algn="ctr">
              <a:lnSpc>
                <a:spcPct val="92000"/>
              </a:lnSpc>
              <a:buNone/>
            </a:pPr>
            <a:r>
              <a:rPr lang="en-US" sz="950" b="1" dirty="0">
                <a:solidFill>
                  <a:srgbClr val="0F6E56"/>
                </a:solidFill>
                <a:ea typeface="Calibri" pitchFamily="34" charset="-122"/>
                <a:cs typeface="Calibri" pitchFamily="34" charset="-120"/>
              </a:rPr>
              <a:t>Sovereign IQ</a:t>
            </a:r>
            <a:endParaRPr lang="en-US" sz="950" dirty="0"/>
          </a:p>
        </p:txBody>
      </p:sp>
      <p:sp>
        <p:nvSpPr>
          <p:cNvPr id="18" name="Text 16"/>
          <p:cNvSpPr txBox="1"/>
          <p:nvPr/>
        </p:nvSpPr>
        <p:spPr>
          <a:xfrm>
            <a:off x="7534656" y="1874520"/>
            <a:ext cx="164592"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19" name="Text 17"/>
          <p:cNvSpPr txBox="1"/>
          <p:nvPr/>
        </p:nvSpPr>
        <p:spPr>
          <a:xfrm>
            <a:off x="7699248" y="1965960"/>
            <a:ext cx="2121408" cy="676656"/>
          </a:xfrm>
          <a:prstGeom prst="rect">
            <a:avLst/>
          </a:prstGeom>
          <a:noFill/>
          <a:ln/>
        </p:spPr>
        <p:txBody>
          <a:bodyPr wrap="square" lIns="0" tIns="0" rIns="0" bIns="0" rtlCol="0" anchor="ctr"/>
          <a:lstStyle/>
          <a:p>
            <a:pPr marL="0" indent="0" algn="l">
              <a:lnSpc>
                <a:spcPct val="95000"/>
              </a:lnSpc>
              <a:buNone/>
            </a:pPr>
            <a:r>
              <a:rPr lang="en-US" sz="950" dirty="0">
                <a:solidFill>
                  <a:srgbClr val="1B1F23"/>
                </a:solidFill>
                <a:ea typeface="Calibri" pitchFamily="34" charset="-122"/>
                <a:cs typeface="Calibri" pitchFamily="34" charset="-120"/>
              </a:rPr>
              <a:t>Sovereignty Posture · Sovereign AI · App Roadmap</a:t>
            </a:r>
            <a:endParaRPr lang="en-US" sz="950" dirty="0"/>
          </a:p>
        </p:txBody>
      </p:sp>
      <p:sp>
        <p:nvSpPr>
          <p:cNvPr id="20" name="Text 18"/>
          <p:cNvSpPr txBox="1"/>
          <p:nvPr/>
        </p:nvSpPr>
        <p:spPr>
          <a:xfrm>
            <a:off x="9802368" y="1874520"/>
            <a:ext cx="164592"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21" name="Text 19"/>
          <p:cNvSpPr txBox="1"/>
          <p:nvPr/>
        </p:nvSpPr>
        <p:spPr>
          <a:xfrm>
            <a:off x="9966960" y="1965960"/>
            <a:ext cx="1719072" cy="676656"/>
          </a:xfrm>
          <a:prstGeom prst="rect">
            <a:avLst/>
          </a:prstGeom>
          <a:noFill/>
          <a:ln/>
        </p:spPr>
        <p:txBody>
          <a:bodyPr wrap="square" lIns="0" tIns="0" rIns="0" bIns="0" rtlCol="0" anchor="ctr"/>
          <a:lstStyle/>
          <a:p>
            <a:pPr marL="0" indent="0" algn="l">
              <a:lnSpc>
                <a:spcPct val="95000"/>
              </a:lnSpc>
              <a:buNone/>
            </a:pPr>
            <a:r>
              <a:rPr lang="en-US" sz="1050" b="1" dirty="0">
                <a:solidFill>
                  <a:srgbClr val="0F6E56"/>
                </a:solidFill>
                <a:ea typeface="Cambria" pitchFamily="34" charset="-122"/>
                <a:cs typeface="Cambria" pitchFamily="34" charset="-120"/>
              </a:rPr>
              <a:t>Sovereignty you can prove</a:t>
            </a:r>
            <a:endParaRPr lang="en-US" sz="1050" dirty="0"/>
          </a:p>
        </p:txBody>
      </p:sp>
      <p:sp>
        <p:nvSpPr>
          <p:cNvPr id="22" name="Shape 20"/>
          <p:cNvSpPr/>
          <p:nvPr/>
        </p:nvSpPr>
        <p:spPr>
          <a:xfrm>
            <a:off x="502920" y="2807208"/>
            <a:ext cx="11183112" cy="859536"/>
          </a:xfrm>
          <a:prstGeom prst="roundRect">
            <a:avLst>
              <a:gd name="adj" fmla="val 5319"/>
            </a:avLst>
          </a:prstGeom>
          <a:solidFill>
            <a:srgbClr val="F4F6FA"/>
          </a:solidFill>
          <a:ln w="6350">
            <a:solidFill>
              <a:srgbClr val="D8DFEA"/>
            </a:solidFill>
            <a:prstDash val="solid"/>
          </a:ln>
        </p:spPr>
        <p:txBody>
          <a:bodyPr/>
          <a:lstStyle/>
          <a:p>
            <a:endParaRPr lang="en-US"/>
          </a:p>
        </p:txBody>
      </p:sp>
      <p:sp>
        <p:nvSpPr>
          <p:cNvPr id="23" name="Shape 21"/>
          <p:cNvSpPr/>
          <p:nvPr/>
        </p:nvSpPr>
        <p:spPr>
          <a:xfrm>
            <a:off x="502920" y="2807208"/>
            <a:ext cx="82296" cy="859536"/>
          </a:xfrm>
          <a:prstGeom prst="rect">
            <a:avLst/>
          </a:prstGeom>
          <a:solidFill>
            <a:srgbClr val="B0481E"/>
          </a:solidFill>
          <a:ln/>
        </p:spPr>
        <p:txBody>
          <a:bodyPr/>
          <a:lstStyle/>
          <a:p>
            <a:endParaRPr lang="en-US"/>
          </a:p>
        </p:txBody>
      </p:sp>
      <p:sp>
        <p:nvSpPr>
          <p:cNvPr id="24" name="Text 22"/>
          <p:cNvSpPr txBox="1"/>
          <p:nvPr/>
        </p:nvSpPr>
        <p:spPr>
          <a:xfrm>
            <a:off x="713232" y="2916936"/>
            <a:ext cx="3246120" cy="274320"/>
          </a:xfrm>
          <a:prstGeom prst="rect">
            <a:avLst/>
          </a:prstGeom>
          <a:noFill/>
          <a:ln/>
        </p:spPr>
        <p:txBody>
          <a:bodyPr wrap="square" lIns="0" tIns="0" rIns="0" bIns="0" rtlCol="0" anchor="ctr"/>
          <a:lstStyle/>
          <a:p>
            <a:pPr marL="0" indent="0">
              <a:buNone/>
            </a:pPr>
            <a:r>
              <a:rPr lang="en-US" sz="1500" b="1" dirty="0">
                <a:solidFill>
                  <a:srgbClr val="B0481E"/>
                </a:solidFill>
                <a:ea typeface="Cambria" pitchFamily="34" charset="-122"/>
                <a:cs typeface="Cambria" pitchFamily="34" charset="-120"/>
              </a:rPr>
              <a:t>07  </a:t>
            </a:r>
            <a:r>
              <a:rPr lang="en-US" sz="1300" b="1" dirty="0">
                <a:solidFill>
                  <a:srgbClr val="1B1F23"/>
                </a:solidFill>
                <a:ea typeface="Cambria" pitchFamily="34" charset="-122"/>
                <a:cs typeface="Cambria" pitchFamily="34" charset="-120"/>
              </a:rPr>
              <a:t>Cloud That Pays Off</a:t>
            </a:r>
            <a:endParaRPr lang="en-US" sz="1500" dirty="0"/>
          </a:p>
        </p:txBody>
      </p:sp>
      <p:sp>
        <p:nvSpPr>
          <p:cNvPr id="25" name="Text 23"/>
          <p:cNvSpPr txBox="1"/>
          <p:nvPr/>
        </p:nvSpPr>
        <p:spPr>
          <a:xfrm>
            <a:off x="731520" y="3209544"/>
            <a:ext cx="3200400" cy="402336"/>
          </a:xfrm>
          <a:prstGeom prst="rect">
            <a:avLst/>
          </a:prstGeom>
          <a:noFill/>
          <a:ln/>
        </p:spPr>
        <p:txBody>
          <a:bodyPr wrap="square" lIns="0" tIns="0" rIns="0" bIns="0" rtlCol="0" anchor="t"/>
          <a:lstStyle/>
          <a:p>
            <a:pPr marL="0" indent="0">
              <a:lnSpc>
                <a:spcPct val="95000"/>
              </a:lnSpc>
              <a:buNone/>
            </a:pPr>
            <a:r>
              <a:rPr lang="en-US" sz="950" i="1" dirty="0">
                <a:solidFill>
                  <a:srgbClr val="44515E"/>
                </a:solidFill>
                <a:ea typeface="Calibri" pitchFamily="34" charset="-122"/>
                <a:cs typeface="Calibri" pitchFamily="34" charset="-120"/>
              </a:rPr>
              <a:t>“Did we lift-and-shift into a bigger bill and the same drag — and is everything actually in the right place?”</a:t>
            </a:r>
            <a:endParaRPr lang="en-US" sz="950" dirty="0"/>
          </a:p>
        </p:txBody>
      </p:sp>
      <p:sp>
        <p:nvSpPr>
          <p:cNvPr id="26" name="Shape 24"/>
          <p:cNvSpPr/>
          <p:nvPr/>
        </p:nvSpPr>
        <p:spPr>
          <a:xfrm>
            <a:off x="4041648" y="3063240"/>
            <a:ext cx="1737360" cy="347472"/>
          </a:xfrm>
          <a:prstGeom prst="roundRect">
            <a:avLst>
              <a:gd name="adj" fmla="val 13158"/>
            </a:avLst>
          </a:prstGeom>
          <a:solidFill>
            <a:srgbClr val="B0481E"/>
          </a:solidFill>
          <a:ln/>
        </p:spPr>
        <p:txBody>
          <a:bodyPr/>
          <a:lstStyle/>
          <a:p>
            <a:endParaRPr lang="en-US"/>
          </a:p>
        </p:txBody>
      </p:sp>
      <p:sp>
        <p:nvSpPr>
          <p:cNvPr id="27" name="Text 25"/>
          <p:cNvSpPr txBox="1"/>
          <p:nvPr/>
        </p:nvSpPr>
        <p:spPr>
          <a:xfrm>
            <a:off x="4078224" y="3063240"/>
            <a:ext cx="1664208" cy="347472"/>
          </a:xfrm>
          <a:prstGeom prst="rect">
            <a:avLst/>
          </a:prstGeom>
          <a:noFill/>
          <a:ln/>
        </p:spPr>
        <p:txBody>
          <a:bodyPr wrap="square" lIns="0" tIns="0" rIns="0" bIns="0" rtlCol="0" anchor="ctr"/>
          <a:lstStyle/>
          <a:p>
            <a:pPr marL="0" indent="0" algn="ctr">
              <a:lnSpc>
                <a:spcPct val="90000"/>
              </a:lnSpc>
              <a:buNone/>
            </a:pPr>
            <a:r>
              <a:rPr lang="en-US" sz="1100" b="1" dirty="0">
                <a:solidFill>
                  <a:srgbClr val="FFFFFF"/>
                </a:solidFill>
                <a:ea typeface="Cambria" pitchFamily="34" charset="-122"/>
                <a:cs typeface="Cambria" pitchFamily="34" charset="-120"/>
              </a:rPr>
              <a:t>P3 · Public Cloud</a:t>
            </a:r>
            <a:endParaRPr lang="en-US" sz="1100" dirty="0"/>
          </a:p>
          <a:p>
            <a:pPr marL="0" indent="0" algn="ctr">
              <a:lnSpc>
                <a:spcPct val="90000"/>
              </a:lnSpc>
              <a:buNone/>
            </a:pPr>
            <a:r>
              <a:rPr lang="en-US" sz="1100" b="1" dirty="0">
                <a:solidFill>
                  <a:srgbClr val="FFFFFF"/>
                </a:solidFill>
                <a:ea typeface="Cambria" pitchFamily="34" charset="-122"/>
                <a:cs typeface="Cambria" pitchFamily="34" charset="-120"/>
              </a:rPr>
              <a:t>&amp; Modernization</a:t>
            </a:r>
            <a:endParaRPr lang="en-US" sz="1100" dirty="0"/>
          </a:p>
        </p:txBody>
      </p:sp>
      <p:sp>
        <p:nvSpPr>
          <p:cNvPr id="28" name="Text 26"/>
          <p:cNvSpPr txBox="1"/>
          <p:nvPr/>
        </p:nvSpPr>
        <p:spPr>
          <a:xfrm>
            <a:off x="5779008" y="2807208"/>
            <a:ext cx="182880"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29" name="Text 27"/>
          <p:cNvSpPr txBox="1"/>
          <p:nvPr/>
        </p:nvSpPr>
        <p:spPr>
          <a:xfrm>
            <a:off x="5943600" y="2898648"/>
            <a:ext cx="1627632" cy="676656"/>
          </a:xfrm>
          <a:prstGeom prst="rect">
            <a:avLst/>
          </a:prstGeom>
          <a:noFill/>
          <a:ln/>
        </p:spPr>
        <p:txBody>
          <a:bodyPr wrap="square" lIns="0" tIns="0" rIns="0" bIns="0" rtlCol="0" anchor="ctr"/>
          <a:lstStyle/>
          <a:p>
            <a:pPr marL="0" indent="0" algn="ctr">
              <a:lnSpc>
                <a:spcPct val="92000"/>
              </a:lnSpc>
              <a:buNone/>
            </a:pPr>
            <a:r>
              <a:rPr lang="en-US" sz="950" b="1" dirty="0">
                <a:solidFill>
                  <a:srgbClr val="B0481E"/>
                </a:solidFill>
                <a:ea typeface="Calibri" pitchFamily="34" charset="-122"/>
                <a:cs typeface="Calibri" pitchFamily="34" charset="-120"/>
              </a:rPr>
              <a:t>Cloud IQ · FinOps IQ</a:t>
            </a:r>
            <a:endParaRPr lang="en-US" sz="950" dirty="0"/>
          </a:p>
        </p:txBody>
      </p:sp>
      <p:sp>
        <p:nvSpPr>
          <p:cNvPr id="30" name="Text 28"/>
          <p:cNvSpPr txBox="1"/>
          <p:nvPr/>
        </p:nvSpPr>
        <p:spPr>
          <a:xfrm>
            <a:off x="7534656" y="2807208"/>
            <a:ext cx="164592"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31" name="Text 29"/>
          <p:cNvSpPr txBox="1"/>
          <p:nvPr/>
        </p:nvSpPr>
        <p:spPr>
          <a:xfrm>
            <a:off x="7699248" y="2898648"/>
            <a:ext cx="2121408" cy="676656"/>
          </a:xfrm>
          <a:prstGeom prst="rect">
            <a:avLst/>
          </a:prstGeom>
          <a:noFill/>
          <a:ln/>
        </p:spPr>
        <p:txBody>
          <a:bodyPr wrap="square" lIns="0" tIns="0" rIns="0" bIns="0" rtlCol="0" anchor="ctr"/>
          <a:lstStyle/>
          <a:p>
            <a:pPr marL="0" indent="0" algn="l">
              <a:lnSpc>
                <a:spcPct val="95000"/>
              </a:lnSpc>
              <a:buNone/>
            </a:pPr>
            <a:r>
              <a:rPr lang="en-US" sz="950" dirty="0">
                <a:solidFill>
                  <a:srgbClr val="1B1F23"/>
                </a:solidFill>
                <a:ea typeface="Calibri" pitchFamily="34" charset="-122"/>
                <a:cs typeface="Calibri" pitchFamily="34" charset="-120"/>
              </a:rPr>
              <a:t>Right Cloud · Multi-Cloud · FinOps</a:t>
            </a:r>
            <a:endParaRPr lang="en-US" sz="950" dirty="0"/>
          </a:p>
        </p:txBody>
      </p:sp>
      <p:sp>
        <p:nvSpPr>
          <p:cNvPr id="32" name="Text 30"/>
          <p:cNvSpPr txBox="1"/>
          <p:nvPr/>
        </p:nvSpPr>
        <p:spPr>
          <a:xfrm>
            <a:off x="9802368" y="2807208"/>
            <a:ext cx="164592"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33" name="Text 31"/>
          <p:cNvSpPr txBox="1"/>
          <p:nvPr/>
        </p:nvSpPr>
        <p:spPr>
          <a:xfrm>
            <a:off x="9966960" y="2898648"/>
            <a:ext cx="1719072" cy="676656"/>
          </a:xfrm>
          <a:prstGeom prst="rect">
            <a:avLst/>
          </a:prstGeom>
          <a:noFill/>
          <a:ln/>
        </p:spPr>
        <p:txBody>
          <a:bodyPr wrap="square" lIns="0" tIns="0" rIns="0" bIns="0" rtlCol="0" anchor="ctr"/>
          <a:lstStyle/>
          <a:p>
            <a:pPr marL="0" indent="0" algn="l">
              <a:lnSpc>
                <a:spcPct val="95000"/>
              </a:lnSpc>
              <a:buNone/>
            </a:pPr>
            <a:r>
              <a:rPr lang="en-US" sz="1050" b="1" dirty="0">
                <a:solidFill>
                  <a:srgbClr val="B0481E"/>
                </a:solidFill>
                <a:ea typeface="Cambria" pitchFamily="34" charset="-122"/>
                <a:cs typeface="Cambria" pitchFamily="34" charset="-120"/>
              </a:rPr>
              <a:t>Speed and unit-economics</a:t>
            </a:r>
            <a:endParaRPr lang="en-US" sz="1050" dirty="0"/>
          </a:p>
        </p:txBody>
      </p:sp>
      <p:sp>
        <p:nvSpPr>
          <p:cNvPr id="34" name="Shape 32"/>
          <p:cNvSpPr/>
          <p:nvPr/>
        </p:nvSpPr>
        <p:spPr>
          <a:xfrm>
            <a:off x="502920" y="3739896"/>
            <a:ext cx="11183112" cy="859536"/>
          </a:xfrm>
          <a:prstGeom prst="roundRect">
            <a:avLst>
              <a:gd name="adj" fmla="val 5319"/>
            </a:avLst>
          </a:prstGeom>
          <a:solidFill>
            <a:srgbClr val="F4F6FA"/>
          </a:solidFill>
          <a:ln w="6350">
            <a:solidFill>
              <a:srgbClr val="D8DFEA"/>
            </a:solidFill>
            <a:prstDash val="solid"/>
          </a:ln>
        </p:spPr>
        <p:txBody>
          <a:bodyPr/>
          <a:lstStyle/>
          <a:p>
            <a:endParaRPr lang="en-US"/>
          </a:p>
        </p:txBody>
      </p:sp>
      <p:sp>
        <p:nvSpPr>
          <p:cNvPr id="35" name="Shape 33"/>
          <p:cNvSpPr/>
          <p:nvPr/>
        </p:nvSpPr>
        <p:spPr>
          <a:xfrm>
            <a:off x="502920" y="3739896"/>
            <a:ext cx="82296" cy="859536"/>
          </a:xfrm>
          <a:prstGeom prst="rect">
            <a:avLst/>
          </a:prstGeom>
          <a:solidFill>
            <a:srgbClr val="B0481E"/>
          </a:solidFill>
          <a:ln/>
        </p:spPr>
        <p:txBody>
          <a:bodyPr/>
          <a:lstStyle/>
          <a:p>
            <a:endParaRPr lang="en-US"/>
          </a:p>
        </p:txBody>
      </p:sp>
      <p:sp>
        <p:nvSpPr>
          <p:cNvPr id="36" name="Text 34"/>
          <p:cNvSpPr txBox="1"/>
          <p:nvPr/>
        </p:nvSpPr>
        <p:spPr>
          <a:xfrm>
            <a:off x="713232" y="3849624"/>
            <a:ext cx="3246120" cy="274320"/>
          </a:xfrm>
          <a:prstGeom prst="rect">
            <a:avLst/>
          </a:prstGeom>
          <a:noFill/>
          <a:ln/>
        </p:spPr>
        <p:txBody>
          <a:bodyPr wrap="square" lIns="0" tIns="0" rIns="0" bIns="0" rtlCol="0" anchor="ctr"/>
          <a:lstStyle/>
          <a:p>
            <a:pPr marL="0" indent="0">
              <a:buNone/>
            </a:pPr>
            <a:r>
              <a:rPr lang="en-US" sz="1500" b="1" dirty="0">
                <a:solidFill>
                  <a:srgbClr val="B0481E"/>
                </a:solidFill>
                <a:ea typeface="Cambria" pitchFamily="34" charset="-122"/>
                <a:cs typeface="Cambria" pitchFamily="34" charset="-120"/>
              </a:rPr>
              <a:t>08  </a:t>
            </a:r>
            <a:r>
              <a:rPr lang="en-US" sz="1300" b="1" dirty="0">
                <a:solidFill>
                  <a:srgbClr val="1B1F23"/>
                </a:solidFill>
                <a:ea typeface="Cambria" pitchFamily="34" charset="-122"/>
                <a:cs typeface="Cambria" pitchFamily="34" charset="-120"/>
              </a:rPr>
              <a:t>Kill the Legacy Drag</a:t>
            </a:r>
            <a:endParaRPr lang="en-US" sz="1500" dirty="0"/>
          </a:p>
        </p:txBody>
      </p:sp>
      <p:sp>
        <p:nvSpPr>
          <p:cNvPr id="37" name="Text 35"/>
          <p:cNvSpPr txBox="1"/>
          <p:nvPr/>
        </p:nvSpPr>
        <p:spPr>
          <a:xfrm>
            <a:off x="731520" y="4142232"/>
            <a:ext cx="3200400" cy="402336"/>
          </a:xfrm>
          <a:prstGeom prst="rect">
            <a:avLst/>
          </a:prstGeom>
          <a:noFill/>
          <a:ln/>
        </p:spPr>
        <p:txBody>
          <a:bodyPr wrap="square" lIns="0" tIns="0" rIns="0" bIns="0" rtlCol="0" anchor="t"/>
          <a:lstStyle/>
          <a:p>
            <a:pPr marL="0" indent="0">
              <a:lnSpc>
                <a:spcPct val="95000"/>
              </a:lnSpc>
              <a:buNone/>
            </a:pPr>
            <a:r>
              <a:rPr lang="en-US" sz="950" i="1" dirty="0">
                <a:solidFill>
                  <a:srgbClr val="44515E"/>
                </a:solidFill>
                <a:ea typeface="Calibri" pitchFamily="34" charset="-122"/>
                <a:cs typeface="Calibri" pitchFamily="34" charset="-120"/>
              </a:rPr>
              <a:t>“Legacy is blocking every new idea — how do I modernise it, value-first, without a risky big bang?”</a:t>
            </a:r>
            <a:endParaRPr lang="en-US" sz="950" dirty="0"/>
          </a:p>
        </p:txBody>
      </p:sp>
      <p:sp>
        <p:nvSpPr>
          <p:cNvPr id="38" name="Shape 36"/>
          <p:cNvSpPr/>
          <p:nvPr/>
        </p:nvSpPr>
        <p:spPr>
          <a:xfrm>
            <a:off x="4041648" y="3995928"/>
            <a:ext cx="1737360" cy="347472"/>
          </a:xfrm>
          <a:prstGeom prst="roundRect">
            <a:avLst>
              <a:gd name="adj" fmla="val 13158"/>
            </a:avLst>
          </a:prstGeom>
          <a:solidFill>
            <a:srgbClr val="B0481E"/>
          </a:solidFill>
          <a:ln/>
        </p:spPr>
        <p:txBody>
          <a:bodyPr/>
          <a:lstStyle/>
          <a:p>
            <a:endParaRPr lang="en-US"/>
          </a:p>
        </p:txBody>
      </p:sp>
      <p:sp>
        <p:nvSpPr>
          <p:cNvPr id="39" name="Text 37"/>
          <p:cNvSpPr txBox="1"/>
          <p:nvPr/>
        </p:nvSpPr>
        <p:spPr>
          <a:xfrm>
            <a:off x="4078224" y="3995928"/>
            <a:ext cx="1664208" cy="347472"/>
          </a:xfrm>
          <a:prstGeom prst="rect">
            <a:avLst/>
          </a:prstGeom>
          <a:noFill/>
          <a:ln/>
        </p:spPr>
        <p:txBody>
          <a:bodyPr wrap="square" lIns="0" tIns="0" rIns="0" bIns="0" rtlCol="0" anchor="ctr"/>
          <a:lstStyle/>
          <a:p>
            <a:pPr marL="0" indent="0" algn="ctr">
              <a:lnSpc>
                <a:spcPct val="90000"/>
              </a:lnSpc>
              <a:buNone/>
            </a:pPr>
            <a:r>
              <a:rPr lang="en-US" sz="1100" b="1" dirty="0">
                <a:solidFill>
                  <a:srgbClr val="FFFFFF"/>
                </a:solidFill>
                <a:ea typeface="Cambria" pitchFamily="34" charset="-122"/>
                <a:cs typeface="Cambria" pitchFamily="34" charset="-120"/>
              </a:rPr>
              <a:t>P3 · Public Cloud</a:t>
            </a:r>
            <a:endParaRPr lang="en-US" sz="1100" dirty="0"/>
          </a:p>
          <a:p>
            <a:pPr marL="0" indent="0" algn="ctr">
              <a:lnSpc>
                <a:spcPct val="90000"/>
              </a:lnSpc>
              <a:buNone/>
            </a:pPr>
            <a:r>
              <a:rPr lang="en-US" sz="1100" b="1" dirty="0">
                <a:solidFill>
                  <a:srgbClr val="FFFFFF"/>
                </a:solidFill>
                <a:ea typeface="Cambria" pitchFamily="34" charset="-122"/>
                <a:cs typeface="Cambria" pitchFamily="34" charset="-120"/>
              </a:rPr>
              <a:t>&amp; Modernization</a:t>
            </a:r>
            <a:endParaRPr lang="en-US" sz="1100" dirty="0"/>
          </a:p>
        </p:txBody>
      </p:sp>
      <p:sp>
        <p:nvSpPr>
          <p:cNvPr id="40" name="Text 38"/>
          <p:cNvSpPr txBox="1"/>
          <p:nvPr/>
        </p:nvSpPr>
        <p:spPr>
          <a:xfrm>
            <a:off x="5779008" y="3739896"/>
            <a:ext cx="182880"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41" name="Text 39"/>
          <p:cNvSpPr txBox="1"/>
          <p:nvPr/>
        </p:nvSpPr>
        <p:spPr>
          <a:xfrm>
            <a:off x="5943600" y="3831336"/>
            <a:ext cx="1627632" cy="676656"/>
          </a:xfrm>
          <a:prstGeom prst="rect">
            <a:avLst/>
          </a:prstGeom>
          <a:noFill/>
          <a:ln/>
        </p:spPr>
        <p:txBody>
          <a:bodyPr wrap="square" lIns="0" tIns="0" rIns="0" bIns="0" rtlCol="0" anchor="ctr"/>
          <a:lstStyle/>
          <a:p>
            <a:pPr marL="0" indent="0" algn="ctr">
              <a:lnSpc>
                <a:spcPct val="92000"/>
              </a:lnSpc>
              <a:buNone/>
            </a:pPr>
            <a:r>
              <a:rPr lang="en-US" sz="950" b="1" dirty="0">
                <a:solidFill>
                  <a:srgbClr val="B0481E"/>
                </a:solidFill>
                <a:ea typeface="Calibri" pitchFamily="34" charset="-122"/>
                <a:cs typeface="Calibri" pitchFamily="34" charset="-120"/>
              </a:rPr>
              <a:t>Cloud IQ</a:t>
            </a:r>
            <a:endParaRPr lang="en-US" sz="950" dirty="0"/>
          </a:p>
        </p:txBody>
      </p:sp>
      <p:sp>
        <p:nvSpPr>
          <p:cNvPr id="42" name="Text 40"/>
          <p:cNvSpPr txBox="1"/>
          <p:nvPr/>
        </p:nvSpPr>
        <p:spPr>
          <a:xfrm>
            <a:off x="7534656" y="3739896"/>
            <a:ext cx="164592"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43" name="Text 41"/>
          <p:cNvSpPr txBox="1"/>
          <p:nvPr/>
        </p:nvSpPr>
        <p:spPr>
          <a:xfrm>
            <a:off x="7699248" y="3831336"/>
            <a:ext cx="2121408" cy="676656"/>
          </a:xfrm>
          <a:prstGeom prst="rect">
            <a:avLst/>
          </a:prstGeom>
          <a:noFill/>
          <a:ln/>
        </p:spPr>
        <p:txBody>
          <a:bodyPr wrap="square" lIns="0" tIns="0" rIns="0" bIns="0" rtlCol="0" anchor="ctr"/>
          <a:lstStyle/>
          <a:p>
            <a:pPr marL="0" indent="0" algn="l">
              <a:lnSpc>
                <a:spcPct val="95000"/>
              </a:lnSpc>
              <a:buNone/>
            </a:pPr>
            <a:r>
              <a:rPr lang="en-US" sz="950" dirty="0">
                <a:solidFill>
                  <a:srgbClr val="1B1F23"/>
                </a:solidFill>
                <a:ea typeface="Calibri" pitchFamily="34" charset="-122"/>
                <a:cs typeface="Calibri" pitchFamily="34" charset="-120"/>
              </a:rPr>
              <a:t>Application Modernization · Platform Engineering</a:t>
            </a:r>
            <a:endParaRPr lang="en-US" sz="950" dirty="0"/>
          </a:p>
        </p:txBody>
      </p:sp>
      <p:sp>
        <p:nvSpPr>
          <p:cNvPr id="44" name="Text 42"/>
          <p:cNvSpPr txBox="1"/>
          <p:nvPr/>
        </p:nvSpPr>
        <p:spPr>
          <a:xfrm>
            <a:off x="9802368" y="3739896"/>
            <a:ext cx="164592"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45" name="Text 43"/>
          <p:cNvSpPr txBox="1"/>
          <p:nvPr/>
        </p:nvSpPr>
        <p:spPr>
          <a:xfrm>
            <a:off x="9966960" y="3831336"/>
            <a:ext cx="1719072" cy="676656"/>
          </a:xfrm>
          <a:prstGeom prst="rect">
            <a:avLst/>
          </a:prstGeom>
          <a:noFill/>
          <a:ln/>
        </p:spPr>
        <p:txBody>
          <a:bodyPr wrap="square" lIns="0" tIns="0" rIns="0" bIns="0" rtlCol="0" anchor="ctr"/>
          <a:lstStyle/>
          <a:p>
            <a:pPr marL="0" indent="0" algn="l">
              <a:lnSpc>
                <a:spcPct val="95000"/>
              </a:lnSpc>
              <a:buNone/>
            </a:pPr>
            <a:r>
              <a:rPr lang="en-US" sz="1050" b="1" dirty="0">
                <a:solidFill>
                  <a:srgbClr val="B0481E"/>
                </a:solidFill>
                <a:ea typeface="Cambria" pitchFamily="34" charset="-122"/>
                <a:cs typeface="Cambria" pitchFamily="34" charset="-120"/>
              </a:rPr>
              <a:t>Value lands early, debt falls</a:t>
            </a:r>
            <a:endParaRPr lang="en-US" sz="1050" dirty="0"/>
          </a:p>
        </p:txBody>
      </p:sp>
      <p:sp>
        <p:nvSpPr>
          <p:cNvPr id="46" name="Shape 44"/>
          <p:cNvSpPr/>
          <p:nvPr/>
        </p:nvSpPr>
        <p:spPr>
          <a:xfrm>
            <a:off x="502920" y="4672584"/>
            <a:ext cx="11183112" cy="859536"/>
          </a:xfrm>
          <a:prstGeom prst="roundRect">
            <a:avLst>
              <a:gd name="adj" fmla="val 5319"/>
            </a:avLst>
          </a:prstGeom>
          <a:solidFill>
            <a:srgbClr val="F4F6FA"/>
          </a:solidFill>
          <a:ln w="6350">
            <a:solidFill>
              <a:srgbClr val="D8DFEA"/>
            </a:solidFill>
            <a:prstDash val="solid"/>
          </a:ln>
        </p:spPr>
        <p:txBody>
          <a:bodyPr/>
          <a:lstStyle/>
          <a:p>
            <a:endParaRPr lang="en-US"/>
          </a:p>
        </p:txBody>
      </p:sp>
      <p:sp>
        <p:nvSpPr>
          <p:cNvPr id="47" name="Shape 45"/>
          <p:cNvSpPr/>
          <p:nvPr/>
        </p:nvSpPr>
        <p:spPr>
          <a:xfrm>
            <a:off x="502920" y="4672584"/>
            <a:ext cx="82296" cy="859536"/>
          </a:xfrm>
          <a:prstGeom prst="rect">
            <a:avLst/>
          </a:prstGeom>
          <a:solidFill>
            <a:srgbClr val="B0481E"/>
          </a:solidFill>
          <a:ln/>
        </p:spPr>
        <p:txBody>
          <a:bodyPr/>
          <a:lstStyle/>
          <a:p>
            <a:endParaRPr lang="en-US"/>
          </a:p>
        </p:txBody>
      </p:sp>
      <p:sp>
        <p:nvSpPr>
          <p:cNvPr id="48" name="Text 46"/>
          <p:cNvSpPr txBox="1"/>
          <p:nvPr/>
        </p:nvSpPr>
        <p:spPr>
          <a:xfrm>
            <a:off x="713232" y="4782312"/>
            <a:ext cx="3246120" cy="274320"/>
          </a:xfrm>
          <a:prstGeom prst="rect">
            <a:avLst/>
          </a:prstGeom>
          <a:noFill/>
          <a:ln/>
        </p:spPr>
        <p:txBody>
          <a:bodyPr wrap="square" lIns="0" tIns="0" rIns="0" bIns="0" rtlCol="0" anchor="ctr"/>
          <a:lstStyle/>
          <a:p>
            <a:pPr marL="0" indent="0">
              <a:buNone/>
            </a:pPr>
            <a:r>
              <a:rPr lang="en-US" sz="1500" b="1" dirty="0">
                <a:solidFill>
                  <a:srgbClr val="B0481E"/>
                </a:solidFill>
                <a:ea typeface="Cambria" pitchFamily="34" charset="-122"/>
                <a:cs typeface="Cambria" pitchFamily="34" charset="-120"/>
              </a:rPr>
              <a:t>09  </a:t>
            </a:r>
            <a:r>
              <a:rPr lang="en-US" sz="1300" b="1" dirty="0">
                <a:solidFill>
                  <a:srgbClr val="1B1F23"/>
                </a:solidFill>
                <a:ea typeface="Cambria" pitchFamily="34" charset="-122"/>
                <a:cs typeface="Cambria" pitchFamily="34" charset="-120"/>
              </a:rPr>
              <a:t>Powering AI Compute</a:t>
            </a:r>
            <a:endParaRPr lang="en-US" sz="1500" dirty="0"/>
          </a:p>
        </p:txBody>
      </p:sp>
      <p:sp>
        <p:nvSpPr>
          <p:cNvPr id="49" name="Text 47"/>
          <p:cNvSpPr txBox="1"/>
          <p:nvPr/>
        </p:nvSpPr>
        <p:spPr>
          <a:xfrm>
            <a:off x="731520" y="5074920"/>
            <a:ext cx="3200400" cy="402336"/>
          </a:xfrm>
          <a:prstGeom prst="rect">
            <a:avLst/>
          </a:prstGeom>
          <a:noFill/>
          <a:ln/>
        </p:spPr>
        <p:txBody>
          <a:bodyPr wrap="square" lIns="0" tIns="0" rIns="0" bIns="0" rtlCol="0" anchor="t"/>
          <a:lstStyle/>
          <a:p>
            <a:pPr marL="0" indent="0">
              <a:lnSpc>
                <a:spcPct val="95000"/>
              </a:lnSpc>
              <a:buNone/>
            </a:pPr>
            <a:r>
              <a:rPr lang="en-US" sz="950" i="1" dirty="0">
                <a:solidFill>
                  <a:srgbClr val="44515E"/>
                </a:solidFill>
                <a:ea typeface="Calibri" pitchFamily="34" charset="-122"/>
                <a:cs typeface="Calibri" pitchFamily="34" charset="-120"/>
              </a:rPr>
              <a:t>“Where does my compute — especially AI compute — physically live, is there power for it, and is my GPU strategy right?”</a:t>
            </a:r>
            <a:endParaRPr lang="en-US" sz="950" dirty="0"/>
          </a:p>
        </p:txBody>
      </p:sp>
      <p:sp>
        <p:nvSpPr>
          <p:cNvPr id="50" name="Shape 48"/>
          <p:cNvSpPr/>
          <p:nvPr/>
        </p:nvSpPr>
        <p:spPr>
          <a:xfrm>
            <a:off x="4041648" y="4928616"/>
            <a:ext cx="1737360" cy="347472"/>
          </a:xfrm>
          <a:prstGeom prst="roundRect">
            <a:avLst>
              <a:gd name="adj" fmla="val 13158"/>
            </a:avLst>
          </a:prstGeom>
          <a:solidFill>
            <a:srgbClr val="B0481E"/>
          </a:solidFill>
          <a:ln/>
        </p:spPr>
        <p:txBody>
          <a:bodyPr/>
          <a:lstStyle/>
          <a:p>
            <a:endParaRPr lang="en-US"/>
          </a:p>
        </p:txBody>
      </p:sp>
      <p:sp>
        <p:nvSpPr>
          <p:cNvPr id="51" name="Text 49"/>
          <p:cNvSpPr txBox="1"/>
          <p:nvPr/>
        </p:nvSpPr>
        <p:spPr>
          <a:xfrm>
            <a:off x="4078224" y="4928616"/>
            <a:ext cx="1664208" cy="347472"/>
          </a:xfrm>
          <a:prstGeom prst="rect">
            <a:avLst/>
          </a:prstGeom>
          <a:noFill/>
          <a:ln/>
        </p:spPr>
        <p:txBody>
          <a:bodyPr wrap="square" lIns="0" tIns="0" rIns="0" bIns="0" rtlCol="0" anchor="ctr"/>
          <a:lstStyle/>
          <a:p>
            <a:pPr marL="0" indent="0" algn="ctr">
              <a:lnSpc>
                <a:spcPct val="90000"/>
              </a:lnSpc>
              <a:buNone/>
            </a:pPr>
            <a:r>
              <a:rPr lang="en-US" sz="1100" b="1" dirty="0">
                <a:solidFill>
                  <a:srgbClr val="FFFFFF"/>
                </a:solidFill>
                <a:ea typeface="Cambria" pitchFamily="34" charset="-122"/>
                <a:cs typeface="Cambria" pitchFamily="34" charset="-120"/>
              </a:rPr>
              <a:t>P3 + P4</a:t>
            </a:r>
            <a:endParaRPr lang="en-US" sz="1100" dirty="0"/>
          </a:p>
          <a:p>
            <a:pPr marL="0" indent="0" algn="ctr">
              <a:lnSpc>
                <a:spcPct val="90000"/>
              </a:lnSpc>
              <a:buNone/>
            </a:pPr>
            <a:r>
              <a:rPr lang="en-US" sz="1100" b="1" dirty="0">
                <a:solidFill>
                  <a:srgbClr val="FFFFFF"/>
                </a:solidFill>
                <a:ea typeface="Cambria" pitchFamily="34" charset="-122"/>
                <a:cs typeface="Cambria" pitchFamily="34" charset="-120"/>
              </a:rPr>
              <a:t>(shared)</a:t>
            </a:r>
            <a:endParaRPr lang="en-US" sz="1100" dirty="0"/>
          </a:p>
        </p:txBody>
      </p:sp>
      <p:sp>
        <p:nvSpPr>
          <p:cNvPr id="52" name="Text 50"/>
          <p:cNvSpPr txBox="1"/>
          <p:nvPr/>
        </p:nvSpPr>
        <p:spPr>
          <a:xfrm>
            <a:off x="5779008" y="4672584"/>
            <a:ext cx="182880"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53" name="Text 51"/>
          <p:cNvSpPr txBox="1"/>
          <p:nvPr/>
        </p:nvSpPr>
        <p:spPr>
          <a:xfrm>
            <a:off x="5943600" y="4764024"/>
            <a:ext cx="1627632" cy="676656"/>
          </a:xfrm>
          <a:prstGeom prst="rect">
            <a:avLst/>
          </a:prstGeom>
          <a:noFill/>
          <a:ln/>
        </p:spPr>
        <p:txBody>
          <a:bodyPr wrap="square" lIns="0" tIns="0" rIns="0" bIns="0" rtlCol="0" anchor="ctr"/>
          <a:lstStyle/>
          <a:p>
            <a:pPr marL="0" indent="0" algn="ctr">
              <a:lnSpc>
                <a:spcPct val="92000"/>
              </a:lnSpc>
              <a:buNone/>
            </a:pPr>
            <a:r>
              <a:rPr lang="en-US" sz="950" b="1" dirty="0">
                <a:solidFill>
                  <a:srgbClr val="B0481E"/>
                </a:solidFill>
                <a:ea typeface="Calibri" pitchFamily="34" charset="-122"/>
                <a:cs typeface="Calibri" pitchFamily="34" charset="-120"/>
              </a:rPr>
              <a:t>Cloud IQ</a:t>
            </a:r>
            <a:endParaRPr lang="en-US" sz="950" dirty="0"/>
          </a:p>
        </p:txBody>
      </p:sp>
      <p:sp>
        <p:nvSpPr>
          <p:cNvPr id="54" name="Text 52"/>
          <p:cNvSpPr txBox="1"/>
          <p:nvPr/>
        </p:nvSpPr>
        <p:spPr>
          <a:xfrm>
            <a:off x="7534656" y="4672584"/>
            <a:ext cx="164592"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55" name="Text 53"/>
          <p:cNvSpPr txBox="1"/>
          <p:nvPr/>
        </p:nvSpPr>
        <p:spPr>
          <a:xfrm>
            <a:off x="7699248" y="4764024"/>
            <a:ext cx="2121408" cy="676656"/>
          </a:xfrm>
          <a:prstGeom prst="rect">
            <a:avLst/>
          </a:prstGeom>
          <a:noFill/>
          <a:ln/>
        </p:spPr>
        <p:txBody>
          <a:bodyPr wrap="square" lIns="0" tIns="0" rIns="0" bIns="0" rtlCol="0" anchor="ctr"/>
          <a:lstStyle/>
          <a:p>
            <a:pPr marL="0" indent="0" algn="l">
              <a:lnSpc>
                <a:spcPct val="95000"/>
              </a:lnSpc>
              <a:buNone/>
            </a:pPr>
            <a:r>
              <a:rPr lang="en-US" sz="950" dirty="0">
                <a:solidFill>
                  <a:srgbClr val="1B1F23"/>
                </a:solidFill>
                <a:ea typeface="Calibri" pitchFamily="34" charset="-122"/>
                <a:cs typeface="Calibri" pitchFamily="34" charset="-120"/>
              </a:rPr>
              <a:t>Data Centre Strategy · AI Infrastructure · Sustainability</a:t>
            </a:r>
            <a:endParaRPr lang="en-US" sz="950" dirty="0"/>
          </a:p>
        </p:txBody>
      </p:sp>
      <p:sp>
        <p:nvSpPr>
          <p:cNvPr id="56" name="Text 54"/>
          <p:cNvSpPr txBox="1"/>
          <p:nvPr/>
        </p:nvSpPr>
        <p:spPr>
          <a:xfrm>
            <a:off x="9802368" y="4672584"/>
            <a:ext cx="164592"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57" name="Text 55"/>
          <p:cNvSpPr txBox="1"/>
          <p:nvPr/>
        </p:nvSpPr>
        <p:spPr>
          <a:xfrm>
            <a:off x="9966960" y="4764024"/>
            <a:ext cx="1719072" cy="676656"/>
          </a:xfrm>
          <a:prstGeom prst="rect">
            <a:avLst/>
          </a:prstGeom>
          <a:noFill/>
          <a:ln/>
        </p:spPr>
        <p:txBody>
          <a:bodyPr wrap="square" lIns="0" tIns="0" rIns="0" bIns="0" rtlCol="0" anchor="ctr"/>
          <a:lstStyle/>
          <a:p>
            <a:pPr marL="0" indent="0" algn="l">
              <a:lnSpc>
                <a:spcPct val="95000"/>
              </a:lnSpc>
              <a:buNone/>
            </a:pPr>
            <a:r>
              <a:rPr lang="en-US" sz="1050" b="1" dirty="0">
                <a:solidFill>
                  <a:srgbClr val="B0481E"/>
                </a:solidFill>
                <a:ea typeface="Cambria" pitchFamily="34" charset="-122"/>
                <a:cs typeface="Cambria" pitchFamily="34" charset="-120"/>
              </a:rPr>
              <a:t>AI compute, sited &amp; powered</a:t>
            </a:r>
            <a:endParaRPr lang="en-US" sz="1050" dirty="0"/>
          </a:p>
        </p:txBody>
      </p:sp>
      <p:sp>
        <p:nvSpPr>
          <p:cNvPr id="58" name="Shape 56"/>
          <p:cNvSpPr/>
          <p:nvPr/>
        </p:nvSpPr>
        <p:spPr>
          <a:xfrm>
            <a:off x="502920" y="5605272"/>
            <a:ext cx="11183112" cy="859536"/>
          </a:xfrm>
          <a:prstGeom prst="roundRect">
            <a:avLst>
              <a:gd name="adj" fmla="val 5319"/>
            </a:avLst>
          </a:prstGeom>
          <a:solidFill>
            <a:srgbClr val="F4F6FA"/>
          </a:solidFill>
          <a:ln w="6350">
            <a:solidFill>
              <a:srgbClr val="D8DFEA"/>
            </a:solidFill>
            <a:prstDash val="solid"/>
          </a:ln>
        </p:spPr>
        <p:txBody>
          <a:bodyPr/>
          <a:lstStyle/>
          <a:p>
            <a:endParaRPr lang="en-US"/>
          </a:p>
        </p:txBody>
      </p:sp>
      <p:sp>
        <p:nvSpPr>
          <p:cNvPr id="59" name="Shape 57"/>
          <p:cNvSpPr/>
          <p:nvPr/>
        </p:nvSpPr>
        <p:spPr>
          <a:xfrm>
            <a:off x="502920" y="5605272"/>
            <a:ext cx="82296" cy="859536"/>
          </a:xfrm>
          <a:prstGeom prst="rect">
            <a:avLst/>
          </a:prstGeom>
          <a:solidFill>
            <a:srgbClr val="5B3A8C"/>
          </a:solidFill>
          <a:ln/>
        </p:spPr>
        <p:txBody>
          <a:bodyPr/>
          <a:lstStyle/>
          <a:p>
            <a:endParaRPr lang="en-US"/>
          </a:p>
        </p:txBody>
      </p:sp>
      <p:sp>
        <p:nvSpPr>
          <p:cNvPr id="60" name="Text 58"/>
          <p:cNvSpPr txBox="1"/>
          <p:nvPr/>
        </p:nvSpPr>
        <p:spPr>
          <a:xfrm>
            <a:off x="713232" y="5715000"/>
            <a:ext cx="3246120" cy="274320"/>
          </a:xfrm>
          <a:prstGeom prst="rect">
            <a:avLst/>
          </a:prstGeom>
          <a:noFill/>
          <a:ln/>
        </p:spPr>
        <p:txBody>
          <a:bodyPr wrap="square" lIns="0" tIns="0" rIns="0" bIns="0" rtlCol="0" anchor="ctr"/>
          <a:lstStyle/>
          <a:p>
            <a:pPr marL="0" indent="0">
              <a:buNone/>
            </a:pPr>
            <a:r>
              <a:rPr lang="en-US" sz="1500" b="1" dirty="0">
                <a:solidFill>
                  <a:srgbClr val="5B3A8C"/>
                </a:solidFill>
                <a:ea typeface="Cambria" pitchFamily="34" charset="-122"/>
                <a:cs typeface="Cambria" pitchFamily="34" charset="-120"/>
              </a:rPr>
              <a:t>10  </a:t>
            </a:r>
            <a:r>
              <a:rPr lang="en-US" sz="1300" b="1" dirty="0">
                <a:solidFill>
                  <a:srgbClr val="1B1F23"/>
                </a:solidFill>
                <a:ea typeface="Cambria" pitchFamily="34" charset="-122"/>
                <a:cs typeface="Cambria" pitchFamily="34" charset="-120"/>
              </a:rPr>
              <a:t>AI, Governed &amp; Worth It</a:t>
            </a:r>
            <a:endParaRPr lang="en-US" sz="1500" dirty="0"/>
          </a:p>
        </p:txBody>
      </p:sp>
      <p:sp>
        <p:nvSpPr>
          <p:cNvPr id="61" name="Text 59"/>
          <p:cNvSpPr txBox="1"/>
          <p:nvPr/>
        </p:nvSpPr>
        <p:spPr>
          <a:xfrm>
            <a:off x="731520" y="6007608"/>
            <a:ext cx="3200400" cy="402336"/>
          </a:xfrm>
          <a:prstGeom prst="rect">
            <a:avLst/>
          </a:prstGeom>
          <a:noFill/>
          <a:ln/>
        </p:spPr>
        <p:txBody>
          <a:bodyPr wrap="square" lIns="0" tIns="0" rIns="0" bIns="0" rtlCol="0" anchor="t"/>
          <a:lstStyle/>
          <a:p>
            <a:pPr marL="0" indent="0">
              <a:lnSpc>
                <a:spcPct val="95000"/>
              </a:lnSpc>
              <a:buNone/>
            </a:pPr>
            <a:r>
              <a:rPr lang="en-US" sz="950" i="1" dirty="0">
                <a:solidFill>
                  <a:srgbClr val="44515E"/>
                </a:solidFill>
                <a:ea typeface="Calibri" pitchFamily="34" charset="-122"/>
                <a:cs typeface="Calibri" pitchFamily="34" charset="-120"/>
              </a:rPr>
              <a:t>“Can I put AI into production that’s valuable, that risk will sign off, at a cost I can defend — with safe autonomy?”</a:t>
            </a:r>
            <a:endParaRPr lang="en-US" sz="950" dirty="0"/>
          </a:p>
        </p:txBody>
      </p:sp>
      <p:sp>
        <p:nvSpPr>
          <p:cNvPr id="62" name="Shape 60"/>
          <p:cNvSpPr/>
          <p:nvPr/>
        </p:nvSpPr>
        <p:spPr>
          <a:xfrm>
            <a:off x="4041648" y="5861304"/>
            <a:ext cx="1737360" cy="347472"/>
          </a:xfrm>
          <a:prstGeom prst="roundRect">
            <a:avLst>
              <a:gd name="adj" fmla="val 13158"/>
            </a:avLst>
          </a:prstGeom>
          <a:solidFill>
            <a:srgbClr val="5B3A8C"/>
          </a:solidFill>
          <a:ln/>
        </p:spPr>
        <p:txBody>
          <a:bodyPr/>
          <a:lstStyle/>
          <a:p>
            <a:endParaRPr lang="en-US"/>
          </a:p>
        </p:txBody>
      </p:sp>
      <p:sp>
        <p:nvSpPr>
          <p:cNvPr id="63" name="Text 61"/>
          <p:cNvSpPr txBox="1"/>
          <p:nvPr/>
        </p:nvSpPr>
        <p:spPr>
          <a:xfrm>
            <a:off x="4078224" y="5861304"/>
            <a:ext cx="1664208" cy="347472"/>
          </a:xfrm>
          <a:prstGeom prst="rect">
            <a:avLst/>
          </a:prstGeom>
          <a:noFill/>
          <a:ln/>
        </p:spPr>
        <p:txBody>
          <a:bodyPr wrap="square" lIns="0" tIns="0" rIns="0" bIns="0" rtlCol="0" anchor="ctr"/>
          <a:lstStyle/>
          <a:p>
            <a:pPr marL="0" indent="0" algn="ctr">
              <a:lnSpc>
                <a:spcPct val="90000"/>
              </a:lnSpc>
              <a:buNone/>
            </a:pPr>
            <a:r>
              <a:rPr lang="en-US" sz="1100" b="1" dirty="0">
                <a:solidFill>
                  <a:srgbClr val="FFFFFF"/>
                </a:solidFill>
                <a:ea typeface="Cambria" pitchFamily="34" charset="-122"/>
                <a:cs typeface="Cambria" pitchFamily="34" charset="-120"/>
              </a:rPr>
              <a:t>P4 · AI</a:t>
            </a:r>
            <a:endParaRPr lang="en-US" sz="1100" dirty="0"/>
          </a:p>
          <a:p>
            <a:pPr marL="0" indent="0" algn="ctr">
              <a:lnSpc>
                <a:spcPct val="90000"/>
              </a:lnSpc>
              <a:buNone/>
            </a:pPr>
            <a:r>
              <a:rPr lang="en-US" sz="1100" b="1" dirty="0">
                <a:solidFill>
                  <a:srgbClr val="FFFFFF"/>
                </a:solidFill>
                <a:ea typeface="Cambria" pitchFamily="34" charset="-122"/>
                <a:cs typeface="Cambria" pitchFamily="34" charset="-120"/>
              </a:rPr>
              <a:t>Infusion</a:t>
            </a:r>
            <a:endParaRPr lang="en-US" sz="1100" dirty="0"/>
          </a:p>
        </p:txBody>
      </p:sp>
      <p:sp>
        <p:nvSpPr>
          <p:cNvPr id="64" name="Text 62"/>
          <p:cNvSpPr txBox="1"/>
          <p:nvPr/>
        </p:nvSpPr>
        <p:spPr>
          <a:xfrm>
            <a:off x="5779008" y="5605272"/>
            <a:ext cx="182880"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65" name="Text 63"/>
          <p:cNvSpPr txBox="1"/>
          <p:nvPr/>
        </p:nvSpPr>
        <p:spPr>
          <a:xfrm>
            <a:off x="5943600" y="5696712"/>
            <a:ext cx="1627632" cy="676656"/>
          </a:xfrm>
          <a:prstGeom prst="rect">
            <a:avLst/>
          </a:prstGeom>
          <a:noFill/>
          <a:ln/>
        </p:spPr>
        <p:txBody>
          <a:bodyPr wrap="square" lIns="0" tIns="0" rIns="0" bIns="0" rtlCol="0" anchor="ctr"/>
          <a:lstStyle/>
          <a:p>
            <a:pPr marL="0" indent="0" algn="ctr">
              <a:lnSpc>
                <a:spcPct val="92000"/>
              </a:lnSpc>
              <a:buNone/>
            </a:pPr>
            <a:r>
              <a:rPr lang="en-US" sz="950" b="1" dirty="0">
                <a:solidFill>
                  <a:srgbClr val="5B3A8C"/>
                </a:solidFill>
                <a:ea typeface="Calibri" pitchFamily="34" charset="-122"/>
                <a:cs typeface="Calibri" pitchFamily="34" charset="-120"/>
              </a:rPr>
              <a:t>— (in build)</a:t>
            </a:r>
            <a:endParaRPr lang="en-US" sz="950" dirty="0"/>
          </a:p>
        </p:txBody>
      </p:sp>
      <p:sp>
        <p:nvSpPr>
          <p:cNvPr id="66" name="Text 64"/>
          <p:cNvSpPr txBox="1"/>
          <p:nvPr/>
        </p:nvSpPr>
        <p:spPr>
          <a:xfrm>
            <a:off x="7534656" y="5605272"/>
            <a:ext cx="164592"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67" name="Text 65"/>
          <p:cNvSpPr txBox="1"/>
          <p:nvPr/>
        </p:nvSpPr>
        <p:spPr>
          <a:xfrm>
            <a:off x="7699248" y="5696712"/>
            <a:ext cx="2121408" cy="676656"/>
          </a:xfrm>
          <a:prstGeom prst="rect">
            <a:avLst/>
          </a:prstGeom>
          <a:noFill/>
          <a:ln/>
        </p:spPr>
        <p:txBody>
          <a:bodyPr wrap="square" lIns="0" tIns="0" rIns="0" bIns="0" rtlCol="0" anchor="ctr"/>
          <a:lstStyle/>
          <a:p>
            <a:pPr marL="0" indent="0" algn="l">
              <a:lnSpc>
                <a:spcPct val="95000"/>
              </a:lnSpc>
              <a:buNone/>
            </a:pPr>
            <a:r>
              <a:rPr lang="en-US" sz="950" dirty="0">
                <a:solidFill>
                  <a:srgbClr val="1B1F23"/>
                </a:solidFill>
                <a:ea typeface="Calibri" pitchFamily="34" charset="-122"/>
                <a:cs typeface="Calibri" pitchFamily="34" charset="-120"/>
              </a:rPr>
              <a:t>AI Readiness · Responsible AI · Agentic-Ops</a:t>
            </a:r>
            <a:endParaRPr lang="en-US" sz="950" dirty="0"/>
          </a:p>
        </p:txBody>
      </p:sp>
      <p:sp>
        <p:nvSpPr>
          <p:cNvPr id="68" name="Text 66"/>
          <p:cNvSpPr txBox="1"/>
          <p:nvPr/>
        </p:nvSpPr>
        <p:spPr>
          <a:xfrm>
            <a:off x="9802368" y="5605272"/>
            <a:ext cx="164592" cy="859536"/>
          </a:xfrm>
          <a:prstGeom prst="rect">
            <a:avLst/>
          </a:prstGeom>
          <a:noFill/>
          <a:ln/>
        </p:spPr>
        <p:txBody>
          <a:bodyPr wrap="square" lIns="0" tIns="0" rIns="0" bIns="0" rtlCol="0" anchor="ctr"/>
          <a:lstStyle/>
          <a:p>
            <a:pPr marL="0" indent="0" algn="ctr">
              <a:buNone/>
            </a:pPr>
            <a:r>
              <a:rPr lang="en-US" sz="1600" dirty="0">
                <a:solidFill>
                  <a:srgbClr val="8DA9C4"/>
                </a:solidFill>
                <a:ea typeface="Calibri" pitchFamily="34" charset="-122"/>
                <a:cs typeface="Calibri" pitchFamily="34" charset="-120"/>
              </a:rPr>
              <a:t>›</a:t>
            </a:r>
            <a:endParaRPr lang="en-US" sz="1600" dirty="0"/>
          </a:p>
        </p:txBody>
      </p:sp>
      <p:sp>
        <p:nvSpPr>
          <p:cNvPr id="69" name="Text 67"/>
          <p:cNvSpPr txBox="1"/>
          <p:nvPr/>
        </p:nvSpPr>
        <p:spPr>
          <a:xfrm>
            <a:off x="9966960" y="5696712"/>
            <a:ext cx="1719072" cy="676656"/>
          </a:xfrm>
          <a:prstGeom prst="rect">
            <a:avLst/>
          </a:prstGeom>
          <a:noFill/>
          <a:ln/>
        </p:spPr>
        <p:txBody>
          <a:bodyPr wrap="square" lIns="0" tIns="0" rIns="0" bIns="0" rtlCol="0" anchor="ctr"/>
          <a:lstStyle/>
          <a:p>
            <a:pPr marL="0" indent="0" algn="l">
              <a:lnSpc>
                <a:spcPct val="95000"/>
              </a:lnSpc>
              <a:buNone/>
            </a:pPr>
            <a:r>
              <a:rPr lang="en-US" sz="1050" b="1" dirty="0">
                <a:solidFill>
                  <a:srgbClr val="5B3A8C"/>
                </a:solidFill>
                <a:ea typeface="Cambria" pitchFamily="34" charset="-122"/>
                <a:cs typeface="Cambria" pitchFamily="34" charset="-120"/>
              </a:rPr>
              <a:t>AI that scales safely</a:t>
            </a:r>
            <a:endParaRPr lang="en-US" sz="1050" dirty="0"/>
          </a:p>
        </p:txBody>
      </p:sp>
      <p:sp>
        <p:nvSpPr>
          <p:cNvPr id="70" name="Text 68"/>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9AA7B4"/>
                </a:solidFill>
                <a:ea typeface="Calibri" pitchFamily="34" charset="-122"/>
                <a:cs typeface="Calibri" pitchFamily="34" charset="-120"/>
              </a:rPr>
              <a:t>LTM  ·  Infra Tech Advisory  ·  The CIO Agenda</a:t>
            </a:r>
            <a:endParaRPr lang="en-US" sz="950" dirty="0"/>
          </a:p>
        </p:txBody>
      </p:sp>
      <p:sp>
        <p:nvSpPr>
          <p:cNvPr id="71" name="Text 69"/>
          <p:cNvSpPr txBox="1"/>
          <p:nvPr/>
        </p:nvSpPr>
        <p:spPr>
          <a:xfrm>
            <a:off x="9418320" y="6473952"/>
            <a:ext cx="2267712" cy="274320"/>
          </a:xfrm>
          <a:prstGeom prst="rect">
            <a:avLst/>
          </a:prstGeom>
          <a:noFill/>
          <a:ln/>
        </p:spPr>
        <p:txBody>
          <a:bodyPr wrap="square" lIns="0" tIns="0" rIns="0" bIns="0" rtlCol="0" anchor="ctr"/>
          <a:lstStyle/>
          <a:p>
            <a:pPr marL="0" indent="0" algn="r">
              <a:buNone/>
            </a:pPr>
            <a:r>
              <a:rPr lang="en-US" sz="950" dirty="0">
                <a:solidFill>
                  <a:srgbClr val="9AA7B4"/>
                </a:solidFill>
                <a:ea typeface="Calibri" pitchFamily="34" charset="-122"/>
                <a:cs typeface="Calibri" pitchFamily="34" charset="-120"/>
              </a:rPr>
              <a:t>The CIO Agenda · 2 of 2</a:t>
            </a:r>
            <a:endParaRPr lang="en-US" sz="950" dirty="0"/>
          </a:p>
        </p:txBody>
      </p:sp>
      <p:sp>
        <p:nvSpPr>
          <p:cNvPr id="72" name="Text 1">
            <a:extLst>
              <a:ext uri="{FF2B5EF4-FFF2-40B4-BE49-F238E27FC236}">
                <a16:creationId xmlns:a16="http://schemas.microsoft.com/office/drawing/2014/main" id="{F5575F48-485E-C9E8-48FF-ED34CE871220}"/>
              </a:ext>
            </a:extLst>
          </p:cNvPr>
          <p:cNvSpPr txBox="1"/>
          <p:nvPr/>
        </p:nvSpPr>
        <p:spPr>
          <a:xfrm>
            <a:off x="484632" y="256032"/>
            <a:ext cx="10515600" cy="457200"/>
          </a:xfrm>
          <a:prstGeom prst="rect">
            <a:avLst/>
          </a:prstGeom>
          <a:noFill/>
          <a:ln/>
        </p:spPr>
        <p:txBody>
          <a:bodyPr wrap="square" lIns="0" tIns="0" rIns="0" bIns="0" rtlCol="0" anchor="ctr"/>
          <a:lstStyle/>
          <a:p>
            <a:pPr marL="0" indent="0">
              <a:buNone/>
            </a:pPr>
            <a:r>
              <a:rPr lang="en-US" sz="2400" b="1" dirty="0">
                <a:solidFill>
                  <a:srgbClr val="1B1F23"/>
                </a:solidFill>
                <a:ea typeface="Cambria" pitchFamily="34" charset="-122"/>
                <a:cs typeface="Cambria" pitchFamily="34" charset="-120"/>
              </a:rPr>
              <a:t>The CEO Ask</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marL="0" indent="0">
              <a:buNone/>
            </a:pPr>
            <a:r>
              <a:rPr lang="en-US" sz="1100" b="1" kern="0" spc="200" dirty="0">
                <a:solidFill>
                  <a:srgbClr val="B0481E"/>
                </a:solidFill>
                <a:latin typeface="Calibri" pitchFamily="34" charset="0"/>
                <a:ea typeface="Calibri" pitchFamily="34" charset="-122"/>
                <a:cs typeface="Calibri" pitchFamily="34" charset="-120"/>
              </a:rPr>
              <a:t>HOW EVERY ENGAGEMENT FINDS ITS PATH</a:t>
            </a:r>
            <a:endParaRPr lang="en-US" sz="1100" dirty="0"/>
          </a:p>
        </p:txBody>
      </p:sp>
      <p:sp>
        <p:nvSpPr>
          <p:cNvPr id="3" name="Text 1"/>
          <p:cNvSpPr txBox="1"/>
          <p:nvPr/>
        </p:nvSpPr>
        <p:spPr>
          <a:xfrm>
            <a:off x="484632" y="676656"/>
            <a:ext cx="10058400" cy="457200"/>
          </a:xfrm>
          <a:prstGeom prst="rect">
            <a:avLst/>
          </a:prstGeom>
          <a:noFill/>
          <a:ln/>
        </p:spPr>
        <p:txBody>
          <a:bodyPr wrap="square" lIns="0" tIns="0" rIns="0" bIns="0" rtlCol="0" anchor="ctr"/>
          <a:lstStyle/>
          <a:p>
            <a:pPr marL="0" indent="0">
              <a:buNone/>
            </a:pPr>
            <a:r>
              <a:rPr lang="en-US" sz="2500" b="1" dirty="0">
                <a:solidFill>
                  <a:srgbClr val="1B1F23"/>
                </a:solidFill>
                <a:latin typeface="Cambria" pitchFamily="34" charset="0"/>
                <a:ea typeface="Cambria" pitchFamily="34" charset="-122"/>
                <a:cs typeface="Cambria" pitchFamily="34" charset="-120"/>
              </a:rPr>
              <a:t>One front door, two journeys</a:t>
            </a:r>
            <a:endParaRPr lang="en-US" sz="2500" dirty="0"/>
          </a:p>
        </p:txBody>
      </p:sp>
      <p:sp>
        <p:nvSpPr>
          <p:cNvPr id="4" name="Text 2"/>
          <p:cNvSpPr txBox="1"/>
          <p:nvPr/>
        </p:nvSpPr>
        <p:spPr>
          <a:xfrm>
            <a:off x="502920" y="1188720"/>
            <a:ext cx="10972800" cy="274320"/>
          </a:xfrm>
          <a:prstGeom prst="rect">
            <a:avLst/>
          </a:prstGeom>
          <a:noFill/>
          <a:ln/>
        </p:spPr>
        <p:txBody>
          <a:bodyPr wrap="square" lIns="0" tIns="0" rIns="0" bIns="0" rtlCol="0" anchor="ctr"/>
          <a:lstStyle/>
          <a:p>
            <a:pPr marL="0" indent="0">
              <a:buNone/>
            </a:pPr>
            <a:r>
              <a:rPr lang="en-US" sz="1200" dirty="0">
                <a:solidFill>
                  <a:srgbClr val="6B5A52"/>
                </a:solidFill>
                <a:latin typeface="Calibri" pitchFamily="34" charset="0"/>
                <a:ea typeface="Calibri" pitchFamily="34" charset="-122"/>
                <a:cs typeface="Calibri" pitchFamily="34" charset="-120"/>
              </a:rPr>
              <a:t>The diagnostic’s first job is to tell the two customer populations apart — then route within the right journey.</a:t>
            </a:r>
            <a:endParaRPr lang="en-US" sz="1200" dirty="0"/>
          </a:p>
        </p:txBody>
      </p:sp>
      <p:sp>
        <p:nvSpPr>
          <p:cNvPr id="5" name="Shape 3"/>
          <p:cNvSpPr/>
          <p:nvPr/>
        </p:nvSpPr>
        <p:spPr>
          <a:xfrm>
            <a:off x="4114800" y="1572768"/>
            <a:ext cx="3959352" cy="566928"/>
          </a:xfrm>
          <a:prstGeom prst="roundRect">
            <a:avLst>
              <a:gd name="adj" fmla="val 9677"/>
            </a:avLst>
          </a:prstGeom>
          <a:solidFill>
            <a:srgbClr val="B0481E"/>
          </a:solidFill>
          <a:ln/>
        </p:spPr>
        <p:txBody>
          <a:bodyPr/>
          <a:lstStyle/>
          <a:p>
            <a:endParaRPr lang="en-US"/>
          </a:p>
        </p:txBody>
      </p:sp>
      <p:sp>
        <p:nvSpPr>
          <p:cNvPr id="6" name="Text 4"/>
          <p:cNvSpPr txBox="1"/>
          <p:nvPr/>
        </p:nvSpPr>
        <p:spPr>
          <a:xfrm>
            <a:off x="4114800" y="1572768"/>
            <a:ext cx="3959352"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Cloud IQ   </a:t>
            </a:r>
            <a:r>
              <a:rPr lang="en-US" sz="1100" i="1" dirty="0">
                <a:solidFill>
                  <a:srgbClr val="F4D3BF"/>
                </a:solidFill>
                <a:latin typeface="Calibri" pitchFamily="34" charset="0"/>
                <a:ea typeface="Calibri" pitchFamily="34" charset="-122"/>
                <a:cs typeface="Calibri" pitchFamily="34" charset="-120"/>
              </a:rPr>
              <a:t>free self-assessment</a:t>
            </a:r>
            <a:endParaRPr lang="en-US" sz="1500" dirty="0"/>
          </a:p>
        </p:txBody>
      </p:sp>
      <p:sp>
        <p:nvSpPr>
          <p:cNvPr id="7" name="Text 5"/>
          <p:cNvSpPr txBox="1"/>
          <p:nvPr/>
        </p:nvSpPr>
        <p:spPr>
          <a:xfrm>
            <a:off x="4114800" y="2157984"/>
            <a:ext cx="3959352" cy="237744"/>
          </a:xfrm>
          <a:prstGeom prst="rect">
            <a:avLst/>
          </a:prstGeom>
          <a:noFill/>
          <a:ln/>
        </p:spPr>
        <p:txBody>
          <a:bodyPr wrap="square" lIns="0" tIns="0" rIns="0" bIns="0" rtlCol="0" anchor="ctr"/>
          <a:lstStyle/>
          <a:p>
            <a:pPr marL="0" indent="0" algn="ctr">
              <a:buNone/>
            </a:pPr>
            <a:r>
              <a:rPr lang="en-US" sz="1000" i="1" dirty="0">
                <a:solidFill>
                  <a:srgbClr val="B0481E"/>
                </a:solidFill>
                <a:latin typeface="Calibri" pitchFamily="34" charset="0"/>
                <a:ea typeface="Calibri" pitchFamily="34" charset="-122"/>
                <a:cs typeface="Calibri" pitchFamily="34" charset="-120"/>
              </a:rPr>
              <a:t>“where are you on the journey, and what hurts?”</a:t>
            </a:r>
            <a:endParaRPr lang="en-US" sz="1000" dirty="0"/>
          </a:p>
        </p:txBody>
      </p:sp>
      <p:sp>
        <p:nvSpPr>
          <p:cNvPr id="8" name="Shape 6"/>
          <p:cNvSpPr/>
          <p:nvPr/>
        </p:nvSpPr>
        <p:spPr>
          <a:xfrm flipH="1">
            <a:off x="2642716" y="2395728"/>
            <a:ext cx="2295044" cy="384048"/>
          </a:xfrm>
          <a:prstGeom prst="line">
            <a:avLst/>
          </a:prstGeom>
          <a:noFill/>
          <a:ln w="19050">
            <a:solidFill>
              <a:srgbClr val="B0481E"/>
            </a:solidFill>
            <a:prstDash val="solid"/>
            <a:tailEnd type="triangle"/>
          </a:ln>
        </p:spPr>
        <p:txBody>
          <a:bodyPr/>
          <a:lstStyle/>
          <a:p>
            <a:endParaRPr lang="en-US"/>
          </a:p>
        </p:txBody>
      </p:sp>
      <p:sp>
        <p:nvSpPr>
          <p:cNvPr id="9" name="Shape 7"/>
          <p:cNvSpPr/>
          <p:nvPr/>
        </p:nvSpPr>
        <p:spPr>
          <a:xfrm>
            <a:off x="7223760" y="2395728"/>
            <a:ext cx="1828800" cy="329184"/>
          </a:xfrm>
          <a:prstGeom prst="line">
            <a:avLst/>
          </a:prstGeom>
          <a:noFill/>
          <a:ln w="19050">
            <a:solidFill>
              <a:srgbClr val="B0481E"/>
            </a:solidFill>
            <a:prstDash val="solid"/>
            <a:tailEnd type="triangle"/>
          </a:ln>
        </p:spPr>
        <p:txBody>
          <a:bodyPr/>
          <a:lstStyle/>
          <a:p>
            <a:endParaRPr lang="en-US"/>
          </a:p>
        </p:txBody>
      </p:sp>
      <p:sp>
        <p:nvSpPr>
          <p:cNvPr id="10" name="Shape 8"/>
          <p:cNvSpPr/>
          <p:nvPr/>
        </p:nvSpPr>
        <p:spPr>
          <a:xfrm>
            <a:off x="502920" y="2788920"/>
            <a:ext cx="5394960" cy="658368"/>
          </a:xfrm>
          <a:prstGeom prst="roundRect">
            <a:avLst>
              <a:gd name="adj" fmla="val 8333"/>
            </a:avLst>
          </a:prstGeom>
          <a:solidFill>
            <a:srgbClr val="8F3A17"/>
          </a:solidFill>
          <a:ln/>
        </p:spPr>
        <p:txBody>
          <a:bodyPr/>
          <a:lstStyle/>
          <a:p>
            <a:endParaRPr lang="en-US"/>
          </a:p>
        </p:txBody>
      </p:sp>
      <p:sp>
        <p:nvSpPr>
          <p:cNvPr id="11" name="Text 9"/>
          <p:cNvSpPr txBox="1"/>
          <p:nvPr/>
        </p:nvSpPr>
        <p:spPr>
          <a:xfrm>
            <a:off x="731520" y="2871216"/>
            <a:ext cx="4937760" cy="2743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JOURNEY A · OPTIMIZE</a:t>
            </a:r>
            <a:endParaRPr lang="en-US" sz="1400" dirty="0"/>
          </a:p>
        </p:txBody>
      </p:sp>
      <p:sp>
        <p:nvSpPr>
          <p:cNvPr id="12" name="Text 10"/>
          <p:cNvSpPr txBox="1"/>
          <p:nvPr/>
        </p:nvSpPr>
        <p:spPr>
          <a:xfrm>
            <a:off x="731520" y="3145536"/>
            <a:ext cx="4937760" cy="237744"/>
          </a:xfrm>
          <a:prstGeom prst="rect">
            <a:avLst/>
          </a:prstGeom>
          <a:noFill/>
          <a:ln/>
        </p:spPr>
        <p:txBody>
          <a:bodyPr wrap="square" lIns="0" tIns="0" rIns="0" bIns="0" rtlCol="0" anchor="ctr"/>
          <a:lstStyle/>
          <a:p>
            <a:pPr marL="0" indent="0">
              <a:buNone/>
            </a:pPr>
            <a:r>
              <a:rPr lang="en-US" sz="1000" i="1" dirty="0">
                <a:solidFill>
                  <a:srgbClr val="F4D3BF"/>
                </a:solidFill>
                <a:latin typeface="Calibri" pitchFamily="34" charset="0"/>
                <a:ea typeface="Calibri" pitchFamily="34" charset="-122"/>
                <a:cs typeface="Calibri" pitchFamily="34" charset="-120"/>
              </a:rPr>
              <a:t>already on cloud / mid-migration</a:t>
            </a:r>
            <a:endParaRPr lang="en-US" sz="1000" dirty="0"/>
          </a:p>
        </p:txBody>
      </p:sp>
      <p:sp>
        <p:nvSpPr>
          <p:cNvPr id="13" name="Text 11"/>
          <p:cNvSpPr txBox="1"/>
          <p:nvPr/>
        </p:nvSpPr>
        <p:spPr>
          <a:xfrm>
            <a:off x="731520" y="3520440"/>
            <a:ext cx="4937760" cy="256032"/>
          </a:xfrm>
          <a:prstGeom prst="rect">
            <a:avLst/>
          </a:prstGeom>
          <a:noFill/>
          <a:ln/>
        </p:spPr>
        <p:txBody>
          <a:bodyPr wrap="square" lIns="0" tIns="0" rIns="0" bIns="0" rtlCol="0" anchor="ctr"/>
          <a:lstStyle/>
          <a:p>
            <a:pPr marL="0" indent="0">
              <a:buNone/>
            </a:pPr>
            <a:r>
              <a:rPr lang="en-US" sz="1050" b="1" dirty="0">
                <a:solidFill>
                  <a:srgbClr val="B0481E"/>
                </a:solidFill>
                <a:latin typeface="Calibri" pitchFamily="34" charset="0"/>
                <a:ea typeface="Calibri" pitchFamily="34" charset="-122"/>
                <a:cs typeface="Calibri" pitchFamily="34" charset="-120"/>
              </a:rPr>
              <a:t>→ deepen with FinOps IQ (cost)</a:t>
            </a:r>
            <a:endParaRPr lang="en-US" sz="1050" dirty="0"/>
          </a:p>
        </p:txBody>
      </p:sp>
      <p:sp>
        <p:nvSpPr>
          <p:cNvPr id="14" name="Shape 12"/>
          <p:cNvSpPr/>
          <p:nvPr/>
        </p:nvSpPr>
        <p:spPr>
          <a:xfrm>
            <a:off x="502920" y="3858768"/>
            <a:ext cx="5394960" cy="512064"/>
          </a:xfrm>
          <a:prstGeom prst="roundRect">
            <a:avLst>
              <a:gd name="adj" fmla="val 8929"/>
            </a:avLst>
          </a:prstGeom>
          <a:solidFill>
            <a:srgbClr val="FBEDE6"/>
          </a:solidFill>
          <a:ln w="9525">
            <a:solidFill>
              <a:srgbClr val="EEB08A"/>
            </a:solidFill>
            <a:prstDash val="solid"/>
          </a:ln>
        </p:spPr>
        <p:txBody>
          <a:bodyPr/>
          <a:lstStyle/>
          <a:p>
            <a:endParaRPr lang="en-US"/>
          </a:p>
        </p:txBody>
      </p:sp>
      <p:sp>
        <p:nvSpPr>
          <p:cNvPr id="15" name="Text 13"/>
          <p:cNvSpPr txBox="1"/>
          <p:nvPr/>
        </p:nvSpPr>
        <p:spPr>
          <a:xfrm>
            <a:off x="731520" y="3858768"/>
            <a:ext cx="4937760" cy="512064"/>
          </a:xfrm>
          <a:prstGeom prst="rect">
            <a:avLst/>
          </a:prstGeom>
          <a:noFill/>
          <a:ln/>
        </p:spPr>
        <p:txBody>
          <a:bodyPr wrap="square" lIns="0" tIns="0" rIns="0" bIns="0" rtlCol="0" anchor="ctr"/>
          <a:lstStyle/>
          <a:p>
            <a:pPr marL="0" indent="0">
              <a:buNone/>
            </a:pPr>
            <a:r>
              <a:rPr lang="en-US" sz="1300" b="1" dirty="0">
                <a:solidFill>
                  <a:srgbClr val="8F3A17"/>
                </a:solidFill>
                <a:latin typeface="Cambria" pitchFamily="34" charset="0"/>
                <a:ea typeface="Cambria" pitchFamily="34" charset="-122"/>
                <a:cs typeface="Cambria" pitchFamily="34" charset="-120"/>
              </a:rPr>
              <a:t>03.3 FinOps Excellence</a:t>
            </a:r>
            <a:endParaRPr lang="en-US" sz="1300" dirty="0"/>
          </a:p>
        </p:txBody>
      </p:sp>
      <p:sp>
        <p:nvSpPr>
          <p:cNvPr id="16" name="Shape 14"/>
          <p:cNvSpPr/>
          <p:nvPr/>
        </p:nvSpPr>
        <p:spPr>
          <a:xfrm>
            <a:off x="502920" y="4462272"/>
            <a:ext cx="5394960" cy="512064"/>
          </a:xfrm>
          <a:prstGeom prst="roundRect">
            <a:avLst>
              <a:gd name="adj" fmla="val 8929"/>
            </a:avLst>
          </a:prstGeom>
          <a:solidFill>
            <a:srgbClr val="FBEDE6"/>
          </a:solidFill>
          <a:ln w="9525">
            <a:solidFill>
              <a:srgbClr val="EEB08A"/>
            </a:solidFill>
            <a:prstDash val="solid"/>
          </a:ln>
        </p:spPr>
        <p:txBody>
          <a:bodyPr/>
          <a:lstStyle/>
          <a:p>
            <a:endParaRPr lang="en-US"/>
          </a:p>
        </p:txBody>
      </p:sp>
      <p:sp>
        <p:nvSpPr>
          <p:cNvPr id="17" name="Text 15"/>
          <p:cNvSpPr txBox="1"/>
          <p:nvPr/>
        </p:nvSpPr>
        <p:spPr>
          <a:xfrm>
            <a:off x="731520" y="4462272"/>
            <a:ext cx="4937760" cy="512064"/>
          </a:xfrm>
          <a:prstGeom prst="rect">
            <a:avLst/>
          </a:prstGeom>
          <a:noFill/>
          <a:ln/>
        </p:spPr>
        <p:txBody>
          <a:bodyPr wrap="square" lIns="0" tIns="0" rIns="0" bIns="0" rtlCol="0" anchor="ctr"/>
          <a:lstStyle/>
          <a:p>
            <a:pPr marL="0" indent="0">
              <a:buNone/>
            </a:pPr>
            <a:r>
              <a:rPr lang="en-US" sz="1300" b="1" dirty="0">
                <a:solidFill>
                  <a:srgbClr val="8F3A17"/>
                </a:solidFill>
                <a:latin typeface="Cambria" pitchFamily="34" charset="0"/>
                <a:ea typeface="Cambria" pitchFamily="34" charset="-122"/>
                <a:cs typeface="Cambria" pitchFamily="34" charset="-120"/>
              </a:rPr>
              <a:t>03.2 Hybrid &amp; Multi-Cloud Mgmt</a:t>
            </a:r>
            <a:endParaRPr lang="en-US" sz="1300" dirty="0"/>
          </a:p>
        </p:txBody>
      </p:sp>
      <p:sp>
        <p:nvSpPr>
          <p:cNvPr id="18" name="Shape 16"/>
          <p:cNvSpPr/>
          <p:nvPr/>
        </p:nvSpPr>
        <p:spPr>
          <a:xfrm>
            <a:off x="502920" y="5065776"/>
            <a:ext cx="5394960" cy="512064"/>
          </a:xfrm>
          <a:prstGeom prst="roundRect">
            <a:avLst>
              <a:gd name="adj" fmla="val 8929"/>
            </a:avLst>
          </a:prstGeom>
          <a:solidFill>
            <a:srgbClr val="FBEDE6"/>
          </a:solidFill>
          <a:ln w="9525">
            <a:solidFill>
              <a:srgbClr val="EEB08A"/>
            </a:solidFill>
            <a:prstDash val="solid"/>
          </a:ln>
        </p:spPr>
        <p:txBody>
          <a:bodyPr/>
          <a:lstStyle/>
          <a:p>
            <a:endParaRPr lang="en-US"/>
          </a:p>
        </p:txBody>
      </p:sp>
      <p:sp>
        <p:nvSpPr>
          <p:cNvPr id="19" name="Text 17"/>
          <p:cNvSpPr txBox="1"/>
          <p:nvPr/>
        </p:nvSpPr>
        <p:spPr>
          <a:xfrm>
            <a:off x="731520" y="5065776"/>
            <a:ext cx="4937760" cy="512064"/>
          </a:xfrm>
          <a:prstGeom prst="rect">
            <a:avLst/>
          </a:prstGeom>
          <a:noFill/>
          <a:ln/>
        </p:spPr>
        <p:txBody>
          <a:bodyPr wrap="square" lIns="0" tIns="0" rIns="0" bIns="0" rtlCol="0" anchor="ctr"/>
          <a:lstStyle/>
          <a:p>
            <a:pPr marL="0" indent="0">
              <a:buNone/>
            </a:pPr>
            <a:r>
              <a:rPr lang="en-US" sz="1300" b="1" dirty="0">
                <a:solidFill>
                  <a:srgbClr val="8F3A17"/>
                </a:solidFill>
                <a:latin typeface="Cambria" pitchFamily="34" charset="0"/>
                <a:ea typeface="Cambria" pitchFamily="34" charset="-122"/>
                <a:cs typeface="Cambria" pitchFamily="34" charset="-120"/>
              </a:rPr>
              <a:t>03.6 Platform Engineering</a:t>
            </a:r>
            <a:endParaRPr lang="en-US" sz="1300" dirty="0"/>
          </a:p>
        </p:txBody>
      </p:sp>
      <p:sp>
        <p:nvSpPr>
          <p:cNvPr id="20" name="Shape 18"/>
          <p:cNvSpPr/>
          <p:nvPr/>
        </p:nvSpPr>
        <p:spPr>
          <a:xfrm>
            <a:off x="6263640" y="2788920"/>
            <a:ext cx="5394960" cy="658368"/>
          </a:xfrm>
          <a:prstGeom prst="roundRect">
            <a:avLst>
              <a:gd name="adj" fmla="val 8333"/>
            </a:avLst>
          </a:prstGeom>
          <a:solidFill>
            <a:srgbClr val="8F3A17"/>
          </a:solidFill>
          <a:ln/>
        </p:spPr>
        <p:txBody>
          <a:bodyPr/>
          <a:lstStyle/>
          <a:p>
            <a:endParaRPr lang="en-US"/>
          </a:p>
        </p:txBody>
      </p:sp>
      <p:sp>
        <p:nvSpPr>
          <p:cNvPr id="21" name="Text 19"/>
          <p:cNvSpPr txBox="1"/>
          <p:nvPr/>
        </p:nvSpPr>
        <p:spPr>
          <a:xfrm>
            <a:off x="6492240" y="2871216"/>
            <a:ext cx="4937760" cy="2743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JOURNEY B · DECIDE &amp; MODERNIZE</a:t>
            </a:r>
            <a:endParaRPr lang="en-US" sz="1400" dirty="0"/>
          </a:p>
        </p:txBody>
      </p:sp>
      <p:sp>
        <p:nvSpPr>
          <p:cNvPr id="22" name="Text 20"/>
          <p:cNvSpPr txBox="1"/>
          <p:nvPr/>
        </p:nvSpPr>
        <p:spPr>
          <a:xfrm>
            <a:off x="6492240" y="3145536"/>
            <a:ext cx="4937760" cy="237744"/>
          </a:xfrm>
          <a:prstGeom prst="rect">
            <a:avLst/>
          </a:prstGeom>
          <a:noFill/>
          <a:ln/>
        </p:spPr>
        <p:txBody>
          <a:bodyPr wrap="square" lIns="0" tIns="0" rIns="0" bIns="0" rtlCol="0" anchor="ctr"/>
          <a:lstStyle/>
          <a:p>
            <a:pPr marL="0" indent="0">
              <a:buNone/>
            </a:pPr>
            <a:r>
              <a:rPr lang="en-US" sz="1000" i="1" dirty="0">
                <a:solidFill>
                  <a:srgbClr val="F4D3BF"/>
                </a:solidFill>
                <a:latin typeface="Calibri" pitchFamily="34" charset="0"/>
                <a:ea typeface="Calibri" pitchFamily="34" charset="-122"/>
                <a:cs typeface="Calibri" pitchFamily="34" charset="-120"/>
              </a:rPr>
              <a:t>not started / tentative / hybrid</a:t>
            </a:r>
            <a:endParaRPr lang="en-US" sz="1000" dirty="0"/>
          </a:p>
        </p:txBody>
      </p:sp>
      <p:sp>
        <p:nvSpPr>
          <p:cNvPr id="23" name="Text 21"/>
          <p:cNvSpPr txBox="1"/>
          <p:nvPr/>
        </p:nvSpPr>
        <p:spPr>
          <a:xfrm>
            <a:off x="6492240" y="3520440"/>
            <a:ext cx="4937760" cy="256032"/>
          </a:xfrm>
          <a:prstGeom prst="rect">
            <a:avLst/>
          </a:prstGeom>
          <a:noFill/>
          <a:ln/>
        </p:spPr>
        <p:txBody>
          <a:bodyPr wrap="square" lIns="0" tIns="0" rIns="0" bIns="0" rtlCol="0" anchor="ctr"/>
          <a:lstStyle/>
          <a:p>
            <a:pPr marL="0" indent="0">
              <a:buNone/>
            </a:pPr>
            <a:r>
              <a:rPr lang="en-US" sz="1050" b="1" dirty="0">
                <a:solidFill>
                  <a:srgbClr val="B0481E"/>
                </a:solidFill>
                <a:latin typeface="Calibri" pitchFamily="34" charset="0"/>
                <a:ea typeface="Calibri" pitchFamily="34" charset="-122"/>
                <a:cs typeface="Calibri" pitchFamily="34" charset="-120"/>
              </a:rPr>
              <a:t>→ deepen with Modernization IQ (estate)</a:t>
            </a:r>
            <a:endParaRPr lang="en-US" sz="1050" dirty="0"/>
          </a:p>
        </p:txBody>
      </p:sp>
      <p:sp>
        <p:nvSpPr>
          <p:cNvPr id="24" name="Shape 22"/>
          <p:cNvSpPr/>
          <p:nvPr/>
        </p:nvSpPr>
        <p:spPr>
          <a:xfrm>
            <a:off x="6263640" y="3858768"/>
            <a:ext cx="5394960" cy="512064"/>
          </a:xfrm>
          <a:prstGeom prst="roundRect">
            <a:avLst>
              <a:gd name="adj" fmla="val 8929"/>
            </a:avLst>
          </a:prstGeom>
          <a:solidFill>
            <a:srgbClr val="FBEDE6"/>
          </a:solidFill>
          <a:ln w="9525">
            <a:solidFill>
              <a:srgbClr val="EEB08A"/>
            </a:solidFill>
            <a:prstDash val="solid"/>
          </a:ln>
        </p:spPr>
        <p:txBody>
          <a:bodyPr/>
          <a:lstStyle/>
          <a:p>
            <a:endParaRPr lang="en-US"/>
          </a:p>
        </p:txBody>
      </p:sp>
      <p:sp>
        <p:nvSpPr>
          <p:cNvPr id="25" name="Text 23"/>
          <p:cNvSpPr txBox="1"/>
          <p:nvPr/>
        </p:nvSpPr>
        <p:spPr>
          <a:xfrm>
            <a:off x="6492240" y="3858768"/>
            <a:ext cx="4937760" cy="512064"/>
          </a:xfrm>
          <a:prstGeom prst="rect">
            <a:avLst/>
          </a:prstGeom>
          <a:noFill/>
          <a:ln/>
        </p:spPr>
        <p:txBody>
          <a:bodyPr wrap="square" lIns="0" tIns="0" rIns="0" bIns="0" rtlCol="0" anchor="ctr"/>
          <a:lstStyle/>
          <a:p>
            <a:pPr marL="0" indent="0">
              <a:buNone/>
            </a:pPr>
            <a:r>
              <a:rPr lang="en-US" sz="1300" b="1" dirty="0">
                <a:solidFill>
                  <a:srgbClr val="8F3A17"/>
                </a:solidFill>
                <a:latin typeface="Cambria" pitchFamily="34" charset="0"/>
                <a:ea typeface="Cambria" pitchFamily="34" charset="-122"/>
                <a:cs typeface="Cambria" pitchFamily="34" charset="-120"/>
              </a:rPr>
              <a:t>03.1 Right Cloud Strategy</a:t>
            </a:r>
            <a:endParaRPr lang="en-US" sz="1300" dirty="0"/>
          </a:p>
        </p:txBody>
      </p:sp>
      <p:sp>
        <p:nvSpPr>
          <p:cNvPr id="26" name="Shape 24"/>
          <p:cNvSpPr/>
          <p:nvPr/>
        </p:nvSpPr>
        <p:spPr>
          <a:xfrm>
            <a:off x="6263640" y="4462272"/>
            <a:ext cx="5394960" cy="512064"/>
          </a:xfrm>
          <a:prstGeom prst="roundRect">
            <a:avLst>
              <a:gd name="adj" fmla="val 8929"/>
            </a:avLst>
          </a:prstGeom>
          <a:solidFill>
            <a:srgbClr val="FBEDE6"/>
          </a:solidFill>
          <a:ln w="9525">
            <a:solidFill>
              <a:srgbClr val="EEB08A"/>
            </a:solidFill>
            <a:prstDash val="solid"/>
          </a:ln>
        </p:spPr>
        <p:txBody>
          <a:bodyPr/>
          <a:lstStyle/>
          <a:p>
            <a:endParaRPr lang="en-US"/>
          </a:p>
        </p:txBody>
      </p:sp>
      <p:sp>
        <p:nvSpPr>
          <p:cNvPr id="27" name="Text 25"/>
          <p:cNvSpPr txBox="1"/>
          <p:nvPr/>
        </p:nvSpPr>
        <p:spPr>
          <a:xfrm>
            <a:off x="6492240" y="4462272"/>
            <a:ext cx="4937760" cy="512064"/>
          </a:xfrm>
          <a:prstGeom prst="rect">
            <a:avLst/>
          </a:prstGeom>
          <a:noFill/>
          <a:ln/>
        </p:spPr>
        <p:txBody>
          <a:bodyPr wrap="square" lIns="0" tIns="0" rIns="0" bIns="0" rtlCol="0" anchor="ctr"/>
          <a:lstStyle/>
          <a:p>
            <a:pPr marL="0" indent="0">
              <a:buNone/>
            </a:pPr>
            <a:r>
              <a:rPr lang="en-US" sz="1300" b="1" dirty="0">
                <a:solidFill>
                  <a:srgbClr val="8F3A17"/>
                </a:solidFill>
                <a:latin typeface="Cambria" pitchFamily="34" charset="0"/>
                <a:ea typeface="Cambria" pitchFamily="34" charset="-122"/>
                <a:cs typeface="Cambria" pitchFamily="34" charset="-120"/>
              </a:rPr>
              <a:t>03.4 Application Modernization</a:t>
            </a:r>
            <a:endParaRPr lang="en-US" sz="1300" dirty="0"/>
          </a:p>
        </p:txBody>
      </p:sp>
      <p:sp>
        <p:nvSpPr>
          <p:cNvPr id="28" name="Shape 26"/>
          <p:cNvSpPr/>
          <p:nvPr/>
        </p:nvSpPr>
        <p:spPr>
          <a:xfrm>
            <a:off x="6263640" y="5065776"/>
            <a:ext cx="5394960" cy="512064"/>
          </a:xfrm>
          <a:prstGeom prst="roundRect">
            <a:avLst>
              <a:gd name="adj" fmla="val 8929"/>
            </a:avLst>
          </a:prstGeom>
          <a:solidFill>
            <a:srgbClr val="FBEDE6"/>
          </a:solidFill>
          <a:ln w="9525">
            <a:solidFill>
              <a:srgbClr val="EEB08A"/>
            </a:solidFill>
            <a:prstDash val="solid"/>
          </a:ln>
        </p:spPr>
        <p:txBody>
          <a:bodyPr/>
          <a:lstStyle/>
          <a:p>
            <a:endParaRPr lang="en-US"/>
          </a:p>
        </p:txBody>
      </p:sp>
      <p:sp>
        <p:nvSpPr>
          <p:cNvPr id="29" name="Text 27"/>
          <p:cNvSpPr txBox="1"/>
          <p:nvPr/>
        </p:nvSpPr>
        <p:spPr>
          <a:xfrm>
            <a:off x="6492240" y="5065776"/>
            <a:ext cx="4937760" cy="512064"/>
          </a:xfrm>
          <a:prstGeom prst="rect">
            <a:avLst/>
          </a:prstGeom>
          <a:noFill/>
          <a:ln/>
        </p:spPr>
        <p:txBody>
          <a:bodyPr wrap="square" lIns="0" tIns="0" rIns="0" bIns="0" rtlCol="0" anchor="ctr"/>
          <a:lstStyle/>
          <a:p>
            <a:pPr marL="0" indent="0">
              <a:buNone/>
            </a:pPr>
            <a:r>
              <a:rPr lang="en-US" sz="1300" b="1" dirty="0">
                <a:solidFill>
                  <a:srgbClr val="8F3A17"/>
                </a:solidFill>
                <a:latin typeface="Cambria" pitchFamily="34" charset="0"/>
                <a:ea typeface="Cambria" pitchFamily="34" charset="-122"/>
                <a:cs typeface="Cambria" pitchFamily="34" charset="-120"/>
              </a:rPr>
              <a:t>03.5 Data Centre Strategy</a:t>
            </a:r>
            <a:endParaRPr lang="en-US" sz="1300" dirty="0"/>
          </a:p>
        </p:txBody>
      </p:sp>
      <p:sp>
        <p:nvSpPr>
          <p:cNvPr id="30" name="Shape 28"/>
          <p:cNvSpPr/>
          <p:nvPr/>
        </p:nvSpPr>
        <p:spPr>
          <a:xfrm>
            <a:off x="502920" y="5742432"/>
            <a:ext cx="11183112" cy="548640"/>
          </a:xfrm>
          <a:prstGeom prst="roundRect">
            <a:avLst>
              <a:gd name="adj" fmla="val 10000"/>
            </a:avLst>
          </a:prstGeom>
          <a:solidFill>
            <a:srgbClr val="FFFFFF"/>
          </a:solidFill>
          <a:ln w="12700">
            <a:solidFill>
              <a:srgbClr val="0F6E56"/>
            </a:solidFill>
            <a:prstDash val="solid"/>
          </a:ln>
        </p:spPr>
        <p:txBody>
          <a:bodyPr/>
          <a:lstStyle/>
          <a:p>
            <a:endParaRPr lang="en-US"/>
          </a:p>
        </p:txBody>
      </p:sp>
      <p:sp>
        <p:nvSpPr>
          <p:cNvPr id="31" name="Text 29"/>
          <p:cNvSpPr txBox="1"/>
          <p:nvPr/>
        </p:nvSpPr>
        <p:spPr>
          <a:xfrm>
            <a:off x="777240" y="5742432"/>
            <a:ext cx="10698480" cy="548640"/>
          </a:xfrm>
          <a:prstGeom prst="rect">
            <a:avLst/>
          </a:prstGeom>
          <a:noFill/>
          <a:ln/>
        </p:spPr>
        <p:txBody>
          <a:bodyPr wrap="square" lIns="0" tIns="0" rIns="0" bIns="0" rtlCol="0" anchor="ctr"/>
          <a:lstStyle/>
          <a:p>
            <a:pPr marL="0" indent="0">
              <a:buNone/>
            </a:pPr>
            <a:r>
              <a:rPr lang="en-US" sz="1050" b="1" kern="0" spc="100" dirty="0">
                <a:solidFill>
                  <a:srgbClr val="0F6E56"/>
                </a:solidFill>
                <a:latin typeface="Calibri" pitchFamily="34" charset="0"/>
                <a:ea typeface="Calibri" pitchFamily="34" charset="-122"/>
                <a:cs typeface="Calibri" pitchFamily="34" charset="-120"/>
              </a:rPr>
              <a:t>★ SHARED ACROSS BOTH JOURNEYS   </a:t>
            </a:r>
            <a:r>
              <a:rPr lang="en-US" sz="1250" i="1" dirty="0">
                <a:solidFill>
                  <a:srgbClr val="2C3A34"/>
                </a:solidFill>
                <a:latin typeface="Cambria" pitchFamily="34" charset="0"/>
                <a:ea typeface="Cambria" pitchFamily="34" charset="-122"/>
                <a:cs typeface="Cambria" pitchFamily="34" charset="-120"/>
              </a:rPr>
              <a:t>Application Modernization (03.4) and Platform Engineering (03.6) appear on either path, depending on where the customer starts.</a:t>
            </a:r>
            <a:endParaRPr lang="en-US" sz="1050" dirty="0"/>
          </a:p>
        </p:txBody>
      </p:sp>
      <p:sp>
        <p:nvSpPr>
          <p:cNvPr id="32" name="Text 30"/>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B0A39B"/>
                </a:solidFill>
                <a:latin typeface="Calibri" pitchFamily="34" charset="0"/>
                <a:ea typeface="Calibri" pitchFamily="34" charset="-122"/>
                <a:cs typeface="Calibri" pitchFamily="34" charset="-120"/>
              </a:rPr>
              <a:t>LTM  ·  Infra Tech Advisory  ·  Public Cloud &amp; Modernization</a:t>
            </a:r>
            <a:endParaRPr lang="en-US" sz="950" dirty="0"/>
          </a:p>
        </p:txBody>
      </p:sp>
      <p:sp>
        <p:nvSpPr>
          <p:cNvPr id="33" name="Text 31"/>
          <p:cNvSpPr txBox="1"/>
          <p:nvPr/>
        </p:nvSpPr>
        <p:spPr>
          <a:xfrm>
            <a:off x="8961120" y="6473952"/>
            <a:ext cx="2724912" cy="274320"/>
          </a:xfrm>
          <a:prstGeom prst="rect">
            <a:avLst/>
          </a:prstGeom>
          <a:noFill/>
          <a:ln/>
        </p:spPr>
        <p:txBody>
          <a:bodyPr wrap="square" lIns="0" tIns="0" rIns="0" bIns="0" rtlCol="0" anchor="ctr"/>
          <a:lstStyle/>
          <a:p>
            <a:pPr marL="0" indent="0" algn="r">
              <a:buNone/>
            </a:pPr>
            <a:r>
              <a:rPr lang="en-US" sz="950" dirty="0">
                <a:solidFill>
                  <a:srgbClr val="B0A39B"/>
                </a:solidFill>
                <a:latin typeface="Calibri" pitchFamily="34" charset="0"/>
                <a:ea typeface="Calibri" pitchFamily="34" charset="-122"/>
                <a:cs typeface="Calibri" pitchFamily="34" charset="-120"/>
              </a:rPr>
              <a:t>Routing map</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HOW EVERY ENGAGEMENT FINDS ITS PATH</a:t>
            </a:r>
            <a:endParaRPr lang="en-US" sz="1100" dirty="0"/>
          </a:p>
        </p:txBody>
      </p:sp>
      <p:sp>
        <p:nvSpPr>
          <p:cNvPr id="3" name="Text 1"/>
          <p:cNvSpPr txBox="1"/>
          <p:nvPr/>
        </p:nvSpPr>
        <p:spPr>
          <a:xfrm>
            <a:off x="484632" y="676656"/>
            <a:ext cx="10058400" cy="457200"/>
          </a:xfrm>
          <a:prstGeom prst="rect">
            <a:avLst/>
          </a:prstGeom>
          <a:noFill/>
          <a:ln/>
        </p:spPr>
        <p:txBody>
          <a:bodyPr wrap="square" lIns="0" tIns="0" rIns="0" bIns="0" rtlCol="0" anchor="ctr"/>
          <a:lstStyle/>
          <a:p>
            <a:pPr marL="0" indent="0">
              <a:buNone/>
            </a:pPr>
            <a:r>
              <a:rPr lang="en-US" sz="2500" b="1" dirty="0">
                <a:solidFill>
                  <a:srgbClr val="1B1F23"/>
                </a:solidFill>
                <a:latin typeface="Cambria" pitchFamily="34" charset="0"/>
                <a:ea typeface="Cambria" pitchFamily="34" charset="-122"/>
                <a:cs typeface="Cambria" pitchFamily="34" charset="-120"/>
              </a:rPr>
              <a:t>The Digital Sovereignty routing map</a:t>
            </a:r>
            <a:endParaRPr lang="en-US" sz="2500" dirty="0"/>
          </a:p>
        </p:txBody>
      </p:sp>
      <p:sp>
        <p:nvSpPr>
          <p:cNvPr id="4" name="Text 2"/>
          <p:cNvSpPr txBox="1"/>
          <p:nvPr/>
        </p:nvSpPr>
        <p:spPr>
          <a:xfrm>
            <a:off x="502920" y="1188720"/>
            <a:ext cx="10972800" cy="274320"/>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Start with a diagnostic, not a pitch. The evidence — not a salesperson — determines which offering the client needs.</a:t>
            </a:r>
            <a:endParaRPr lang="en-US" sz="1200" dirty="0"/>
          </a:p>
        </p:txBody>
      </p:sp>
      <p:sp>
        <p:nvSpPr>
          <p:cNvPr id="5" name="Shape 3"/>
          <p:cNvSpPr/>
          <p:nvPr/>
        </p:nvSpPr>
        <p:spPr>
          <a:xfrm>
            <a:off x="4114800" y="1691640"/>
            <a:ext cx="3959352" cy="603504"/>
          </a:xfrm>
          <a:prstGeom prst="roundRect">
            <a:avLst>
              <a:gd name="adj" fmla="val 9091"/>
            </a:avLst>
          </a:prstGeom>
          <a:solidFill>
            <a:srgbClr val="0F6E56"/>
          </a:solidFill>
          <a:ln/>
        </p:spPr>
        <p:txBody>
          <a:bodyPr/>
          <a:lstStyle/>
          <a:p>
            <a:endParaRPr lang="en-US"/>
          </a:p>
        </p:txBody>
      </p:sp>
      <p:sp>
        <p:nvSpPr>
          <p:cNvPr id="6" name="Text 4"/>
          <p:cNvSpPr txBox="1"/>
          <p:nvPr/>
        </p:nvSpPr>
        <p:spPr>
          <a:xfrm>
            <a:off x="4114800" y="1691640"/>
            <a:ext cx="3959352" cy="60350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Sovereign IQ   </a:t>
            </a:r>
            <a:r>
              <a:rPr lang="en-US" sz="1100" i="1" dirty="0">
                <a:solidFill>
                  <a:srgbClr val="9FE1CB"/>
                </a:solidFill>
                <a:latin typeface="Calibri" pitchFamily="34" charset="0"/>
                <a:ea typeface="Calibri" pitchFamily="34" charset="-122"/>
                <a:cs typeface="Calibri" pitchFamily="34" charset="-120"/>
              </a:rPr>
              <a:t>free self-assessment</a:t>
            </a:r>
            <a:endParaRPr lang="en-US" sz="1500" dirty="0"/>
          </a:p>
        </p:txBody>
      </p:sp>
      <p:sp>
        <p:nvSpPr>
          <p:cNvPr id="7" name="Shape 5"/>
          <p:cNvSpPr/>
          <p:nvPr/>
        </p:nvSpPr>
        <p:spPr>
          <a:xfrm>
            <a:off x="5120640" y="2295144"/>
            <a:ext cx="0" cy="310896"/>
          </a:xfrm>
          <a:prstGeom prst="line">
            <a:avLst/>
          </a:prstGeom>
          <a:noFill/>
          <a:ln w="19050">
            <a:solidFill>
              <a:srgbClr val="0F6E56"/>
            </a:solidFill>
            <a:prstDash val="solid"/>
            <a:tailEnd type="triangle"/>
          </a:ln>
        </p:spPr>
        <p:txBody>
          <a:bodyPr/>
          <a:lstStyle/>
          <a:p>
            <a:endParaRPr lang="en-US"/>
          </a:p>
        </p:txBody>
      </p:sp>
      <p:sp>
        <p:nvSpPr>
          <p:cNvPr id="8" name="Shape 6"/>
          <p:cNvSpPr/>
          <p:nvPr/>
        </p:nvSpPr>
        <p:spPr>
          <a:xfrm>
            <a:off x="7040880" y="2295144"/>
            <a:ext cx="0" cy="310896"/>
          </a:xfrm>
          <a:prstGeom prst="line">
            <a:avLst/>
          </a:prstGeom>
          <a:noFill/>
          <a:ln w="19050">
            <a:solidFill>
              <a:srgbClr val="0F6E56"/>
            </a:solidFill>
            <a:prstDash val="solid"/>
            <a:tailEnd type="triangle"/>
          </a:ln>
        </p:spPr>
        <p:txBody>
          <a:bodyPr/>
          <a:lstStyle/>
          <a:p>
            <a:endParaRPr lang="en-US"/>
          </a:p>
        </p:txBody>
      </p:sp>
      <p:sp>
        <p:nvSpPr>
          <p:cNvPr id="9" name="Shape 7"/>
          <p:cNvSpPr/>
          <p:nvPr/>
        </p:nvSpPr>
        <p:spPr>
          <a:xfrm>
            <a:off x="3108960" y="2651760"/>
            <a:ext cx="2331720" cy="566928"/>
          </a:xfrm>
          <a:prstGeom prst="roundRect">
            <a:avLst>
              <a:gd name="adj" fmla="val 9677"/>
            </a:avLst>
          </a:prstGeom>
          <a:solidFill>
            <a:srgbClr val="0A5643"/>
          </a:solidFill>
          <a:ln/>
        </p:spPr>
        <p:txBody>
          <a:bodyPr/>
          <a:lstStyle/>
          <a:p>
            <a:endParaRPr lang="en-US"/>
          </a:p>
        </p:txBody>
      </p:sp>
      <p:sp>
        <p:nvSpPr>
          <p:cNvPr id="10" name="Text 8"/>
          <p:cNvSpPr txBox="1"/>
          <p:nvPr/>
        </p:nvSpPr>
        <p:spPr>
          <a:xfrm>
            <a:off x="3108960" y="2651760"/>
            <a:ext cx="2331720" cy="566928"/>
          </a:xfrm>
          <a:prstGeom prst="rect">
            <a:avLst/>
          </a:prstGeom>
          <a:noFill/>
          <a:ln/>
        </p:spPr>
        <p:txBody>
          <a:bodyPr wrap="square" lIns="0" tIns="0" rIns="0" bIns="0" rtlCol="0" anchor="ctr"/>
          <a:lstStyle/>
          <a:p>
            <a:pPr marL="0" indent="0" algn="ctr">
              <a:lnSpc>
                <a:spcPct val="90000"/>
              </a:lnSpc>
              <a:buNone/>
            </a:pPr>
            <a:r>
              <a:rPr lang="en-US" sz="1300" b="1" dirty="0">
                <a:solidFill>
                  <a:srgbClr val="FFFFFF"/>
                </a:solidFill>
                <a:latin typeface="Cambria" pitchFamily="34" charset="0"/>
                <a:ea typeface="Cambria" pitchFamily="34" charset="-122"/>
                <a:cs typeface="Cambria" pitchFamily="34" charset="-120"/>
              </a:rPr>
              <a:t>Posture IQ
</a:t>
            </a:r>
            <a:r>
              <a:rPr lang="en-US" sz="900" dirty="0">
                <a:solidFill>
                  <a:srgbClr val="9FE1CB"/>
                </a:solidFill>
                <a:latin typeface="Calibri" pitchFamily="34" charset="0"/>
                <a:ea typeface="Calibri" pitchFamily="34" charset="-122"/>
                <a:cs typeface="Calibri" pitchFamily="34" charset="-120"/>
              </a:rPr>
              <a:t>data · infra · cross-border</a:t>
            </a:r>
            <a:endParaRPr lang="en-US" sz="1300" dirty="0"/>
          </a:p>
        </p:txBody>
      </p:sp>
      <p:sp>
        <p:nvSpPr>
          <p:cNvPr id="11" name="Shape 9"/>
          <p:cNvSpPr/>
          <p:nvPr/>
        </p:nvSpPr>
        <p:spPr>
          <a:xfrm>
            <a:off x="5806440" y="2651760"/>
            <a:ext cx="2331720" cy="566928"/>
          </a:xfrm>
          <a:prstGeom prst="roundRect">
            <a:avLst>
              <a:gd name="adj" fmla="val 9677"/>
            </a:avLst>
          </a:prstGeom>
          <a:solidFill>
            <a:srgbClr val="0A5643"/>
          </a:solidFill>
          <a:ln/>
        </p:spPr>
        <p:txBody>
          <a:bodyPr/>
          <a:lstStyle/>
          <a:p>
            <a:endParaRPr lang="en-US"/>
          </a:p>
        </p:txBody>
      </p:sp>
      <p:sp>
        <p:nvSpPr>
          <p:cNvPr id="12" name="Text 10"/>
          <p:cNvSpPr txBox="1"/>
          <p:nvPr/>
        </p:nvSpPr>
        <p:spPr>
          <a:xfrm>
            <a:off x="5806440" y="2651760"/>
            <a:ext cx="2331720" cy="566928"/>
          </a:xfrm>
          <a:prstGeom prst="rect">
            <a:avLst/>
          </a:prstGeom>
          <a:noFill/>
          <a:ln/>
        </p:spPr>
        <p:txBody>
          <a:bodyPr wrap="square" lIns="0" tIns="0" rIns="0" bIns="0" rtlCol="0" anchor="ctr"/>
          <a:lstStyle/>
          <a:p>
            <a:pPr marL="0" indent="0" algn="ctr">
              <a:lnSpc>
                <a:spcPct val="90000"/>
              </a:lnSpc>
              <a:buNone/>
            </a:pPr>
            <a:r>
              <a:rPr lang="en-US" sz="1300" b="1" dirty="0">
                <a:solidFill>
                  <a:srgbClr val="FFFFFF"/>
                </a:solidFill>
                <a:latin typeface="Cambria" pitchFamily="34" charset="0"/>
                <a:ea typeface="Cambria" pitchFamily="34" charset="-122"/>
                <a:cs typeface="Cambria" pitchFamily="34" charset="-120"/>
              </a:rPr>
              <a:t>Regulatory IQ
</a:t>
            </a:r>
            <a:r>
              <a:rPr lang="en-US" sz="900" dirty="0">
                <a:solidFill>
                  <a:srgbClr val="9FE1CB"/>
                </a:solidFill>
                <a:latin typeface="Calibri" pitchFamily="34" charset="0"/>
                <a:ea typeface="Calibri" pitchFamily="34" charset="-122"/>
                <a:cs typeface="Calibri" pitchFamily="34" charset="-120"/>
              </a:rPr>
              <a:t>compliance vs a specific Act</a:t>
            </a:r>
            <a:endParaRPr lang="en-US" sz="1300" dirty="0"/>
          </a:p>
        </p:txBody>
      </p:sp>
      <p:sp>
        <p:nvSpPr>
          <p:cNvPr id="13" name="Text 11"/>
          <p:cNvSpPr txBox="1"/>
          <p:nvPr/>
        </p:nvSpPr>
        <p:spPr>
          <a:xfrm>
            <a:off x="475488" y="3319790"/>
            <a:ext cx="10972800" cy="256032"/>
          </a:xfrm>
          <a:prstGeom prst="rect">
            <a:avLst/>
          </a:prstGeom>
          <a:noFill/>
          <a:ln/>
        </p:spPr>
        <p:txBody>
          <a:bodyPr wrap="square" lIns="0" tIns="0" rIns="0" bIns="0" rtlCol="0" anchor="ctr"/>
          <a:lstStyle/>
          <a:p>
            <a:pPr marL="0" indent="0" algn="ctr">
              <a:buNone/>
            </a:pPr>
            <a:r>
              <a:rPr lang="en-US" sz="1100" b="1" dirty="0">
                <a:solidFill>
                  <a:srgbClr val="D35400"/>
                </a:solidFill>
                <a:latin typeface="Calibri" pitchFamily="34" charset="0"/>
                <a:ea typeface="Calibri" pitchFamily="34" charset="-122"/>
                <a:cs typeface="Calibri" pitchFamily="34" charset="-120"/>
              </a:rPr>
              <a:t>The evidence routes to the offering that fits ↓</a:t>
            </a:r>
            <a:endParaRPr lang="en-US" sz="1100" dirty="0"/>
          </a:p>
        </p:txBody>
      </p:sp>
      <p:sp>
        <p:nvSpPr>
          <p:cNvPr id="14" name="Shape 12"/>
          <p:cNvSpPr/>
          <p:nvPr/>
        </p:nvSpPr>
        <p:spPr>
          <a:xfrm>
            <a:off x="658368" y="3767328"/>
            <a:ext cx="2542032" cy="932688"/>
          </a:xfrm>
          <a:prstGeom prst="roundRect">
            <a:avLst>
              <a:gd name="adj" fmla="val 5882"/>
            </a:avLst>
          </a:prstGeom>
          <a:solidFill>
            <a:srgbClr val="E1F5EE"/>
          </a:solidFill>
          <a:ln w="9525">
            <a:solidFill>
              <a:srgbClr val="5DCAA5"/>
            </a:solidFill>
            <a:prstDash val="solid"/>
          </a:ln>
        </p:spPr>
        <p:txBody>
          <a:bodyPr/>
          <a:lstStyle/>
          <a:p>
            <a:endParaRPr lang="en-US"/>
          </a:p>
        </p:txBody>
      </p:sp>
      <p:sp>
        <p:nvSpPr>
          <p:cNvPr id="15" name="Text 13"/>
          <p:cNvSpPr txBox="1"/>
          <p:nvPr/>
        </p:nvSpPr>
        <p:spPr>
          <a:xfrm>
            <a:off x="768096" y="3895344"/>
            <a:ext cx="2322576" cy="457200"/>
          </a:xfrm>
          <a:prstGeom prst="rect">
            <a:avLst/>
          </a:prstGeom>
          <a:noFill/>
          <a:ln/>
        </p:spPr>
        <p:txBody>
          <a:bodyPr wrap="square" lIns="0" tIns="0" rIns="0" bIns="0" rtlCol="0" anchor="ctr"/>
          <a:lstStyle/>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02.1 Posture &amp;</a:t>
            </a:r>
            <a:endParaRPr lang="en-US" sz="1250" dirty="0"/>
          </a:p>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Geopatriation</a:t>
            </a:r>
            <a:endParaRPr lang="en-US" sz="1250" dirty="0"/>
          </a:p>
        </p:txBody>
      </p:sp>
      <p:sp>
        <p:nvSpPr>
          <p:cNvPr id="16" name="Text 14"/>
          <p:cNvSpPr txBox="1"/>
          <p:nvPr/>
        </p:nvSpPr>
        <p:spPr>
          <a:xfrm>
            <a:off x="768096" y="4334256"/>
            <a:ext cx="2322576" cy="310896"/>
          </a:xfrm>
          <a:prstGeom prst="rect">
            <a:avLst/>
          </a:prstGeom>
          <a:noFill/>
          <a:ln/>
        </p:spPr>
        <p:txBody>
          <a:bodyPr wrap="square" lIns="0" tIns="0" rIns="0" bIns="0" rtlCol="0" anchor="ctr"/>
          <a:lstStyle/>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workloads in wrong</a:t>
            </a:r>
            <a:endParaRPr lang="en-US" sz="950" dirty="0"/>
          </a:p>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jurisdiction</a:t>
            </a:r>
            <a:endParaRPr lang="en-US" sz="950" dirty="0"/>
          </a:p>
        </p:txBody>
      </p:sp>
      <p:sp>
        <p:nvSpPr>
          <p:cNvPr id="17" name="Shape 15"/>
          <p:cNvSpPr/>
          <p:nvPr/>
        </p:nvSpPr>
        <p:spPr>
          <a:xfrm>
            <a:off x="3419856" y="3767328"/>
            <a:ext cx="2542032" cy="932688"/>
          </a:xfrm>
          <a:prstGeom prst="roundRect">
            <a:avLst>
              <a:gd name="adj" fmla="val 5882"/>
            </a:avLst>
          </a:prstGeom>
          <a:solidFill>
            <a:srgbClr val="E1F5EE"/>
          </a:solidFill>
          <a:ln w="9525">
            <a:solidFill>
              <a:srgbClr val="5DCAA5"/>
            </a:solidFill>
            <a:prstDash val="solid"/>
          </a:ln>
        </p:spPr>
        <p:txBody>
          <a:bodyPr/>
          <a:lstStyle/>
          <a:p>
            <a:endParaRPr lang="en-US"/>
          </a:p>
        </p:txBody>
      </p:sp>
      <p:sp>
        <p:nvSpPr>
          <p:cNvPr id="18" name="Text 16"/>
          <p:cNvSpPr txBox="1"/>
          <p:nvPr/>
        </p:nvSpPr>
        <p:spPr>
          <a:xfrm>
            <a:off x="3529584" y="3895344"/>
            <a:ext cx="2322576" cy="457200"/>
          </a:xfrm>
          <a:prstGeom prst="rect">
            <a:avLst/>
          </a:prstGeom>
          <a:noFill/>
          <a:ln/>
        </p:spPr>
        <p:txBody>
          <a:bodyPr wrap="square" lIns="0" tIns="0" rIns="0" bIns="0" rtlCol="0" anchor="ctr"/>
          <a:lstStyle/>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02.2 Cross-Border</a:t>
            </a:r>
            <a:endParaRPr lang="en-US" sz="1250" dirty="0"/>
          </a:p>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Data Strategy</a:t>
            </a:r>
            <a:endParaRPr lang="en-US" sz="1250" dirty="0"/>
          </a:p>
        </p:txBody>
      </p:sp>
      <p:sp>
        <p:nvSpPr>
          <p:cNvPr id="19" name="Text 17"/>
          <p:cNvSpPr txBox="1"/>
          <p:nvPr/>
        </p:nvSpPr>
        <p:spPr>
          <a:xfrm>
            <a:off x="3529584" y="4334256"/>
            <a:ext cx="2322576" cy="310896"/>
          </a:xfrm>
          <a:prstGeom prst="rect">
            <a:avLst/>
          </a:prstGeom>
          <a:noFill/>
          <a:ln/>
        </p:spPr>
        <p:txBody>
          <a:bodyPr wrap="square" lIns="0" tIns="0" rIns="0" bIns="0" rtlCol="0" anchor="ctr"/>
          <a:lstStyle/>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data crossing borders</a:t>
            </a:r>
            <a:endParaRPr lang="en-US" sz="950" dirty="0"/>
          </a:p>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unprotected</a:t>
            </a:r>
            <a:endParaRPr lang="en-US" sz="950" dirty="0"/>
          </a:p>
        </p:txBody>
      </p:sp>
      <p:sp>
        <p:nvSpPr>
          <p:cNvPr id="20" name="Shape 18"/>
          <p:cNvSpPr/>
          <p:nvPr/>
        </p:nvSpPr>
        <p:spPr>
          <a:xfrm>
            <a:off x="6181344" y="3767328"/>
            <a:ext cx="2542032" cy="932688"/>
          </a:xfrm>
          <a:prstGeom prst="roundRect">
            <a:avLst>
              <a:gd name="adj" fmla="val 5882"/>
            </a:avLst>
          </a:prstGeom>
          <a:solidFill>
            <a:srgbClr val="E1F5EE"/>
          </a:solidFill>
          <a:ln w="9525">
            <a:solidFill>
              <a:srgbClr val="5DCAA5"/>
            </a:solidFill>
            <a:prstDash val="solid"/>
          </a:ln>
        </p:spPr>
        <p:txBody>
          <a:bodyPr/>
          <a:lstStyle/>
          <a:p>
            <a:endParaRPr lang="en-US"/>
          </a:p>
        </p:txBody>
      </p:sp>
      <p:sp>
        <p:nvSpPr>
          <p:cNvPr id="21" name="Text 19"/>
          <p:cNvSpPr txBox="1"/>
          <p:nvPr/>
        </p:nvSpPr>
        <p:spPr>
          <a:xfrm>
            <a:off x="6291072" y="3895344"/>
            <a:ext cx="2322576" cy="457200"/>
          </a:xfrm>
          <a:prstGeom prst="rect">
            <a:avLst/>
          </a:prstGeom>
          <a:noFill/>
          <a:ln/>
        </p:spPr>
        <p:txBody>
          <a:bodyPr wrap="square" lIns="0" tIns="0" rIns="0" bIns="0" rtlCol="0" anchor="ctr"/>
          <a:lstStyle/>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02.3 Regulatory</a:t>
            </a:r>
            <a:endParaRPr lang="en-US" sz="1250" dirty="0"/>
          </a:p>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Alignment &amp; Exit</a:t>
            </a:r>
            <a:endParaRPr lang="en-US" sz="1250" dirty="0"/>
          </a:p>
        </p:txBody>
      </p:sp>
      <p:sp>
        <p:nvSpPr>
          <p:cNvPr id="22" name="Text 20"/>
          <p:cNvSpPr txBox="1"/>
          <p:nvPr/>
        </p:nvSpPr>
        <p:spPr>
          <a:xfrm>
            <a:off x="6291072" y="4334256"/>
            <a:ext cx="2322576" cy="310896"/>
          </a:xfrm>
          <a:prstGeom prst="rect">
            <a:avLst/>
          </a:prstGeom>
          <a:noFill/>
          <a:ln/>
        </p:spPr>
        <p:txBody>
          <a:bodyPr wrap="square" lIns="0" tIns="0" rIns="0" bIns="0" rtlCol="0" anchor="ctr"/>
          <a:lstStyle/>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weak vs DORA /</a:t>
            </a:r>
            <a:endParaRPr lang="en-US" sz="950" dirty="0"/>
          </a:p>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NIS2 / EU AI Act</a:t>
            </a:r>
            <a:endParaRPr lang="en-US" sz="950" dirty="0"/>
          </a:p>
        </p:txBody>
      </p:sp>
      <p:sp>
        <p:nvSpPr>
          <p:cNvPr id="23" name="Shape 21"/>
          <p:cNvSpPr/>
          <p:nvPr/>
        </p:nvSpPr>
        <p:spPr>
          <a:xfrm>
            <a:off x="8942832" y="3767328"/>
            <a:ext cx="2542032" cy="932688"/>
          </a:xfrm>
          <a:prstGeom prst="roundRect">
            <a:avLst>
              <a:gd name="adj" fmla="val 5882"/>
            </a:avLst>
          </a:prstGeom>
          <a:solidFill>
            <a:srgbClr val="E1F5EE"/>
          </a:solidFill>
          <a:ln w="9525">
            <a:solidFill>
              <a:srgbClr val="5DCAA5"/>
            </a:solidFill>
            <a:prstDash val="solid"/>
          </a:ln>
        </p:spPr>
        <p:txBody>
          <a:bodyPr/>
          <a:lstStyle/>
          <a:p>
            <a:endParaRPr lang="en-US"/>
          </a:p>
        </p:txBody>
      </p:sp>
      <p:sp>
        <p:nvSpPr>
          <p:cNvPr id="24" name="Text 22"/>
          <p:cNvSpPr txBox="1"/>
          <p:nvPr/>
        </p:nvSpPr>
        <p:spPr>
          <a:xfrm>
            <a:off x="9052560" y="3895344"/>
            <a:ext cx="2322576" cy="457200"/>
          </a:xfrm>
          <a:prstGeom prst="rect">
            <a:avLst/>
          </a:prstGeom>
          <a:noFill/>
          <a:ln/>
        </p:spPr>
        <p:txBody>
          <a:bodyPr wrap="square" lIns="0" tIns="0" rIns="0" bIns="0" rtlCol="0" anchor="ctr"/>
          <a:lstStyle/>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02.5 Sovereign AI &amp;</a:t>
            </a:r>
            <a:endParaRPr lang="en-US" sz="1250" dirty="0"/>
          </a:p>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Data Boundary</a:t>
            </a:r>
            <a:endParaRPr lang="en-US" sz="1250" dirty="0"/>
          </a:p>
        </p:txBody>
      </p:sp>
      <p:sp>
        <p:nvSpPr>
          <p:cNvPr id="25" name="Text 23"/>
          <p:cNvSpPr txBox="1"/>
          <p:nvPr/>
        </p:nvSpPr>
        <p:spPr>
          <a:xfrm>
            <a:off x="9052560" y="4334256"/>
            <a:ext cx="2322576" cy="310896"/>
          </a:xfrm>
          <a:prstGeom prst="rect">
            <a:avLst/>
          </a:prstGeom>
          <a:noFill/>
          <a:ln/>
        </p:spPr>
        <p:txBody>
          <a:bodyPr wrap="square" lIns="0" tIns="0" rIns="0" bIns="0" rtlCol="0" anchor="ctr"/>
          <a:lstStyle/>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AI data leaving</a:t>
            </a:r>
            <a:endParaRPr lang="en-US" sz="950" dirty="0"/>
          </a:p>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the boundary</a:t>
            </a:r>
            <a:endParaRPr lang="en-US" sz="950" dirty="0"/>
          </a:p>
        </p:txBody>
      </p:sp>
      <p:sp>
        <p:nvSpPr>
          <p:cNvPr id="26" name="Shape 24"/>
          <p:cNvSpPr/>
          <p:nvPr/>
        </p:nvSpPr>
        <p:spPr>
          <a:xfrm>
            <a:off x="1929384" y="4700016"/>
            <a:ext cx="0" cy="384048"/>
          </a:xfrm>
          <a:prstGeom prst="line">
            <a:avLst/>
          </a:prstGeom>
          <a:noFill/>
          <a:ln w="15875">
            <a:solidFill>
              <a:srgbClr val="5DCAA5"/>
            </a:solidFill>
            <a:prstDash val="solid"/>
            <a:tailEnd type="triangle"/>
          </a:ln>
        </p:spPr>
        <p:txBody>
          <a:bodyPr/>
          <a:lstStyle/>
          <a:p>
            <a:endParaRPr lang="en-US"/>
          </a:p>
        </p:txBody>
      </p:sp>
      <p:sp>
        <p:nvSpPr>
          <p:cNvPr id="27" name="Shape 25"/>
          <p:cNvSpPr/>
          <p:nvPr/>
        </p:nvSpPr>
        <p:spPr>
          <a:xfrm>
            <a:off x="4480560" y="4700016"/>
            <a:ext cx="0" cy="384048"/>
          </a:xfrm>
          <a:prstGeom prst="line">
            <a:avLst/>
          </a:prstGeom>
          <a:noFill/>
          <a:ln w="15875">
            <a:solidFill>
              <a:srgbClr val="5DCAA5"/>
            </a:solidFill>
            <a:prstDash val="solid"/>
            <a:tailEnd type="triangle"/>
          </a:ln>
        </p:spPr>
        <p:txBody>
          <a:bodyPr/>
          <a:lstStyle/>
          <a:p>
            <a:endParaRPr lang="en-US"/>
          </a:p>
        </p:txBody>
      </p:sp>
      <p:sp>
        <p:nvSpPr>
          <p:cNvPr id="28" name="Shape 26"/>
          <p:cNvSpPr/>
          <p:nvPr/>
        </p:nvSpPr>
        <p:spPr>
          <a:xfrm>
            <a:off x="7022592" y="4700016"/>
            <a:ext cx="0" cy="384048"/>
          </a:xfrm>
          <a:prstGeom prst="line">
            <a:avLst/>
          </a:prstGeom>
          <a:noFill/>
          <a:ln w="15875">
            <a:solidFill>
              <a:srgbClr val="5DCAA5"/>
            </a:solidFill>
            <a:prstDash val="solid"/>
            <a:tailEnd type="triangle"/>
          </a:ln>
        </p:spPr>
        <p:txBody>
          <a:bodyPr/>
          <a:lstStyle/>
          <a:p>
            <a:endParaRPr lang="en-US"/>
          </a:p>
        </p:txBody>
      </p:sp>
      <p:sp>
        <p:nvSpPr>
          <p:cNvPr id="29" name="Shape 27"/>
          <p:cNvSpPr/>
          <p:nvPr/>
        </p:nvSpPr>
        <p:spPr>
          <a:xfrm>
            <a:off x="9564624" y="4700016"/>
            <a:ext cx="0" cy="384048"/>
          </a:xfrm>
          <a:prstGeom prst="line">
            <a:avLst/>
          </a:prstGeom>
          <a:noFill/>
          <a:ln w="15875">
            <a:solidFill>
              <a:srgbClr val="5DCAA5"/>
            </a:solidFill>
            <a:prstDash val="solid"/>
            <a:tailEnd type="triangle"/>
          </a:ln>
        </p:spPr>
        <p:txBody>
          <a:bodyPr/>
          <a:lstStyle/>
          <a:p>
            <a:endParaRPr lang="en-US"/>
          </a:p>
        </p:txBody>
      </p:sp>
      <p:sp>
        <p:nvSpPr>
          <p:cNvPr id="30" name="Shape 28"/>
          <p:cNvSpPr/>
          <p:nvPr/>
        </p:nvSpPr>
        <p:spPr>
          <a:xfrm>
            <a:off x="2651760" y="5138928"/>
            <a:ext cx="6885432" cy="658368"/>
          </a:xfrm>
          <a:prstGeom prst="roundRect">
            <a:avLst>
              <a:gd name="adj" fmla="val 8333"/>
            </a:avLst>
          </a:prstGeom>
          <a:solidFill>
            <a:srgbClr val="0F6E56"/>
          </a:solidFill>
          <a:ln w="15875">
            <a:solidFill>
              <a:srgbClr val="D35400"/>
            </a:solidFill>
            <a:prstDash val="solid"/>
          </a:ln>
        </p:spPr>
        <p:txBody>
          <a:bodyPr/>
          <a:lstStyle/>
          <a:p>
            <a:endParaRPr lang="en-US"/>
          </a:p>
        </p:txBody>
      </p:sp>
      <p:sp>
        <p:nvSpPr>
          <p:cNvPr id="31" name="Text 29"/>
          <p:cNvSpPr txBox="1"/>
          <p:nvPr/>
        </p:nvSpPr>
        <p:spPr>
          <a:xfrm>
            <a:off x="2651760" y="5138928"/>
            <a:ext cx="6885432" cy="65836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  02.4 Application Portfolio Mapping &amp; Roadmap   </a:t>
            </a:r>
            <a:r>
              <a:rPr lang="en-US" sz="1100" i="1" dirty="0">
                <a:solidFill>
                  <a:srgbClr val="9FE1CB"/>
                </a:solidFill>
                <a:latin typeface="Calibri" pitchFamily="34" charset="0"/>
                <a:ea typeface="Calibri" pitchFamily="34" charset="-122"/>
                <a:cs typeface="Calibri" pitchFamily="34" charset="-120"/>
              </a:rPr>
              <a:t>the confluence — every path leads here</a:t>
            </a:r>
            <a:endParaRPr lang="en-US" sz="1400" dirty="0"/>
          </a:p>
        </p:txBody>
      </p:sp>
      <p:sp>
        <p:nvSpPr>
          <p:cNvPr id="32" name="Shape 30"/>
          <p:cNvSpPr/>
          <p:nvPr/>
        </p:nvSpPr>
        <p:spPr>
          <a:xfrm>
            <a:off x="6089904" y="5797296"/>
            <a:ext cx="0" cy="274320"/>
          </a:xfrm>
          <a:prstGeom prst="line">
            <a:avLst/>
          </a:prstGeom>
          <a:noFill/>
          <a:ln w="19050">
            <a:solidFill>
              <a:srgbClr val="0F6E56"/>
            </a:solidFill>
            <a:prstDash val="solid"/>
            <a:tailEnd type="triangle"/>
          </a:ln>
        </p:spPr>
        <p:txBody>
          <a:bodyPr/>
          <a:lstStyle/>
          <a:p>
            <a:endParaRPr lang="en-US"/>
          </a:p>
        </p:txBody>
      </p:sp>
      <p:sp>
        <p:nvSpPr>
          <p:cNvPr id="33" name="Shape 31"/>
          <p:cNvSpPr/>
          <p:nvPr/>
        </p:nvSpPr>
        <p:spPr>
          <a:xfrm>
            <a:off x="4480560" y="6089904"/>
            <a:ext cx="3227832" cy="457200"/>
          </a:xfrm>
          <a:prstGeom prst="roundRect">
            <a:avLst>
              <a:gd name="adj" fmla="val 12000"/>
            </a:avLst>
          </a:prstGeom>
          <a:solidFill>
            <a:srgbClr val="F3F8F6"/>
          </a:solidFill>
          <a:ln w="9525">
            <a:solidFill>
              <a:srgbClr val="D2E4DD"/>
            </a:solidFill>
            <a:prstDash val="solid"/>
          </a:ln>
        </p:spPr>
        <p:txBody>
          <a:bodyPr/>
          <a:lstStyle/>
          <a:p>
            <a:endParaRPr lang="en-US"/>
          </a:p>
        </p:txBody>
      </p:sp>
      <p:sp>
        <p:nvSpPr>
          <p:cNvPr id="34" name="Text 32"/>
          <p:cNvSpPr txBox="1"/>
          <p:nvPr/>
        </p:nvSpPr>
        <p:spPr>
          <a:xfrm>
            <a:off x="4480560" y="6089904"/>
            <a:ext cx="3227832" cy="457200"/>
          </a:xfrm>
          <a:prstGeom prst="rect">
            <a:avLst/>
          </a:prstGeom>
          <a:noFill/>
          <a:ln/>
        </p:spPr>
        <p:txBody>
          <a:bodyPr wrap="square" lIns="0" tIns="0" rIns="0" bIns="0" rtlCol="0" anchor="ctr"/>
          <a:lstStyle/>
          <a:p>
            <a:pPr marL="0" indent="0" algn="ctr">
              <a:buNone/>
            </a:pPr>
            <a:r>
              <a:rPr lang="en-US" sz="1150" b="1" dirty="0">
                <a:solidFill>
                  <a:srgbClr val="0F6E56"/>
                </a:solidFill>
                <a:latin typeface="Calibri" pitchFamily="34" charset="0"/>
                <a:ea typeface="Calibri" pitchFamily="34" charset="-122"/>
                <a:cs typeface="Calibri" pitchFamily="34" charset="-120"/>
              </a:rPr>
              <a:t>Migration &amp; build delivery</a:t>
            </a:r>
            <a:endParaRPr lang="en-US" sz="1150" dirty="0"/>
          </a:p>
        </p:txBody>
      </p:sp>
      <p:sp>
        <p:nvSpPr>
          <p:cNvPr id="35" name="Text 33"/>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6" name="Text 34"/>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Routing map</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074920"/>
            <a:ext cx="12191695" cy="1783080"/>
          </a:xfrm>
          <a:prstGeom prst="rect">
            <a:avLst/>
          </a:prstGeom>
          <a:solidFill>
            <a:srgbClr val="0A5643"/>
          </a:solidFill>
          <a:ln/>
        </p:spPr>
        <p:txBody>
          <a:bodyPr/>
          <a:lstStyle/>
          <a:p>
            <a:endParaRPr lang="en-US"/>
          </a:p>
        </p:txBody>
      </p:sp>
      <p:sp>
        <p:nvSpPr>
          <p:cNvPr id="3" name="Text 1"/>
          <p:cNvSpPr txBox="1"/>
          <p:nvPr/>
        </p:nvSpPr>
        <p:spPr>
          <a:xfrm>
            <a:off x="685800" y="640080"/>
            <a:ext cx="7315200" cy="274320"/>
          </a:xfrm>
          <a:prstGeom prst="rect">
            <a:avLst/>
          </a:prstGeom>
          <a:noFill/>
          <a:ln/>
        </p:spPr>
        <p:txBody>
          <a:bodyPr wrap="square" lIns="0" tIns="0" rIns="0" bIns="0" rtlCol="0" anchor="ctr"/>
          <a:lstStyle/>
          <a:p>
            <a:pPr marL="0" indent="0">
              <a:buNone/>
            </a:pPr>
            <a:r>
              <a:rPr lang="en-US" sz="1200" b="1" kern="0" spc="250" dirty="0">
                <a:solidFill>
                  <a:srgbClr val="5DCAA5"/>
                </a:solidFill>
                <a:latin typeface="Calibri" pitchFamily="34" charset="0"/>
                <a:ea typeface="Calibri" pitchFamily="34" charset="-122"/>
                <a:cs typeface="Calibri" pitchFamily="34" charset="-120"/>
              </a:rPr>
              <a:t>PILLAR 02  ·  INFRA TECH ADVISORY</a:t>
            </a:r>
            <a:endParaRPr lang="en-US" sz="1200" dirty="0"/>
          </a:p>
        </p:txBody>
      </p:sp>
      <p:sp>
        <p:nvSpPr>
          <p:cNvPr id="4" name="Text 2"/>
          <p:cNvSpPr txBox="1"/>
          <p:nvPr/>
        </p:nvSpPr>
        <p:spPr>
          <a:xfrm>
            <a:off x="658368" y="1024128"/>
            <a:ext cx="10789920" cy="1051560"/>
          </a:xfrm>
          <a:prstGeom prst="rect">
            <a:avLst/>
          </a:prstGeom>
          <a:solidFill>
            <a:schemeClr val="accent6">
              <a:lumMod val="75000"/>
            </a:schemeClr>
          </a:solid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Digital Sovereignty</a:t>
            </a:r>
            <a:endParaRPr lang="en-US" sz="5200" dirty="0"/>
          </a:p>
        </p:txBody>
      </p:sp>
      <p:sp>
        <p:nvSpPr>
          <p:cNvPr id="5" name="Text 3"/>
          <p:cNvSpPr txBox="1"/>
          <p:nvPr/>
        </p:nvSpPr>
        <p:spPr>
          <a:xfrm>
            <a:off x="685800" y="2148840"/>
            <a:ext cx="9875520" cy="502920"/>
          </a:xfrm>
          <a:prstGeom prst="rect">
            <a:avLst/>
          </a:prstGeom>
          <a:noFill/>
          <a:ln/>
        </p:spPr>
        <p:txBody>
          <a:bodyPr wrap="square" lIns="0" tIns="0" rIns="0" bIns="0" rtlCol="0" anchor="ctr"/>
          <a:lstStyle/>
          <a:p>
            <a:pPr marL="0" indent="0">
              <a:buNone/>
            </a:pPr>
            <a:r>
              <a:rPr lang="en-US" sz="2100" i="1" dirty="0">
                <a:solidFill>
                  <a:srgbClr val="C9EDE0"/>
                </a:solidFill>
                <a:latin typeface="Cambria" pitchFamily="34" charset="0"/>
                <a:ea typeface="Cambria" pitchFamily="34" charset="-122"/>
                <a:cs typeface="Cambria" pitchFamily="34" charset="-120"/>
              </a:rPr>
              <a:t>Can I stay compliant, sovereign and trusted in every jurisdiction I operate in?</a:t>
            </a:r>
            <a:endParaRPr lang="en-US" sz="2100" dirty="0"/>
          </a:p>
        </p:txBody>
      </p:sp>
      <p:sp>
        <p:nvSpPr>
          <p:cNvPr id="6" name="Text 4"/>
          <p:cNvSpPr txBox="1"/>
          <p:nvPr/>
        </p:nvSpPr>
        <p:spPr>
          <a:xfrm>
            <a:off x="685800" y="2880360"/>
            <a:ext cx="7406640" cy="1737360"/>
          </a:xfrm>
          <a:prstGeom prst="rect">
            <a:avLst/>
          </a:prstGeom>
          <a:noFill/>
          <a:ln/>
        </p:spPr>
        <p:txBody>
          <a:bodyPr wrap="square" lIns="0" tIns="0" rIns="0" bIns="0" rtlCol="0" anchor="ctr"/>
          <a:lstStyle/>
          <a:p>
            <a:pPr marL="0" indent="0">
              <a:lnSpc>
                <a:spcPct val="112000"/>
              </a:lnSpc>
              <a:buNone/>
            </a:pPr>
            <a:r>
              <a:rPr lang="en-US" sz="1450" dirty="0">
                <a:solidFill>
                  <a:srgbClr val="EAF6F1"/>
                </a:solidFill>
                <a:latin typeface="Calibri" pitchFamily="34" charset="0"/>
                <a:ea typeface="Calibri" pitchFamily="34" charset="-122"/>
                <a:cs typeface="Calibri" pitchFamily="34" charset="-120"/>
              </a:rPr>
              <a:t>Sovereignty has moved from a policy debate to a budgeted, board-level obligation. Regulators and boards now want proof — not assurance — that critical data and workloads sit within a defensible jurisdiction. This pillar establishes the enterprise’s sovereignty posture across data, infrastructure and regulation, then executes the relocation, remediation and control build that follows.</a:t>
            </a:r>
            <a:endParaRPr lang="en-US" sz="1450" dirty="0"/>
          </a:p>
        </p:txBody>
      </p:sp>
      <p:sp>
        <p:nvSpPr>
          <p:cNvPr id="7" name="Text 5"/>
          <p:cNvSpPr txBox="1"/>
          <p:nvPr/>
        </p:nvSpPr>
        <p:spPr>
          <a:xfrm>
            <a:off x="8366760" y="2724912"/>
            <a:ext cx="3108960" cy="420624"/>
          </a:xfrm>
          <a:prstGeom prst="rect">
            <a:avLst/>
          </a:prstGeom>
          <a:noFill/>
          <a:ln/>
        </p:spPr>
        <p:txBody>
          <a:bodyPr wrap="square" lIns="0" tIns="0" rIns="0" bIns="0" rtlCol="0" anchor="ctr"/>
          <a:lstStyle/>
          <a:p>
            <a:pPr marL="0" indent="0">
              <a:buNone/>
            </a:pPr>
            <a:r>
              <a:rPr lang="en-US" sz="2800" b="1" dirty="0">
                <a:solidFill>
                  <a:srgbClr val="5DCAA5"/>
                </a:solidFill>
                <a:latin typeface="Cambria" pitchFamily="34" charset="0"/>
                <a:ea typeface="Cambria" pitchFamily="34" charset="-122"/>
                <a:cs typeface="Cambria" pitchFamily="34" charset="-120"/>
              </a:rPr>
              <a:t>$80B</a:t>
            </a:r>
            <a:endParaRPr lang="en-US" sz="2800" dirty="0"/>
          </a:p>
        </p:txBody>
      </p:sp>
      <p:sp>
        <p:nvSpPr>
          <p:cNvPr id="8" name="Text 6"/>
          <p:cNvSpPr txBox="1"/>
          <p:nvPr/>
        </p:nvSpPr>
        <p:spPr>
          <a:xfrm>
            <a:off x="8394192" y="3127248"/>
            <a:ext cx="3063240" cy="384048"/>
          </a:xfrm>
          <a:prstGeom prst="rect">
            <a:avLst/>
          </a:prstGeom>
          <a:noFill/>
          <a:ln/>
        </p:spPr>
        <p:txBody>
          <a:bodyPr wrap="square" lIns="0" tIns="0" rIns="0" bIns="0" rtlCol="0" anchor="ctr"/>
          <a:lstStyle/>
          <a:p>
            <a:pPr marL="0" indent="0">
              <a:lnSpc>
                <a:spcPct val="95000"/>
              </a:lnSpc>
              <a:buNone/>
            </a:pPr>
            <a:r>
              <a:rPr lang="en-US" sz="1050" dirty="0">
                <a:solidFill>
                  <a:srgbClr val="CDEBE1"/>
                </a:solidFill>
                <a:latin typeface="Calibri" pitchFamily="34" charset="0"/>
                <a:ea typeface="Calibri" pitchFamily="34" charset="-122"/>
                <a:cs typeface="Calibri" pitchFamily="34" charset="-120"/>
              </a:rPr>
              <a:t>worldwide sovereign cloud IaaS spend in 2026, up 35.6% YoY</a:t>
            </a:r>
            <a:endParaRPr lang="en-US" sz="1050" dirty="0"/>
          </a:p>
        </p:txBody>
      </p:sp>
      <p:sp>
        <p:nvSpPr>
          <p:cNvPr id="9" name="Text 7"/>
          <p:cNvSpPr txBox="1"/>
          <p:nvPr/>
        </p:nvSpPr>
        <p:spPr>
          <a:xfrm>
            <a:off x="8366760" y="3511296"/>
            <a:ext cx="3108960" cy="420624"/>
          </a:xfrm>
          <a:prstGeom prst="rect">
            <a:avLst/>
          </a:prstGeom>
          <a:noFill/>
          <a:ln/>
        </p:spPr>
        <p:txBody>
          <a:bodyPr wrap="square" lIns="0" tIns="0" rIns="0" bIns="0" rtlCol="0" anchor="ctr"/>
          <a:lstStyle/>
          <a:p>
            <a:pPr marL="0" indent="0">
              <a:buNone/>
            </a:pPr>
            <a:r>
              <a:rPr lang="en-US" sz="2800" b="1" dirty="0">
                <a:solidFill>
                  <a:srgbClr val="5DCAA5"/>
                </a:solidFill>
                <a:latin typeface="Cambria" pitchFamily="34" charset="0"/>
                <a:ea typeface="Cambria" pitchFamily="34" charset="-122"/>
                <a:cs typeface="Cambria" pitchFamily="34" charset="-120"/>
              </a:rPr>
              <a:t>+83%</a:t>
            </a:r>
            <a:endParaRPr lang="en-US" sz="2800" dirty="0"/>
          </a:p>
        </p:txBody>
      </p:sp>
      <p:sp>
        <p:nvSpPr>
          <p:cNvPr id="10" name="Text 8"/>
          <p:cNvSpPr txBox="1"/>
          <p:nvPr/>
        </p:nvSpPr>
        <p:spPr>
          <a:xfrm>
            <a:off x="8394192" y="3913632"/>
            <a:ext cx="3063240" cy="384048"/>
          </a:xfrm>
          <a:prstGeom prst="rect">
            <a:avLst/>
          </a:prstGeom>
          <a:noFill/>
          <a:ln/>
        </p:spPr>
        <p:txBody>
          <a:bodyPr wrap="square" lIns="0" tIns="0" rIns="0" bIns="0" rtlCol="0" anchor="ctr"/>
          <a:lstStyle/>
          <a:p>
            <a:pPr marL="0" indent="0">
              <a:lnSpc>
                <a:spcPct val="95000"/>
              </a:lnSpc>
              <a:buNone/>
            </a:pPr>
            <a:r>
              <a:rPr lang="en-US" sz="1050" dirty="0">
                <a:solidFill>
                  <a:srgbClr val="CDEBE1"/>
                </a:solidFill>
                <a:latin typeface="Calibri" pitchFamily="34" charset="0"/>
                <a:ea typeface="Calibri" pitchFamily="34" charset="-122"/>
                <a:cs typeface="Calibri" pitchFamily="34" charset="-120"/>
              </a:rPr>
              <a:t>European sovereign cloud growth in 2026 — overtaking N. America by 2027</a:t>
            </a:r>
            <a:endParaRPr lang="en-US" sz="1050" dirty="0"/>
          </a:p>
        </p:txBody>
      </p:sp>
      <p:sp>
        <p:nvSpPr>
          <p:cNvPr id="11" name="Text 9"/>
          <p:cNvSpPr txBox="1"/>
          <p:nvPr/>
        </p:nvSpPr>
        <p:spPr>
          <a:xfrm>
            <a:off x="8366760" y="4297680"/>
            <a:ext cx="3108960" cy="420624"/>
          </a:xfrm>
          <a:prstGeom prst="rect">
            <a:avLst/>
          </a:prstGeom>
          <a:noFill/>
          <a:ln/>
        </p:spPr>
        <p:txBody>
          <a:bodyPr wrap="square" lIns="0" tIns="0" rIns="0" bIns="0" rtlCol="0" anchor="ctr"/>
          <a:lstStyle/>
          <a:p>
            <a:pPr marL="0" indent="0">
              <a:buNone/>
            </a:pPr>
            <a:r>
              <a:rPr lang="en-US" sz="2800" b="1" dirty="0">
                <a:solidFill>
                  <a:srgbClr val="5DCAA5"/>
                </a:solidFill>
                <a:latin typeface="Cambria" pitchFamily="34" charset="0"/>
                <a:ea typeface="Cambria" pitchFamily="34" charset="-122"/>
                <a:cs typeface="Cambria" pitchFamily="34" charset="-120"/>
              </a:rPr>
              <a:t>20%</a:t>
            </a:r>
            <a:endParaRPr lang="en-US" sz="2800" dirty="0"/>
          </a:p>
        </p:txBody>
      </p:sp>
      <p:sp>
        <p:nvSpPr>
          <p:cNvPr id="12" name="Text 10"/>
          <p:cNvSpPr txBox="1"/>
          <p:nvPr/>
        </p:nvSpPr>
        <p:spPr>
          <a:xfrm>
            <a:off x="8394192" y="4700016"/>
            <a:ext cx="3063240" cy="384048"/>
          </a:xfrm>
          <a:prstGeom prst="rect">
            <a:avLst/>
          </a:prstGeom>
          <a:noFill/>
          <a:ln/>
        </p:spPr>
        <p:txBody>
          <a:bodyPr wrap="square" lIns="0" tIns="0" rIns="0" bIns="0" rtlCol="0" anchor="ctr"/>
          <a:lstStyle/>
          <a:p>
            <a:pPr marL="0" indent="0">
              <a:lnSpc>
                <a:spcPct val="95000"/>
              </a:lnSpc>
              <a:buNone/>
            </a:pPr>
            <a:r>
              <a:rPr lang="en-US" sz="1050" dirty="0">
                <a:solidFill>
                  <a:srgbClr val="CDEBE1"/>
                </a:solidFill>
                <a:latin typeface="Calibri" pitchFamily="34" charset="0"/>
                <a:ea typeface="Calibri" pitchFamily="34" charset="-122"/>
                <a:cs typeface="Calibri" pitchFamily="34" charset="-120"/>
              </a:rPr>
              <a:t>of workloads shifting global → local via geopatriation</a:t>
            </a:r>
            <a:endParaRPr lang="en-US" sz="1050" dirty="0"/>
          </a:p>
        </p:txBody>
      </p:sp>
      <p:sp>
        <p:nvSpPr>
          <p:cNvPr id="13" name="Text 11"/>
          <p:cNvSpPr txBox="1"/>
          <p:nvPr/>
        </p:nvSpPr>
        <p:spPr>
          <a:xfrm>
            <a:off x="685800" y="5285232"/>
            <a:ext cx="5486400" cy="274320"/>
          </a:xfrm>
          <a:prstGeom prst="rect">
            <a:avLst/>
          </a:prstGeom>
          <a:noFill/>
          <a:ln/>
        </p:spPr>
        <p:txBody>
          <a:bodyPr wrap="square" lIns="0" tIns="0" rIns="0" bIns="0" rtlCol="0" anchor="ctr"/>
          <a:lstStyle/>
          <a:p>
            <a:pPr marL="0" indent="0">
              <a:buNone/>
            </a:pPr>
            <a:r>
              <a:rPr lang="en-US" sz="1050" b="1" kern="0" spc="200" dirty="0">
                <a:solidFill>
                  <a:srgbClr val="5DCAA5"/>
                </a:solidFill>
                <a:latin typeface="Calibri" pitchFamily="34" charset="0"/>
                <a:ea typeface="Calibri" pitchFamily="34" charset="-122"/>
                <a:cs typeface="Calibri" pitchFamily="34" charset="-120"/>
              </a:rPr>
              <a:t>THE ENGAGEMENT SPINE</a:t>
            </a:r>
            <a:endParaRPr lang="en-US" sz="1050" dirty="0"/>
          </a:p>
        </p:txBody>
      </p:sp>
      <p:sp>
        <p:nvSpPr>
          <p:cNvPr id="14" name="Text 12"/>
          <p:cNvSpPr txBox="1"/>
          <p:nvPr/>
        </p:nvSpPr>
        <p:spPr>
          <a:xfrm>
            <a:off x="685800" y="5596128"/>
            <a:ext cx="10789920" cy="457200"/>
          </a:xfrm>
          <a:prstGeom prst="rect">
            <a:avLst/>
          </a:prstGeom>
          <a:noFill/>
          <a:ln/>
        </p:spPr>
        <p:txBody>
          <a:bodyPr wrap="square" lIns="0" tIns="0" rIns="0" bIns="0" rtlCol="0" anchor="ctr"/>
          <a:lstStyle/>
          <a:p>
            <a:pPr marL="0" indent="0">
              <a:buNone/>
            </a:pPr>
            <a:r>
              <a:rPr lang="en-US" sz="1800" i="1" dirty="0">
                <a:solidFill>
                  <a:srgbClr val="FFFFFF"/>
                </a:solidFill>
                <a:latin typeface="Cambria" pitchFamily="34" charset="0"/>
                <a:ea typeface="Cambria" pitchFamily="34" charset="-122"/>
                <a:cs typeface="Cambria" pitchFamily="34" charset="-120"/>
              </a:rPr>
              <a:t>Diagnostic first → the evidence chooses the path → application roadmap sequences the work → delivery.</a:t>
            </a:r>
            <a:endParaRPr lang="en-US" sz="1800" dirty="0"/>
          </a:p>
        </p:txBody>
      </p:sp>
      <p:sp>
        <p:nvSpPr>
          <p:cNvPr id="15" name="Text 13"/>
          <p:cNvSpPr txBox="1"/>
          <p:nvPr/>
        </p:nvSpPr>
        <p:spPr>
          <a:xfrm>
            <a:off x="685800" y="6108192"/>
            <a:ext cx="7498080" cy="320040"/>
          </a:xfrm>
          <a:prstGeom prst="rect">
            <a:avLst/>
          </a:prstGeom>
          <a:noFill/>
          <a:ln/>
        </p:spPr>
        <p:txBody>
          <a:bodyPr wrap="square" lIns="0" tIns="0" rIns="0" bIns="0" rtlCol="0" anchor="ctr"/>
          <a:lstStyle/>
          <a:p>
            <a:pPr marL="0" indent="0">
              <a:buNone/>
            </a:pPr>
            <a:r>
              <a:rPr lang="en-US" sz="1200" dirty="0">
                <a:solidFill>
                  <a:srgbClr val="A7D9C9"/>
                </a:solidFill>
                <a:latin typeface="Calibri" pitchFamily="34" charset="0"/>
                <a:ea typeface="Calibri" pitchFamily="34" charset="-122"/>
                <a:cs typeface="Calibri" pitchFamily="34" charset="-120"/>
              </a:rPr>
              <a:t>Sovereign IQ  ›  Posture IQ / Regulatory IQ  ›  the offering the evidence points to  ›  02.4 roadmap  ›  migration &amp; build</a:t>
            </a:r>
            <a:endParaRPr lang="en-US" sz="1200" dirty="0"/>
          </a:p>
        </p:txBody>
      </p:sp>
      <p:sp>
        <p:nvSpPr>
          <p:cNvPr id="16" name="Text 14"/>
          <p:cNvSpPr txBox="1"/>
          <p:nvPr/>
        </p:nvSpPr>
        <p:spPr>
          <a:xfrm>
            <a:off x="8366760" y="6108192"/>
            <a:ext cx="3108960" cy="274320"/>
          </a:xfrm>
          <a:prstGeom prst="rect">
            <a:avLst/>
          </a:prstGeom>
          <a:noFill/>
          <a:ln/>
        </p:spPr>
        <p:txBody>
          <a:bodyPr wrap="square" lIns="0" tIns="0" rIns="0" bIns="0" rtlCol="0" anchor="ctr"/>
          <a:lstStyle/>
          <a:p>
            <a:pPr marL="0" indent="0" algn="r">
              <a:buNone/>
            </a:pPr>
            <a:r>
              <a:rPr lang="en-US" sz="900" i="1" dirty="0">
                <a:solidFill>
                  <a:srgbClr val="7FC0AD"/>
                </a:solidFill>
                <a:latin typeface="Calibri" pitchFamily="34" charset="0"/>
                <a:ea typeface="Calibri" pitchFamily="34" charset="-122"/>
                <a:cs typeface="Calibri" pitchFamily="34" charset="-120"/>
              </a:rPr>
              <a:t>Source: Gartner, Feb 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HOW EVERY ENGAGEMENT FINDS ITS PATH</a:t>
            </a:r>
            <a:endParaRPr lang="en-US" sz="1100" dirty="0"/>
          </a:p>
        </p:txBody>
      </p:sp>
      <p:sp>
        <p:nvSpPr>
          <p:cNvPr id="3" name="Text 1"/>
          <p:cNvSpPr txBox="1"/>
          <p:nvPr/>
        </p:nvSpPr>
        <p:spPr>
          <a:xfrm>
            <a:off x="484632" y="676656"/>
            <a:ext cx="10058400" cy="457200"/>
          </a:xfrm>
          <a:prstGeom prst="rect">
            <a:avLst/>
          </a:prstGeom>
          <a:noFill/>
          <a:ln/>
        </p:spPr>
        <p:txBody>
          <a:bodyPr wrap="square" lIns="0" tIns="0" rIns="0" bIns="0" rtlCol="0" anchor="ctr"/>
          <a:lstStyle/>
          <a:p>
            <a:pPr marL="0" indent="0">
              <a:buNone/>
            </a:pPr>
            <a:r>
              <a:rPr lang="en-US" sz="2500" b="1" dirty="0">
                <a:solidFill>
                  <a:srgbClr val="1B1F23"/>
                </a:solidFill>
                <a:latin typeface="Cambria" pitchFamily="34" charset="0"/>
                <a:ea typeface="Cambria" pitchFamily="34" charset="-122"/>
                <a:cs typeface="Cambria" pitchFamily="34" charset="-120"/>
              </a:rPr>
              <a:t>The Digital Sovereignty routing map</a:t>
            </a:r>
            <a:endParaRPr lang="en-US" sz="2500" dirty="0"/>
          </a:p>
        </p:txBody>
      </p:sp>
      <p:sp>
        <p:nvSpPr>
          <p:cNvPr id="4" name="Text 2"/>
          <p:cNvSpPr txBox="1"/>
          <p:nvPr/>
        </p:nvSpPr>
        <p:spPr>
          <a:xfrm>
            <a:off x="502920" y="1188720"/>
            <a:ext cx="10972800" cy="274320"/>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Start with a diagnostic, not a pitch. The evidence — not a salesperson — determines which offering the client needs.</a:t>
            </a:r>
            <a:endParaRPr lang="en-US" sz="1200" dirty="0"/>
          </a:p>
        </p:txBody>
      </p:sp>
      <p:sp>
        <p:nvSpPr>
          <p:cNvPr id="5" name="Shape 3"/>
          <p:cNvSpPr/>
          <p:nvPr/>
        </p:nvSpPr>
        <p:spPr>
          <a:xfrm>
            <a:off x="4114800" y="1691640"/>
            <a:ext cx="3959352" cy="603504"/>
          </a:xfrm>
          <a:prstGeom prst="roundRect">
            <a:avLst>
              <a:gd name="adj" fmla="val 9091"/>
            </a:avLst>
          </a:prstGeom>
          <a:solidFill>
            <a:srgbClr val="0F6E56"/>
          </a:solidFill>
          <a:ln/>
        </p:spPr>
        <p:txBody>
          <a:bodyPr/>
          <a:lstStyle/>
          <a:p>
            <a:endParaRPr lang="en-US"/>
          </a:p>
        </p:txBody>
      </p:sp>
      <p:sp>
        <p:nvSpPr>
          <p:cNvPr id="6" name="Text 4"/>
          <p:cNvSpPr txBox="1"/>
          <p:nvPr/>
        </p:nvSpPr>
        <p:spPr>
          <a:xfrm>
            <a:off x="4114800" y="1691640"/>
            <a:ext cx="3959352" cy="60350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Sovereign IQ   </a:t>
            </a:r>
            <a:r>
              <a:rPr lang="en-US" sz="1100" i="1" dirty="0">
                <a:solidFill>
                  <a:srgbClr val="9FE1CB"/>
                </a:solidFill>
                <a:latin typeface="Calibri" pitchFamily="34" charset="0"/>
                <a:ea typeface="Calibri" pitchFamily="34" charset="-122"/>
                <a:cs typeface="Calibri" pitchFamily="34" charset="-120"/>
              </a:rPr>
              <a:t>free self-assessment</a:t>
            </a:r>
            <a:endParaRPr lang="en-US" sz="1500" dirty="0"/>
          </a:p>
        </p:txBody>
      </p:sp>
      <p:sp>
        <p:nvSpPr>
          <p:cNvPr id="7" name="Shape 5"/>
          <p:cNvSpPr/>
          <p:nvPr/>
        </p:nvSpPr>
        <p:spPr>
          <a:xfrm>
            <a:off x="5120640" y="2295144"/>
            <a:ext cx="0" cy="310896"/>
          </a:xfrm>
          <a:prstGeom prst="line">
            <a:avLst/>
          </a:prstGeom>
          <a:noFill/>
          <a:ln w="19050">
            <a:solidFill>
              <a:srgbClr val="0F6E56"/>
            </a:solidFill>
            <a:prstDash val="solid"/>
            <a:tailEnd type="triangle"/>
          </a:ln>
        </p:spPr>
        <p:txBody>
          <a:bodyPr/>
          <a:lstStyle/>
          <a:p>
            <a:endParaRPr lang="en-US"/>
          </a:p>
        </p:txBody>
      </p:sp>
      <p:sp>
        <p:nvSpPr>
          <p:cNvPr id="8" name="Shape 6"/>
          <p:cNvSpPr/>
          <p:nvPr/>
        </p:nvSpPr>
        <p:spPr>
          <a:xfrm>
            <a:off x="7040880" y="2295144"/>
            <a:ext cx="0" cy="310896"/>
          </a:xfrm>
          <a:prstGeom prst="line">
            <a:avLst/>
          </a:prstGeom>
          <a:noFill/>
          <a:ln w="19050">
            <a:solidFill>
              <a:srgbClr val="0F6E56"/>
            </a:solidFill>
            <a:prstDash val="solid"/>
            <a:tailEnd type="triangle"/>
          </a:ln>
        </p:spPr>
        <p:txBody>
          <a:bodyPr/>
          <a:lstStyle/>
          <a:p>
            <a:endParaRPr lang="en-US"/>
          </a:p>
        </p:txBody>
      </p:sp>
      <p:sp>
        <p:nvSpPr>
          <p:cNvPr id="9" name="Shape 7"/>
          <p:cNvSpPr/>
          <p:nvPr/>
        </p:nvSpPr>
        <p:spPr>
          <a:xfrm>
            <a:off x="3108960" y="2651760"/>
            <a:ext cx="2331720" cy="566928"/>
          </a:xfrm>
          <a:prstGeom prst="roundRect">
            <a:avLst>
              <a:gd name="adj" fmla="val 9677"/>
            </a:avLst>
          </a:prstGeom>
          <a:solidFill>
            <a:srgbClr val="0A5643"/>
          </a:solidFill>
          <a:ln/>
        </p:spPr>
        <p:txBody>
          <a:bodyPr/>
          <a:lstStyle/>
          <a:p>
            <a:endParaRPr lang="en-US"/>
          </a:p>
        </p:txBody>
      </p:sp>
      <p:sp>
        <p:nvSpPr>
          <p:cNvPr id="10" name="Text 8"/>
          <p:cNvSpPr txBox="1"/>
          <p:nvPr/>
        </p:nvSpPr>
        <p:spPr>
          <a:xfrm>
            <a:off x="3108960" y="2651760"/>
            <a:ext cx="2331720" cy="566928"/>
          </a:xfrm>
          <a:prstGeom prst="rect">
            <a:avLst/>
          </a:prstGeom>
          <a:noFill/>
          <a:ln/>
        </p:spPr>
        <p:txBody>
          <a:bodyPr wrap="square" lIns="0" tIns="0" rIns="0" bIns="0" rtlCol="0" anchor="ctr"/>
          <a:lstStyle/>
          <a:p>
            <a:pPr marL="0" indent="0" algn="ctr">
              <a:lnSpc>
                <a:spcPct val="90000"/>
              </a:lnSpc>
              <a:buNone/>
            </a:pPr>
            <a:r>
              <a:rPr lang="en-US" sz="1300" b="1" dirty="0">
                <a:solidFill>
                  <a:srgbClr val="FFFFFF"/>
                </a:solidFill>
                <a:latin typeface="Cambria" pitchFamily="34" charset="0"/>
                <a:ea typeface="Cambria" pitchFamily="34" charset="-122"/>
                <a:cs typeface="Cambria" pitchFamily="34" charset="-120"/>
              </a:rPr>
              <a:t>Posture IQ
</a:t>
            </a:r>
            <a:r>
              <a:rPr lang="en-US" sz="900" dirty="0">
                <a:solidFill>
                  <a:srgbClr val="9FE1CB"/>
                </a:solidFill>
                <a:latin typeface="Calibri" pitchFamily="34" charset="0"/>
                <a:ea typeface="Calibri" pitchFamily="34" charset="-122"/>
                <a:cs typeface="Calibri" pitchFamily="34" charset="-120"/>
              </a:rPr>
              <a:t>data · infra · cross-border</a:t>
            </a:r>
            <a:endParaRPr lang="en-US" sz="1300" dirty="0"/>
          </a:p>
        </p:txBody>
      </p:sp>
      <p:sp>
        <p:nvSpPr>
          <p:cNvPr id="11" name="Shape 9"/>
          <p:cNvSpPr/>
          <p:nvPr/>
        </p:nvSpPr>
        <p:spPr>
          <a:xfrm>
            <a:off x="5806440" y="2651760"/>
            <a:ext cx="2331720" cy="566928"/>
          </a:xfrm>
          <a:prstGeom prst="roundRect">
            <a:avLst>
              <a:gd name="adj" fmla="val 9677"/>
            </a:avLst>
          </a:prstGeom>
          <a:solidFill>
            <a:srgbClr val="0A5643"/>
          </a:solidFill>
          <a:ln/>
        </p:spPr>
        <p:txBody>
          <a:bodyPr/>
          <a:lstStyle/>
          <a:p>
            <a:endParaRPr lang="en-US"/>
          </a:p>
        </p:txBody>
      </p:sp>
      <p:sp>
        <p:nvSpPr>
          <p:cNvPr id="12" name="Text 10"/>
          <p:cNvSpPr txBox="1"/>
          <p:nvPr/>
        </p:nvSpPr>
        <p:spPr>
          <a:xfrm>
            <a:off x="5806440" y="2651760"/>
            <a:ext cx="2331720" cy="566928"/>
          </a:xfrm>
          <a:prstGeom prst="rect">
            <a:avLst/>
          </a:prstGeom>
          <a:noFill/>
          <a:ln/>
        </p:spPr>
        <p:txBody>
          <a:bodyPr wrap="square" lIns="0" tIns="0" rIns="0" bIns="0" rtlCol="0" anchor="ctr"/>
          <a:lstStyle/>
          <a:p>
            <a:pPr marL="0" indent="0" algn="ctr">
              <a:lnSpc>
                <a:spcPct val="90000"/>
              </a:lnSpc>
              <a:buNone/>
            </a:pPr>
            <a:r>
              <a:rPr lang="en-US" sz="1300" b="1" dirty="0">
                <a:solidFill>
                  <a:srgbClr val="FFFFFF"/>
                </a:solidFill>
                <a:latin typeface="Cambria" pitchFamily="34" charset="0"/>
                <a:ea typeface="Cambria" pitchFamily="34" charset="-122"/>
                <a:cs typeface="Cambria" pitchFamily="34" charset="-120"/>
              </a:rPr>
              <a:t>Regulatory IQ
</a:t>
            </a:r>
            <a:r>
              <a:rPr lang="en-US" sz="900" dirty="0">
                <a:solidFill>
                  <a:srgbClr val="9FE1CB"/>
                </a:solidFill>
                <a:latin typeface="Calibri" pitchFamily="34" charset="0"/>
                <a:ea typeface="Calibri" pitchFamily="34" charset="-122"/>
                <a:cs typeface="Calibri" pitchFamily="34" charset="-120"/>
              </a:rPr>
              <a:t>compliance vs a specific Act</a:t>
            </a:r>
            <a:endParaRPr lang="en-US" sz="1300" dirty="0"/>
          </a:p>
        </p:txBody>
      </p:sp>
      <p:sp>
        <p:nvSpPr>
          <p:cNvPr id="13" name="Text 11"/>
          <p:cNvSpPr txBox="1"/>
          <p:nvPr/>
        </p:nvSpPr>
        <p:spPr>
          <a:xfrm>
            <a:off x="502920" y="3401568"/>
            <a:ext cx="10972800" cy="256032"/>
          </a:xfrm>
          <a:prstGeom prst="rect">
            <a:avLst/>
          </a:prstGeom>
          <a:noFill/>
          <a:ln/>
        </p:spPr>
        <p:txBody>
          <a:bodyPr wrap="square" lIns="0" tIns="0" rIns="0" bIns="0" rtlCol="0" anchor="ctr"/>
          <a:lstStyle/>
          <a:p>
            <a:pPr marL="0" indent="0" algn="ctr">
              <a:buNone/>
            </a:pPr>
            <a:r>
              <a:rPr lang="en-US" sz="1100" b="1" dirty="0">
                <a:solidFill>
                  <a:srgbClr val="D35400"/>
                </a:solidFill>
                <a:latin typeface="Calibri" pitchFamily="34" charset="0"/>
                <a:ea typeface="Calibri" pitchFamily="34" charset="-122"/>
                <a:cs typeface="Calibri" pitchFamily="34" charset="-120"/>
              </a:rPr>
              <a:t>The evidence routes to the offering that fits ↓</a:t>
            </a:r>
            <a:endParaRPr lang="en-US" sz="1100" dirty="0"/>
          </a:p>
        </p:txBody>
      </p:sp>
      <p:sp>
        <p:nvSpPr>
          <p:cNvPr id="14" name="Shape 12"/>
          <p:cNvSpPr/>
          <p:nvPr/>
        </p:nvSpPr>
        <p:spPr>
          <a:xfrm>
            <a:off x="658368" y="3767328"/>
            <a:ext cx="2542032" cy="932688"/>
          </a:xfrm>
          <a:prstGeom prst="roundRect">
            <a:avLst>
              <a:gd name="adj" fmla="val 5882"/>
            </a:avLst>
          </a:prstGeom>
          <a:solidFill>
            <a:srgbClr val="E1F5EE"/>
          </a:solidFill>
          <a:ln w="9525">
            <a:solidFill>
              <a:srgbClr val="5DCAA5"/>
            </a:solidFill>
            <a:prstDash val="solid"/>
          </a:ln>
        </p:spPr>
        <p:txBody>
          <a:bodyPr/>
          <a:lstStyle/>
          <a:p>
            <a:endParaRPr lang="en-US"/>
          </a:p>
        </p:txBody>
      </p:sp>
      <p:sp>
        <p:nvSpPr>
          <p:cNvPr id="15" name="Text 13"/>
          <p:cNvSpPr txBox="1"/>
          <p:nvPr/>
        </p:nvSpPr>
        <p:spPr>
          <a:xfrm>
            <a:off x="768096" y="3895344"/>
            <a:ext cx="2322576" cy="457200"/>
          </a:xfrm>
          <a:prstGeom prst="rect">
            <a:avLst/>
          </a:prstGeom>
          <a:noFill/>
          <a:ln/>
        </p:spPr>
        <p:txBody>
          <a:bodyPr wrap="square" lIns="0" tIns="0" rIns="0" bIns="0" rtlCol="0" anchor="ctr"/>
          <a:lstStyle/>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02.1 Posture &amp;</a:t>
            </a:r>
            <a:endParaRPr lang="en-US" sz="1250" dirty="0"/>
          </a:p>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Geopatriation</a:t>
            </a:r>
            <a:endParaRPr lang="en-US" sz="1250" dirty="0"/>
          </a:p>
        </p:txBody>
      </p:sp>
      <p:sp>
        <p:nvSpPr>
          <p:cNvPr id="16" name="Text 14"/>
          <p:cNvSpPr txBox="1"/>
          <p:nvPr/>
        </p:nvSpPr>
        <p:spPr>
          <a:xfrm>
            <a:off x="768096" y="4334256"/>
            <a:ext cx="2322576" cy="310896"/>
          </a:xfrm>
          <a:prstGeom prst="rect">
            <a:avLst/>
          </a:prstGeom>
          <a:noFill/>
          <a:ln/>
        </p:spPr>
        <p:txBody>
          <a:bodyPr wrap="square" lIns="0" tIns="0" rIns="0" bIns="0" rtlCol="0" anchor="ctr"/>
          <a:lstStyle/>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workloads in wrong</a:t>
            </a:r>
            <a:endParaRPr lang="en-US" sz="950" dirty="0"/>
          </a:p>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jurisdiction</a:t>
            </a:r>
            <a:endParaRPr lang="en-US" sz="950" dirty="0"/>
          </a:p>
        </p:txBody>
      </p:sp>
      <p:sp>
        <p:nvSpPr>
          <p:cNvPr id="17" name="Shape 15"/>
          <p:cNvSpPr/>
          <p:nvPr/>
        </p:nvSpPr>
        <p:spPr>
          <a:xfrm>
            <a:off x="3419856" y="3767328"/>
            <a:ext cx="2542032" cy="932688"/>
          </a:xfrm>
          <a:prstGeom prst="roundRect">
            <a:avLst>
              <a:gd name="adj" fmla="val 5882"/>
            </a:avLst>
          </a:prstGeom>
          <a:solidFill>
            <a:srgbClr val="E1F5EE"/>
          </a:solidFill>
          <a:ln w="9525">
            <a:solidFill>
              <a:srgbClr val="5DCAA5"/>
            </a:solidFill>
            <a:prstDash val="solid"/>
          </a:ln>
        </p:spPr>
        <p:txBody>
          <a:bodyPr/>
          <a:lstStyle/>
          <a:p>
            <a:endParaRPr lang="en-US"/>
          </a:p>
        </p:txBody>
      </p:sp>
      <p:sp>
        <p:nvSpPr>
          <p:cNvPr id="18" name="Text 16"/>
          <p:cNvSpPr txBox="1"/>
          <p:nvPr/>
        </p:nvSpPr>
        <p:spPr>
          <a:xfrm>
            <a:off x="3529584" y="3895344"/>
            <a:ext cx="2322576" cy="457200"/>
          </a:xfrm>
          <a:prstGeom prst="rect">
            <a:avLst/>
          </a:prstGeom>
          <a:noFill/>
          <a:ln/>
        </p:spPr>
        <p:txBody>
          <a:bodyPr wrap="square" lIns="0" tIns="0" rIns="0" bIns="0" rtlCol="0" anchor="ctr"/>
          <a:lstStyle/>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02.2 Cross-Border</a:t>
            </a:r>
            <a:endParaRPr lang="en-US" sz="1250" dirty="0"/>
          </a:p>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Data Strategy</a:t>
            </a:r>
            <a:endParaRPr lang="en-US" sz="1250" dirty="0"/>
          </a:p>
        </p:txBody>
      </p:sp>
      <p:sp>
        <p:nvSpPr>
          <p:cNvPr id="19" name="Text 17"/>
          <p:cNvSpPr txBox="1"/>
          <p:nvPr/>
        </p:nvSpPr>
        <p:spPr>
          <a:xfrm>
            <a:off x="3529584" y="4334256"/>
            <a:ext cx="2322576" cy="310896"/>
          </a:xfrm>
          <a:prstGeom prst="rect">
            <a:avLst/>
          </a:prstGeom>
          <a:noFill/>
          <a:ln/>
        </p:spPr>
        <p:txBody>
          <a:bodyPr wrap="square" lIns="0" tIns="0" rIns="0" bIns="0" rtlCol="0" anchor="ctr"/>
          <a:lstStyle/>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data crossing borders</a:t>
            </a:r>
            <a:endParaRPr lang="en-US" sz="950" dirty="0"/>
          </a:p>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unprotected</a:t>
            </a:r>
            <a:endParaRPr lang="en-US" sz="950" dirty="0"/>
          </a:p>
        </p:txBody>
      </p:sp>
      <p:sp>
        <p:nvSpPr>
          <p:cNvPr id="20" name="Shape 18"/>
          <p:cNvSpPr/>
          <p:nvPr/>
        </p:nvSpPr>
        <p:spPr>
          <a:xfrm>
            <a:off x="6181344" y="3767328"/>
            <a:ext cx="2542032" cy="932688"/>
          </a:xfrm>
          <a:prstGeom prst="roundRect">
            <a:avLst>
              <a:gd name="adj" fmla="val 5882"/>
            </a:avLst>
          </a:prstGeom>
          <a:solidFill>
            <a:srgbClr val="E1F5EE"/>
          </a:solidFill>
          <a:ln w="9525">
            <a:solidFill>
              <a:srgbClr val="5DCAA5"/>
            </a:solidFill>
            <a:prstDash val="solid"/>
          </a:ln>
        </p:spPr>
        <p:txBody>
          <a:bodyPr/>
          <a:lstStyle/>
          <a:p>
            <a:endParaRPr lang="en-US"/>
          </a:p>
        </p:txBody>
      </p:sp>
      <p:sp>
        <p:nvSpPr>
          <p:cNvPr id="21" name="Text 19"/>
          <p:cNvSpPr txBox="1"/>
          <p:nvPr/>
        </p:nvSpPr>
        <p:spPr>
          <a:xfrm>
            <a:off x="6291072" y="3895344"/>
            <a:ext cx="2322576" cy="457200"/>
          </a:xfrm>
          <a:prstGeom prst="rect">
            <a:avLst/>
          </a:prstGeom>
          <a:noFill/>
          <a:ln/>
        </p:spPr>
        <p:txBody>
          <a:bodyPr wrap="square" lIns="0" tIns="0" rIns="0" bIns="0" rtlCol="0" anchor="ctr"/>
          <a:lstStyle/>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02.3 Regulatory</a:t>
            </a:r>
            <a:endParaRPr lang="en-US" sz="1250" dirty="0"/>
          </a:p>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Alignment &amp; Exit</a:t>
            </a:r>
            <a:endParaRPr lang="en-US" sz="1250" dirty="0"/>
          </a:p>
        </p:txBody>
      </p:sp>
      <p:sp>
        <p:nvSpPr>
          <p:cNvPr id="22" name="Text 20"/>
          <p:cNvSpPr txBox="1"/>
          <p:nvPr/>
        </p:nvSpPr>
        <p:spPr>
          <a:xfrm>
            <a:off x="6291072" y="4334256"/>
            <a:ext cx="2322576" cy="310896"/>
          </a:xfrm>
          <a:prstGeom prst="rect">
            <a:avLst/>
          </a:prstGeom>
          <a:noFill/>
          <a:ln/>
        </p:spPr>
        <p:txBody>
          <a:bodyPr wrap="square" lIns="0" tIns="0" rIns="0" bIns="0" rtlCol="0" anchor="ctr"/>
          <a:lstStyle/>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weak vs DORA /</a:t>
            </a:r>
            <a:endParaRPr lang="en-US" sz="950" dirty="0"/>
          </a:p>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NIS2 / EU AI Act</a:t>
            </a:r>
            <a:endParaRPr lang="en-US" sz="950" dirty="0"/>
          </a:p>
        </p:txBody>
      </p:sp>
      <p:sp>
        <p:nvSpPr>
          <p:cNvPr id="23" name="Shape 21"/>
          <p:cNvSpPr/>
          <p:nvPr/>
        </p:nvSpPr>
        <p:spPr>
          <a:xfrm>
            <a:off x="8942832" y="3767328"/>
            <a:ext cx="2542032" cy="932688"/>
          </a:xfrm>
          <a:prstGeom prst="roundRect">
            <a:avLst>
              <a:gd name="adj" fmla="val 5882"/>
            </a:avLst>
          </a:prstGeom>
          <a:solidFill>
            <a:srgbClr val="E1F5EE"/>
          </a:solidFill>
          <a:ln w="9525">
            <a:solidFill>
              <a:srgbClr val="5DCAA5"/>
            </a:solidFill>
            <a:prstDash val="solid"/>
          </a:ln>
        </p:spPr>
        <p:txBody>
          <a:bodyPr/>
          <a:lstStyle/>
          <a:p>
            <a:endParaRPr lang="en-US"/>
          </a:p>
        </p:txBody>
      </p:sp>
      <p:sp>
        <p:nvSpPr>
          <p:cNvPr id="24" name="Text 22"/>
          <p:cNvSpPr txBox="1"/>
          <p:nvPr/>
        </p:nvSpPr>
        <p:spPr>
          <a:xfrm>
            <a:off x="9052560" y="3895344"/>
            <a:ext cx="2322576" cy="457200"/>
          </a:xfrm>
          <a:prstGeom prst="rect">
            <a:avLst/>
          </a:prstGeom>
          <a:noFill/>
          <a:ln/>
        </p:spPr>
        <p:txBody>
          <a:bodyPr wrap="square" lIns="0" tIns="0" rIns="0" bIns="0" rtlCol="0" anchor="ctr"/>
          <a:lstStyle/>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02.5 Sovereign AI &amp;</a:t>
            </a:r>
            <a:endParaRPr lang="en-US" sz="1250" dirty="0"/>
          </a:p>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Data Boundary</a:t>
            </a:r>
            <a:endParaRPr lang="en-US" sz="1250" dirty="0"/>
          </a:p>
        </p:txBody>
      </p:sp>
      <p:sp>
        <p:nvSpPr>
          <p:cNvPr id="25" name="Text 23"/>
          <p:cNvSpPr txBox="1"/>
          <p:nvPr/>
        </p:nvSpPr>
        <p:spPr>
          <a:xfrm>
            <a:off x="9052560" y="4334256"/>
            <a:ext cx="2322576" cy="310896"/>
          </a:xfrm>
          <a:prstGeom prst="rect">
            <a:avLst/>
          </a:prstGeom>
          <a:noFill/>
          <a:ln/>
        </p:spPr>
        <p:txBody>
          <a:bodyPr wrap="square" lIns="0" tIns="0" rIns="0" bIns="0" rtlCol="0" anchor="ctr"/>
          <a:lstStyle/>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AI data leaving</a:t>
            </a:r>
            <a:endParaRPr lang="en-US" sz="950" dirty="0"/>
          </a:p>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the boundary</a:t>
            </a:r>
            <a:endParaRPr lang="en-US" sz="950" dirty="0"/>
          </a:p>
        </p:txBody>
      </p:sp>
      <p:sp>
        <p:nvSpPr>
          <p:cNvPr id="26" name="Shape 24"/>
          <p:cNvSpPr/>
          <p:nvPr/>
        </p:nvSpPr>
        <p:spPr>
          <a:xfrm>
            <a:off x="1929384" y="4700016"/>
            <a:ext cx="0" cy="384048"/>
          </a:xfrm>
          <a:prstGeom prst="line">
            <a:avLst/>
          </a:prstGeom>
          <a:noFill/>
          <a:ln w="15875">
            <a:solidFill>
              <a:srgbClr val="5DCAA5"/>
            </a:solidFill>
            <a:prstDash val="solid"/>
            <a:tailEnd type="triangle"/>
          </a:ln>
        </p:spPr>
        <p:txBody>
          <a:bodyPr/>
          <a:lstStyle/>
          <a:p>
            <a:endParaRPr lang="en-US"/>
          </a:p>
        </p:txBody>
      </p:sp>
      <p:sp>
        <p:nvSpPr>
          <p:cNvPr id="27" name="Shape 25"/>
          <p:cNvSpPr/>
          <p:nvPr/>
        </p:nvSpPr>
        <p:spPr>
          <a:xfrm>
            <a:off x="4480560" y="4700016"/>
            <a:ext cx="0" cy="384048"/>
          </a:xfrm>
          <a:prstGeom prst="line">
            <a:avLst/>
          </a:prstGeom>
          <a:noFill/>
          <a:ln w="15875">
            <a:solidFill>
              <a:srgbClr val="5DCAA5"/>
            </a:solidFill>
            <a:prstDash val="solid"/>
            <a:tailEnd type="triangle"/>
          </a:ln>
        </p:spPr>
        <p:txBody>
          <a:bodyPr/>
          <a:lstStyle/>
          <a:p>
            <a:endParaRPr lang="en-US"/>
          </a:p>
        </p:txBody>
      </p:sp>
      <p:sp>
        <p:nvSpPr>
          <p:cNvPr id="28" name="Shape 26"/>
          <p:cNvSpPr/>
          <p:nvPr/>
        </p:nvSpPr>
        <p:spPr>
          <a:xfrm>
            <a:off x="7022592" y="4700016"/>
            <a:ext cx="0" cy="384048"/>
          </a:xfrm>
          <a:prstGeom prst="line">
            <a:avLst/>
          </a:prstGeom>
          <a:noFill/>
          <a:ln w="15875">
            <a:solidFill>
              <a:srgbClr val="5DCAA5"/>
            </a:solidFill>
            <a:prstDash val="solid"/>
            <a:tailEnd type="triangle"/>
          </a:ln>
        </p:spPr>
        <p:txBody>
          <a:bodyPr/>
          <a:lstStyle/>
          <a:p>
            <a:endParaRPr lang="en-US"/>
          </a:p>
        </p:txBody>
      </p:sp>
      <p:sp>
        <p:nvSpPr>
          <p:cNvPr id="29" name="Shape 27"/>
          <p:cNvSpPr/>
          <p:nvPr/>
        </p:nvSpPr>
        <p:spPr>
          <a:xfrm>
            <a:off x="9564624" y="4700016"/>
            <a:ext cx="0" cy="384048"/>
          </a:xfrm>
          <a:prstGeom prst="line">
            <a:avLst/>
          </a:prstGeom>
          <a:noFill/>
          <a:ln w="15875">
            <a:solidFill>
              <a:srgbClr val="5DCAA5"/>
            </a:solidFill>
            <a:prstDash val="solid"/>
            <a:tailEnd type="triangle"/>
          </a:ln>
        </p:spPr>
        <p:txBody>
          <a:bodyPr/>
          <a:lstStyle/>
          <a:p>
            <a:endParaRPr lang="en-US"/>
          </a:p>
        </p:txBody>
      </p:sp>
      <p:sp>
        <p:nvSpPr>
          <p:cNvPr id="30" name="Shape 28"/>
          <p:cNvSpPr/>
          <p:nvPr/>
        </p:nvSpPr>
        <p:spPr>
          <a:xfrm>
            <a:off x="2651760" y="5138928"/>
            <a:ext cx="6885432" cy="658368"/>
          </a:xfrm>
          <a:prstGeom prst="roundRect">
            <a:avLst>
              <a:gd name="adj" fmla="val 8333"/>
            </a:avLst>
          </a:prstGeom>
          <a:solidFill>
            <a:srgbClr val="0F6E56"/>
          </a:solidFill>
          <a:ln w="15875">
            <a:solidFill>
              <a:srgbClr val="D35400"/>
            </a:solidFill>
            <a:prstDash val="solid"/>
          </a:ln>
        </p:spPr>
        <p:txBody>
          <a:bodyPr/>
          <a:lstStyle/>
          <a:p>
            <a:endParaRPr lang="en-US"/>
          </a:p>
        </p:txBody>
      </p:sp>
      <p:sp>
        <p:nvSpPr>
          <p:cNvPr id="31" name="Text 29"/>
          <p:cNvSpPr txBox="1"/>
          <p:nvPr/>
        </p:nvSpPr>
        <p:spPr>
          <a:xfrm>
            <a:off x="2651760" y="5138928"/>
            <a:ext cx="6885432" cy="65836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  02.4 Application Portfolio Mapping &amp; Roadmap   </a:t>
            </a:r>
            <a:r>
              <a:rPr lang="en-US" sz="1100" i="1" dirty="0">
                <a:solidFill>
                  <a:srgbClr val="9FE1CB"/>
                </a:solidFill>
                <a:latin typeface="Calibri" pitchFamily="34" charset="0"/>
                <a:ea typeface="Calibri" pitchFamily="34" charset="-122"/>
                <a:cs typeface="Calibri" pitchFamily="34" charset="-120"/>
              </a:rPr>
              <a:t>the confluence — every path leads here</a:t>
            </a:r>
            <a:endParaRPr lang="en-US" sz="1400" dirty="0"/>
          </a:p>
        </p:txBody>
      </p:sp>
      <p:sp>
        <p:nvSpPr>
          <p:cNvPr id="32" name="Shape 30"/>
          <p:cNvSpPr/>
          <p:nvPr/>
        </p:nvSpPr>
        <p:spPr>
          <a:xfrm>
            <a:off x="6089904" y="5797296"/>
            <a:ext cx="0" cy="274320"/>
          </a:xfrm>
          <a:prstGeom prst="line">
            <a:avLst/>
          </a:prstGeom>
          <a:noFill/>
          <a:ln w="19050">
            <a:solidFill>
              <a:srgbClr val="0F6E56"/>
            </a:solidFill>
            <a:prstDash val="solid"/>
            <a:tailEnd type="triangle"/>
          </a:ln>
        </p:spPr>
        <p:txBody>
          <a:bodyPr/>
          <a:lstStyle/>
          <a:p>
            <a:endParaRPr lang="en-US"/>
          </a:p>
        </p:txBody>
      </p:sp>
      <p:sp>
        <p:nvSpPr>
          <p:cNvPr id="33" name="Shape 31"/>
          <p:cNvSpPr/>
          <p:nvPr/>
        </p:nvSpPr>
        <p:spPr>
          <a:xfrm>
            <a:off x="4480560" y="6089904"/>
            <a:ext cx="3227832" cy="457200"/>
          </a:xfrm>
          <a:prstGeom prst="roundRect">
            <a:avLst>
              <a:gd name="adj" fmla="val 12000"/>
            </a:avLst>
          </a:prstGeom>
          <a:solidFill>
            <a:srgbClr val="F3F8F6"/>
          </a:solidFill>
          <a:ln w="9525">
            <a:solidFill>
              <a:srgbClr val="D2E4DD"/>
            </a:solidFill>
            <a:prstDash val="solid"/>
          </a:ln>
        </p:spPr>
        <p:txBody>
          <a:bodyPr/>
          <a:lstStyle/>
          <a:p>
            <a:endParaRPr lang="en-US"/>
          </a:p>
        </p:txBody>
      </p:sp>
      <p:sp>
        <p:nvSpPr>
          <p:cNvPr id="34" name="Text 32"/>
          <p:cNvSpPr txBox="1"/>
          <p:nvPr/>
        </p:nvSpPr>
        <p:spPr>
          <a:xfrm>
            <a:off x="4480560" y="6089904"/>
            <a:ext cx="3227832" cy="457200"/>
          </a:xfrm>
          <a:prstGeom prst="rect">
            <a:avLst/>
          </a:prstGeom>
          <a:noFill/>
          <a:ln/>
        </p:spPr>
        <p:txBody>
          <a:bodyPr wrap="square" lIns="0" tIns="0" rIns="0" bIns="0" rtlCol="0" anchor="ctr"/>
          <a:lstStyle/>
          <a:p>
            <a:pPr marL="0" indent="0" algn="ctr">
              <a:buNone/>
            </a:pPr>
            <a:r>
              <a:rPr lang="en-US" sz="1150" b="1" dirty="0">
                <a:solidFill>
                  <a:srgbClr val="0F6E56"/>
                </a:solidFill>
                <a:latin typeface="Calibri" pitchFamily="34" charset="0"/>
                <a:ea typeface="Calibri" pitchFamily="34" charset="-122"/>
                <a:cs typeface="Calibri" pitchFamily="34" charset="-120"/>
              </a:rPr>
              <a:t>Migration &amp; build delivery</a:t>
            </a:r>
            <a:endParaRPr lang="en-US" sz="1150" dirty="0"/>
          </a:p>
        </p:txBody>
      </p:sp>
      <p:sp>
        <p:nvSpPr>
          <p:cNvPr id="35" name="Text 33"/>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6" name="Text 34"/>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Routing map</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THE ENGAGEMENT SPINE</a:t>
            </a:r>
            <a:endParaRPr lang="en-US" sz="1100" dirty="0"/>
          </a:p>
        </p:txBody>
      </p:sp>
      <p:sp>
        <p:nvSpPr>
          <p:cNvPr id="3" name="Text 1"/>
          <p:cNvSpPr txBox="1"/>
          <p:nvPr/>
        </p:nvSpPr>
        <p:spPr>
          <a:xfrm>
            <a:off x="484632" y="676656"/>
            <a:ext cx="10058400" cy="457200"/>
          </a:xfrm>
          <a:prstGeom prst="rect">
            <a:avLst/>
          </a:prstGeom>
          <a:noFill/>
          <a:ln/>
        </p:spPr>
        <p:txBody>
          <a:bodyPr wrap="square" lIns="0" tIns="0" rIns="0" bIns="0" rtlCol="0" anchor="ctr"/>
          <a:lstStyle/>
          <a:p>
            <a:pPr marL="0" indent="0">
              <a:buNone/>
            </a:pPr>
            <a:r>
              <a:rPr lang="en-US" sz="2500" b="1" dirty="0">
                <a:solidFill>
                  <a:srgbClr val="1B1F23"/>
                </a:solidFill>
                <a:latin typeface="Cambria" pitchFamily="34" charset="0"/>
                <a:ea typeface="Cambria" pitchFamily="34" charset="-122"/>
                <a:cs typeface="Cambria" pitchFamily="34" charset="-120"/>
              </a:rPr>
              <a:t>One simple path, five entry points</a:t>
            </a:r>
            <a:endParaRPr lang="en-US" sz="2500" dirty="0"/>
          </a:p>
        </p:txBody>
      </p:sp>
      <p:sp>
        <p:nvSpPr>
          <p:cNvPr id="4" name="Text 2"/>
          <p:cNvSpPr txBox="1"/>
          <p:nvPr/>
        </p:nvSpPr>
        <p:spPr>
          <a:xfrm>
            <a:off x="502920" y="1188720"/>
            <a:ext cx="10972800" cy="274320"/>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The default motion, left to right. Each offering is standalone-sellable — clients can enter at any point in the chain.</a:t>
            </a:r>
            <a:endParaRPr lang="en-US" sz="1200" dirty="0"/>
          </a:p>
        </p:txBody>
      </p:sp>
      <p:sp>
        <p:nvSpPr>
          <p:cNvPr id="5" name="Shape 3"/>
          <p:cNvSpPr/>
          <p:nvPr/>
        </p:nvSpPr>
        <p:spPr>
          <a:xfrm>
            <a:off x="566928" y="2560320"/>
            <a:ext cx="2487168" cy="1554480"/>
          </a:xfrm>
          <a:prstGeom prst="roundRect">
            <a:avLst>
              <a:gd name="adj" fmla="val 4706"/>
            </a:avLst>
          </a:prstGeom>
          <a:solidFill>
            <a:srgbClr val="0A5643"/>
          </a:solidFill>
          <a:ln/>
        </p:spPr>
        <p:txBody>
          <a:bodyPr/>
          <a:lstStyle/>
          <a:p>
            <a:endParaRPr lang="en-US"/>
          </a:p>
        </p:txBody>
      </p:sp>
      <p:sp>
        <p:nvSpPr>
          <p:cNvPr id="6" name="Text 4"/>
          <p:cNvSpPr txBox="1"/>
          <p:nvPr/>
        </p:nvSpPr>
        <p:spPr>
          <a:xfrm>
            <a:off x="749808" y="2706624"/>
            <a:ext cx="548640" cy="457200"/>
          </a:xfrm>
          <a:prstGeom prst="rect">
            <a:avLst/>
          </a:prstGeom>
          <a:noFill/>
          <a:ln/>
        </p:spPr>
        <p:txBody>
          <a:bodyPr wrap="square" lIns="0" tIns="0" rIns="0" bIns="0" rtlCol="0" anchor="ctr"/>
          <a:lstStyle/>
          <a:p>
            <a:pPr marL="0" indent="0">
              <a:buNone/>
            </a:pPr>
            <a:r>
              <a:rPr lang="en-US" sz="2600" b="1" dirty="0">
                <a:solidFill>
                  <a:srgbClr val="FFFFFF">
                    <a:alpha val="75000"/>
                  </a:srgbClr>
                </a:solidFill>
                <a:latin typeface="Cambria" pitchFamily="34" charset="0"/>
                <a:ea typeface="Cambria" pitchFamily="34" charset="-122"/>
                <a:cs typeface="Cambria" pitchFamily="34" charset="-120"/>
              </a:rPr>
              <a:t>1</a:t>
            </a:r>
            <a:endParaRPr lang="en-US" sz="2600" dirty="0"/>
          </a:p>
        </p:txBody>
      </p:sp>
      <p:sp>
        <p:nvSpPr>
          <p:cNvPr id="7" name="Text 5"/>
          <p:cNvSpPr txBox="1"/>
          <p:nvPr/>
        </p:nvSpPr>
        <p:spPr>
          <a:xfrm>
            <a:off x="786384" y="3163824"/>
            <a:ext cx="2048256"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Diagnose</a:t>
            </a:r>
            <a:endParaRPr lang="en-US" sz="1900" dirty="0"/>
          </a:p>
        </p:txBody>
      </p:sp>
      <p:sp>
        <p:nvSpPr>
          <p:cNvPr id="8" name="Text 6"/>
          <p:cNvSpPr txBox="1"/>
          <p:nvPr/>
        </p:nvSpPr>
        <p:spPr>
          <a:xfrm>
            <a:off x="786384" y="3529584"/>
            <a:ext cx="2048256" cy="502920"/>
          </a:xfrm>
          <a:prstGeom prst="rect">
            <a:avLst/>
          </a:prstGeom>
          <a:noFill/>
          <a:ln/>
        </p:spPr>
        <p:txBody>
          <a:bodyPr wrap="square" lIns="0" tIns="0" rIns="0" bIns="0" rtlCol="0" anchor="ctr"/>
          <a:lstStyle/>
          <a:p>
            <a:pPr marL="0" indent="0">
              <a:lnSpc>
                <a:spcPct val="98000"/>
              </a:lnSpc>
              <a:buNone/>
            </a:pPr>
            <a:r>
              <a:rPr lang="en-US" sz="1050" dirty="0">
                <a:solidFill>
                  <a:srgbClr val="F0F7F4"/>
                </a:solidFill>
                <a:latin typeface="Calibri" pitchFamily="34" charset="0"/>
                <a:ea typeface="Calibri" pitchFamily="34" charset="-122"/>
                <a:cs typeface="Calibri" pitchFamily="34" charset="-120"/>
              </a:rPr>
              <a:t>Sovereign IQ → Posture IQ / Regulatory IQ</a:t>
            </a:r>
            <a:endParaRPr lang="en-US" sz="1050" dirty="0"/>
          </a:p>
        </p:txBody>
      </p:sp>
      <p:sp>
        <p:nvSpPr>
          <p:cNvPr id="9" name="Shape 7"/>
          <p:cNvSpPr/>
          <p:nvPr/>
        </p:nvSpPr>
        <p:spPr>
          <a:xfrm>
            <a:off x="3108960" y="3337560"/>
            <a:ext cx="274320" cy="0"/>
          </a:xfrm>
          <a:prstGeom prst="line">
            <a:avLst/>
          </a:prstGeom>
          <a:noFill/>
          <a:ln w="25400">
            <a:solidFill>
              <a:srgbClr val="5A6B7B"/>
            </a:solidFill>
            <a:prstDash val="solid"/>
            <a:tailEnd type="triangle"/>
          </a:ln>
        </p:spPr>
        <p:txBody>
          <a:bodyPr/>
          <a:lstStyle/>
          <a:p>
            <a:endParaRPr lang="en-US"/>
          </a:p>
        </p:txBody>
      </p:sp>
      <p:sp>
        <p:nvSpPr>
          <p:cNvPr id="10" name="Shape 8"/>
          <p:cNvSpPr/>
          <p:nvPr/>
        </p:nvSpPr>
        <p:spPr>
          <a:xfrm>
            <a:off x="3328416" y="2560320"/>
            <a:ext cx="2487168" cy="1554480"/>
          </a:xfrm>
          <a:prstGeom prst="roundRect">
            <a:avLst>
              <a:gd name="adj" fmla="val 4706"/>
            </a:avLst>
          </a:prstGeom>
          <a:solidFill>
            <a:srgbClr val="0F6E56"/>
          </a:solidFill>
          <a:ln/>
        </p:spPr>
        <p:txBody>
          <a:bodyPr/>
          <a:lstStyle/>
          <a:p>
            <a:endParaRPr lang="en-US"/>
          </a:p>
        </p:txBody>
      </p:sp>
      <p:sp>
        <p:nvSpPr>
          <p:cNvPr id="11" name="Text 9"/>
          <p:cNvSpPr txBox="1"/>
          <p:nvPr/>
        </p:nvSpPr>
        <p:spPr>
          <a:xfrm>
            <a:off x="3511296" y="2706624"/>
            <a:ext cx="548640" cy="457200"/>
          </a:xfrm>
          <a:prstGeom prst="rect">
            <a:avLst/>
          </a:prstGeom>
          <a:noFill/>
          <a:ln/>
        </p:spPr>
        <p:txBody>
          <a:bodyPr wrap="square" lIns="0" tIns="0" rIns="0" bIns="0" rtlCol="0" anchor="ctr"/>
          <a:lstStyle/>
          <a:p>
            <a:pPr marL="0" indent="0">
              <a:buNone/>
            </a:pPr>
            <a:r>
              <a:rPr lang="en-US" sz="2600" b="1" dirty="0">
                <a:solidFill>
                  <a:srgbClr val="FFFFFF">
                    <a:alpha val="75000"/>
                  </a:srgbClr>
                </a:solidFill>
                <a:latin typeface="Cambria" pitchFamily="34" charset="0"/>
                <a:ea typeface="Cambria" pitchFamily="34" charset="-122"/>
                <a:cs typeface="Cambria" pitchFamily="34" charset="-120"/>
              </a:rPr>
              <a:t>2</a:t>
            </a:r>
            <a:endParaRPr lang="en-US" sz="2600" dirty="0"/>
          </a:p>
        </p:txBody>
      </p:sp>
      <p:sp>
        <p:nvSpPr>
          <p:cNvPr id="12" name="Text 10"/>
          <p:cNvSpPr txBox="1"/>
          <p:nvPr/>
        </p:nvSpPr>
        <p:spPr>
          <a:xfrm>
            <a:off x="3547872" y="3163824"/>
            <a:ext cx="2048256"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Assess</a:t>
            </a:r>
            <a:endParaRPr lang="en-US" sz="1900" dirty="0"/>
          </a:p>
        </p:txBody>
      </p:sp>
      <p:sp>
        <p:nvSpPr>
          <p:cNvPr id="13" name="Text 11"/>
          <p:cNvSpPr txBox="1"/>
          <p:nvPr/>
        </p:nvSpPr>
        <p:spPr>
          <a:xfrm>
            <a:off x="3547872" y="3529584"/>
            <a:ext cx="2048256" cy="502920"/>
          </a:xfrm>
          <a:prstGeom prst="rect">
            <a:avLst/>
          </a:prstGeom>
          <a:noFill/>
          <a:ln/>
        </p:spPr>
        <p:txBody>
          <a:bodyPr wrap="square" lIns="0" tIns="0" rIns="0" bIns="0" rtlCol="0" anchor="ctr"/>
          <a:lstStyle/>
          <a:p>
            <a:pPr marL="0" indent="0">
              <a:lnSpc>
                <a:spcPct val="98000"/>
              </a:lnSpc>
              <a:buNone/>
            </a:pPr>
            <a:r>
              <a:rPr lang="en-US" sz="1050" dirty="0">
                <a:solidFill>
                  <a:srgbClr val="F0F7F4"/>
                </a:solidFill>
                <a:latin typeface="Calibri" pitchFamily="34" charset="0"/>
                <a:ea typeface="Calibri" pitchFamily="34" charset="-122"/>
                <a:cs typeface="Calibri" pitchFamily="34" charset="-120"/>
              </a:rPr>
              <a:t>02.1 Posture · 02.2 Data · 02.3 Regulatory</a:t>
            </a:r>
            <a:endParaRPr lang="en-US" sz="1050" dirty="0"/>
          </a:p>
        </p:txBody>
      </p:sp>
      <p:sp>
        <p:nvSpPr>
          <p:cNvPr id="14" name="Shape 12"/>
          <p:cNvSpPr/>
          <p:nvPr/>
        </p:nvSpPr>
        <p:spPr>
          <a:xfrm>
            <a:off x="5870448" y="3337560"/>
            <a:ext cx="274320" cy="0"/>
          </a:xfrm>
          <a:prstGeom prst="line">
            <a:avLst/>
          </a:prstGeom>
          <a:noFill/>
          <a:ln w="25400">
            <a:solidFill>
              <a:srgbClr val="5A6B7B"/>
            </a:solidFill>
            <a:prstDash val="solid"/>
            <a:tailEnd type="triangle"/>
          </a:ln>
        </p:spPr>
        <p:txBody>
          <a:bodyPr/>
          <a:lstStyle/>
          <a:p>
            <a:endParaRPr lang="en-US"/>
          </a:p>
        </p:txBody>
      </p:sp>
      <p:sp>
        <p:nvSpPr>
          <p:cNvPr id="15" name="Shape 13"/>
          <p:cNvSpPr/>
          <p:nvPr/>
        </p:nvSpPr>
        <p:spPr>
          <a:xfrm>
            <a:off x="6089904" y="2560320"/>
            <a:ext cx="2487168" cy="1554480"/>
          </a:xfrm>
          <a:prstGeom prst="roundRect">
            <a:avLst>
              <a:gd name="adj" fmla="val 4706"/>
            </a:avLst>
          </a:prstGeom>
          <a:solidFill>
            <a:srgbClr val="D35400"/>
          </a:solidFill>
          <a:ln/>
        </p:spPr>
        <p:txBody>
          <a:bodyPr/>
          <a:lstStyle/>
          <a:p>
            <a:endParaRPr lang="en-US"/>
          </a:p>
        </p:txBody>
      </p:sp>
      <p:sp>
        <p:nvSpPr>
          <p:cNvPr id="16" name="Text 14"/>
          <p:cNvSpPr txBox="1"/>
          <p:nvPr/>
        </p:nvSpPr>
        <p:spPr>
          <a:xfrm>
            <a:off x="6272784" y="2706624"/>
            <a:ext cx="548640" cy="457200"/>
          </a:xfrm>
          <a:prstGeom prst="rect">
            <a:avLst/>
          </a:prstGeom>
          <a:noFill/>
          <a:ln/>
        </p:spPr>
        <p:txBody>
          <a:bodyPr wrap="square" lIns="0" tIns="0" rIns="0" bIns="0" rtlCol="0" anchor="ctr"/>
          <a:lstStyle/>
          <a:p>
            <a:pPr marL="0" indent="0">
              <a:buNone/>
            </a:pPr>
            <a:r>
              <a:rPr lang="en-US" sz="2600" b="1" dirty="0">
                <a:solidFill>
                  <a:srgbClr val="FFFFFF">
                    <a:alpha val="75000"/>
                  </a:srgbClr>
                </a:solidFill>
                <a:latin typeface="Cambria" pitchFamily="34" charset="0"/>
                <a:ea typeface="Cambria" pitchFamily="34" charset="-122"/>
                <a:cs typeface="Cambria" pitchFamily="34" charset="-120"/>
              </a:rPr>
              <a:t>3</a:t>
            </a:r>
            <a:endParaRPr lang="en-US" sz="2600" dirty="0"/>
          </a:p>
        </p:txBody>
      </p:sp>
      <p:sp>
        <p:nvSpPr>
          <p:cNvPr id="17" name="Text 15"/>
          <p:cNvSpPr txBox="1"/>
          <p:nvPr/>
        </p:nvSpPr>
        <p:spPr>
          <a:xfrm>
            <a:off x="6309360" y="3163824"/>
            <a:ext cx="2048256"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Sequence</a:t>
            </a:r>
            <a:endParaRPr lang="en-US" sz="1900" dirty="0"/>
          </a:p>
        </p:txBody>
      </p:sp>
      <p:sp>
        <p:nvSpPr>
          <p:cNvPr id="18" name="Text 16"/>
          <p:cNvSpPr txBox="1"/>
          <p:nvPr/>
        </p:nvSpPr>
        <p:spPr>
          <a:xfrm>
            <a:off x="6309360" y="3529584"/>
            <a:ext cx="2048256" cy="502920"/>
          </a:xfrm>
          <a:prstGeom prst="rect">
            <a:avLst/>
          </a:prstGeom>
          <a:noFill/>
          <a:ln/>
        </p:spPr>
        <p:txBody>
          <a:bodyPr wrap="square" lIns="0" tIns="0" rIns="0" bIns="0" rtlCol="0" anchor="ctr"/>
          <a:lstStyle/>
          <a:p>
            <a:pPr marL="0" indent="0">
              <a:lnSpc>
                <a:spcPct val="98000"/>
              </a:lnSpc>
              <a:buNone/>
            </a:pPr>
            <a:r>
              <a:rPr lang="en-US" sz="1050" dirty="0">
                <a:solidFill>
                  <a:srgbClr val="F0F7F4"/>
                </a:solidFill>
                <a:latin typeface="Calibri" pitchFamily="34" charset="0"/>
                <a:ea typeface="Calibri" pitchFamily="34" charset="-122"/>
                <a:cs typeface="Calibri" pitchFamily="34" charset="-120"/>
              </a:rPr>
              <a:t>02.4 Application roadmap</a:t>
            </a:r>
            <a:endParaRPr lang="en-US" sz="1050" dirty="0"/>
          </a:p>
        </p:txBody>
      </p:sp>
      <p:sp>
        <p:nvSpPr>
          <p:cNvPr id="19" name="Shape 17"/>
          <p:cNvSpPr/>
          <p:nvPr/>
        </p:nvSpPr>
        <p:spPr>
          <a:xfrm>
            <a:off x="8631936" y="3337560"/>
            <a:ext cx="274320" cy="0"/>
          </a:xfrm>
          <a:prstGeom prst="line">
            <a:avLst/>
          </a:prstGeom>
          <a:noFill/>
          <a:ln w="25400">
            <a:solidFill>
              <a:srgbClr val="5A6B7B"/>
            </a:solidFill>
            <a:prstDash val="solid"/>
            <a:tailEnd type="triangle"/>
          </a:ln>
        </p:spPr>
        <p:txBody>
          <a:bodyPr/>
          <a:lstStyle/>
          <a:p>
            <a:endParaRPr lang="en-US"/>
          </a:p>
        </p:txBody>
      </p:sp>
      <p:sp>
        <p:nvSpPr>
          <p:cNvPr id="20" name="Shape 18"/>
          <p:cNvSpPr/>
          <p:nvPr/>
        </p:nvSpPr>
        <p:spPr>
          <a:xfrm>
            <a:off x="8851392" y="2560320"/>
            <a:ext cx="2487168" cy="1554480"/>
          </a:xfrm>
          <a:prstGeom prst="roundRect">
            <a:avLst>
              <a:gd name="adj" fmla="val 4706"/>
            </a:avLst>
          </a:prstGeom>
          <a:solidFill>
            <a:srgbClr val="5A6B7B"/>
          </a:solidFill>
          <a:ln/>
        </p:spPr>
        <p:txBody>
          <a:bodyPr/>
          <a:lstStyle/>
          <a:p>
            <a:endParaRPr lang="en-US"/>
          </a:p>
        </p:txBody>
      </p:sp>
      <p:sp>
        <p:nvSpPr>
          <p:cNvPr id="21" name="Text 19"/>
          <p:cNvSpPr txBox="1"/>
          <p:nvPr/>
        </p:nvSpPr>
        <p:spPr>
          <a:xfrm>
            <a:off x="9034272" y="2706624"/>
            <a:ext cx="548640" cy="457200"/>
          </a:xfrm>
          <a:prstGeom prst="rect">
            <a:avLst/>
          </a:prstGeom>
          <a:noFill/>
          <a:ln/>
        </p:spPr>
        <p:txBody>
          <a:bodyPr wrap="square" lIns="0" tIns="0" rIns="0" bIns="0" rtlCol="0" anchor="ctr"/>
          <a:lstStyle/>
          <a:p>
            <a:pPr marL="0" indent="0">
              <a:buNone/>
            </a:pPr>
            <a:r>
              <a:rPr lang="en-US" sz="2600" b="1" dirty="0">
                <a:solidFill>
                  <a:srgbClr val="FFFFFF">
                    <a:alpha val="75000"/>
                  </a:srgbClr>
                </a:solidFill>
                <a:latin typeface="Cambria" pitchFamily="34" charset="0"/>
                <a:ea typeface="Cambria" pitchFamily="34" charset="-122"/>
                <a:cs typeface="Cambria" pitchFamily="34" charset="-120"/>
              </a:rPr>
              <a:t>4</a:t>
            </a:r>
            <a:endParaRPr lang="en-US" sz="2600" dirty="0"/>
          </a:p>
        </p:txBody>
      </p:sp>
      <p:sp>
        <p:nvSpPr>
          <p:cNvPr id="22" name="Text 20"/>
          <p:cNvSpPr txBox="1"/>
          <p:nvPr/>
        </p:nvSpPr>
        <p:spPr>
          <a:xfrm>
            <a:off x="9070848" y="3163824"/>
            <a:ext cx="2048256"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Deliver</a:t>
            </a:r>
            <a:endParaRPr lang="en-US" sz="1900" dirty="0"/>
          </a:p>
        </p:txBody>
      </p:sp>
      <p:sp>
        <p:nvSpPr>
          <p:cNvPr id="23" name="Text 21"/>
          <p:cNvSpPr txBox="1"/>
          <p:nvPr/>
        </p:nvSpPr>
        <p:spPr>
          <a:xfrm>
            <a:off x="9070848" y="3529584"/>
            <a:ext cx="2048256" cy="502920"/>
          </a:xfrm>
          <a:prstGeom prst="rect">
            <a:avLst/>
          </a:prstGeom>
          <a:noFill/>
          <a:ln/>
        </p:spPr>
        <p:txBody>
          <a:bodyPr wrap="square" lIns="0" tIns="0" rIns="0" bIns="0" rtlCol="0" anchor="ctr"/>
          <a:lstStyle/>
          <a:p>
            <a:pPr marL="0" indent="0">
              <a:lnSpc>
                <a:spcPct val="98000"/>
              </a:lnSpc>
              <a:buNone/>
            </a:pPr>
            <a:r>
              <a:rPr lang="en-US" sz="1050" dirty="0">
                <a:solidFill>
                  <a:srgbClr val="F0F7F4"/>
                </a:solidFill>
                <a:latin typeface="Calibri" pitchFamily="34" charset="0"/>
                <a:ea typeface="Calibri" pitchFamily="34" charset="-122"/>
                <a:cs typeface="Calibri" pitchFamily="34" charset="-120"/>
              </a:rPr>
              <a:t>Migration &amp; build — accountable to outcome</a:t>
            </a:r>
            <a:endParaRPr lang="en-US" sz="1050" dirty="0"/>
          </a:p>
        </p:txBody>
      </p:sp>
      <p:sp>
        <p:nvSpPr>
          <p:cNvPr id="24" name="Shape 22"/>
          <p:cNvSpPr/>
          <p:nvPr/>
        </p:nvSpPr>
        <p:spPr>
          <a:xfrm>
            <a:off x="640080" y="4617720"/>
            <a:ext cx="10908792" cy="868680"/>
          </a:xfrm>
          <a:prstGeom prst="roundRect">
            <a:avLst>
              <a:gd name="adj" fmla="val 6316"/>
            </a:avLst>
          </a:prstGeom>
          <a:solidFill>
            <a:srgbClr val="E1F5EE"/>
          </a:solidFill>
          <a:ln w="9525">
            <a:solidFill>
              <a:srgbClr val="5DCAA5"/>
            </a:solidFill>
            <a:prstDash val="solid"/>
          </a:ln>
        </p:spPr>
        <p:txBody>
          <a:bodyPr/>
          <a:lstStyle/>
          <a:p>
            <a:endParaRPr lang="en-US"/>
          </a:p>
        </p:txBody>
      </p:sp>
      <p:sp>
        <p:nvSpPr>
          <p:cNvPr id="25" name="Text 23"/>
          <p:cNvSpPr txBox="1"/>
          <p:nvPr/>
        </p:nvSpPr>
        <p:spPr>
          <a:xfrm>
            <a:off x="868680" y="4709160"/>
            <a:ext cx="10424160" cy="685800"/>
          </a:xfrm>
          <a:prstGeom prst="rect">
            <a:avLst/>
          </a:prstGeom>
          <a:noFill/>
          <a:ln/>
        </p:spPr>
        <p:txBody>
          <a:bodyPr wrap="square" lIns="0" tIns="0" rIns="0" bIns="0" rtlCol="0" anchor="ctr"/>
          <a:lstStyle/>
          <a:p>
            <a:pPr marL="0" indent="0">
              <a:lnSpc>
                <a:spcPct val="105000"/>
              </a:lnSpc>
              <a:buNone/>
            </a:pPr>
            <a:r>
              <a:rPr lang="en-US" sz="1100" b="1" kern="0" spc="100" dirty="0">
                <a:solidFill>
                  <a:srgbClr val="0F6E56"/>
                </a:solidFill>
                <a:latin typeface="Calibri" pitchFamily="34" charset="0"/>
                <a:ea typeface="Calibri" pitchFamily="34" charset="-122"/>
                <a:cs typeface="Calibri" pitchFamily="34" charset="-120"/>
              </a:rPr>
              <a:t>Why this works   </a:t>
            </a:r>
            <a:r>
              <a:rPr lang="en-US" sz="1400" i="1" dirty="0">
                <a:solidFill>
                  <a:srgbClr val="0A5643"/>
                </a:solidFill>
                <a:latin typeface="Cambria" pitchFamily="34" charset="0"/>
                <a:ea typeface="Cambria" pitchFamily="34" charset="-122"/>
                <a:cs typeface="Cambria" pitchFamily="34" charset="-120"/>
              </a:rPr>
              <a:t>Advisory earns the right to the delivery behind it. LTM stays accountable past the recommendation — the team that maps the exposure is the team that moves the workloads.</a:t>
            </a:r>
            <a:endParaRPr lang="en-US" sz="1100" dirty="0"/>
          </a:p>
        </p:txBody>
      </p:sp>
      <p:sp>
        <p:nvSpPr>
          <p:cNvPr id="26" name="Text 24"/>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27" name="Text 25"/>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Engagement spine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HOW EVERY ENGAGEMENT BEGINS</a:t>
            </a:r>
            <a:endParaRPr lang="en-US" sz="1100" dirty="0"/>
          </a:p>
        </p:txBody>
      </p:sp>
      <p:sp>
        <p:nvSpPr>
          <p:cNvPr id="3" name="Text 1"/>
          <p:cNvSpPr txBox="1"/>
          <p:nvPr/>
        </p:nvSpPr>
        <p:spPr>
          <a:xfrm>
            <a:off x="484632" y="676656"/>
            <a:ext cx="10058400" cy="457200"/>
          </a:xfrm>
          <a:prstGeom prst="rect">
            <a:avLst/>
          </a:prstGeom>
          <a:noFill/>
          <a:ln/>
        </p:spPr>
        <p:txBody>
          <a:bodyPr wrap="square" lIns="0" tIns="0" rIns="0" bIns="0" rtlCol="0" anchor="ctr"/>
          <a:lstStyle/>
          <a:p>
            <a:pPr marL="0" indent="0">
              <a:buNone/>
            </a:pPr>
            <a:r>
              <a:rPr lang="en-US" sz="2500" b="1" dirty="0">
                <a:solidFill>
                  <a:srgbClr val="1B1F23"/>
                </a:solidFill>
                <a:latin typeface="Cambria" pitchFamily="34" charset="0"/>
                <a:ea typeface="Cambria" pitchFamily="34" charset="-122"/>
                <a:cs typeface="Cambria" pitchFamily="34" charset="-120"/>
              </a:rPr>
              <a:t>Three accelerators. Breadth, then depth.</a:t>
            </a:r>
            <a:endParaRPr lang="en-US" sz="2500" dirty="0"/>
          </a:p>
        </p:txBody>
      </p:sp>
      <p:sp>
        <p:nvSpPr>
          <p:cNvPr id="4" name="Text 2"/>
          <p:cNvSpPr txBox="1"/>
          <p:nvPr/>
        </p:nvSpPr>
        <p:spPr>
          <a:xfrm>
            <a:off x="502920" y="1188720"/>
            <a:ext cx="10972800" cy="274320"/>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Start with a diagnostic, not a pitch. A free self-assessment scopes the exposure; a deeper read pinpoints it; the evidence chooses the offering.</a:t>
            </a:r>
            <a:endParaRPr lang="en-US" sz="1200" dirty="0"/>
          </a:p>
        </p:txBody>
      </p:sp>
      <p:sp>
        <p:nvSpPr>
          <p:cNvPr id="5" name="Shape 3"/>
          <p:cNvSpPr/>
          <p:nvPr/>
        </p:nvSpPr>
        <p:spPr>
          <a:xfrm>
            <a:off x="502920" y="1828800"/>
            <a:ext cx="3602736" cy="3200400"/>
          </a:xfrm>
          <a:prstGeom prst="roundRect">
            <a:avLst>
              <a:gd name="adj" fmla="val 2000"/>
            </a:avLst>
          </a:prstGeom>
          <a:solidFill>
            <a:srgbClr val="F3F8F6"/>
          </a:solidFill>
          <a:ln w="9525">
            <a:solidFill>
              <a:srgbClr val="D2E4DD"/>
            </a:solidFill>
            <a:prstDash val="solid"/>
          </a:ln>
        </p:spPr>
        <p:txBody>
          <a:bodyPr/>
          <a:lstStyle/>
          <a:p>
            <a:endParaRPr lang="en-US"/>
          </a:p>
        </p:txBody>
      </p:sp>
      <p:sp>
        <p:nvSpPr>
          <p:cNvPr id="6" name="Shape 4"/>
          <p:cNvSpPr/>
          <p:nvPr/>
        </p:nvSpPr>
        <p:spPr>
          <a:xfrm>
            <a:off x="502920" y="1828800"/>
            <a:ext cx="3602736" cy="1051560"/>
          </a:xfrm>
          <a:prstGeom prst="roundRect">
            <a:avLst>
              <a:gd name="adj" fmla="val 6087"/>
            </a:avLst>
          </a:prstGeom>
          <a:solidFill>
            <a:srgbClr val="0F6E56"/>
          </a:solidFill>
          <a:ln/>
        </p:spPr>
        <p:txBody>
          <a:bodyPr/>
          <a:lstStyle/>
          <a:p>
            <a:endParaRPr lang="en-US"/>
          </a:p>
        </p:txBody>
      </p:sp>
      <p:sp>
        <p:nvSpPr>
          <p:cNvPr id="7" name="Shape 5"/>
          <p:cNvSpPr/>
          <p:nvPr/>
        </p:nvSpPr>
        <p:spPr>
          <a:xfrm>
            <a:off x="502920" y="2331720"/>
            <a:ext cx="3602736" cy="548640"/>
          </a:xfrm>
          <a:prstGeom prst="rect">
            <a:avLst/>
          </a:prstGeom>
          <a:solidFill>
            <a:srgbClr val="0F6E56"/>
          </a:solidFill>
          <a:ln/>
        </p:spPr>
        <p:txBody>
          <a:bodyPr/>
          <a:lstStyle/>
          <a:p>
            <a:endParaRPr lang="en-US"/>
          </a:p>
        </p:txBody>
      </p:sp>
      <p:pic>
        <p:nvPicPr>
          <p:cNvPr id="8" name="Image 0" descr="/home/claude/x_ph_understand.png"/>
          <p:cNvPicPr>
            <a:picLocks noChangeAspect="1"/>
          </p:cNvPicPr>
          <p:nvPr/>
        </p:nvPicPr>
        <p:blipFill>
          <a:blip r:embed="rId3"/>
          <a:stretch>
            <a:fillRect/>
          </a:stretch>
        </p:blipFill>
        <p:spPr>
          <a:xfrm>
            <a:off x="758952" y="2103120"/>
            <a:ext cx="502920" cy="502920"/>
          </a:xfrm>
          <a:prstGeom prst="rect">
            <a:avLst/>
          </a:prstGeom>
        </p:spPr>
      </p:pic>
      <p:sp>
        <p:nvSpPr>
          <p:cNvPr id="9" name="Text 6"/>
          <p:cNvSpPr txBox="1"/>
          <p:nvPr/>
        </p:nvSpPr>
        <p:spPr>
          <a:xfrm>
            <a:off x="1399032" y="2066544"/>
            <a:ext cx="2596896"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Sovereign IQ</a:t>
            </a:r>
            <a:endParaRPr lang="en-US" sz="1900" dirty="0"/>
          </a:p>
        </p:txBody>
      </p:sp>
      <p:sp>
        <p:nvSpPr>
          <p:cNvPr id="10" name="Text 7"/>
          <p:cNvSpPr txBox="1"/>
          <p:nvPr/>
        </p:nvSpPr>
        <p:spPr>
          <a:xfrm>
            <a:off x="1417320" y="2468880"/>
            <a:ext cx="2596896" cy="256032"/>
          </a:xfrm>
          <a:prstGeom prst="rect">
            <a:avLst/>
          </a:prstGeom>
          <a:noFill/>
          <a:ln/>
        </p:spPr>
        <p:txBody>
          <a:bodyPr wrap="square" lIns="0" tIns="0" rIns="0" bIns="0" rtlCol="0" anchor="ctr"/>
          <a:lstStyle/>
          <a:p>
            <a:pPr marL="0" indent="0">
              <a:buNone/>
            </a:pPr>
            <a:r>
              <a:rPr lang="en-US" sz="950" b="1" kern="0" spc="150" dirty="0">
                <a:solidFill>
                  <a:srgbClr val="9FE1CB"/>
                </a:solidFill>
                <a:latin typeface="Calibri" pitchFamily="34" charset="0"/>
                <a:ea typeface="Calibri" pitchFamily="34" charset="-122"/>
                <a:cs typeface="Calibri" pitchFamily="34" charset="-120"/>
              </a:rPr>
              <a:t>FREE · SELF-SERVE</a:t>
            </a:r>
            <a:endParaRPr lang="en-US" sz="950" dirty="0"/>
          </a:p>
        </p:txBody>
      </p:sp>
      <p:sp>
        <p:nvSpPr>
          <p:cNvPr id="11" name="Text 8"/>
          <p:cNvSpPr txBox="1"/>
          <p:nvPr/>
        </p:nvSpPr>
        <p:spPr>
          <a:xfrm>
            <a:off x="758952" y="3035808"/>
            <a:ext cx="3090672" cy="914400"/>
          </a:xfrm>
          <a:prstGeom prst="rect">
            <a:avLst/>
          </a:prstGeom>
          <a:noFill/>
          <a:ln/>
        </p:spPr>
        <p:txBody>
          <a:bodyPr wrap="square" lIns="0" tIns="0" rIns="0" bIns="0" rtlCol="0" anchor="ctr"/>
          <a:lstStyle/>
          <a:p>
            <a:pPr marL="0" indent="0">
              <a:lnSpc>
                <a:spcPct val="105000"/>
              </a:lnSpc>
              <a:buNone/>
            </a:pPr>
            <a:r>
              <a:rPr lang="en-US" sz="1350" i="1" dirty="0">
                <a:solidFill>
                  <a:srgbClr val="0F6E56"/>
                </a:solidFill>
                <a:latin typeface="Cambria" pitchFamily="34" charset="0"/>
                <a:ea typeface="Cambria" pitchFamily="34" charset="-122"/>
                <a:cs typeface="Cambria" pitchFamily="34" charset="-120"/>
              </a:rPr>
              <a:t>“Where do I broadly stand on sovereignty, and what should I worry about?”</a:t>
            </a:r>
            <a:endParaRPr lang="en-US" sz="1350" dirty="0"/>
          </a:p>
        </p:txBody>
      </p:sp>
      <p:sp>
        <p:nvSpPr>
          <p:cNvPr id="12" name="Shape 9"/>
          <p:cNvSpPr/>
          <p:nvPr/>
        </p:nvSpPr>
        <p:spPr>
          <a:xfrm>
            <a:off x="758952" y="4041648"/>
            <a:ext cx="3090672" cy="0"/>
          </a:xfrm>
          <a:prstGeom prst="line">
            <a:avLst/>
          </a:prstGeom>
          <a:noFill/>
          <a:ln w="12700">
            <a:solidFill>
              <a:srgbClr val="D2E4DD"/>
            </a:solidFill>
            <a:prstDash val="solid"/>
          </a:ln>
        </p:spPr>
        <p:txBody>
          <a:bodyPr/>
          <a:lstStyle/>
          <a:p>
            <a:endParaRPr lang="en-US"/>
          </a:p>
        </p:txBody>
      </p:sp>
      <p:sp>
        <p:nvSpPr>
          <p:cNvPr id="13" name="Text 10"/>
          <p:cNvSpPr txBox="1"/>
          <p:nvPr/>
        </p:nvSpPr>
        <p:spPr>
          <a:xfrm>
            <a:off x="758952" y="4133088"/>
            <a:ext cx="3090672" cy="777240"/>
          </a:xfrm>
          <a:prstGeom prst="rect">
            <a:avLst/>
          </a:prstGeom>
          <a:noFill/>
          <a:ln/>
        </p:spPr>
        <p:txBody>
          <a:bodyPr wrap="square" lIns="0" tIns="0" rIns="0" bIns="0" rtlCol="0" anchor="ctr"/>
          <a:lstStyle/>
          <a:p>
            <a:pPr marL="0" indent="0">
              <a:lnSpc>
                <a:spcPct val="102000"/>
              </a:lnSpc>
              <a:buNone/>
            </a:pPr>
            <a:r>
              <a:rPr lang="en-US" sz="1050" dirty="0">
                <a:solidFill>
                  <a:srgbClr val="3C4A44"/>
                </a:solidFill>
                <a:latin typeface="Calibri" pitchFamily="34" charset="0"/>
                <a:ea typeface="Calibri" pitchFamily="34" charset="-122"/>
                <a:cs typeface="Calibri" pitchFamily="34" charset="-120"/>
              </a:rPr>
              <a:t>A board-level self-assessment anyone can take in minutes. Produces a first exposure signal and a shortlist of where to look harder.</a:t>
            </a:r>
            <a:endParaRPr lang="en-US" sz="1050" dirty="0"/>
          </a:p>
        </p:txBody>
      </p:sp>
      <p:sp>
        <p:nvSpPr>
          <p:cNvPr id="14" name="Shape 11"/>
          <p:cNvSpPr/>
          <p:nvPr/>
        </p:nvSpPr>
        <p:spPr>
          <a:xfrm>
            <a:off x="4343400" y="1828800"/>
            <a:ext cx="3602736" cy="3200400"/>
          </a:xfrm>
          <a:prstGeom prst="roundRect">
            <a:avLst>
              <a:gd name="adj" fmla="val 2000"/>
            </a:avLst>
          </a:prstGeom>
          <a:solidFill>
            <a:srgbClr val="F3F8F6"/>
          </a:solidFill>
          <a:ln w="9525">
            <a:solidFill>
              <a:srgbClr val="D2E4DD"/>
            </a:solidFill>
            <a:prstDash val="solid"/>
          </a:ln>
        </p:spPr>
        <p:txBody>
          <a:bodyPr/>
          <a:lstStyle/>
          <a:p>
            <a:endParaRPr lang="en-US"/>
          </a:p>
        </p:txBody>
      </p:sp>
      <p:sp>
        <p:nvSpPr>
          <p:cNvPr id="15" name="Shape 12"/>
          <p:cNvSpPr/>
          <p:nvPr/>
        </p:nvSpPr>
        <p:spPr>
          <a:xfrm>
            <a:off x="4343400" y="1828800"/>
            <a:ext cx="3602736" cy="1051560"/>
          </a:xfrm>
          <a:prstGeom prst="roundRect">
            <a:avLst>
              <a:gd name="adj" fmla="val 6087"/>
            </a:avLst>
          </a:prstGeom>
          <a:solidFill>
            <a:srgbClr val="0A5643"/>
          </a:solidFill>
          <a:ln/>
        </p:spPr>
        <p:txBody>
          <a:bodyPr/>
          <a:lstStyle/>
          <a:p>
            <a:endParaRPr lang="en-US"/>
          </a:p>
        </p:txBody>
      </p:sp>
      <p:sp>
        <p:nvSpPr>
          <p:cNvPr id="16" name="Shape 13"/>
          <p:cNvSpPr/>
          <p:nvPr/>
        </p:nvSpPr>
        <p:spPr>
          <a:xfrm>
            <a:off x="4343400" y="2331720"/>
            <a:ext cx="3602736" cy="548640"/>
          </a:xfrm>
          <a:prstGeom prst="rect">
            <a:avLst/>
          </a:prstGeom>
          <a:solidFill>
            <a:srgbClr val="0A5643"/>
          </a:solidFill>
          <a:ln/>
        </p:spPr>
        <p:txBody>
          <a:bodyPr/>
          <a:lstStyle/>
          <a:p>
            <a:endParaRPr lang="en-US"/>
          </a:p>
        </p:txBody>
      </p:sp>
      <p:pic>
        <p:nvPicPr>
          <p:cNvPr id="17" name="Image 1" descr="/home/claude/s_postureiq.png"/>
          <p:cNvPicPr>
            <a:picLocks noChangeAspect="1"/>
          </p:cNvPicPr>
          <p:nvPr/>
        </p:nvPicPr>
        <p:blipFill>
          <a:blip r:embed="rId4"/>
          <a:stretch>
            <a:fillRect/>
          </a:stretch>
        </p:blipFill>
        <p:spPr>
          <a:xfrm>
            <a:off x="4599432" y="2103120"/>
            <a:ext cx="502920" cy="502920"/>
          </a:xfrm>
          <a:prstGeom prst="rect">
            <a:avLst/>
          </a:prstGeom>
        </p:spPr>
      </p:pic>
      <p:sp>
        <p:nvSpPr>
          <p:cNvPr id="18" name="Text 14"/>
          <p:cNvSpPr txBox="1"/>
          <p:nvPr/>
        </p:nvSpPr>
        <p:spPr>
          <a:xfrm>
            <a:off x="5239512" y="2066544"/>
            <a:ext cx="2596896"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Posture IQ</a:t>
            </a:r>
            <a:endParaRPr lang="en-US" sz="1900" dirty="0"/>
          </a:p>
        </p:txBody>
      </p:sp>
      <p:sp>
        <p:nvSpPr>
          <p:cNvPr id="19" name="Text 15"/>
          <p:cNvSpPr txBox="1"/>
          <p:nvPr/>
        </p:nvSpPr>
        <p:spPr>
          <a:xfrm>
            <a:off x="5257800" y="2468880"/>
            <a:ext cx="2596896" cy="256032"/>
          </a:xfrm>
          <a:prstGeom prst="rect">
            <a:avLst/>
          </a:prstGeom>
          <a:noFill/>
          <a:ln/>
        </p:spPr>
        <p:txBody>
          <a:bodyPr wrap="square" lIns="0" tIns="0" rIns="0" bIns="0" rtlCol="0" anchor="ctr"/>
          <a:lstStyle/>
          <a:p>
            <a:pPr marL="0" indent="0">
              <a:buNone/>
            </a:pPr>
            <a:r>
              <a:rPr lang="en-US" sz="950" b="1" kern="0" spc="150" dirty="0">
                <a:solidFill>
                  <a:srgbClr val="9FE1CB"/>
                </a:solidFill>
                <a:latin typeface="Calibri" pitchFamily="34" charset="0"/>
                <a:ea typeface="Calibri" pitchFamily="34" charset="-122"/>
                <a:cs typeface="Calibri" pitchFamily="34" charset="-120"/>
              </a:rPr>
              <a:t>GATED · LTM-LED</a:t>
            </a:r>
            <a:endParaRPr lang="en-US" sz="950" dirty="0"/>
          </a:p>
        </p:txBody>
      </p:sp>
      <p:sp>
        <p:nvSpPr>
          <p:cNvPr id="20" name="Text 16"/>
          <p:cNvSpPr txBox="1"/>
          <p:nvPr/>
        </p:nvSpPr>
        <p:spPr>
          <a:xfrm>
            <a:off x="4599432" y="3035808"/>
            <a:ext cx="3090672" cy="914400"/>
          </a:xfrm>
          <a:prstGeom prst="rect">
            <a:avLst/>
          </a:prstGeom>
          <a:noFill/>
          <a:ln/>
        </p:spPr>
        <p:txBody>
          <a:bodyPr wrap="square" lIns="0" tIns="0" rIns="0" bIns="0" rtlCol="0" anchor="ctr"/>
          <a:lstStyle/>
          <a:p>
            <a:pPr marL="0" indent="0">
              <a:lnSpc>
                <a:spcPct val="105000"/>
              </a:lnSpc>
              <a:buNone/>
            </a:pPr>
            <a:r>
              <a:rPr lang="en-US" sz="1350" i="1" dirty="0">
                <a:solidFill>
                  <a:srgbClr val="0F6E56"/>
                </a:solidFill>
                <a:latin typeface="Cambria" pitchFamily="34" charset="0"/>
                <a:ea typeface="Cambria" pitchFamily="34" charset="-122"/>
                <a:cs typeface="Cambria" pitchFamily="34" charset="-120"/>
              </a:rPr>
              <a:t>“Where is my real exposure across data, infrastructure and cross-border flows?”</a:t>
            </a:r>
            <a:endParaRPr lang="en-US" sz="1350" dirty="0"/>
          </a:p>
        </p:txBody>
      </p:sp>
      <p:sp>
        <p:nvSpPr>
          <p:cNvPr id="21" name="Shape 17"/>
          <p:cNvSpPr/>
          <p:nvPr/>
        </p:nvSpPr>
        <p:spPr>
          <a:xfrm>
            <a:off x="4599432" y="4041648"/>
            <a:ext cx="3090672" cy="0"/>
          </a:xfrm>
          <a:prstGeom prst="line">
            <a:avLst/>
          </a:prstGeom>
          <a:noFill/>
          <a:ln w="12700">
            <a:solidFill>
              <a:srgbClr val="D2E4DD"/>
            </a:solidFill>
            <a:prstDash val="solid"/>
          </a:ln>
        </p:spPr>
        <p:txBody>
          <a:bodyPr/>
          <a:lstStyle/>
          <a:p>
            <a:endParaRPr lang="en-US"/>
          </a:p>
        </p:txBody>
      </p:sp>
      <p:sp>
        <p:nvSpPr>
          <p:cNvPr id="22" name="Text 18"/>
          <p:cNvSpPr txBox="1"/>
          <p:nvPr/>
        </p:nvSpPr>
        <p:spPr>
          <a:xfrm>
            <a:off x="4599432" y="4133088"/>
            <a:ext cx="3090672" cy="777240"/>
          </a:xfrm>
          <a:prstGeom prst="rect">
            <a:avLst/>
          </a:prstGeom>
          <a:noFill/>
          <a:ln/>
        </p:spPr>
        <p:txBody>
          <a:bodyPr wrap="square" lIns="0" tIns="0" rIns="0" bIns="0" rtlCol="0" anchor="ctr"/>
          <a:lstStyle/>
          <a:p>
            <a:pPr marL="0" indent="0">
              <a:lnSpc>
                <a:spcPct val="102000"/>
              </a:lnSpc>
              <a:buNone/>
            </a:pPr>
            <a:r>
              <a:rPr lang="en-US" sz="1050" dirty="0">
                <a:solidFill>
                  <a:srgbClr val="3C4A44"/>
                </a:solidFill>
                <a:latin typeface="Calibri" pitchFamily="34" charset="0"/>
                <a:ea typeface="Calibri" pitchFamily="34" charset="-122"/>
                <a:cs typeface="Calibri" pitchFamily="34" charset="-120"/>
              </a:rPr>
              <a:t>The technical depth read behind the posture, data and sovereign-AI offerings (02.1, 02.2, 02.5).</a:t>
            </a:r>
            <a:endParaRPr lang="en-US" sz="1050" dirty="0"/>
          </a:p>
        </p:txBody>
      </p:sp>
      <p:sp>
        <p:nvSpPr>
          <p:cNvPr id="23" name="Shape 19"/>
          <p:cNvSpPr/>
          <p:nvPr/>
        </p:nvSpPr>
        <p:spPr>
          <a:xfrm>
            <a:off x="8183880" y="1828800"/>
            <a:ext cx="3602736" cy="3200400"/>
          </a:xfrm>
          <a:prstGeom prst="roundRect">
            <a:avLst>
              <a:gd name="adj" fmla="val 2000"/>
            </a:avLst>
          </a:prstGeom>
          <a:solidFill>
            <a:srgbClr val="F3F8F6"/>
          </a:solidFill>
          <a:ln w="9525">
            <a:solidFill>
              <a:srgbClr val="D2E4DD"/>
            </a:solidFill>
            <a:prstDash val="solid"/>
          </a:ln>
        </p:spPr>
        <p:txBody>
          <a:bodyPr/>
          <a:lstStyle/>
          <a:p>
            <a:endParaRPr lang="en-US"/>
          </a:p>
        </p:txBody>
      </p:sp>
      <p:sp>
        <p:nvSpPr>
          <p:cNvPr id="24" name="Shape 20"/>
          <p:cNvSpPr/>
          <p:nvPr/>
        </p:nvSpPr>
        <p:spPr>
          <a:xfrm>
            <a:off x="8183880" y="1828800"/>
            <a:ext cx="3602736" cy="1051560"/>
          </a:xfrm>
          <a:prstGeom prst="roundRect">
            <a:avLst>
              <a:gd name="adj" fmla="val 6087"/>
            </a:avLst>
          </a:prstGeom>
          <a:solidFill>
            <a:srgbClr val="0A5643"/>
          </a:solidFill>
          <a:ln/>
        </p:spPr>
        <p:txBody>
          <a:bodyPr/>
          <a:lstStyle/>
          <a:p>
            <a:endParaRPr lang="en-US"/>
          </a:p>
        </p:txBody>
      </p:sp>
      <p:sp>
        <p:nvSpPr>
          <p:cNvPr id="25" name="Shape 21"/>
          <p:cNvSpPr/>
          <p:nvPr/>
        </p:nvSpPr>
        <p:spPr>
          <a:xfrm>
            <a:off x="8183880" y="2331720"/>
            <a:ext cx="3602736" cy="548640"/>
          </a:xfrm>
          <a:prstGeom prst="rect">
            <a:avLst/>
          </a:prstGeom>
          <a:solidFill>
            <a:srgbClr val="0A5643"/>
          </a:solidFill>
          <a:ln/>
        </p:spPr>
        <p:txBody>
          <a:bodyPr/>
          <a:lstStyle/>
          <a:p>
            <a:endParaRPr lang="en-US"/>
          </a:p>
        </p:txBody>
      </p:sp>
      <p:pic>
        <p:nvPicPr>
          <p:cNvPr id="26" name="Image 2" descr="/home/claude/s_regiq.png"/>
          <p:cNvPicPr>
            <a:picLocks noChangeAspect="1"/>
          </p:cNvPicPr>
          <p:nvPr/>
        </p:nvPicPr>
        <p:blipFill>
          <a:blip r:embed="rId5"/>
          <a:stretch>
            <a:fillRect/>
          </a:stretch>
        </p:blipFill>
        <p:spPr>
          <a:xfrm>
            <a:off x="8439912" y="2103120"/>
            <a:ext cx="502920" cy="502920"/>
          </a:xfrm>
          <a:prstGeom prst="rect">
            <a:avLst/>
          </a:prstGeom>
        </p:spPr>
      </p:pic>
      <p:sp>
        <p:nvSpPr>
          <p:cNvPr id="27" name="Text 22"/>
          <p:cNvSpPr txBox="1"/>
          <p:nvPr/>
        </p:nvSpPr>
        <p:spPr>
          <a:xfrm>
            <a:off x="9079992" y="2066544"/>
            <a:ext cx="2596896"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Regulatory IQ</a:t>
            </a:r>
            <a:endParaRPr lang="en-US" sz="1900" dirty="0"/>
          </a:p>
        </p:txBody>
      </p:sp>
      <p:sp>
        <p:nvSpPr>
          <p:cNvPr id="28" name="Text 23"/>
          <p:cNvSpPr txBox="1"/>
          <p:nvPr/>
        </p:nvSpPr>
        <p:spPr>
          <a:xfrm>
            <a:off x="9098280" y="2468880"/>
            <a:ext cx="2596896" cy="256032"/>
          </a:xfrm>
          <a:prstGeom prst="rect">
            <a:avLst/>
          </a:prstGeom>
          <a:noFill/>
          <a:ln/>
        </p:spPr>
        <p:txBody>
          <a:bodyPr wrap="square" lIns="0" tIns="0" rIns="0" bIns="0" rtlCol="0" anchor="ctr"/>
          <a:lstStyle/>
          <a:p>
            <a:pPr marL="0" indent="0">
              <a:buNone/>
            </a:pPr>
            <a:r>
              <a:rPr lang="en-US" sz="950" b="1" kern="0" spc="150" dirty="0">
                <a:solidFill>
                  <a:srgbClr val="9FE1CB"/>
                </a:solidFill>
                <a:latin typeface="Calibri" pitchFamily="34" charset="0"/>
                <a:ea typeface="Calibri" pitchFamily="34" charset="-122"/>
                <a:cs typeface="Calibri" pitchFamily="34" charset="-120"/>
              </a:rPr>
              <a:t>GATED · LTM-LED</a:t>
            </a:r>
            <a:endParaRPr lang="en-US" sz="950" dirty="0"/>
          </a:p>
        </p:txBody>
      </p:sp>
      <p:sp>
        <p:nvSpPr>
          <p:cNvPr id="29" name="Text 24"/>
          <p:cNvSpPr txBox="1"/>
          <p:nvPr/>
        </p:nvSpPr>
        <p:spPr>
          <a:xfrm>
            <a:off x="8439912" y="3035808"/>
            <a:ext cx="3090672" cy="914400"/>
          </a:xfrm>
          <a:prstGeom prst="rect">
            <a:avLst/>
          </a:prstGeom>
          <a:noFill/>
          <a:ln/>
        </p:spPr>
        <p:txBody>
          <a:bodyPr wrap="square" lIns="0" tIns="0" rIns="0" bIns="0" rtlCol="0" anchor="ctr"/>
          <a:lstStyle/>
          <a:p>
            <a:pPr marL="0" indent="0">
              <a:lnSpc>
                <a:spcPct val="105000"/>
              </a:lnSpc>
              <a:buNone/>
            </a:pPr>
            <a:r>
              <a:rPr lang="en-US" sz="1350" i="1" dirty="0">
                <a:solidFill>
                  <a:srgbClr val="0F6E56"/>
                </a:solidFill>
                <a:latin typeface="Cambria" pitchFamily="34" charset="0"/>
                <a:ea typeface="Cambria" pitchFamily="34" charset="-122"/>
                <a:cs typeface="Cambria" pitchFamily="34" charset="-120"/>
              </a:rPr>
              <a:t>“How compliant am I against the specific Act that binds me?”</a:t>
            </a:r>
            <a:endParaRPr lang="en-US" sz="1350" dirty="0"/>
          </a:p>
        </p:txBody>
      </p:sp>
      <p:sp>
        <p:nvSpPr>
          <p:cNvPr id="30" name="Shape 25"/>
          <p:cNvSpPr/>
          <p:nvPr/>
        </p:nvSpPr>
        <p:spPr>
          <a:xfrm>
            <a:off x="8439912" y="4041648"/>
            <a:ext cx="3090672" cy="0"/>
          </a:xfrm>
          <a:prstGeom prst="line">
            <a:avLst/>
          </a:prstGeom>
          <a:noFill/>
          <a:ln w="12700">
            <a:solidFill>
              <a:srgbClr val="D2E4DD"/>
            </a:solidFill>
            <a:prstDash val="solid"/>
          </a:ln>
        </p:spPr>
        <p:txBody>
          <a:bodyPr/>
          <a:lstStyle/>
          <a:p>
            <a:endParaRPr lang="en-US"/>
          </a:p>
        </p:txBody>
      </p:sp>
      <p:sp>
        <p:nvSpPr>
          <p:cNvPr id="31" name="Text 26"/>
          <p:cNvSpPr txBox="1"/>
          <p:nvPr/>
        </p:nvSpPr>
        <p:spPr>
          <a:xfrm>
            <a:off x="8439912" y="4133088"/>
            <a:ext cx="3090672" cy="777240"/>
          </a:xfrm>
          <a:prstGeom prst="rect">
            <a:avLst/>
          </a:prstGeom>
          <a:noFill/>
          <a:ln/>
        </p:spPr>
        <p:txBody>
          <a:bodyPr wrap="square" lIns="0" tIns="0" rIns="0" bIns="0" rtlCol="0" anchor="ctr"/>
          <a:lstStyle/>
          <a:p>
            <a:pPr marL="0" indent="0">
              <a:lnSpc>
                <a:spcPct val="102000"/>
              </a:lnSpc>
              <a:buNone/>
            </a:pPr>
            <a:r>
              <a:rPr lang="en-US" sz="1050" dirty="0">
                <a:solidFill>
                  <a:srgbClr val="3C4A44"/>
                </a:solidFill>
                <a:latin typeface="Calibri" pitchFamily="34" charset="0"/>
                <a:ea typeface="Calibri" pitchFamily="34" charset="-122"/>
                <a:cs typeface="Calibri" pitchFamily="34" charset="-120"/>
              </a:rPr>
              <a:t>A per-Act gap read — DORA, NIS2, EU AI Act, DPDP. Feeds Regulatory Alignment &amp; Exit Strategy (02.3).</a:t>
            </a:r>
            <a:endParaRPr lang="en-US" sz="1050" dirty="0"/>
          </a:p>
        </p:txBody>
      </p:sp>
      <p:sp>
        <p:nvSpPr>
          <p:cNvPr id="32" name="Shape 27"/>
          <p:cNvSpPr/>
          <p:nvPr/>
        </p:nvSpPr>
        <p:spPr>
          <a:xfrm>
            <a:off x="502920" y="5285232"/>
            <a:ext cx="11183112" cy="658368"/>
          </a:xfrm>
          <a:prstGeom prst="roundRect">
            <a:avLst>
              <a:gd name="adj" fmla="val 8333"/>
            </a:avLst>
          </a:prstGeom>
          <a:solidFill>
            <a:srgbClr val="E1F5EE"/>
          </a:solidFill>
          <a:ln w="9525">
            <a:solidFill>
              <a:srgbClr val="5DCAA5"/>
            </a:solidFill>
            <a:prstDash val="solid"/>
          </a:ln>
        </p:spPr>
        <p:txBody>
          <a:bodyPr/>
          <a:lstStyle/>
          <a:p>
            <a:endParaRPr lang="en-US"/>
          </a:p>
        </p:txBody>
      </p:sp>
      <p:sp>
        <p:nvSpPr>
          <p:cNvPr id="33" name="Text 28"/>
          <p:cNvSpPr txBox="1"/>
          <p:nvPr/>
        </p:nvSpPr>
        <p:spPr>
          <a:xfrm>
            <a:off x="777240" y="5394960"/>
            <a:ext cx="10698480" cy="457200"/>
          </a:xfrm>
          <a:prstGeom prst="rect">
            <a:avLst/>
          </a:prstGeom>
          <a:noFill/>
          <a:ln/>
        </p:spPr>
        <p:txBody>
          <a:bodyPr wrap="square" lIns="0" tIns="0" rIns="0" bIns="0" rtlCol="0" anchor="ctr"/>
          <a:lstStyle/>
          <a:p>
            <a:pPr marL="0" indent="0">
              <a:buNone/>
            </a:pPr>
            <a:r>
              <a:rPr lang="en-US" sz="1050" b="1" kern="0" spc="150" dirty="0">
                <a:solidFill>
                  <a:srgbClr val="0F6E56"/>
                </a:solidFill>
                <a:latin typeface="Calibri" pitchFamily="34" charset="0"/>
                <a:ea typeface="Calibri" pitchFamily="34" charset="-122"/>
                <a:cs typeface="Calibri" pitchFamily="34" charset="-120"/>
              </a:rPr>
              <a:t>THE PATH   </a:t>
            </a:r>
            <a:r>
              <a:rPr lang="en-US" sz="1400" i="1" dirty="0">
                <a:solidFill>
                  <a:srgbClr val="0A5643"/>
                </a:solidFill>
                <a:latin typeface="Cambria" pitchFamily="34" charset="0"/>
                <a:ea typeface="Cambria" pitchFamily="34" charset="-122"/>
                <a:cs typeface="Cambria" pitchFamily="34" charset="-120"/>
              </a:rPr>
              <a:t>Sovereign IQ  →  Posture IQ / Regulatory IQ  →  the offering the evidence points to  →  02.4 roadmap  →  delivery</a:t>
            </a:r>
            <a:endParaRPr lang="en-US" sz="1050" dirty="0"/>
          </a:p>
        </p:txBody>
      </p:sp>
      <p:sp>
        <p:nvSpPr>
          <p:cNvPr id="34" name="Text 29"/>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5" name="Text 30"/>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Accelerators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OUT-GOVERN THE MAP.</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02.1   </a:t>
            </a:r>
            <a:r>
              <a:rPr lang="en-US" sz="2400" b="1" dirty="0">
                <a:solidFill>
                  <a:srgbClr val="1B1F23"/>
                </a:solidFill>
                <a:latin typeface="Cambria" pitchFamily="34" charset="0"/>
                <a:ea typeface="Cambria" pitchFamily="34" charset="-122"/>
                <a:cs typeface="Cambria" pitchFamily="34" charset="-120"/>
              </a:rPr>
              <a:t>Sovereignty Posture &amp; Geopatriation Advisory</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marL="0" indent="0">
              <a:buNone/>
            </a:pPr>
            <a:r>
              <a:rPr lang="en-US" sz="900" b="1" kern="0" spc="100" dirty="0">
                <a:solidFill>
                  <a:srgbClr val="5DCAA5"/>
                </a:solidFill>
                <a:latin typeface="Calibri" pitchFamily="34" charset="0"/>
                <a:ea typeface="Calibri" pitchFamily="34" charset="-122"/>
                <a:cs typeface="Calibri" pitchFamily="34" charset="-120"/>
              </a:rPr>
              <a:t>STARTS FROM  </a:t>
            </a:r>
            <a:r>
              <a:rPr lang="en-US" sz="1050" dirty="0">
                <a:solidFill>
                  <a:srgbClr val="44515E"/>
                </a:solidFill>
                <a:latin typeface="Calibri" pitchFamily="34" charset="0"/>
                <a:ea typeface="Calibri" pitchFamily="34" charset="-122"/>
                <a:cs typeface="Calibri" pitchFamily="34" charset="-120"/>
              </a:rPr>
              <a:t>Sovereign IQ → Posture IQ (infra / jurisdiction lens)      </a:t>
            </a:r>
            <a:r>
              <a:rPr lang="en-US" sz="900" b="1" kern="0" spc="100" dirty="0">
                <a:solidFill>
                  <a:srgbClr val="5DCAA5"/>
                </a:solidFill>
                <a:latin typeface="Calibri" pitchFamily="34" charset="0"/>
                <a:ea typeface="Calibri" pitchFamily="34" charset="-122"/>
                <a:cs typeface="Calibri" pitchFamily="34" charset="-120"/>
              </a:rPr>
              <a:t>LEADS TO  </a:t>
            </a:r>
            <a:r>
              <a:rPr lang="en-US" sz="1050" dirty="0">
                <a:solidFill>
                  <a:srgbClr val="44515E"/>
                </a:solidFill>
                <a:latin typeface="Calibri" pitchFamily="34" charset="0"/>
                <a:ea typeface="Calibri" pitchFamily="34" charset="-122"/>
                <a:cs typeface="Calibri" pitchFamily="34" charset="-120"/>
              </a:rPr>
              <a:t>02.4 Application Portfolio Mapping &amp; Roadmap → migration delivery</a:t>
            </a:r>
            <a:endParaRPr lang="en-US" sz="900" dirty="0"/>
          </a:p>
        </p:txBody>
      </p:sp>
      <p:sp>
        <p:nvSpPr>
          <p:cNvPr id="5" name="Shape 3"/>
          <p:cNvSpPr/>
          <p:nvPr/>
        </p:nvSpPr>
        <p:spPr>
          <a:xfrm>
            <a:off x="502920" y="1737360"/>
            <a:ext cx="5394960" cy="2395728"/>
          </a:xfrm>
          <a:prstGeom prst="roundRect">
            <a:avLst>
              <a:gd name="adj" fmla="val 2290"/>
            </a:avLst>
          </a:prstGeom>
          <a:solidFill>
            <a:srgbClr val="F3F8F6"/>
          </a:solidFill>
          <a:ln w="9525">
            <a:solidFill>
              <a:srgbClr val="D2E4DD"/>
            </a:solidFill>
            <a:prstDash val="solid"/>
          </a:ln>
        </p:spPr>
        <p:txBody>
          <a:bodyPr/>
          <a:lstStyle/>
          <a:p>
            <a:endParaRPr lang="en-US"/>
          </a:p>
        </p:txBody>
      </p:sp>
      <p:sp>
        <p:nvSpPr>
          <p:cNvPr id="6" name="Text 4"/>
          <p:cNvSpPr txBox="1"/>
          <p:nvPr/>
        </p:nvSpPr>
        <p:spPr>
          <a:xfrm>
            <a:off x="731520" y="1901952"/>
            <a:ext cx="4937760" cy="256032"/>
          </a:xfrm>
          <a:prstGeom prst="rect">
            <a:avLst/>
          </a:prstGeom>
          <a:noFill/>
          <a:ln/>
        </p:spPr>
        <p:txBody>
          <a:bodyPr wrap="square" lIns="0" tIns="0" rIns="0" bIns="0" rtlCol="0" anchor="ctr"/>
          <a:lstStyle/>
          <a:p>
            <a:pPr marL="0" indent="0">
              <a:buNone/>
            </a:pPr>
            <a:r>
              <a:rPr lang="en-US" sz="1100" b="1" kern="0" spc="150" dirty="0">
                <a:solidFill>
                  <a:srgbClr val="0F6E56"/>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marL="0" indent="0">
              <a:lnSpc>
                <a:spcPct val="104000"/>
              </a:lnSpc>
              <a:buNone/>
            </a:pPr>
            <a:r>
              <a:rPr lang="en-US" sz="1150" dirty="0">
                <a:solidFill>
                  <a:srgbClr val="2C3A34"/>
                </a:solidFill>
                <a:latin typeface="Calibri" pitchFamily="34" charset="0"/>
                <a:ea typeface="Calibri" pitchFamily="34" charset="-122"/>
                <a:cs typeface="Calibri" pitchFamily="34" charset="-120"/>
              </a:rPr>
              <a:t>Gives the CIO a defensible, board-ready answer to where our data lives, who can reach it, and what happens if that access is withdrawn. It establishes the enterprise’s true sovereignty posture across infrastructure, data and third-party exposure, then builds a costed geopatriation case — which workloads move to regional or sovereign providers, at what cost, and in what sequence. LTM stays accountable past the recommendation: the team that maps the exposure can move the workloads.</a:t>
            </a:r>
            <a:endParaRPr lang="en-US" sz="1150" dirty="0"/>
          </a:p>
        </p:txBody>
      </p:sp>
      <p:sp>
        <p:nvSpPr>
          <p:cNvPr id="8" name="Shape 6"/>
          <p:cNvSpPr/>
          <p:nvPr/>
        </p:nvSpPr>
        <p:spPr>
          <a:xfrm>
            <a:off x="502920" y="4279392"/>
            <a:ext cx="5394960" cy="1627632"/>
          </a:xfrm>
          <a:prstGeom prst="roundRect">
            <a:avLst>
              <a:gd name="adj" fmla="val 3371"/>
            </a:avLst>
          </a:prstGeom>
          <a:solidFill>
            <a:srgbClr val="0F6E56"/>
          </a:solidFill>
          <a:ln w="9525">
            <a:solidFill>
              <a:srgbClr val="0F6E56"/>
            </a:solidFill>
            <a:prstDash val="solid"/>
          </a:ln>
        </p:spPr>
        <p:txBody>
          <a:bodyPr/>
          <a:lstStyle/>
          <a:p>
            <a:endParaRPr lang="en-US"/>
          </a:p>
        </p:txBody>
      </p:sp>
      <p:sp>
        <p:nvSpPr>
          <p:cNvPr id="9" name="Text 7"/>
          <p:cNvSpPr txBox="1"/>
          <p:nvPr/>
        </p:nvSpPr>
        <p:spPr>
          <a:xfrm>
            <a:off x="731520" y="4425696"/>
            <a:ext cx="4937760" cy="256032"/>
          </a:xfrm>
          <a:prstGeom prst="rect">
            <a:avLst/>
          </a:prstGeom>
          <a:noFill/>
          <a:ln/>
        </p:spPr>
        <p:txBody>
          <a:bodyPr wrap="square" lIns="0" tIns="0" rIns="0" bIns="0" rtlCol="0" anchor="ctr"/>
          <a:lstStyle/>
          <a:p>
            <a:pPr marL="0" indent="0">
              <a:buNone/>
            </a:pPr>
            <a:r>
              <a:rPr lang="en-US" sz="1100" b="1" kern="0" spc="150" dirty="0">
                <a:solidFill>
                  <a:srgbClr val="9FE1CB"/>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marL="0" indent="0">
              <a:lnSpc>
                <a:spcPct val="103000"/>
              </a:lnSpc>
              <a:buNone/>
            </a:pPr>
            <a:r>
              <a:rPr lang="en-US" sz="1100" dirty="0">
                <a:solidFill>
                  <a:srgbClr val="EAF6F1"/>
                </a:solidFill>
                <a:latin typeface="Calibri" pitchFamily="34" charset="0"/>
                <a:ea typeface="Calibri" pitchFamily="34" charset="-122"/>
                <a:cs typeface="Calibri" pitchFamily="34" charset="-120"/>
              </a:rPr>
              <a:t>Worldwide sovereign cloud IaaS spending is forecast to reach $80B in 2026, up 35.6% YoY; in Europe it rises 83% to $12.6B and overtakes North America by 2027. Gartner estimates geopatriation will shift 20% of current workloads from global to local providers. The budget conversation is live today — and sovereign-provider capacity is finite.</a:t>
            </a:r>
            <a:endParaRPr lang="en-US" sz="110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marL="0" indent="0">
              <a:buNone/>
            </a:pPr>
            <a:r>
              <a:rPr lang="en-US" sz="850" i="1" dirty="0">
                <a:solidFill>
                  <a:srgbClr val="8FC9B7"/>
                </a:solidFill>
                <a:latin typeface="Calibri" pitchFamily="34" charset="0"/>
                <a:ea typeface="Calibri" pitchFamily="34" charset="-122"/>
                <a:cs typeface="Calibri" pitchFamily="34" charset="-120"/>
              </a:rPr>
              <a:t>Source: Gartner / regulatory bodies, 2025–2026.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D2E4DD"/>
            </a:solidFill>
            <a:prstDash val="solid"/>
          </a:ln>
        </p:spPr>
        <p:txBody>
          <a:bodyPr/>
          <a:lstStyle/>
          <a:p>
            <a:endParaRPr lang="en-US"/>
          </a:p>
        </p:txBody>
      </p:sp>
      <p:sp>
        <p:nvSpPr>
          <p:cNvPr id="13" name="Text 11"/>
          <p:cNvSpPr txBox="1"/>
          <p:nvPr/>
        </p:nvSpPr>
        <p:spPr>
          <a:xfrm>
            <a:off x="6492240" y="1792224"/>
            <a:ext cx="4937760" cy="256032"/>
          </a:xfrm>
          <a:prstGeom prst="rect">
            <a:avLst/>
          </a:prstGeom>
          <a:noFill/>
          <a:ln/>
        </p:spPr>
        <p:txBody>
          <a:bodyPr wrap="square" lIns="0" tIns="0" rIns="0" bIns="0" rtlCol="0" anchor="ctr"/>
          <a:lstStyle/>
          <a:p>
            <a:pPr marL="0" indent="0">
              <a:buNone/>
            </a:pPr>
            <a:r>
              <a:rPr lang="en-US" sz="1100" b="1" kern="0" spc="120" dirty="0">
                <a:solidFill>
                  <a:srgbClr val="0F6E56"/>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048256"/>
            <a:ext cx="4937760" cy="457200"/>
          </a:xfrm>
          <a:prstGeom prst="rect">
            <a:avLst/>
          </a:prstGeom>
          <a:noFill/>
          <a:ln/>
        </p:spPr>
        <p:txBody>
          <a:bodyPr wrap="square" lIns="0" tIns="0" rIns="0" bIns="0" rtlCol="0" anchor="ctr"/>
          <a:lstStyle/>
          <a:p>
            <a:pPr marL="0" indent="0">
              <a:lnSpc>
                <a:spcPct val="95000"/>
              </a:lnSpc>
              <a:buNone/>
            </a:pPr>
            <a:r>
              <a:rPr lang="en-US" sz="1150" i="1" dirty="0">
                <a:solidFill>
                  <a:srgbClr val="D35400"/>
                </a:solidFill>
                <a:latin typeface="Cambria" pitchFamily="34" charset="0"/>
                <a:ea typeface="Cambria" pitchFamily="34" charset="-122"/>
                <a:cs typeface="Cambria" pitchFamily="34" charset="-120"/>
              </a:rPr>
              <a:t>CIOs are being asked to prove a level of sovereignty they cannot currently evidence.</a:t>
            </a:r>
            <a:endParaRPr lang="en-US" sz="1150" dirty="0"/>
          </a:p>
        </p:txBody>
      </p:sp>
      <p:sp>
        <p:nvSpPr>
          <p:cNvPr id="15" name="Text 13"/>
          <p:cNvSpPr txBox="1"/>
          <p:nvPr/>
        </p:nvSpPr>
        <p:spPr>
          <a:xfrm>
            <a:off x="6492240" y="2587752"/>
            <a:ext cx="4937760" cy="1325880"/>
          </a:xfrm>
          <a:prstGeom prst="rect">
            <a:avLst/>
          </a:prstGeom>
          <a:noFill/>
          <a:ln/>
        </p:spPr>
        <p:txBody>
          <a:bodyPr wrap="square" lIns="0" tIns="0" rIns="0" bIns="0" rtlCol="0" anchor="ctr"/>
          <a:lstStyle/>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Boards and regulators want proof, not assurance, that critical data sits in a defensible jurisdiction — most enterprises can’t produce it.</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Data flows are undocumented across applications, jurisdictions and sub-processors; there’s no single evidenced view of exposure.</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Encryption keys and control-plane access often sit with the provider, leaving “sovereign” asserted in slideware, not architecture.</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Concentration risk on a single hyperscaler creates exposure to extraterritorial legislation and geopolitical disruption.</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Without a costed plan, the only options are “do nothing” or “repatriate everything” — both wrong.</a:t>
            </a:r>
            <a:endParaRPr lang="en-US" sz="1000" dirty="0"/>
          </a:p>
        </p:txBody>
      </p:sp>
      <p:sp>
        <p:nvSpPr>
          <p:cNvPr id="16" name="Shape 14"/>
          <p:cNvSpPr/>
          <p:nvPr/>
        </p:nvSpPr>
        <p:spPr>
          <a:xfrm>
            <a:off x="6263640" y="4279392"/>
            <a:ext cx="5394960" cy="1627632"/>
          </a:xfrm>
          <a:prstGeom prst="roundRect">
            <a:avLst>
              <a:gd name="adj" fmla="val 3371"/>
            </a:avLst>
          </a:prstGeom>
          <a:solidFill>
            <a:srgbClr val="F3F8F6"/>
          </a:solidFill>
          <a:ln w="9525">
            <a:solidFill>
              <a:srgbClr val="D2E4DD"/>
            </a:solidFill>
            <a:prstDash val="solid"/>
          </a:ln>
        </p:spPr>
        <p:txBody>
          <a:bodyPr/>
          <a:lstStyle/>
          <a:p>
            <a:endParaRPr lang="en-US"/>
          </a:p>
        </p:txBody>
      </p:sp>
      <p:sp>
        <p:nvSpPr>
          <p:cNvPr id="17" name="Text 15"/>
          <p:cNvSpPr txBox="1"/>
          <p:nvPr/>
        </p:nvSpPr>
        <p:spPr>
          <a:xfrm>
            <a:off x="6492240" y="4352544"/>
            <a:ext cx="4937760" cy="256032"/>
          </a:xfrm>
          <a:prstGeom prst="rect">
            <a:avLst/>
          </a:prstGeom>
          <a:noFill/>
          <a:ln/>
        </p:spPr>
        <p:txBody>
          <a:bodyPr wrap="square" lIns="0" tIns="0" rIns="0" bIns="0" rtlCol="0" anchor="ctr"/>
          <a:lstStyle/>
          <a:p>
            <a:pPr marL="0" indent="0">
              <a:buNone/>
            </a:pPr>
            <a:r>
              <a:rPr lang="en-US" sz="1100" b="1" kern="0" spc="120" dirty="0">
                <a:solidFill>
                  <a:srgbClr val="0F6E56"/>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2686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A defensible position, not an opinion  </a:t>
            </a:r>
            <a:r>
              <a:rPr lang="en-US" sz="900" dirty="0">
                <a:solidFill>
                  <a:srgbClr val="44515E"/>
                </a:solidFill>
                <a:latin typeface="Calibri" pitchFamily="34" charset="0"/>
                <a:ea typeface="Calibri" pitchFamily="34" charset="-122"/>
                <a:cs typeface="Calibri" pitchFamily="34" charset="-120"/>
              </a:rPr>
              <a:t>— A board-ready posture evidenced by mapped data flows — able to survive a regulator’s or auditor’s challenge.</a:t>
            </a:r>
            <a:endParaRPr lang="en-US" sz="950" dirty="0"/>
          </a:p>
        </p:txBody>
      </p:sp>
      <p:sp>
        <p:nvSpPr>
          <p:cNvPr id="19" name="Text 17"/>
          <p:cNvSpPr txBox="1"/>
          <p:nvPr/>
        </p:nvSpPr>
        <p:spPr>
          <a:xfrm>
            <a:off x="6492240" y="4860950"/>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A costed, sequenced geopatriation case  </a:t>
            </a:r>
            <a:r>
              <a:rPr lang="en-US" sz="900" dirty="0">
                <a:solidFill>
                  <a:srgbClr val="44515E"/>
                </a:solidFill>
                <a:latin typeface="Calibri" pitchFamily="34" charset="0"/>
                <a:ea typeface="Calibri" pitchFamily="34" charset="-122"/>
                <a:cs typeface="Calibri" pitchFamily="34" charset="-120"/>
              </a:rPr>
              <a:t>— Deliberate action on the ~20% of workloads that actually need to move, avoiding the cost of “repatriate everything.”</a:t>
            </a:r>
            <a:endParaRPr lang="en-US" sz="950" dirty="0"/>
          </a:p>
        </p:txBody>
      </p:sp>
      <p:sp>
        <p:nvSpPr>
          <p:cNvPr id="20" name="Text 18"/>
          <p:cNvSpPr txBox="1"/>
          <p:nvPr/>
        </p:nvSpPr>
        <p:spPr>
          <a:xfrm>
            <a:off x="6492240" y="5095037"/>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Concentration risk retired at source  </a:t>
            </a:r>
            <a:r>
              <a:rPr lang="en-US" sz="900" dirty="0">
                <a:solidFill>
                  <a:srgbClr val="44515E"/>
                </a:solidFill>
                <a:latin typeface="Calibri" pitchFamily="34" charset="0"/>
                <a:ea typeface="Calibri" pitchFamily="34" charset="-122"/>
                <a:cs typeface="Calibri" pitchFamily="34" charset="-120"/>
              </a:rPr>
              <a:t>— Single-provider dependency surfaced and mitigated before it becomes a DORA / NIS2 finding.</a:t>
            </a:r>
            <a:endParaRPr lang="en-US" sz="950" dirty="0"/>
          </a:p>
        </p:txBody>
      </p:sp>
      <p:sp>
        <p:nvSpPr>
          <p:cNvPr id="21" name="Text 19"/>
          <p:cNvSpPr txBox="1"/>
          <p:nvPr/>
        </p:nvSpPr>
        <p:spPr>
          <a:xfrm>
            <a:off x="6492240" y="5329123"/>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Early-mover advantage  </a:t>
            </a:r>
            <a:r>
              <a:rPr lang="en-US" sz="900" dirty="0">
                <a:solidFill>
                  <a:srgbClr val="44515E"/>
                </a:solidFill>
                <a:latin typeface="Calibri" pitchFamily="34" charset="0"/>
                <a:ea typeface="Calibri" pitchFamily="34" charset="-122"/>
                <a:cs typeface="Calibri" pitchFamily="34" charset="-120"/>
              </a:rPr>
              <a:t>— With sovereign demand up 83% in Europe, moving early secures provider capacity, pricing and migration windows.</a:t>
            </a:r>
            <a:endParaRPr lang="en-US" sz="950" dirty="0"/>
          </a:p>
        </p:txBody>
      </p:sp>
      <p:sp>
        <p:nvSpPr>
          <p:cNvPr id="22" name="Text 20"/>
          <p:cNvSpPr txBox="1"/>
          <p:nvPr/>
        </p:nvSpPr>
        <p:spPr>
          <a:xfrm>
            <a:off x="6492240" y="5563210"/>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One accountable partner  </a:t>
            </a:r>
            <a:r>
              <a:rPr lang="en-US" sz="900" dirty="0">
                <a:solidFill>
                  <a:srgbClr val="44515E"/>
                </a:solidFill>
                <a:latin typeface="Calibri" pitchFamily="34" charset="0"/>
                <a:ea typeface="Calibri" pitchFamily="34" charset="-122"/>
                <a:cs typeface="Calibri" pitchFamily="34" charset="-120"/>
              </a:rPr>
              <a:t>— The team that assesses the exposure can move the workload — no hand-off, no re-discovery.</a:t>
            </a:r>
            <a:endParaRPr lang="en-US" sz="950" dirty="0"/>
          </a:p>
        </p:txBody>
      </p:sp>
      <p:sp>
        <p:nvSpPr>
          <p:cNvPr id="23" name="Text 21"/>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24" name="Text 22"/>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02.1  ·  Overview</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02.1   </a:t>
            </a:r>
            <a:r>
              <a:rPr lang="en-US" sz="2400" b="1" dirty="0">
                <a:solidFill>
                  <a:srgbClr val="1B1F23"/>
                </a:solidFill>
                <a:latin typeface="Cambria" pitchFamily="34" charset="0"/>
                <a:ea typeface="Cambria" pitchFamily="34" charset="-122"/>
                <a:cs typeface="Cambria" pitchFamily="34" charset="-120"/>
              </a:rPr>
              <a:t>Sovereignty Posture &amp; Geopatriation Advisory</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marL="0" indent="0">
              <a:buNone/>
            </a:pPr>
            <a:r>
              <a:rPr lang="en-US" sz="1200" i="1" dirty="0">
                <a:solidFill>
                  <a:srgbClr val="5A6B7B"/>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6" name="Shape 4"/>
          <p:cNvSpPr/>
          <p:nvPr/>
        </p:nvSpPr>
        <p:spPr>
          <a:xfrm>
            <a:off x="502920" y="1783080"/>
            <a:ext cx="3602736" cy="868680"/>
          </a:xfrm>
          <a:prstGeom prst="roundRect">
            <a:avLst>
              <a:gd name="adj" fmla="val 7368"/>
            </a:avLst>
          </a:prstGeom>
          <a:solidFill>
            <a:srgbClr val="0F6E56"/>
          </a:solidFill>
          <a:ln/>
        </p:spPr>
        <p:txBody>
          <a:bodyPr/>
          <a:lstStyle/>
          <a:p>
            <a:endParaRPr lang="en-US"/>
          </a:p>
        </p:txBody>
      </p:sp>
      <p:sp>
        <p:nvSpPr>
          <p:cNvPr id="7" name="Shape 5"/>
          <p:cNvSpPr/>
          <p:nvPr/>
        </p:nvSpPr>
        <p:spPr>
          <a:xfrm>
            <a:off x="502920" y="2194560"/>
            <a:ext cx="3602736" cy="457200"/>
          </a:xfrm>
          <a:prstGeom prst="rect">
            <a:avLst/>
          </a:prstGeom>
          <a:solidFill>
            <a:srgbClr val="0F6E56"/>
          </a:solidFill>
          <a:ln/>
        </p:spPr>
        <p:txBody>
          <a:bodyPr/>
          <a:lstStyle/>
          <a:p>
            <a:endParaRPr lang="en-US"/>
          </a:p>
        </p:txBody>
      </p:sp>
      <p:pic>
        <p:nvPicPr>
          <p:cNvPr id="8" name="Image 0" descr="/home/claude/x_ph_understand.png"/>
          <p:cNvPicPr>
            <a:picLocks noChangeAspect="1"/>
          </p:cNvPicPr>
          <p:nvPr/>
        </p:nvPicPr>
        <p:blipFill>
          <a:blip r:embed="rId3"/>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Assess posture across infrastructure ownership, data residency, key control and third-party jurisdiction access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Map cross-border data flows across applications, jurisdictions and sub-processors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Validate exposure against the regulations that actually bind the client</a:t>
            </a:r>
            <a:endParaRPr lang="en-US" sz="1000" dirty="0"/>
          </a:p>
        </p:txBody>
      </p:sp>
      <p:sp>
        <p:nvSpPr>
          <p:cNvPr id="12" name="Shape 9"/>
          <p:cNvSpPr/>
          <p:nvPr/>
        </p:nvSpPr>
        <p:spPr>
          <a:xfrm>
            <a:off x="740664" y="4983480"/>
            <a:ext cx="3127248" cy="0"/>
          </a:xfrm>
          <a:prstGeom prst="line">
            <a:avLst/>
          </a:prstGeom>
          <a:noFill/>
          <a:ln w="12700">
            <a:solidFill>
              <a:srgbClr val="D2E4DD"/>
            </a:solidFill>
            <a:prstDash val="solid"/>
          </a:ln>
        </p:spPr>
        <p:txBody>
          <a:bodyPr/>
          <a:lstStyle/>
          <a:p>
            <a:endParaRPr lang="en-US"/>
          </a:p>
        </p:txBody>
      </p:sp>
      <p:sp>
        <p:nvSpPr>
          <p:cNvPr id="13" name="Text 10"/>
          <p:cNvSpPr txBox="1"/>
          <p:nvPr/>
        </p:nvSpPr>
        <p:spPr>
          <a:xfrm>
            <a:off x="74066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Current-state posture · cross-border data-flow map · quantified exposure register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marL="0" indent="0" algn="ctr">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17" name="Shape 14"/>
          <p:cNvSpPr/>
          <p:nvPr/>
        </p:nvSpPr>
        <p:spPr>
          <a:xfrm>
            <a:off x="4343400" y="1783080"/>
            <a:ext cx="3602736" cy="868680"/>
          </a:xfrm>
          <a:prstGeom prst="roundRect">
            <a:avLst>
              <a:gd name="adj" fmla="val 7368"/>
            </a:avLst>
          </a:prstGeom>
          <a:solidFill>
            <a:srgbClr val="0A5643"/>
          </a:solidFill>
          <a:ln/>
        </p:spPr>
        <p:txBody>
          <a:bodyPr/>
          <a:lstStyle/>
          <a:p>
            <a:endParaRPr lang="en-US"/>
          </a:p>
        </p:txBody>
      </p:sp>
      <p:sp>
        <p:nvSpPr>
          <p:cNvPr id="18" name="Shape 15"/>
          <p:cNvSpPr/>
          <p:nvPr/>
        </p:nvSpPr>
        <p:spPr>
          <a:xfrm>
            <a:off x="4343400" y="2194560"/>
            <a:ext cx="3602736" cy="457200"/>
          </a:xfrm>
          <a:prstGeom prst="rect">
            <a:avLst/>
          </a:prstGeom>
          <a:solidFill>
            <a:srgbClr val="0A5643"/>
          </a:solidFill>
          <a:ln/>
        </p:spPr>
        <p:txBody>
          <a:bodyPr/>
          <a:lstStyle/>
          <a:p>
            <a:endParaRPr lang="en-US"/>
          </a:p>
        </p:txBody>
      </p:sp>
      <p:pic>
        <p:nvPicPr>
          <p:cNvPr id="19" name="Image 1" descr="/home/claude/x_ph_ideate.png"/>
          <p:cNvPicPr>
            <a:picLocks noChangeAspect="1"/>
          </p:cNvPicPr>
          <p:nvPr/>
        </p:nvPicPr>
        <p:blipFill>
          <a:blip r:embed="rId4"/>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Co-create the target sovereign blueprint (sovereign / private cloud, on-prem enclaves, key management)</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Build the geopatriation business case — which workloads move, at what cost, on what timeline</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Produce the application disposition roadmap (keep / refactor / repatriate / replace), prioritized by impact</a:t>
            </a:r>
            <a:endParaRPr lang="en-US" sz="1000" dirty="0"/>
          </a:p>
        </p:txBody>
      </p:sp>
      <p:sp>
        <p:nvSpPr>
          <p:cNvPr id="23" name="Shape 19"/>
          <p:cNvSpPr/>
          <p:nvPr/>
        </p:nvSpPr>
        <p:spPr>
          <a:xfrm>
            <a:off x="4581144" y="4983480"/>
            <a:ext cx="3127248" cy="0"/>
          </a:xfrm>
          <a:prstGeom prst="line">
            <a:avLst/>
          </a:prstGeom>
          <a:noFill/>
          <a:ln w="12700">
            <a:solidFill>
              <a:srgbClr val="D2E4DD"/>
            </a:solidFill>
            <a:prstDash val="solid"/>
          </a:ln>
        </p:spPr>
        <p:txBody>
          <a:bodyPr/>
          <a:lstStyle/>
          <a:p>
            <a:endParaRPr lang="en-US"/>
          </a:p>
        </p:txBody>
      </p:sp>
      <p:sp>
        <p:nvSpPr>
          <p:cNvPr id="24" name="Text 20"/>
          <p:cNvSpPr txBox="1"/>
          <p:nvPr/>
        </p:nvSpPr>
        <p:spPr>
          <a:xfrm>
            <a:off x="458114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Target sovereign blueprint · geopatriation business case · disposition roadmap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marL="0" indent="0" algn="ctr">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28" name="Shape 24"/>
          <p:cNvSpPr/>
          <p:nvPr/>
        </p:nvSpPr>
        <p:spPr>
          <a:xfrm>
            <a:off x="8183880" y="1783080"/>
            <a:ext cx="3602736" cy="868680"/>
          </a:xfrm>
          <a:prstGeom prst="roundRect">
            <a:avLst>
              <a:gd name="adj" fmla="val 7368"/>
            </a:avLst>
          </a:prstGeom>
          <a:solidFill>
            <a:srgbClr val="084438"/>
          </a:solidFill>
          <a:ln/>
        </p:spPr>
        <p:txBody>
          <a:bodyPr/>
          <a:lstStyle/>
          <a:p>
            <a:endParaRPr lang="en-US"/>
          </a:p>
        </p:txBody>
      </p:sp>
      <p:sp>
        <p:nvSpPr>
          <p:cNvPr id="29" name="Shape 25"/>
          <p:cNvSpPr/>
          <p:nvPr/>
        </p:nvSpPr>
        <p:spPr>
          <a:xfrm>
            <a:off x="8183880" y="2194560"/>
            <a:ext cx="3602736" cy="457200"/>
          </a:xfrm>
          <a:prstGeom prst="rect">
            <a:avLst/>
          </a:prstGeom>
          <a:solidFill>
            <a:srgbClr val="084438"/>
          </a:solidFill>
          <a:ln/>
        </p:spPr>
        <p:txBody>
          <a:bodyPr/>
          <a:lstStyle/>
          <a:p>
            <a:endParaRPr lang="en-US"/>
          </a:p>
        </p:txBody>
      </p:sp>
      <p:pic>
        <p:nvPicPr>
          <p:cNvPr id="30" name="Image 2" descr="/home/claude/x_ph_outcreate.png"/>
          <p:cNvPicPr>
            <a:picLocks noChangeAspect="1"/>
          </p:cNvPicPr>
          <p:nvPr/>
        </p:nvPicPr>
        <p:blipFill>
          <a:blip r:embed="rId5"/>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Consolidate into an executive-ready sovereignty strategy</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Define the trusted-infrastructure operating model and demonstrable controls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Executive playback, decision sign-off, first-wave mobilization</a:t>
            </a:r>
            <a:endParaRPr lang="en-US" sz="1000" dirty="0"/>
          </a:p>
        </p:txBody>
      </p:sp>
      <p:sp>
        <p:nvSpPr>
          <p:cNvPr id="34" name="Shape 29"/>
          <p:cNvSpPr/>
          <p:nvPr/>
        </p:nvSpPr>
        <p:spPr>
          <a:xfrm>
            <a:off x="8421624" y="4983480"/>
            <a:ext cx="3127248" cy="0"/>
          </a:xfrm>
          <a:prstGeom prst="line">
            <a:avLst/>
          </a:prstGeom>
          <a:noFill/>
          <a:ln w="12700">
            <a:solidFill>
              <a:srgbClr val="D2E4DD"/>
            </a:solidFill>
            <a:prstDash val="solid"/>
          </a:ln>
        </p:spPr>
        <p:txBody>
          <a:bodyPr/>
          <a:lstStyle/>
          <a:p>
            <a:endParaRPr lang="en-US"/>
          </a:p>
        </p:txBody>
      </p:sp>
      <p:sp>
        <p:nvSpPr>
          <p:cNvPr id="35" name="Text 30"/>
          <p:cNvSpPr txBox="1"/>
          <p:nvPr/>
        </p:nvSpPr>
        <p:spPr>
          <a:xfrm>
            <a:off x="842162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Board-ready strategy · operating model &amp; controls · mobilization plan · Executive Playback · Closure Pack</a:t>
            </a:r>
            <a:endParaRPr lang="en-US" sz="950" dirty="0"/>
          </a:p>
        </p:txBody>
      </p:sp>
      <p:sp>
        <p:nvSpPr>
          <p:cNvPr id="37" name="Text 32"/>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8" name="Text 33"/>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02.1  ·  Solution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02.1   </a:t>
            </a:r>
            <a:r>
              <a:rPr lang="en-US" sz="2400" b="1" dirty="0">
                <a:solidFill>
                  <a:srgbClr val="1B1F23"/>
                </a:solidFill>
                <a:latin typeface="Cambria" pitchFamily="34" charset="0"/>
                <a:ea typeface="Cambria" pitchFamily="34" charset="-122"/>
                <a:cs typeface="Cambria" pitchFamily="34" charset="-120"/>
              </a:rPr>
              <a:t>Sovereignty Posture &amp; Geopatriation Advisory</a:t>
            </a:r>
            <a:endParaRPr lang="en-US" sz="2400" dirty="0"/>
          </a:p>
        </p:txBody>
      </p:sp>
      <p:sp>
        <p:nvSpPr>
          <p:cNvPr id="4" name="Shape 2"/>
          <p:cNvSpPr/>
          <p:nvPr/>
        </p:nvSpPr>
        <p:spPr>
          <a:xfrm>
            <a:off x="502920" y="1600200"/>
            <a:ext cx="5394960" cy="4480560"/>
          </a:xfrm>
          <a:prstGeom prst="roundRect">
            <a:avLst>
              <a:gd name="adj" fmla="val 1429"/>
            </a:avLst>
          </a:prstGeom>
          <a:solidFill>
            <a:srgbClr val="0F6E56"/>
          </a:solidFill>
          <a:ln/>
        </p:spPr>
        <p:txBody>
          <a:bodyPr/>
          <a:lstStyle/>
          <a:p>
            <a:endParaRPr lang="en-US"/>
          </a:p>
        </p:txBody>
      </p:sp>
      <p:pic>
        <p:nvPicPr>
          <p:cNvPr id="5" name="Image 0" descr="/home/claude/x_deliver.png"/>
          <p:cNvPicPr>
            <a:picLocks noChangeAspect="1"/>
          </p:cNvPicPr>
          <p:nvPr/>
        </p:nvPicPr>
        <p:blipFill>
          <a:blip r:embed="rId3"/>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marL="0" indent="0">
              <a:buNone/>
            </a:pPr>
            <a:r>
              <a:rPr lang="en-US" sz="1050" i="1" dirty="0">
                <a:solidFill>
                  <a:srgbClr val="9FE1CB"/>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5DCAA5"/>
          </a:solidFill>
          <a:ln/>
        </p:spPr>
        <p:txBody>
          <a:bodyPr/>
          <a:lstStyle/>
          <a:p>
            <a:endParaRPr lang="en-US"/>
          </a:p>
        </p:txBody>
      </p:sp>
      <p:sp>
        <p:nvSpPr>
          <p:cNvPr id="9" name="Text 6"/>
          <p:cNvSpPr txBox="1"/>
          <p:nvPr/>
        </p:nvSpPr>
        <p:spPr>
          <a:xfrm>
            <a:off x="777240" y="2880360"/>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Current-state sovereignty posture assessment</a:t>
            </a:r>
            <a:endParaRPr lang="en-US" sz="1150" dirty="0"/>
          </a:p>
        </p:txBody>
      </p:sp>
      <p:sp>
        <p:nvSpPr>
          <p:cNvPr id="11" name="Shape 8"/>
          <p:cNvSpPr/>
          <p:nvPr/>
        </p:nvSpPr>
        <p:spPr>
          <a:xfrm>
            <a:off x="777240" y="3483864"/>
            <a:ext cx="310896" cy="310896"/>
          </a:xfrm>
          <a:prstGeom prst="roundRect">
            <a:avLst>
              <a:gd name="adj" fmla="val 14706"/>
            </a:avLst>
          </a:prstGeom>
          <a:solidFill>
            <a:srgbClr val="5DCAA5"/>
          </a:solidFill>
          <a:ln/>
        </p:spPr>
        <p:txBody>
          <a:bodyPr/>
          <a:lstStyle/>
          <a:p>
            <a:endParaRPr lang="en-US"/>
          </a:p>
        </p:txBody>
      </p:sp>
      <p:sp>
        <p:nvSpPr>
          <p:cNvPr id="12" name="Text 9"/>
          <p:cNvSpPr txBox="1"/>
          <p:nvPr/>
        </p:nvSpPr>
        <p:spPr>
          <a:xfrm>
            <a:off x="777240" y="3483864"/>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Cross-border data-flow map &amp; exposure register</a:t>
            </a:r>
            <a:endParaRPr lang="en-US" sz="1150" dirty="0"/>
          </a:p>
        </p:txBody>
      </p:sp>
      <p:sp>
        <p:nvSpPr>
          <p:cNvPr id="14" name="Shape 11"/>
          <p:cNvSpPr/>
          <p:nvPr/>
        </p:nvSpPr>
        <p:spPr>
          <a:xfrm>
            <a:off x="777240" y="4087368"/>
            <a:ext cx="310896" cy="310896"/>
          </a:xfrm>
          <a:prstGeom prst="roundRect">
            <a:avLst>
              <a:gd name="adj" fmla="val 14706"/>
            </a:avLst>
          </a:prstGeom>
          <a:solidFill>
            <a:srgbClr val="5DCAA5"/>
          </a:solidFill>
          <a:ln/>
        </p:spPr>
        <p:txBody>
          <a:bodyPr/>
          <a:lstStyle/>
          <a:p>
            <a:endParaRPr lang="en-US"/>
          </a:p>
        </p:txBody>
      </p:sp>
      <p:sp>
        <p:nvSpPr>
          <p:cNvPr id="15" name="Text 12"/>
          <p:cNvSpPr txBox="1"/>
          <p:nvPr/>
        </p:nvSpPr>
        <p:spPr>
          <a:xfrm>
            <a:off x="777240" y="4087368"/>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Target sovereign infrastructure blueprint</a:t>
            </a:r>
            <a:endParaRPr lang="en-US" sz="1150" dirty="0"/>
          </a:p>
        </p:txBody>
      </p:sp>
      <p:sp>
        <p:nvSpPr>
          <p:cNvPr id="17" name="Shape 14"/>
          <p:cNvSpPr/>
          <p:nvPr/>
        </p:nvSpPr>
        <p:spPr>
          <a:xfrm>
            <a:off x="777240" y="4690872"/>
            <a:ext cx="310896" cy="310896"/>
          </a:xfrm>
          <a:prstGeom prst="roundRect">
            <a:avLst>
              <a:gd name="adj" fmla="val 14706"/>
            </a:avLst>
          </a:prstGeom>
          <a:solidFill>
            <a:srgbClr val="5DCAA5"/>
          </a:solidFill>
          <a:ln/>
        </p:spPr>
        <p:txBody>
          <a:bodyPr/>
          <a:lstStyle/>
          <a:p>
            <a:endParaRPr lang="en-US"/>
          </a:p>
        </p:txBody>
      </p:sp>
      <p:sp>
        <p:nvSpPr>
          <p:cNvPr id="18" name="Text 15"/>
          <p:cNvSpPr txBox="1"/>
          <p:nvPr/>
        </p:nvSpPr>
        <p:spPr>
          <a:xfrm>
            <a:off x="777240" y="4690872"/>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Geopatriation business case &amp; application disposition roadmap</a:t>
            </a:r>
            <a:endParaRPr lang="en-US" sz="1150" dirty="0"/>
          </a:p>
        </p:txBody>
      </p:sp>
      <p:sp>
        <p:nvSpPr>
          <p:cNvPr id="20" name="Shape 17"/>
          <p:cNvSpPr/>
          <p:nvPr/>
        </p:nvSpPr>
        <p:spPr>
          <a:xfrm>
            <a:off x="777240" y="5294376"/>
            <a:ext cx="310896" cy="310896"/>
          </a:xfrm>
          <a:prstGeom prst="roundRect">
            <a:avLst>
              <a:gd name="adj" fmla="val 14706"/>
            </a:avLst>
          </a:prstGeom>
          <a:solidFill>
            <a:srgbClr val="5DCAA5"/>
          </a:solidFill>
          <a:ln/>
        </p:spPr>
        <p:txBody>
          <a:bodyPr/>
          <a:lstStyle/>
          <a:p>
            <a:endParaRPr lang="en-US"/>
          </a:p>
        </p:txBody>
      </p:sp>
      <p:sp>
        <p:nvSpPr>
          <p:cNvPr id="21" name="Text 18"/>
          <p:cNvSpPr txBox="1"/>
          <p:nvPr/>
        </p:nvSpPr>
        <p:spPr>
          <a:xfrm>
            <a:off x="777240" y="5294376"/>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Board-ready sovereignty strategy &amp; mobilization plan</a:t>
            </a:r>
            <a:endParaRPr lang="en-US" sz="1150" dirty="0"/>
          </a:p>
        </p:txBody>
      </p:sp>
      <p:sp>
        <p:nvSpPr>
          <p:cNvPr id="23" name="Shape 20"/>
          <p:cNvSpPr/>
          <p:nvPr/>
        </p:nvSpPr>
        <p:spPr>
          <a:xfrm>
            <a:off x="6263640" y="1600200"/>
            <a:ext cx="5394960" cy="2286000"/>
          </a:xfrm>
          <a:prstGeom prst="roundRect">
            <a:avLst>
              <a:gd name="adj" fmla="val 2800"/>
            </a:avLst>
          </a:prstGeom>
          <a:solidFill>
            <a:srgbClr val="F3F8F6"/>
          </a:solidFill>
          <a:ln w="9525">
            <a:solidFill>
              <a:srgbClr val="BFE3D2"/>
            </a:solidFill>
            <a:prstDash val="solid"/>
          </a:ln>
        </p:spPr>
        <p:txBody>
          <a:bodyPr/>
          <a:lstStyle/>
          <a:p>
            <a:endParaRPr lang="en-US"/>
          </a:p>
        </p:txBody>
      </p:sp>
      <p:pic>
        <p:nvPicPr>
          <p:cNvPr id="24" name="Image 1" descr="/home/claude/x_chk_in.png"/>
          <p:cNvPicPr>
            <a:picLocks noChangeAspect="1"/>
          </p:cNvPicPr>
          <p:nvPr/>
        </p:nvPicPr>
        <p:blipFill>
          <a:blip r:embed="rId4"/>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marL="0" indent="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Sovereignty posture assessment across infrastructure, data and third-party exposure</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Cross-border data-flow mapping and data-residency assessment</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Encryption-key control and control-plane sovereignty review</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Geopatriation business case and workload prioritization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Target sovereign infrastructure blueprint</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Application disposition roadmap and mobilization plan</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3F0"/>
          </a:solidFill>
          <a:ln w="9525">
            <a:solidFill>
              <a:srgbClr val="ECCFC4"/>
            </a:solidFill>
            <a:prstDash val="solid"/>
          </a:ln>
        </p:spPr>
        <p:txBody>
          <a:bodyPr/>
          <a:lstStyle/>
          <a:p>
            <a:endParaRPr lang="en-US"/>
          </a:p>
        </p:txBody>
      </p:sp>
      <p:pic>
        <p:nvPicPr>
          <p:cNvPr id="28" name="Image 2" descr="/home/claude/x_chk_out.png"/>
          <p:cNvPicPr>
            <a:picLocks noChangeAspect="1"/>
          </p:cNvPicPr>
          <p:nvPr/>
        </p:nvPicPr>
        <p:blipFill>
          <a:blip r:embed="rId5"/>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marL="0" indent="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Article-by-article regulatory remediation and exit engineering</a:t>
            </a:r>
            <a:r>
              <a:rPr lang="en-US" sz="900" i="1" dirty="0">
                <a:solidFill>
                  <a:srgbClr val="9A5541"/>
                </a:solidFill>
                <a:latin typeface="Calibri" pitchFamily="34" charset="0"/>
                <a:ea typeface="Calibri" pitchFamily="34" charset="-122"/>
                <a:cs typeface="Calibri" pitchFamily="34" charset="-120"/>
              </a:rPr>
              <a:t>   → 02.3</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Legal transfer-mechanism design (SCCs / adequacy / BCRs)</a:t>
            </a:r>
            <a:r>
              <a:rPr lang="en-US" sz="900" i="1" dirty="0">
                <a:solidFill>
                  <a:srgbClr val="9A5541"/>
                </a:solidFill>
                <a:latin typeface="Calibri" pitchFamily="34" charset="0"/>
                <a:ea typeface="Calibri" pitchFamily="34" charset="-122"/>
                <a:cs typeface="Calibri" pitchFamily="34" charset="-120"/>
              </a:rPr>
              <a:t>   → 02.2</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Sovereign AI model-hosting and data-boundary architecture</a:t>
            </a:r>
            <a:r>
              <a:rPr lang="en-US" sz="900" i="1" dirty="0">
                <a:solidFill>
                  <a:srgbClr val="9A5541"/>
                </a:solidFill>
                <a:latin typeface="Calibri" pitchFamily="34" charset="0"/>
                <a:ea typeface="Calibri" pitchFamily="34" charset="-122"/>
                <a:cs typeface="Calibri" pitchFamily="34" charset="-120"/>
              </a:rPr>
              <a:t>   → 02.5</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Legal opinion on jurisdictional law</a:t>
            </a:r>
            <a:r>
              <a:rPr lang="en-US" sz="900" i="1" dirty="0">
                <a:solidFill>
                  <a:srgbClr val="9A5541"/>
                </a:solidFill>
                <a:latin typeface="Calibri" pitchFamily="34" charset="0"/>
                <a:ea typeface="Calibri" pitchFamily="34" charset="-122"/>
                <a:cs typeface="Calibri" pitchFamily="34" charset="-120"/>
              </a:rPr>
              <a:t>   → Client legal counsel</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The migration build itself</a:t>
            </a:r>
            <a:r>
              <a:rPr lang="en-US" sz="900" i="1" dirty="0">
                <a:solidFill>
                  <a:srgbClr val="9A5541"/>
                </a:solidFill>
                <a:latin typeface="Calibri" pitchFamily="34" charset="0"/>
                <a:ea typeface="Calibri" pitchFamily="34" charset="-122"/>
                <a:cs typeface="Calibri" pitchFamily="34" charset="-120"/>
              </a:rPr>
              <a:t>   → Separate delivery engagement</a:t>
            </a:r>
            <a:endParaRPr lang="en-US" sz="970" dirty="0"/>
          </a:p>
        </p:txBody>
      </p:sp>
      <p:sp>
        <p:nvSpPr>
          <p:cNvPr id="35" name="Text 30"/>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6" name="Text 31"/>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02.1  ·  Deliverables &amp; scope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OUT-MANEUVER THE BORDERS.</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02.2   </a:t>
            </a:r>
            <a:r>
              <a:rPr lang="en-US" sz="2400" b="1" dirty="0">
                <a:solidFill>
                  <a:srgbClr val="1B1F23"/>
                </a:solidFill>
                <a:latin typeface="Cambria" pitchFamily="34" charset="0"/>
                <a:ea typeface="Cambria" pitchFamily="34" charset="-122"/>
                <a:cs typeface="Cambria" pitchFamily="34" charset="-120"/>
              </a:rPr>
              <a:t>Cross-Border Data Strategy</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marL="0" indent="0">
              <a:buNone/>
            </a:pPr>
            <a:r>
              <a:rPr lang="en-US" sz="900" b="1" kern="0" spc="100" dirty="0">
                <a:solidFill>
                  <a:srgbClr val="5DCAA5"/>
                </a:solidFill>
                <a:latin typeface="Calibri" pitchFamily="34" charset="0"/>
                <a:ea typeface="Calibri" pitchFamily="34" charset="-122"/>
                <a:cs typeface="Calibri" pitchFamily="34" charset="-120"/>
              </a:rPr>
              <a:t>STARTS FROM  </a:t>
            </a:r>
            <a:r>
              <a:rPr lang="en-US" sz="1050" dirty="0">
                <a:solidFill>
                  <a:srgbClr val="44515E"/>
                </a:solidFill>
                <a:latin typeface="Calibri" pitchFamily="34" charset="0"/>
                <a:ea typeface="Calibri" pitchFamily="34" charset="-122"/>
                <a:cs typeface="Calibri" pitchFamily="34" charset="-120"/>
              </a:rPr>
              <a:t>Sovereign IQ → Posture IQ (data-flow lens)      </a:t>
            </a:r>
            <a:r>
              <a:rPr lang="en-US" sz="900" b="1" kern="0" spc="100" dirty="0">
                <a:solidFill>
                  <a:srgbClr val="5DCAA5"/>
                </a:solidFill>
                <a:latin typeface="Calibri" pitchFamily="34" charset="0"/>
                <a:ea typeface="Calibri" pitchFamily="34" charset="-122"/>
                <a:cs typeface="Calibri" pitchFamily="34" charset="-120"/>
              </a:rPr>
              <a:t>LEADS TO  </a:t>
            </a:r>
            <a:r>
              <a:rPr lang="en-US" sz="1050" dirty="0">
                <a:solidFill>
                  <a:srgbClr val="44515E"/>
                </a:solidFill>
                <a:latin typeface="Calibri" pitchFamily="34" charset="0"/>
                <a:ea typeface="Calibri" pitchFamily="34" charset="-122"/>
                <a:cs typeface="Calibri" pitchFamily="34" charset="-120"/>
              </a:rPr>
              <a:t>02.4 Application Portfolio Mapping &amp; Roadmap</a:t>
            </a:r>
            <a:endParaRPr lang="en-US" sz="900" dirty="0"/>
          </a:p>
        </p:txBody>
      </p:sp>
      <p:sp>
        <p:nvSpPr>
          <p:cNvPr id="5" name="Shape 3"/>
          <p:cNvSpPr/>
          <p:nvPr/>
        </p:nvSpPr>
        <p:spPr>
          <a:xfrm>
            <a:off x="502920" y="1737360"/>
            <a:ext cx="5394960" cy="2395728"/>
          </a:xfrm>
          <a:prstGeom prst="roundRect">
            <a:avLst>
              <a:gd name="adj" fmla="val 2290"/>
            </a:avLst>
          </a:prstGeom>
          <a:solidFill>
            <a:srgbClr val="F3F8F6"/>
          </a:solidFill>
          <a:ln w="9525">
            <a:solidFill>
              <a:srgbClr val="D2E4DD"/>
            </a:solidFill>
            <a:prstDash val="solid"/>
          </a:ln>
        </p:spPr>
        <p:txBody>
          <a:bodyPr/>
          <a:lstStyle/>
          <a:p>
            <a:endParaRPr lang="en-US"/>
          </a:p>
        </p:txBody>
      </p:sp>
      <p:sp>
        <p:nvSpPr>
          <p:cNvPr id="6" name="Text 4"/>
          <p:cNvSpPr txBox="1"/>
          <p:nvPr/>
        </p:nvSpPr>
        <p:spPr>
          <a:xfrm>
            <a:off x="731520" y="1901952"/>
            <a:ext cx="4937760" cy="256032"/>
          </a:xfrm>
          <a:prstGeom prst="rect">
            <a:avLst/>
          </a:prstGeom>
          <a:noFill/>
          <a:ln/>
        </p:spPr>
        <p:txBody>
          <a:bodyPr wrap="square" lIns="0" tIns="0" rIns="0" bIns="0" rtlCol="0" anchor="ctr"/>
          <a:lstStyle/>
          <a:p>
            <a:pPr marL="0" indent="0">
              <a:buNone/>
            </a:pPr>
            <a:r>
              <a:rPr lang="en-US" sz="1100" b="1" kern="0" spc="150" dirty="0">
                <a:solidFill>
                  <a:srgbClr val="0F6E56"/>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marL="0" indent="0">
              <a:lnSpc>
                <a:spcPct val="104000"/>
              </a:lnSpc>
              <a:buNone/>
            </a:pPr>
            <a:r>
              <a:rPr lang="en-US" sz="1150" dirty="0">
                <a:solidFill>
                  <a:srgbClr val="2C3A34"/>
                </a:solidFill>
                <a:latin typeface="Calibri" pitchFamily="34" charset="0"/>
                <a:ea typeface="Calibri" pitchFamily="34" charset="-122"/>
                <a:cs typeface="Calibri" pitchFamily="34" charset="-120"/>
              </a:rPr>
              <a:t>Gives the CIO a clear, defensible view of how personal and regulated data moves across jurisdictions — and a legally-grounded architecture to keep those flows compliant as frameworks shift. It maps where data resides, moves and is processed, tests each transfer against the mechanism that actually protects it (adequacy, SCCs, BCRs), and defines a multi-region data architecture the enterprise can stand behind — a position that survives the next legal challenge rather than one re-papered every time a framework moves.</a:t>
            </a:r>
            <a:endParaRPr lang="en-US" sz="1150" dirty="0"/>
          </a:p>
        </p:txBody>
      </p:sp>
      <p:sp>
        <p:nvSpPr>
          <p:cNvPr id="8" name="Shape 6"/>
          <p:cNvSpPr/>
          <p:nvPr/>
        </p:nvSpPr>
        <p:spPr>
          <a:xfrm>
            <a:off x="502920" y="4279392"/>
            <a:ext cx="5394960" cy="1627632"/>
          </a:xfrm>
          <a:prstGeom prst="roundRect">
            <a:avLst>
              <a:gd name="adj" fmla="val 3371"/>
            </a:avLst>
          </a:prstGeom>
          <a:solidFill>
            <a:srgbClr val="0F6E56"/>
          </a:solidFill>
          <a:ln w="9525">
            <a:solidFill>
              <a:srgbClr val="0F6E56"/>
            </a:solidFill>
            <a:prstDash val="solid"/>
          </a:ln>
        </p:spPr>
        <p:txBody>
          <a:bodyPr/>
          <a:lstStyle/>
          <a:p>
            <a:endParaRPr lang="en-US"/>
          </a:p>
        </p:txBody>
      </p:sp>
      <p:sp>
        <p:nvSpPr>
          <p:cNvPr id="9" name="Text 7"/>
          <p:cNvSpPr txBox="1"/>
          <p:nvPr/>
        </p:nvSpPr>
        <p:spPr>
          <a:xfrm>
            <a:off x="731520" y="4425696"/>
            <a:ext cx="4937760" cy="256032"/>
          </a:xfrm>
          <a:prstGeom prst="rect">
            <a:avLst/>
          </a:prstGeom>
          <a:noFill/>
          <a:ln/>
        </p:spPr>
        <p:txBody>
          <a:bodyPr wrap="square" lIns="0" tIns="0" rIns="0" bIns="0" rtlCol="0" anchor="ctr"/>
          <a:lstStyle/>
          <a:p>
            <a:pPr marL="0" indent="0">
              <a:buNone/>
            </a:pPr>
            <a:r>
              <a:rPr lang="en-US" sz="1100" b="1" kern="0" spc="150" dirty="0">
                <a:solidFill>
                  <a:srgbClr val="9FE1CB"/>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marL="0" indent="0">
              <a:lnSpc>
                <a:spcPct val="103000"/>
              </a:lnSpc>
              <a:buNone/>
            </a:pPr>
            <a:r>
              <a:rPr lang="en-US" sz="1100" dirty="0">
                <a:solidFill>
                  <a:srgbClr val="EAF6F1"/>
                </a:solidFill>
                <a:latin typeface="Calibri" pitchFamily="34" charset="0"/>
                <a:ea typeface="Calibri" pitchFamily="34" charset="-122"/>
                <a:cs typeface="Calibri" pitchFamily="34" charset="-120"/>
              </a:rPr>
              <a:t>Enforcement is real and large: Meta was fined €1.2B in 2023 for unlawful EU–US transfers, and cross-border violations have drawn over €2B in GDPR fines since 2020. The EU–US Data Privacy Framework remains valid in 2026 but faces active legal challenge, with a CJEU ruling plausible in 2026–2027. CIOs without a dual-mechanism, fallback-ready position are one court decision away from a scramble.</a:t>
            </a:r>
            <a:endParaRPr lang="en-US" sz="110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marL="0" indent="0">
              <a:buNone/>
            </a:pPr>
            <a:r>
              <a:rPr lang="en-US" sz="850" i="1" dirty="0">
                <a:solidFill>
                  <a:srgbClr val="8FC9B7"/>
                </a:solidFill>
                <a:latin typeface="Calibri" pitchFamily="34" charset="0"/>
                <a:ea typeface="Calibri" pitchFamily="34" charset="-122"/>
                <a:cs typeface="Calibri" pitchFamily="34" charset="-120"/>
              </a:rPr>
              <a:t>Source: Gartner / regulatory bodies, 2025–2026.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D2E4DD"/>
            </a:solidFill>
            <a:prstDash val="solid"/>
          </a:ln>
        </p:spPr>
        <p:txBody>
          <a:bodyPr/>
          <a:lstStyle/>
          <a:p>
            <a:endParaRPr lang="en-US"/>
          </a:p>
        </p:txBody>
      </p:sp>
      <p:sp>
        <p:nvSpPr>
          <p:cNvPr id="13" name="Text 11"/>
          <p:cNvSpPr txBox="1"/>
          <p:nvPr/>
        </p:nvSpPr>
        <p:spPr>
          <a:xfrm>
            <a:off x="6492240" y="1810512"/>
            <a:ext cx="4937760" cy="256032"/>
          </a:xfrm>
          <a:prstGeom prst="rect">
            <a:avLst/>
          </a:prstGeom>
          <a:noFill/>
          <a:ln/>
        </p:spPr>
        <p:txBody>
          <a:bodyPr wrap="square" lIns="0" tIns="0" rIns="0" bIns="0" rtlCol="0" anchor="ctr"/>
          <a:lstStyle/>
          <a:p>
            <a:pPr marL="0" indent="0">
              <a:buNone/>
            </a:pPr>
            <a:r>
              <a:rPr lang="en-US" sz="1100" b="1" kern="0" spc="120" dirty="0">
                <a:solidFill>
                  <a:srgbClr val="0F6E56"/>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066544"/>
            <a:ext cx="4937760" cy="457200"/>
          </a:xfrm>
          <a:prstGeom prst="rect">
            <a:avLst/>
          </a:prstGeom>
          <a:noFill/>
          <a:ln/>
        </p:spPr>
        <p:txBody>
          <a:bodyPr wrap="square" lIns="0" tIns="0" rIns="0" bIns="0" rtlCol="0" anchor="ctr"/>
          <a:lstStyle/>
          <a:p>
            <a:pPr marL="0" indent="0">
              <a:lnSpc>
                <a:spcPct val="95000"/>
              </a:lnSpc>
              <a:buNone/>
            </a:pPr>
            <a:r>
              <a:rPr lang="en-US" sz="1150" i="1" dirty="0">
                <a:solidFill>
                  <a:srgbClr val="D35400"/>
                </a:solidFill>
                <a:latin typeface="Cambria" pitchFamily="34" charset="0"/>
                <a:ea typeface="Cambria" pitchFamily="34" charset="-122"/>
                <a:cs typeface="Cambria" pitchFamily="34" charset="-120"/>
              </a:rPr>
              <a:t>Enterprises move regulated data across borders every day without a defensible, evidenced basis for doing so.</a:t>
            </a:r>
            <a:endParaRPr lang="en-US" sz="1150" dirty="0"/>
          </a:p>
        </p:txBody>
      </p:sp>
      <p:sp>
        <p:nvSpPr>
          <p:cNvPr id="15" name="Text 13"/>
          <p:cNvSpPr txBox="1"/>
          <p:nvPr/>
        </p:nvSpPr>
        <p:spPr>
          <a:xfrm>
            <a:off x="6492240" y="2606040"/>
            <a:ext cx="4937760" cy="1325880"/>
          </a:xfrm>
          <a:prstGeom prst="rect">
            <a:avLst/>
          </a:prstGeom>
          <a:noFill/>
          <a:ln/>
        </p:spPr>
        <p:txBody>
          <a:bodyPr wrap="square" lIns="0" tIns="0" rIns="0" bIns="0" rtlCol="0" anchor="ctr"/>
          <a:lstStyle/>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Every cloud platform, analytics tool and remote-access path that touches EEA data is a cross-border transfer — most go unmapped and unassessed.</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SCCs alone are no longer enough: since Schrems II, each transfer needs a Transfer Impact Assessment against destination-country law — rarely done.</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The EU-US Data Privacy Framework is legally unstable; enterprises relying on it as a sole mechanism have no fallback if it falls.</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Data flows change with every new SaaS tool and sub-processor, so any point-in-time compliance snapshot is stale on arrival.</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Sector rules (financial services, healthcare) layer on top of GDPR, multiplying exposure where these overlap.</a:t>
            </a:r>
            <a:endParaRPr lang="en-US" sz="1000" dirty="0"/>
          </a:p>
        </p:txBody>
      </p:sp>
      <p:sp>
        <p:nvSpPr>
          <p:cNvPr id="16" name="Shape 14"/>
          <p:cNvSpPr/>
          <p:nvPr/>
        </p:nvSpPr>
        <p:spPr>
          <a:xfrm>
            <a:off x="6263640" y="4279392"/>
            <a:ext cx="5394960" cy="1627632"/>
          </a:xfrm>
          <a:prstGeom prst="roundRect">
            <a:avLst>
              <a:gd name="adj" fmla="val 3371"/>
            </a:avLst>
          </a:prstGeom>
          <a:solidFill>
            <a:srgbClr val="F3F8F6"/>
          </a:solidFill>
          <a:ln w="9525">
            <a:solidFill>
              <a:srgbClr val="D2E4DD"/>
            </a:solidFill>
            <a:prstDash val="solid"/>
          </a:ln>
        </p:spPr>
        <p:txBody>
          <a:bodyPr/>
          <a:lstStyle/>
          <a:p>
            <a:endParaRPr lang="en-US"/>
          </a:p>
        </p:txBody>
      </p:sp>
      <p:sp>
        <p:nvSpPr>
          <p:cNvPr id="17" name="Text 15"/>
          <p:cNvSpPr txBox="1"/>
          <p:nvPr/>
        </p:nvSpPr>
        <p:spPr>
          <a:xfrm>
            <a:off x="6492240" y="4389120"/>
            <a:ext cx="4937760" cy="256032"/>
          </a:xfrm>
          <a:prstGeom prst="rect">
            <a:avLst/>
          </a:prstGeom>
          <a:noFill/>
          <a:ln/>
        </p:spPr>
        <p:txBody>
          <a:bodyPr wrap="square" lIns="0" tIns="0" rIns="0" bIns="0" rtlCol="0" anchor="ctr"/>
          <a:lstStyle/>
          <a:p>
            <a:pPr marL="0" indent="0">
              <a:buNone/>
            </a:pPr>
            <a:r>
              <a:rPr lang="en-US" sz="1100" b="1" kern="0" spc="120" dirty="0">
                <a:solidFill>
                  <a:srgbClr val="0F6E56"/>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63440"/>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A transfer position that survives challenge  </a:t>
            </a:r>
            <a:r>
              <a:rPr lang="en-US" sz="900" dirty="0">
                <a:solidFill>
                  <a:srgbClr val="44515E"/>
                </a:solidFill>
                <a:latin typeface="Calibri" pitchFamily="34" charset="0"/>
                <a:ea typeface="Calibri" pitchFamily="34" charset="-122"/>
                <a:cs typeface="Calibri" pitchFamily="34" charset="-120"/>
              </a:rPr>
              <a:t>— A dual-mechanism architecture (primary + fallback) that holds even if the DPF is struck down — no emergency re-papering.</a:t>
            </a:r>
            <a:endParaRPr lang="en-US" sz="950" dirty="0"/>
          </a:p>
        </p:txBody>
      </p:sp>
      <p:sp>
        <p:nvSpPr>
          <p:cNvPr id="19" name="Text 17"/>
          <p:cNvSpPr txBox="1"/>
          <p:nvPr/>
        </p:nvSpPr>
        <p:spPr>
          <a:xfrm>
            <a:off x="6492240" y="4897526"/>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Exposure quantified, not assumed  </a:t>
            </a:r>
            <a:r>
              <a:rPr lang="en-US" sz="900" dirty="0">
                <a:solidFill>
                  <a:srgbClr val="44515E"/>
                </a:solidFill>
                <a:latin typeface="Calibri" pitchFamily="34" charset="0"/>
                <a:ea typeface="Calibri" pitchFamily="34" charset="-122"/>
                <a:cs typeface="Calibri" pitchFamily="34" charset="-120"/>
              </a:rPr>
              <a:t>— Every material data flow mapped and assessed, so the CIO knows where the real risk sits rather than guessing.</a:t>
            </a:r>
            <a:endParaRPr lang="en-US" sz="950" dirty="0"/>
          </a:p>
        </p:txBody>
      </p:sp>
      <p:sp>
        <p:nvSpPr>
          <p:cNvPr id="20" name="Text 18"/>
          <p:cNvSpPr txBox="1"/>
          <p:nvPr/>
        </p:nvSpPr>
        <p:spPr>
          <a:xfrm>
            <a:off x="6492240" y="5131613"/>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Penalty risk retired  </a:t>
            </a:r>
            <a:r>
              <a:rPr lang="en-US" sz="900" dirty="0">
                <a:solidFill>
                  <a:srgbClr val="44515E"/>
                </a:solidFill>
                <a:latin typeface="Calibri" pitchFamily="34" charset="0"/>
                <a:ea typeface="Calibri" pitchFamily="34" charset="-122"/>
                <a:cs typeface="Calibri" pitchFamily="34" charset="-120"/>
              </a:rPr>
              <a:t>— Against fines reaching 4% of global revenue or €20M, a defensible position is cheap insurance.</a:t>
            </a:r>
            <a:endParaRPr lang="en-US" sz="950" dirty="0"/>
          </a:p>
        </p:txBody>
      </p:sp>
      <p:sp>
        <p:nvSpPr>
          <p:cNvPr id="21" name="Text 19"/>
          <p:cNvSpPr txBox="1"/>
          <p:nvPr/>
        </p:nvSpPr>
        <p:spPr>
          <a:xfrm>
            <a:off x="6492240" y="5365699"/>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Faster, safer tooling decisions  </a:t>
            </a:r>
            <a:r>
              <a:rPr lang="en-US" sz="900" dirty="0">
                <a:solidFill>
                  <a:srgbClr val="44515E"/>
                </a:solidFill>
                <a:latin typeface="Calibri" pitchFamily="34" charset="0"/>
                <a:ea typeface="Calibri" pitchFamily="34" charset="-122"/>
                <a:cs typeface="Calibri" pitchFamily="34" charset="-120"/>
              </a:rPr>
              <a:t>— A transfer-mechanism screen built into procurement, so new SaaS and sub-processors are cleared before they create exposure.</a:t>
            </a:r>
            <a:endParaRPr lang="en-US" sz="950" dirty="0"/>
          </a:p>
        </p:txBody>
      </p:sp>
      <p:sp>
        <p:nvSpPr>
          <p:cNvPr id="22" name="Text 20"/>
          <p:cNvSpPr txBox="1"/>
          <p:nvPr/>
        </p:nvSpPr>
        <p:spPr>
          <a:xfrm>
            <a:off x="6492240" y="5599786"/>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One position across regions  </a:t>
            </a:r>
            <a:r>
              <a:rPr lang="en-US" sz="900" dirty="0">
                <a:solidFill>
                  <a:srgbClr val="44515E"/>
                </a:solidFill>
                <a:latin typeface="Calibri" pitchFamily="34" charset="0"/>
                <a:ea typeface="Calibri" pitchFamily="34" charset="-122"/>
                <a:cs typeface="Calibri" pitchFamily="34" charset="-120"/>
              </a:rPr>
              <a:t>— A coherent multi-region data architecture rather than country-by-country firefighting.</a:t>
            </a:r>
            <a:endParaRPr lang="en-US" sz="950" dirty="0"/>
          </a:p>
        </p:txBody>
      </p:sp>
      <p:sp>
        <p:nvSpPr>
          <p:cNvPr id="23" name="Text 21"/>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24" name="Text 22"/>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02.2  ·  Overview</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02.2   </a:t>
            </a:r>
            <a:r>
              <a:rPr lang="en-US" sz="2400" b="1" dirty="0">
                <a:solidFill>
                  <a:srgbClr val="1B1F23"/>
                </a:solidFill>
                <a:latin typeface="Cambria" pitchFamily="34" charset="0"/>
                <a:ea typeface="Cambria" pitchFamily="34" charset="-122"/>
                <a:cs typeface="Cambria" pitchFamily="34" charset="-120"/>
              </a:rPr>
              <a:t>Cross-Border Data Strategy</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marL="0" indent="0">
              <a:buNone/>
            </a:pPr>
            <a:r>
              <a:rPr lang="en-US" sz="1200" i="1" dirty="0">
                <a:solidFill>
                  <a:srgbClr val="5A6B7B"/>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6" name="Shape 4"/>
          <p:cNvSpPr/>
          <p:nvPr/>
        </p:nvSpPr>
        <p:spPr>
          <a:xfrm>
            <a:off x="502920" y="1783080"/>
            <a:ext cx="3602736" cy="868680"/>
          </a:xfrm>
          <a:prstGeom prst="roundRect">
            <a:avLst>
              <a:gd name="adj" fmla="val 7368"/>
            </a:avLst>
          </a:prstGeom>
          <a:solidFill>
            <a:srgbClr val="0F6E56"/>
          </a:solidFill>
          <a:ln/>
        </p:spPr>
        <p:txBody>
          <a:bodyPr/>
          <a:lstStyle/>
          <a:p>
            <a:endParaRPr lang="en-US"/>
          </a:p>
        </p:txBody>
      </p:sp>
      <p:sp>
        <p:nvSpPr>
          <p:cNvPr id="7" name="Shape 5"/>
          <p:cNvSpPr/>
          <p:nvPr/>
        </p:nvSpPr>
        <p:spPr>
          <a:xfrm>
            <a:off x="502920" y="2194560"/>
            <a:ext cx="3602736" cy="457200"/>
          </a:xfrm>
          <a:prstGeom prst="rect">
            <a:avLst/>
          </a:prstGeom>
          <a:solidFill>
            <a:srgbClr val="0F6E56"/>
          </a:solidFill>
          <a:ln/>
        </p:spPr>
        <p:txBody>
          <a:bodyPr/>
          <a:lstStyle/>
          <a:p>
            <a:endParaRPr lang="en-US"/>
          </a:p>
        </p:txBody>
      </p:sp>
      <p:pic>
        <p:nvPicPr>
          <p:cNvPr id="8" name="Image 0" descr="/home/claude/x_ph_understand.png"/>
          <p:cNvPicPr>
            <a:picLocks noChangeAspect="1"/>
          </p:cNvPicPr>
          <p:nvPr/>
        </p:nvPicPr>
        <p:blipFill>
          <a:blip r:embed="rId3"/>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Map where data resides, moves and is processed across applications, jurisdictions and sub-processors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Inventory current transfer mechanisms in place (adequacy, SCCs, BCRs, derogations)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Identify the highest-exposure flows and gaps against Schrems II / TIA obligations</a:t>
            </a:r>
            <a:endParaRPr lang="en-US" sz="1000" dirty="0"/>
          </a:p>
        </p:txBody>
      </p:sp>
      <p:sp>
        <p:nvSpPr>
          <p:cNvPr id="12" name="Shape 9"/>
          <p:cNvSpPr/>
          <p:nvPr/>
        </p:nvSpPr>
        <p:spPr>
          <a:xfrm>
            <a:off x="740664" y="4983480"/>
            <a:ext cx="3127248" cy="0"/>
          </a:xfrm>
          <a:prstGeom prst="line">
            <a:avLst/>
          </a:prstGeom>
          <a:noFill/>
          <a:ln w="12700">
            <a:solidFill>
              <a:srgbClr val="D2E4DD"/>
            </a:solidFill>
            <a:prstDash val="solid"/>
          </a:ln>
        </p:spPr>
        <p:txBody>
          <a:bodyPr/>
          <a:lstStyle/>
          <a:p>
            <a:endParaRPr lang="en-US"/>
          </a:p>
        </p:txBody>
      </p:sp>
      <p:sp>
        <p:nvSpPr>
          <p:cNvPr id="13" name="Text 10"/>
          <p:cNvSpPr txBox="1"/>
          <p:nvPr/>
        </p:nvSpPr>
        <p:spPr>
          <a:xfrm>
            <a:off x="74066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Cross-border data-flow map · transfer-mechanism inventory · exposure gap register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marL="0" indent="0" algn="ctr">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17" name="Shape 14"/>
          <p:cNvSpPr/>
          <p:nvPr/>
        </p:nvSpPr>
        <p:spPr>
          <a:xfrm>
            <a:off x="4343400" y="1783080"/>
            <a:ext cx="3602736" cy="868680"/>
          </a:xfrm>
          <a:prstGeom prst="roundRect">
            <a:avLst>
              <a:gd name="adj" fmla="val 7368"/>
            </a:avLst>
          </a:prstGeom>
          <a:solidFill>
            <a:srgbClr val="0A5643"/>
          </a:solidFill>
          <a:ln/>
        </p:spPr>
        <p:txBody>
          <a:bodyPr/>
          <a:lstStyle/>
          <a:p>
            <a:endParaRPr lang="en-US"/>
          </a:p>
        </p:txBody>
      </p:sp>
      <p:sp>
        <p:nvSpPr>
          <p:cNvPr id="18" name="Shape 15"/>
          <p:cNvSpPr/>
          <p:nvPr/>
        </p:nvSpPr>
        <p:spPr>
          <a:xfrm>
            <a:off x="4343400" y="2194560"/>
            <a:ext cx="3602736" cy="457200"/>
          </a:xfrm>
          <a:prstGeom prst="rect">
            <a:avLst/>
          </a:prstGeom>
          <a:solidFill>
            <a:srgbClr val="0A5643"/>
          </a:solidFill>
          <a:ln/>
        </p:spPr>
        <p:txBody>
          <a:bodyPr/>
          <a:lstStyle/>
          <a:p>
            <a:endParaRPr lang="en-US"/>
          </a:p>
        </p:txBody>
      </p:sp>
      <p:pic>
        <p:nvPicPr>
          <p:cNvPr id="19" name="Image 1" descr="/home/claude/x_ph_ideate.png"/>
          <p:cNvPicPr>
            <a:picLocks noChangeAspect="1"/>
          </p:cNvPicPr>
          <p:nvPr/>
        </p:nvPicPr>
        <p:blipFill>
          <a:blip r:embed="rId4"/>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Assess transfer mechanisms per flow and define the target dual-mechanism approach (primary + fallback)</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Design supplementary technical safeguards where destination law requires (encryption, pseudonymization, PETs)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Define the target multi-region data architecture and a defensible cross-border position</a:t>
            </a:r>
            <a:endParaRPr lang="en-US" sz="1000" dirty="0"/>
          </a:p>
        </p:txBody>
      </p:sp>
      <p:sp>
        <p:nvSpPr>
          <p:cNvPr id="23" name="Shape 19"/>
          <p:cNvSpPr/>
          <p:nvPr/>
        </p:nvSpPr>
        <p:spPr>
          <a:xfrm>
            <a:off x="4581144" y="4983480"/>
            <a:ext cx="3127248" cy="0"/>
          </a:xfrm>
          <a:prstGeom prst="line">
            <a:avLst/>
          </a:prstGeom>
          <a:noFill/>
          <a:ln w="12700">
            <a:solidFill>
              <a:srgbClr val="D2E4DD"/>
            </a:solidFill>
            <a:prstDash val="solid"/>
          </a:ln>
        </p:spPr>
        <p:txBody>
          <a:bodyPr/>
          <a:lstStyle/>
          <a:p>
            <a:endParaRPr lang="en-US"/>
          </a:p>
        </p:txBody>
      </p:sp>
      <p:sp>
        <p:nvSpPr>
          <p:cNvPr id="24" name="Text 20"/>
          <p:cNvSpPr txBox="1"/>
          <p:nvPr/>
        </p:nvSpPr>
        <p:spPr>
          <a:xfrm>
            <a:off x="458114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Transfer-mechanism target model · multi-region architecture options · safeguards design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marL="0" indent="0" algn="ctr">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28" name="Shape 24"/>
          <p:cNvSpPr/>
          <p:nvPr/>
        </p:nvSpPr>
        <p:spPr>
          <a:xfrm>
            <a:off x="8183880" y="1783080"/>
            <a:ext cx="3602736" cy="868680"/>
          </a:xfrm>
          <a:prstGeom prst="roundRect">
            <a:avLst>
              <a:gd name="adj" fmla="val 7368"/>
            </a:avLst>
          </a:prstGeom>
          <a:solidFill>
            <a:srgbClr val="084438"/>
          </a:solidFill>
          <a:ln/>
        </p:spPr>
        <p:txBody>
          <a:bodyPr/>
          <a:lstStyle/>
          <a:p>
            <a:endParaRPr lang="en-US"/>
          </a:p>
        </p:txBody>
      </p:sp>
      <p:sp>
        <p:nvSpPr>
          <p:cNvPr id="29" name="Shape 25"/>
          <p:cNvSpPr/>
          <p:nvPr/>
        </p:nvSpPr>
        <p:spPr>
          <a:xfrm>
            <a:off x="8183880" y="2194560"/>
            <a:ext cx="3602736" cy="457200"/>
          </a:xfrm>
          <a:prstGeom prst="rect">
            <a:avLst/>
          </a:prstGeom>
          <a:solidFill>
            <a:srgbClr val="084438"/>
          </a:solidFill>
          <a:ln/>
        </p:spPr>
        <p:txBody>
          <a:bodyPr/>
          <a:lstStyle/>
          <a:p>
            <a:endParaRPr lang="en-US"/>
          </a:p>
        </p:txBody>
      </p:sp>
      <p:pic>
        <p:nvPicPr>
          <p:cNvPr id="30" name="Image 2" descr="/home/claude/x_ph_outcreate.png"/>
          <p:cNvPicPr>
            <a:picLocks noChangeAspect="1"/>
          </p:cNvPicPr>
          <p:nvPr/>
        </p:nvPicPr>
        <p:blipFill>
          <a:blip r:embed="rId5"/>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Consolidate into an executive-ready cross-border data strategy</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Embed a transfer-mechanism screen into procurement and vendor onboarding</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Executive playback, decision sign-off, remediation mobilization</a:t>
            </a:r>
            <a:endParaRPr lang="en-US" sz="1000" dirty="0"/>
          </a:p>
        </p:txBody>
      </p:sp>
      <p:sp>
        <p:nvSpPr>
          <p:cNvPr id="34" name="Shape 29"/>
          <p:cNvSpPr/>
          <p:nvPr/>
        </p:nvSpPr>
        <p:spPr>
          <a:xfrm>
            <a:off x="8421624" y="4983480"/>
            <a:ext cx="3127248" cy="0"/>
          </a:xfrm>
          <a:prstGeom prst="line">
            <a:avLst/>
          </a:prstGeom>
          <a:noFill/>
          <a:ln w="12700">
            <a:solidFill>
              <a:srgbClr val="D2E4DD"/>
            </a:solidFill>
            <a:prstDash val="solid"/>
          </a:ln>
        </p:spPr>
        <p:txBody>
          <a:bodyPr/>
          <a:lstStyle/>
          <a:p>
            <a:endParaRPr lang="en-US"/>
          </a:p>
        </p:txBody>
      </p:sp>
      <p:sp>
        <p:nvSpPr>
          <p:cNvPr id="35" name="Text 30"/>
          <p:cNvSpPr txBox="1"/>
          <p:nvPr/>
        </p:nvSpPr>
        <p:spPr>
          <a:xfrm>
            <a:off x="842162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Board-ready cross-border strategy · procurement screen &amp; governance · remediation plan · Executive Playback · Closure Pack</a:t>
            </a:r>
            <a:endParaRPr lang="en-US" sz="950" dirty="0"/>
          </a:p>
        </p:txBody>
      </p:sp>
      <p:sp>
        <p:nvSpPr>
          <p:cNvPr id="37" name="Text 32"/>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8" name="Text 33"/>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02.2  ·  Solution</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02.2   </a:t>
            </a:r>
            <a:r>
              <a:rPr lang="en-US" sz="2400" b="1" dirty="0">
                <a:solidFill>
                  <a:srgbClr val="1B1F23"/>
                </a:solidFill>
                <a:latin typeface="Cambria" pitchFamily="34" charset="0"/>
                <a:ea typeface="Cambria" pitchFamily="34" charset="-122"/>
                <a:cs typeface="Cambria" pitchFamily="34" charset="-120"/>
              </a:rPr>
              <a:t>Cross-Border Data Strategy</a:t>
            </a:r>
            <a:endParaRPr lang="en-US" sz="2400" dirty="0"/>
          </a:p>
        </p:txBody>
      </p:sp>
      <p:sp>
        <p:nvSpPr>
          <p:cNvPr id="4" name="Shape 2"/>
          <p:cNvSpPr/>
          <p:nvPr/>
        </p:nvSpPr>
        <p:spPr>
          <a:xfrm>
            <a:off x="502920" y="1600200"/>
            <a:ext cx="5394960" cy="4480560"/>
          </a:xfrm>
          <a:prstGeom prst="roundRect">
            <a:avLst>
              <a:gd name="adj" fmla="val 1429"/>
            </a:avLst>
          </a:prstGeom>
          <a:solidFill>
            <a:srgbClr val="0F6E56"/>
          </a:solidFill>
          <a:ln/>
        </p:spPr>
        <p:txBody>
          <a:bodyPr/>
          <a:lstStyle/>
          <a:p>
            <a:endParaRPr lang="en-US"/>
          </a:p>
        </p:txBody>
      </p:sp>
      <p:pic>
        <p:nvPicPr>
          <p:cNvPr id="5" name="Image 0" descr="/home/claude/x_deliver.png"/>
          <p:cNvPicPr>
            <a:picLocks noChangeAspect="1"/>
          </p:cNvPicPr>
          <p:nvPr/>
        </p:nvPicPr>
        <p:blipFill>
          <a:blip r:embed="rId3"/>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marL="0" indent="0">
              <a:buNone/>
            </a:pPr>
            <a:r>
              <a:rPr lang="en-US" sz="1050" i="1" dirty="0">
                <a:solidFill>
                  <a:srgbClr val="9FE1CB"/>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5DCAA5"/>
          </a:solidFill>
          <a:ln/>
        </p:spPr>
        <p:txBody>
          <a:bodyPr/>
          <a:lstStyle/>
          <a:p>
            <a:endParaRPr lang="en-US"/>
          </a:p>
        </p:txBody>
      </p:sp>
      <p:sp>
        <p:nvSpPr>
          <p:cNvPr id="9" name="Text 6"/>
          <p:cNvSpPr txBox="1"/>
          <p:nvPr/>
        </p:nvSpPr>
        <p:spPr>
          <a:xfrm>
            <a:off x="777240" y="2880360"/>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Cross-border data-flow map and transfer-mechanism inventory</a:t>
            </a:r>
            <a:endParaRPr lang="en-US" sz="1150" dirty="0"/>
          </a:p>
        </p:txBody>
      </p:sp>
      <p:sp>
        <p:nvSpPr>
          <p:cNvPr id="11" name="Shape 8"/>
          <p:cNvSpPr/>
          <p:nvPr/>
        </p:nvSpPr>
        <p:spPr>
          <a:xfrm>
            <a:off x="777240" y="3483864"/>
            <a:ext cx="310896" cy="310896"/>
          </a:xfrm>
          <a:prstGeom prst="roundRect">
            <a:avLst>
              <a:gd name="adj" fmla="val 14706"/>
            </a:avLst>
          </a:prstGeom>
          <a:solidFill>
            <a:srgbClr val="5DCAA5"/>
          </a:solidFill>
          <a:ln/>
        </p:spPr>
        <p:txBody>
          <a:bodyPr/>
          <a:lstStyle/>
          <a:p>
            <a:endParaRPr lang="en-US"/>
          </a:p>
        </p:txBody>
      </p:sp>
      <p:sp>
        <p:nvSpPr>
          <p:cNvPr id="12" name="Text 9"/>
          <p:cNvSpPr txBox="1"/>
          <p:nvPr/>
        </p:nvSpPr>
        <p:spPr>
          <a:xfrm>
            <a:off x="777240" y="3483864"/>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Exposure gap register against GDPR Chapter V / Schrems II</a:t>
            </a:r>
            <a:endParaRPr lang="en-US" sz="1150" dirty="0"/>
          </a:p>
        </p:txBody>
      </p:sp>
      <p:sp>
        <p:nvSpPr>
          <p:cNvPr id="14" name="Shape 11"/>
          <p:cNvSpPr/>
          <p:nvPr/>
        </p:nvSpPr>
        <p:spPr>
          <a:xfrm>
            <a:off x="777240" y="4087368"/>
            <a:ext cx="310896" cy="310896"/>
          </a:xfrm>
          <a:prstGeom prst="roundRect">
            <a:avLst>
              <a:gd name="adj" fmla="val 14706"/>
            </a:avLst>
          </a:prstGeom>
          <a:solidFill>
            <a:srgbClr val="5DCAA5"/>
          </a:solidFill>
          <a:ln/>
        </p:spPr>
        <p:txBody>
          <a:bodyPr/>
          <a:lstStyle/>
          <a:p>
            <a:endParaRPr lang="en-US"/>
          </a:p>
        </p:txBody>
      </p:sp>
      <p:sp>
        <p:nvSpPr>
          <p:cNvPr id="15" name="Text 12"/>
          <p:cNvSpPr txBox="1"/>
          <p:nvPr/>
        </p:nvSpPr>
        <p:spPr>
          <a:xfrm>
            <a:off x="777240" y="4087368"/>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Target dual-mechanism transfer model and supplementary-safeguards design</a:t>
            </a:r>
            <a:endParaRPr lang="en-US" sz="1150" dirty="0"/>
          </a:p>
        </p:txBody>
      </p:sp>
      <p:sp>
        <p:nvSpPr>
          <p:cNvPr id="17" name="Shape 14"/>
          <p:cNvSpPr/>
          <p:nvPr/>
        </p:nvSpPr>
        <p:spPr>
          <a:xfrm>
            <a:off x="777240" y="4690872"/>
            <a:ext cx="310896" cy="310896"/>
          </a:xfrm>
          <a:prstGeom prst="roundRect">
            <a:avLst>
              <a:gd name="adj" fmla="val 14706"/>
            </a:avLst>
          </a:prstGeom>
          <a:solidFill>
            <a:srgbClr val="5DCAA5"/>
          </a:solidFill>
          <a:ln/>
        </p:spPr>
        <p:txBody>
          <a:bodyPr/>
          <a:lstStyle/>
          <a:p>
            <a:endParaRPr lang="en-US"/>
          </a:p>
        </p:txBody>
      </p:sp>
      <p:sp>
        <p:nvSpPr>
          <p:cNvPr id="18" name="Text 15"/>
          <p:cNvSpPr txBox="1"/>
          <p:nvPr/>
        </p:nvSpPr>
        <p:spPr>
          <a:xfrm>
            <a:off x="777240" y="4690872"/>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Multi-region data architecture options</a:t>
            </a:r>
            <a:endParaRPr lang="en-US" sz="1150" dirty="0"/>
          </a:p>
        </p:txBody>
      </p:sp>
      <p:sp>
        <p:nvSpPr>
          <p:cNvPr id="20" name="Shape 17"/>
          <p:cNvSpPr/>
          <p:nvPr/>
        </p:nvSpPr>
        <p:spPr>
          <a:xfrm>
            <a:off x="777240" y="5294376"/>
            <a:ext cx="310896" cy="310896"/>
          </a:xfrm>
          <a:prstGeom prst="roundRect">
            <a:avLst>
              <a:gd name="adj" fmla="val 14706"/>
            </a:avLst>
          </a:prstGeom>
          <a:solidFill>
            <a:srgbClr val="5DCAA5"/>
          </a:solidFill>
          <a:ln/>
        </p:spPr>
        <p:txBody>
          <a:bodyPr/>
          <a:lstStyle/>
          <a:p>
            <a:endParaRPr lang="en-US"/>
          </a:p>
        </p:txBody>
      </p:sp>
      <p:sp>
        <p:nvSpPr>
          <p:cNvPr id="21" name="Text 18"/>
          <p:cNvSpPr txBox="1"/>
          <p:nvPr/>
        </p:nvSpPr>
        <p:spPr>
          <a:xfrm>
            <a:off x="777240" y="5294376"/>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Board-ready cross-border data strategy and remediation plan</a:t>
            </a:r>
            <a:endParaRPr lang="en-US" sz="1150" dirty="0"/>
          </a:p>
        </p:txBody>
      </p:sp>
      <p:sp>
        <p:nvSpPr>
          <p:cNvPr id="23" name="Shape 20"/>
          <p:cNvSpPr/>
          <p:nvPr/>
        </p:nvSpPr>
        <p:spPr>
          <a:xfrm>
            <a:off x="6263640" y="1600200"/>
            <a:ext cx="5394960" cy="2286000"/>
          </a:xfrm>
          <a:prstGeom prst="roundRect">
            <a:avLst>
              <a:gd name="adj" fmla="val 2800"/>
            </a:avLst>
          </a:prstGeom>
          <a:solidFill>
            <a:srgbClr val="F3F8F6"/>
          </a:solidFill>
          <a:ln w="9525">
            <a:solidFill>
              <a:srgbClr val="BFE3D2"/>
            </a:solidFill>
            <a:prstDash val="solid"/>
          </a:ln>
        </p:spPr>
        <p:txBody>
          <a:bodyPr/>
          <a:lstStyle/>
          <a:p>
            <a:endParaRPr lang="en-US"/>
          </a:p>
        </p:txBody>
      </p:sp>
      <p:pic>
        <p:nvPicPr>
          <p:cNvPr id="24" name="Image 1" descr="/home/claude/x_chk_in.png"/>
          <p:cNvPicPr>
            <a:picLocks noChangeAspect="1"/>
          </p:cNvPicPr>
          <p:nvPr/>
        </p:nvPicPr>
        <p:blipFill>
          <a:blip r:embed="rId4"/>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marL="0" indent="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Data-flow mapping across applications, jurisdictions and sub-processors</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Transfer-mechanism assessment (adequacy, SCCs, BCRs, derogations)</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Transfer Impact Assessment framing and prioritization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Supplementary technical safeguard design (encryption, pseudonymization, PETs)</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Multi-region data architecture options and target cross-border position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Procurement / vendor-onboarding transfer screen</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3F0"/>
          </a:solidFill>
          <a:ln w="9525">
            <a:solidFill>
              <a:srgbClr val="ECCFC4"/>
            </a:solidFill>
            <a:prstDash val="solid"/>
          </a:ln>
        </p:spPr>
        <p:txBody>
          <a:bodyPr/>
          <a:lstStyle/>
          <a:p>
            <a:endParaRPr lang="en-US"/>
          </a:p>
        </p:txBody>
      </p:sp>
      <p:pic>
        <p:nvPicPr>
          <p:cNvPr id="28" name="Image 2" descr="/home/claude/x_chk_out.png"/>
          <p:cNvPicPr>
            <a:picLocks noChangeAspect="1"/>
          </p:cNvPicPr>
          <p:nvPr/>
        </p:nvPicPr>
        <p:blipFill>
          <a:blip r:embed="rId5"/>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marL="0" indent="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Legal opinion, drafting or execution of SCC / BCR contracts</a:t>
            </a:r>
            <a:r>
              <a:rPr lang="en-US" sz="900" i="1" dirty="0">
                <a:solidFill>
                  <a:srgbClr val="9A5541"/>
                </a:solidFill>
                <a:latin typeface="Calibri" pitchFamily="34" charset="0"/>
                <a:ea typeface="Calibri" pitchFamily="34" charset="-122"/>
                <a:cs typeface="Calibri" pitchFamily="34" charset="-120"/>
              </a:rPr>
              <a:t>   → Client legal / DPO</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Broader sovereignty posture and workload relocation</a:t>
            </a:r>
            <a:r>
              <a:rPr lang="en-US" sz="900" i="1" dirty="0">
                <a:solidFill>
                  <a:srgbClr val="9A5541"/>
                </a:solidFill>
                <a:latin typeface="Calibri" pitchFamily="34" charset="0"/>
                <a:ea typeface="Calibri" pitchFamily="34" charset="-122"/>
                <a:cs typeface="Calibri" pitchFamily="34" charset="-120"/>
              </a:rPr>
              <a:t>   → 02.1</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Article-by-article regulatory remediation delivery</a:t>
            </a:r>
            <a:r>
              <a:rPr lang="en-US" sz="900" i="1" dirty="0">
                <a:solidFill>
                  <a:srgbClr val="9A5541"/>
                </a:solidFill>
                <a:latin typeface="Calibri" pitchFamily="34" charset="0"/>
                <a:ea typeface="Calibri" pitchFamily="34" charset="-122"/>
                <a:cs typeface="Calibri" pitchFamily="34" charset="-120"/>
              </a:rPr>
              <a:t>   → 02.3</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AI-specific data-boundary and model-hosting architecture</a:t>
            </a:r>
            <a:r>
              <a:rPr lang="en-US" sz="900" i="1" dirty="0">
                <a:solidFill>
                  <a:srgbClr val="9A5541"/>
                </a:solidFill>
                <a:latin typeface="Calibri" pitchFamily="34" charset="0"/>
                <a:ea typeface="Calibri" pitchFamily="34" charset="-122"/>
                <a:cs typeface="Calibri" pitchFamily="34" charset="-120"/>
              </a:rPr>
              <a:t>   → 02.5</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Data platform build and data quality</a:t>
            </a:r>
            <a:r>
              <a:rPr lang="en-US" sz="900" i="1" dirty="0">
                <a:solidFill>
                  <a:srgbClr val="9A5541"/>
                </a:solidFill>
                <a:latin typeface="Calibri" pitchFamily="34" charset="0"/>
                <a:ea typeface="Calibri" pitchFamily="34" charset="-122"/>
                <a:cs typeface="Calibri" pitchFamily="34" charset="-120"/>
              </a:rPr>
              <a:t>   → LTM Data practice</a:t>
            </a:r>
            <a:endParaRPr lang="en-US" sz="970" dirty="0"/>
          </a:p>
        </p:txBody>
      </p:sp>
      <p:sp>
        <p:nvSpPr>
          <p:cNvPr id="35" name="Text 30"/>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6" name="Text 31"/>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02.2  ·  Deliverables &amp; scope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OUT-LAST THE AUDIT.</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02.3   </a:t>
            </a:r>
            <a:r>
              <a:rPr lang="en-US" sz="2400" b="1" dirty="0">
                <a:solidFill>
                  <a:srgbClr val="1B1F23"/>
                </a:solidFill>
                <a:latin typeface="Cambria" pitchFamily="34" charset="0"/>
                <a:ea typeface="Cambria" pitchFamily="34" charset="-122"/>
                <a:cs typeface="Cambria" pitchFamily="34" charset="-120"/>
              </a:rPr>
              <a:t>Regulatory Alignment &amp; Exit Strategy</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marL="0" indent="0">
              <a:buNone/>
            </a:pPr>
            <a:r>
              <a:rPr lang="en-US" sz="900" b="1" kern="0" spc="100" dirty="0">
                <a:solidFill>
                  <a:srgbClr val="5DCAA5"/>
                </a:solidFill>
                <a:latin typeface="Calibri" pitchFamily="34" charset="0"/>
                <a:ea typeface="Calibri" pitchFamily="34" charset="-122"/>
                <a:cs typeface="Calibri" pitchFamily="34" charset="-120"/>
              </a:rPr>
              <a:t>STARTS FROM  </a:t>
            </a:r>
            <a:r>
              <a:rPr lang="en-US" sz="1050" dirty="0">
                <a:solidFill>
                  <a:srgbClr val="44515E"/>
                </a:solidFill>
                <a:latin typeface="Calibri" pitchFamily="34" charset="0"/>
                <a:ea typeface="Calibri" pitchFamily="34" charset="-122"/>
                <a:cs typeface="Calibri" pitchFamily="34" charset="-120"/>
              </a:rPr>
              <a:t>Sovereign IQ → Regulatory IQ (per-Act depth)      </a:t>
            </a:r>
            <a:r>
              <a:rPr lang="en-US" sz="900" b="1" kern="0" spc="100" dirty="0">
                <a:solidFill>
                  <a:srgbClr val="5DCAA5"/>
                </a:solidFill>
                <a:latin typeface="Calibri" pitchFamily="34" charset="0"/>
                <a:ea typeface="Calibri" pitchFamily="34" charset="-122"/>
                <a:cs typeface="Calibri" pitchFamily="34" charset="-120"/>
              </a:rPr>
              <a:t>LEADS TO  </a:t>
            </a:r>
            <a:r>
              <a:rPr lang="en-US" sz="1050" dirty="0">
                <a:solidFill>
                  <a:srgbClr val="44515E"/>
                </a:solidFill>
                <a:latin typeface="Calibri" pitchFamily="34" charset="0"/>
                <a:ea typeface="Calibri" pitchFamily="34" charset="-122"/>
                <a:cs typeface="Calibri" pitchFamily="34" charset="-120"/>
              </a:rPr>
              <a:t>02.4 (application-level exit) → remediation delivery</a:t>
            </a:r>
            <a:endParaRPr lang="en-US" sz="900" dirty="0"/>
          </a:p>
        </p:txBody>
      </p:sp>
      <p:sp>
        <p:nvSpPr>
          <p:cNvPr id="5" name="Shape 3"/>
          <p:cNvSpPr/>
          <p:nvPr/>
        </p:nvSpPr>
        <p:spPr>
          <a:xfrm>
            <a:off x="502920" y="1737360"/>
            <a:ext cx="5394960" cy="2395728"/>
          </a:xfrm>
          <a:prstGeom prst="roundRect">
            <a:avLst>
              <a:gd name="adj" fmla="val 2290"/>
            </a:avLst>
          </a:prstGeom>
          <a:solidFill>
            <a:srgbClr val="F3F8F6"/>
          </a:solidFill>
          <a:ln w="9525">
            <a:solidFill>
              <a:srgbClr val="D2E4DD"/>
            </a:solidFill>
            <a:prstDash val="solid"/>
          </a:ln>
        </p:spPr>
        <p:txBody>
          <a:bodyPr/>
          <a:lstStyle/>
          <a:p>
            <a:endParaRPr lang="en-US"/>
          </a:p>
        </p:txBody>
      </p:sp>
      <p:sp>
        <p:nvSpPr>
          <p:cNvPr id="6" name="Text 4"/>
          <p:cNvSpPr txBox="1"/>
          <p:nvPr/>
        </p:nvSpPr>
        <p:spPr>
          <a:xfrm>
            <a:off x="731520" y="1901952"/>
            <a:ext cx="4937760" cy="256032"/>
          </a:xfrm>
          <a:prstGeom prst="rect">
            <a:avLst/>
          </a:prstGeom>
          <a:noFill/>
          <a:ln/>
        </p:spPr>
        <p:txBody>
          <a:bodyPr wrap="square" lIns="0" tIns="0" rIns="0" bIns="0" rtlCol="0" anchor="ctr"/>
          <a:lstStyle/>
          <a:p>
            <a:pPr marL="0" indent="0">
              <a:buNone/>
            </a:pPr>
            <a:r>
              <a:rPr lang="en-US" sz="1100" b="1" kern="0" spc="150" dirty="0">
                <a:solidFill>
                  <a:srgbClr val="0F6E56"/>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marL="0" indent="0">
              <a:lnSpc>
                <a:spcPct val="104000"/>
              </a:lnSpc>
              <a:buNone/>
            </a:pPr>
            <a:r>
              <a:rPr lang="en-US" sz="1150" dirty="0">
                <a:solidFill>
                  <a:srgbClr val="2C3A34"/>
                </a:solidFill>
                <a:latin typeface="Calibri" pitchFamily="34" charset="0"/>
                <a:ea typeface="Calibri" pitchFamily="34" charset="-122"/>
                <a:cs typeface="Calibri" pitchFamily="34" charset="-120"/>
              </a:rPr>
              <a:t>Tells the CIO exactly where the estate stands against the regulations that actually bind it — DORA, NIS2, EU AI Act, DPDP — and closes the gaps that matter. It builds the concentration-risk and exit-readiness position regulators now demand as evidence, not intent, and defines credible exit paths from hyperscalers and critical vendors. The outcome is a defensible, audit-ready posture the CIO can show a supervisor, backed by a prioritized remediation plan rather than a shelf of policy documents.</a:t>
            </a:r>
            <a:endParaRPr lang="en-US" sz="1150" dirty="0"/>
          </a:p>
        </p:txBody>
      </p:sp>
      <p:sp>
        <p:nvSpPr>
          <p:cNvPr id="8" name="Shape 6"/>
          <p:cNvSpPr/>
          <p:nvPr/>
        </p:nvSpPr>
        <p:spPr>
          <a:xfrm>
            <a:off x="502920" y="4279392"/>
            <a:ext cx="5394960" cy="1627632"/>
          </a:xfrm>
          <a:prstGeom prst="roundRect">
            <a:avLst>
              <a:gd name="adj" fmla="val 3371"/>
            </a:avLst>
          </a:prstGeom>
          <a:solidFill>
            <a:srgbClr val="0F6E56"/>
          </a:solidFill>
          <a:ln w="9525">
            <a:solidFill>
              <a:srgbClr val="0F6E56"/>
            </a:solidFill>
            <a:prstDash val="solid"/>
          </a:ln>
        </p:spPr>
        <p:txBody>
          <a:bodyPr/>
          <a:lstStyle/>
          <a:p>
            <a:endParaRPr lang="en-US"/>
          </a:p>
        </p:txBody>
      </p:sp>
      <p:sp>
        <p:nvSpPr>
          <p:cNvPr id="9" name="Text 7"/>
          <p:cNvSpPr txBox="1"/>
          <p:nvPr/>
        </p:nvSpPr>
        <p:spPr>
          <a:xfrm>
            <a:off x="731520" y="4425696"/>
            <a:ext cx="4937760" cy="256032"/>
          </a:xfrm>
          <a:prstGeom prst="rect">
            <a:avLst/>
          </a:prstGeom>
          <a:noFill/>
          <a:ln/>
        </p:spPr>
        <p:txBody>
          <a:bodyPr wrap="square" lIns="0" tIns="0" rIns="0" bIns="0" rtlCol="0" anchor="ctr"/>
          <a:lstStyle/>
          <a:p>
            <a:pPr marL="0" indent="0">
              <a:buNone/>
            </a:pPr>
            <a:r>
              <a:rPr lang="en-US" sz="1100" b="1" kern="0" spc="150" dirty="0">
                <a:solidFill>
                  <a:srgbClr val="9FE1CB"/>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marL="0" indent="0">
              <a:lnSpc>
                <a:spcPct val="103000"/>
              </a:lnSpc>
              <a:buNone/>
            </a:pPr>
            <a:r>
              <a:rPr lang="en-US" sz="1100" dirty="0">
                <a:solidFill>
                  <a:srgbClr val="EAF6F1"/>
                </a:solidFill>
                <a:latin typeface="Calibri" pitchFamily="34" charset="0"/>
                <a:ea typeface="Calibri" pitchFamily="34" charset="-122"/>
                <a:cs typeface="Calibri" pitchFamily="34" charset="-120"/>
              </a:rPr>
              <a:t>2026 is the enforcement reckoning. DORA regulators have signaled they will act on incident-reporting failures and deficient Registers of Information; NIS2 hits its October compliance milestone. French ACPR inspections in 2025 already flagged incomplete ICT registers, missing exit strategies for cloud providers, and theoretical-only resilience testing. The grace period is over.</a:t>
            </a:r>
            <a:endParaRPr lang="en-US" sz="110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marL="0" indent="0">
              <a:buNone/>
            </a:pPr>
            <a:r>
              <a:rPr lang="en-US" sz="850" i="1" dirty="0">
                <a:solidFill>
                  <a:srgbClr val="8FC9B7"/>
                </a:solidFill>
                <a:latin typeface="Calibri" pitchFamily="34" charset="0"/>
                <a:ea typeface="Calibri" pitchFamily="34" charset="-122"/>
                <a:cs typeface="Calibri" pitchFamily="34" charset="-120"/>
              </a:rPr>
              <a:t>Source: Gartner / regulatory bodies, 2025–2026.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D2E4DD"/>
            </a:solidFill>
            <a:prstDash val="solid"/>
          </a:ln>
        </p:spPr>
        <p:txBody>
          <a:bodyPr/>
          <a:lstStyle/>
          <a:p>
            <a:endParaRPr lang="en-US"/>
          </a:p>
        </p:txBody>
      </p:sp>
      <p:sp>
        <p:nvSpPr>
          <p:cNvPr id="13" name="Text 11"/>
          <p:cNvSpPr txBox="1"/>
          <p:nvPr/>
        </p:nvSpPr>
        <p:spPr>
          <a:xfrm>
            <a:off x="6492240" y="1901952"/>
            <a:ext cx="4937760" cy="256032"/>
          </a:xfrm>
          <a:prstGeom prst="rect">
            <a:avLst/>
          </a:prstGeom>
          <a:noFill/>
          <a:ln/>
        </p:spPr>
        <p:txBody>
          <a:bodyPr wrap="square" lIns="0" tIns="0" rIns="0" bIns="0" rtlCol="0" anchor="ctr"/>
          <a:lstStyle/>
          <a:p>
            <a:pPr marL="0" indent="0">
              <a:buNone/>
            </a:pPr>
            <a:r>
              <a:rPr lang="en-US" sz="1100" b="1" kern="0" spc="120" dirty="0">
                <a:solidFill>
                  <a:srgbClr val="0F6E56"/>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157984"/>
            <a:ext cx="4937760" cy="457200"/>
          </a:xfrm>
          <a:prstGeom prst="rect">
            <a:avLst/>
          </a:prstGeom>
          <a:noFill/>
          <a:ln/>
        </p:spPr>
        <p:txBody>
          <a:bodyPr wrap="square" lIns="0" tIns="0" rIns="0" bIns="0" rtlCol="0" anchor="ctr"/>
          <a:lstStyle/>
          <a:p>
            <a:pPr marL="0" indent="0">
              <a:lnSpc>
                <a:spcPct val="95000"/>
              </a:lnSpc>
              <a:buNone/>
            </a:pPr>
            <a:r>
              <a:rPr lang="en-US" sz="1150" i="1" dirty="0">
                <a:solidFill>
                  <a:srgbClr val="D35400"/>
                </a:solidFill>
                <a:latin typeface="Cambria" pitchFamily="34" charset="0"/>
                <a:ea typeface="Cambria" pitchFamily="34" charset="-122"/>
                <a:cs typeface="Cambria" pitchFamily="34" charset="-120"/>
              </a:rPr>
              <a:t>Regulators have shifted from guidance to enforcement — and now ask for evidence most enterprises can’t produce.</a:t>
            </a:r>
            <a:endParaRPr lang="en-US" sz="1150" dirty="0"/>
          </a:p>
        </p:txBody>
      </p:sp>
      <p:sp>
        <p:nvSpPr>
          <p:cNvPr id="15" name="Text 13"/>
          <p:cNvSpPr txBox="1"/>
          <p:nvPr/>
        </p:nvSpPr>
        <p:spPr>
          <a:xfrm>
            <a:off x="6492240" y="2697480"/>
            <a:ext cx="4937760" cy="1325880"/>
          </a:xfrm>
          <a:prstGeom prst="rect">
            <a:avLst/>
          </a:prstGeom>
          <a:noFill/>
          <a:ln/>
        </p:spPr>
        <p:txBody>
          <a:bodyPr wrap="square" lIns="0" tIns="0" rIns="0" bIns="0" rtlCol="0" anchor="ctr"/>
          <a:lstStyle/>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Enforcement is live: DORA has applied since Jan 2025 and is in its first real supervisory cycle; NIS2 obligations culminate in an Oct 2026 deadline.</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Exit strategies are mandatory, not optional — DORA requires one for every critical ICT provider, and inspections already flag their absence.</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Concentration risk on hyperscalers is a named finding — regulators expect a demonstrated over-dependency analysis.</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Most enterprises hold policy documents, not evidence — the Register of Information and tested exit plans are what supervisors want.</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Overlapping regimes (DORA lex specialis, NIS2, GDPR in parallel) create duplicated effort and gaps without a single mapped view.</a:t>
            </a:r>
            <a:endParaRPr lang="en-US" sz="1000" dirty="0"/>
          </a:p>
        </p:txBody>
      </p:sp>
      <p:sp>
        <p:nvSpPr>
          <p:cNvPr id="16" name="Shape 14"/>
          <p:cNvSpPr/>
          <p:nvPr/>
        </p:nvSpPr>
        <p:spPr>
          <a:xfrm>
            <a:off x="6263640" y="4279392"/>
            <a:ext cx="5394960" cy="1627632"/>
          </a:xfrm>
          <a:prstGeom prst="roundRect">
            <a:avLst>
              <a:gd name="adj" fmla="val 3371"/>
            </a:avLst>
          </a:prstGeom>
          <a:solidFill>
            <a:srgbClr val="F3F8F6"/>
          </a:solidFill>
          <a:ln w="9525">
            <a:solidFill>
              <a:srgbClr val="D2E4DD"/>
            </a:solidFill>
            <a:prstDash val="solid"/>
          </a:ln>
        </p:spPr>
        <p:txBody>
          <a:bodyPr/>
          <a:lstStyle/>
          <a:p>
            <a:endParaRPr lang="en-US"/>
          </a:p>
        </p:txBody>
      </p:sp>
      <p:sp>
        <p:nvSpPr>
          <p:cNvPr id="17" name="Text 15"/>
          <p:cNvSpPr txBox="1"/>
          <p:nvPr/>
        </p:nvSpPr>
        <p:spPr>
          <a:xfrm>
            <a:off x="6492240" y="4407408"/>
            <a:ext cx="4937760" cy="256032"/>
          </a:xfrm>
          <a:prstGeom prst="rect">
            <a:avLst/>
          </a:prstGeom>
          <a:noFill/>
          <a:ln/>
        </p:spPr>
        <p:txBody>
          <a:bodyPr wrap="square" lIns="0" tIns="0" rIns="0" bIns="0" rtlCol="0" anchor="ctr"/>
          <a:lstStyle/>
          <a:p>
            <a:pPr marL="0" indent="0">
              <a:buNone/>
            </a:pPr>
            <a:r>
              <a:rPr lang="en-US" sz="1100" b="1" kern="0" spc="120" dirty="0">
                <a:solidFill>
                  <a:srgbClr val="0F6E56"/>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81728"/>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Audit-ready evidence, not paperwork  </a:t>
            </a:r>
            <a:r>
              <a:rPr lang="en-US" sz="900" dirty="0">
                <a:solidFill>
                  <a:srgbClr val="44515E"/>
                </a:solidFill>
                <a:latin typeface="Calibri" pitchFamily="34" charset="0"/>
                <a:ea typeface="Calibri" pitchFamily="34" charset="-122"/>
                <a:cs typeface="Calibri" pitchFamily="34" charset="-120"/>
              </a:rPr>
              <a:t>— A structured, article-mapped position the CIO can put in front of a supervisor with confidence.</a:t>
            </a:r>
            <a:endParaRPr lang="en-US" sz="950" dirty="0"/>
          </a:p>
        </p:txBody>
      </p:sp>
      <p:sp>
        <p:nvSpPr>
          <p:cNvPr id="19" name="Text 17"/>
          <p:cNvSpPr txBox="1"/>
          <p:nvPr/>
        </p:nvSpPr>
        <p:spPr>
          <a:xfrm>
            <a:off x="6492240" y="491581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The exit strategy regulators demand  </a:t>
            </a:r>
            <a:r>
              <a:rPr lang="en-US" sz="900" dirty="0">
                <a:solidFill>
                  <a:srgbClr val="44515E"/>
                </a:solidFill>
                <a:latin typeface="Calibri" pitchFamily="34" charset="0"/>
                <a:ea typeface="Calibri" pitchFamily="34" charset="-122"/>
                <a:cs typeface="Calibri" pitchFamily="34" charset="-120"/>
              </a:rPr>
              <a:t>— Credible, tested exit paths from critical providers — closing the single most-cited inspection gap.</a:t>
            </a:r>
            <a:endParaRPr lang="en-US" sz="950" dirty="0"/>
          </a:p>
        </p:txBody>
      </p:sp>
      <p:sp>
        <p:nvSpPr>
          <p:cNvPr id="20" name="Text 18"/>
          <p:cNvSpPr txBox="1"/>
          <p:nvPr/>
        </p:nvSpPr>
        <p:spPr>
          <a:xfrm>
            <a:off x="6492240" y="5149901"/>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Concentration risk quantified  </a:t>
            </a:r>
            <a:r>
              <a:rPr lang="en-US" sz="900" dirty="0">
                <a:solidFill>
                  <a:srgbClr val="44515E"/>
                </a:solidFill>
                <a:latin typeface="Calibri" pitchFamily="34" charset="0"/>
                <a:ea typeface="Calibri" pitchFamily="34" charset="-122"/>
                <a:cs typeface="Calibri" pitchFamily="34" charset="-120"/>
              </a:rPr>
              <a:t>— The hyperscaler-dependency analysis DORA expects, with a mitigation path.</a:t>
            </a:r>
            <a:endParaRPr lang="en-US" sz="950" dirty="0"/>
          </a:p>
        </p:txBody>
      </p:sp>
      <p:sp>
        <p:nvSpPr>
          <p:cNvPr id="21" name="Text 19"/>
          <p:cNvSpPr txBox="1"/>
          <p:nvPr/>
        </p:nvSpPr>
        <p:spPr>
          <a:xfrm>
            <a:off x="6492240" y="5383987"/>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Penalty exposure reduced  </a:t>
            </a:r>
            <a:r>
              <a:rPr lang="en-US" sz="900" dirty="0">
                <a:solidFill>
                  <a:srgbClr val="44515E"/>
                </a:solidFill>
                <a:latin typeface="Calibri" pitchFamily="34" charset="0"/>
                <a:ea typeface="Calibri" pitchFamily="34" charset="-122"/>
                <a:cs typeface="Calibri" pitchFamily="34" charset="-120"/>
              </a:rPr>
              <a:t>— Against NIS2 fines up to €10M or 2% of worldwide turnover for essential entities, remediation is the cheaper path.</a:t>
            </a:r>
            <a:endParaRPr lang="en-US" sz="950" dirty="0"/>
          </a:p>
        </p:txBody>
      </p:sp>
      <p:sp>
        <p:nvSpPr>
          <p:cNvPr id="22" name="Text 20"/>
          <p:cNvSpPr txBox="1"/>
          <p:nvPr/>
        </p:nvSpPr>
        <p:spPr>
          <a:xfrm>
            <a:off x="6492240" y="561807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One program across overlapping regimes  </a:t>
            </a:r>
            <a:r>
              <a:rPr lang="en-US" sz="900" dirty="0">
                <a:solidFill>
                  <a:srgbClr val="44515E"/>
                </a:solidFill>
                <a:latin typeface="Calibri" pitchFamily="34" charset="0"/>
                <a:ea typeface="Calibri" pitchFamily="34" charset="-122"/>
                <a:cs typeface="Calibri" pitchFamily="34" charset="-120"/>
              </a:rPr>
              <a:t>— DORA, NIS2 and GDPR reconciled into a single remediation backlog, removing duplicated effort.</a:t>
            </a:r>
            <a:endParaRPr lang="en-US" sz="950" dirty="0"/>
          </a:p>
        </p:txBody>
      </p:sp>
      <p:sp>
        <p:nvSpPr>
          <p:cNvPr id="23" name="Text 21"/>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24" name="Text 22"/>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02.3  ·  Overview</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02.3   </a:t>
            </a:r>
            <a:r>
              <a:rPr lang="en-US" sz="2400" b="1" dirty="0">
                <a:solidFill>
                  <a:srgbClr val="1B1F23"/>
                </a:solidFill>
                <a:latin typeface="Cambria" pitchFamily="34" charset="0"/>
                <a:ea typeface="Cambria" pitchFamily="34" charset="-122"/>
                <a:cs typeface="Cambria" pitchFamily="34" charset="-120"/>
              </a:rPr>
              <a:t>Regulatory Alignment &amp; Exit Strategy</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marL="0" indent="0">
              <a:buNone/>
            </a:pPr>
            <a:r>
              <a:rPr lang="en-US" sz="1200" i="1" dirty="0">
                <a:solidFill>
                  <a:srgbClr val="5A6B7B"/>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6" name="Shape 4"/>
          <p:cNvSpPr/>
          <p:nvPr/>
        </p:nvSpPr>
        <p:spPr>
          <a:xfrm>
            <a:off x="502920" y="1783080"/>
            <a:ext cx="3602736" cy="868680"/>
          </a:xfrm>
          <a:prstGeom prst="roundRect">
            <a:avLst>
              <a:gd name="adj" fmla="val 7368"/>
            </a:avLst>
          </a:prstGeom>
          <a:solidFill>
            <a:srgbClr val="0F6E56"/>
          </a:solidFill>
          <a:ln/>
        </p:spPr>
        <p:txBody>
          <a:bodyPr/>
          <a:lstStyle/>
          <a:p>
            <a:endParaRPr lang="en-US"/>
          </a:p>
        </p:txBody>
      </p:sp>
      <p:sp>
        <p:nvSpPr>
          <p:cNvPr id="7" name="Shape 5"/>
          <p:cNvSpPr/>
          <p:nvPr/>
        </p:nvSpPr>
        <p:spPr>
          <a:xfrm>
            <a:off x="502920" y="2194560"/>
            <a:ext cx="3602736" cy="457200"/>
          </a:xfrm>
          <a:prstGeom prst="rect">
            <a:avLst/>
          </a:prstGeom>
          <a:solidFill>
            <a:srgbClr val="0F6E56"/>
          </a:solidFill>
          <a:ln/>
        </p:spPr>
        <p:txBody>
          <a:bodyPr/>
          <a:lstStyle/>
          <a:p>
            <a:endParaRPr lang="en-US"/>
          </a:p>
        </p:txBody>
      </p:sp>
      <p:pic>
        <p:nvPicPr>
          <p:cNvPr id="8" name="Image 0" descr="/home/claude/x_ph_understand.png"/>
          <p:cNvPicPr>
            <a:picLocks noChangeAspect="1"/>
          </p:cNvPicPr>
          <p:nvPr/>
        </p:nvPicPr>
        <p:blipFill>
          <a:blip r:embed="rId3"/>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Diagnose readiness against the regulations that actually bind the client (DORA, NIS2, EU AI Act, DPDP)</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Assess the Register of Information, third-party inventory and concentration exposure</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Identify the material gaps — missing exit strategies, evidence gaps, untested resilience</a:t>
            </a:r>
            <a:endParaRPr lang="en-US" sz="1000" dirty="0"/>
          </a:p>
        </p:txBody>
      </p:sp>
      <p:sp>
        <p:nvSpPr>
          <p:cNvPr id="12" name="Shape 9"/>
          <p:cNvSpPr/>
          <p:nvPr/>
        </p:nvSpPr>
        <p:spPr>
          <a:xfrm>
            <a:off x="740664" y="4983480"/>
            <a:ext cx="3127248" cy="0"/>
          </a:xfrm>
          <a:prstGeom prst="line">
            <a:avLst/>
          </a:prstGeom>
          <a:noFill/>
          <a:ln w="12700">
            <a:solidFill>
              <a:srgbClr val="D2E4DD"/>
            </a:solidFill>
            <a:prstDash val="solid"/>
          </a:ln>
        </p:spPr>
        <p:txBody>
          <a:bodyPr/>
          <a:lstStyle/>
          <a:p>
            <a:endParaRPr lang="en-US"/>
          </a:p>
        </p:txBody>
      </p:sp>
      <p:sp>
        <p:nvSpPr>
          <p:cNvPr id="13" name="Text 10"/>
          <p:cNvSpPr txBox="1"/>
          <p:nvPr/>
        </p:nvSpPr>
        <p:spPr>
          <a:xfrm>
            <a:off x="74066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Regulatory gap map (article-level) · concentration-risk view · remediation backlog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marL="0" indent="0" algn="ctr">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17" name="Shape 14"/>
          <p:cNvSpPr/>
          <p:nvPr/>
        </p:nvSpPr>
        <p:spPr>
          <a:xfrm>
            <a:off x="4343400" y="1783080"/>
            <a:ext cx="3602736" cy="868680"/>
          </a:xfrm>
          <a:prstGeom prst="roundRect">
            <a:avLst>
              <a:gd name="adj" fmla="val 7368"/>
            </a:avLst>
          </a:prstGeom>
          <a:solidFill>
            <a:srgbClr val="0A5643"/>
          </a:solidFill>
          <a:ln/>
        </p:spPr>
        <p:txBody>
          <a:bodyPr/>
          <a:lstStyle/>
          <a:p>
            <a:endParaRPr lang="en-US"/>
          </a:p>
        </p:txBody>
      </p:sp>
      <p:sp>
        <p:nvSpPr>
          <p:cNvPr id="18" name="Shape 15"/>
          <p:cNvSpPr/>
          <p:nvPr/>
        </p:nvSpPr>
        <p:spPr>
          <a:xfrm>
            <a:off x="4343400" y="2194560"/>
            <a:ext cx="3602736" cy="457200"/>
          </a:xfrm>
          <a:prstGeom prst="rect">
            <a:avLst/>
          </a:prstGeom>
          <a:solidFill>
            <a:srgbClr val="0A5643"/>
          </a:solidFill>
          <a:ln/>
        </p:spPr>
        <p:txBody>
          <a:bodyPr/>
          <a:lstStyle/>
          <a:p>
            <a:endParaRPr lang="en-US"/>
          </a:p>
        </p:txBody>
      </p:sp>
      <p:pic>
        <p:nvPicPr>
          <p:cNvPr id="19" name="Image 1" descr="/home/claude/x_ph_ideate.png"/>
          <p:cNvPicPr>
            <a:picLocks noChangeAspect="1"/>
          </p:cNvPicPr>
          <p:nvPr/>
        </p:nvPicPr>
        <p:blipFill>
          <a:blip r:embed="rId4"/>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Design the regulatory response: controls, evidence artifacts, testing regime and reporting cadence</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Build the third-party / concentration-risk framework DORA requires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Define credible exit strategies (architectural, data, contractual, operational) for critical providers</a:t>
            </a:r>
            <a:endParaRPr lang="en-US" sz="1000" dirty="0"/>
          </a:p>
        </p:txBody>
      </p:sp>
      <p:sp>
        <p:nvSpPr>
          <p:cNvPr id="23" name="Shape 19"/>
          <p:cNvSpPr/>
          <p:nvPr/>
        </p:nvSpPr>
        <p:spPr>
          <a:xfrm>
            <a:off x="4581144" y="4983480"/>
            <a:ext cx="3127248" cy="0"/>
          </a:xfrm>
          <a:prstGeom prst="line">
            <a:avLst/>
          </a:prstGeom>
          <a:noFill/>
          <a:ln w="12700">
            <a:solidFill>
              <a:srgbClr val="D2E4DD"/>
            </a:solidFill>
            <a:prstDash val="solid"/>
          </a:ln>
        </p:spPr>
        <p:txBody>
          <a:bodyPr/>
          <a:lstStyle/>
          <a:p>
            <a:endParaRPr lang="en-US"/>
          </a:p>
        </p:txBody>
      </p:sp>
      <p:sp>
        <p:nvSpPr>
          <p:cNvPr id="24" name="Text 20"/>
          <p:cNvSpPr txBox="1"/>
          <p:nvPr/>
        </p:nvSpPr>
        <p:spPr>
          <a:xfrm>
            <a:off x="458114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Target control &amp; evidence model · concentration-risk framework · exit-strategy designs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marL="0" indent="0" algn="ctr">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28" name="Shape 24"/>
          <p:cNvSpPr/>
          <p:nvPr/>
        </p:nvSpPr>
        <p:spPr>
          <a:xfrm>
            <a:off x="8183880" y="1783080"/>
            <a:ext cx="3602736" cy="868680"/>
          </a:xfrm>
          <a:prstGeom prst="roundRect">
            <a:avLst>
              <a:gd name="adj" fmla="val 7368"/>
            </a:avLst>
          </a:prstGeom>
          <a:solidFill>
            <a:srgbClr val="084438"/>
          </a:solidFill>
          <a:ln/>
        </p:spPr>
        <p:txBody>
          <a:bodyPr/>
          <a:lstStyle/>
          <a:p>
            <a:endParaRPr lang="en-US"/>
          </a:p>
        </p:txBody>
      </p:sp>
      <p:sp>
        <p:nvSpPr>
          <p:cNvPr id="29" name="Shape 25"/>
          <p:cNvSpPr/>
          <p:nvPr/>
        </p:nvSpPr>
        <p:spPr>
          <a:xfrm>
            <a:off x="8183880" y="2194560"/>
            <a:ext cx="3602736" cy="457200"/>
          </a:xfrm>
          <a:prstGeom prst="rect">
            <a:avLst/>
          </a:prstGeom>
          <a:solidFill>
            <a:srgbClr val="084438"/>
          </a:solidFill>
          <a:ln/>
        </p:spPr>
        <p:txBody>
          <a:bodyPr/>
          <a:lstStyle/>
          <a:p>
            <a:endParaRPr lang="en-US"/>
          </a:p>
        </p:txBody>
      </p:sp>
      <p:pic>
        <p:nvPicPr>
          <p:cNvPr id="30" name="Image 2" descr="/home/claude/x_ph_outcreate.png"/>
          <p:cNvPicPr>
            <a:picLocks noChangeAspect="1"/>
          </p:cNvPicPr>
          <p:nvPr/>
        </p:nvPicPr>
        <p:blipFill>
          <a:blip r:embed="rId5"/>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Consolidate into an executive-ready regulatory posture and remediation roadmap</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Set up governance, evidence-collection cadence and horizon-scanning to sustain alignment</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Executive playback, decision sign-off, remediation mobilization</a:t>
            </a:r>
            <a:endParaRPr lang="en-US" sz="1000" dirty="0"/>
          </a:p>
        </p:txBody>
      </p:sp>
      <p:sp>
        <p:nvSpPr>
          <p:cNvPr id="34" name="Shape 29"/>
          <p:cNvSpPr/>
          <p:nvPr/>
        </p:nvSpPr>
        <p:spPr>
          <a:xfrm>
            <a:off x="8421624" y="4983480"/>
            <a:ext cx="3127248" cy="0"/>
          </a:xfrm>
          <a:prstGeom prst="line">
            <a:avLst/>
          </a:prstGeom>
          <a:noFill/>
          <a:ln w="12700">
            <a:solidFill>
              <a:srgbClr val="D2E4DD"/>
            </a:solidFill>
            <a:prstDash val="solid"/>
          </a:ln>
        </p:spPr>
        <p:txBody>
          <a:bodyPr/>
          <a:lstStyle/>
          <a:p>
            <a:endParaRPr lang="en-US"/>
          </a:p>
        </p:txBody>
      </p:sp>
      <p:sp>
        <p:nvSpPr>
          <p:cNvPr id="35" name="Text 30"/>
          <p:cNvSpPr txBox="1"/>
          <p:nvPr/>
        </p:nvSpPr>
        <p:spPr>
          <a:xfrm>
            <a:off x="842162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Board-ready regulatory posture · remediation roadmap · governance &amp; evidence cadence · Executive Playback · Closure Pack</a:t>
            </a:r>
            <a:endParaRPr lang="en-US" sz="950" dirty="0"/>
          </a:p>
        </p:txBody>
      </p:sp>
      <p:sp>
        <p:nvSpPr>
          <p:cNvPr id="37" name="Text 32"/>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8" name="Text 33"/>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02.3  ·  Solution</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02.3   </a:t>
            </a:r>
            <a:r>
              <a:rPr lang="en-US" sz="2400" b="1" dirty="0">
                <a:solidFill>
                  <a:srgbClr val="1B1F23"/>
                </a:solidFill>
                <a:latin typeface="Cambria" pitchFamily="34" charset="0"/>
                <a:ea typeface="Cambria" pitchFamily="34" charset="-122"/>
                <a:cs typeface="Cambria" pitchFamily="34" charset="-120"/>
              </a:rPr>
              <a:t>Regulatory Alignment &amp; Exit Strategy</a:t>
            </a:r>
            <a:endParaRPr lang="en-US" sz="2400" dirty="0"/>
          </a:p>
        </p:txBody>
      </p:sp>
      <p:sp>
        <p:nvSpPr>
          <p:cNvPr id="4" name="Shape 2"/>
          <p:cNvSpPr/>
          <p:nvPr/>
        </p:nvSpPr>
        <p:spPr>
          <a:xfrm>
            <a:off x="502920" y="1600200"/>
            <a:ext cx="5394960" cy="4480560"/>
          </a:xfrm>
          <a:prstGeom prst="roundRect">
            <a:avLst>
              <a:gd name="adj" fmla="val 1429"/>
            </a:avLst>
          </a:prstGeom>
          <a:solidFill>
            <a:srgbClr val="0F6E56"/>
          </a:solidFill>
          <a:ln/>
        </p:spPr>
        <p:txBody>
          <a:bodyPr/>
          <a:lstStyle/>
          <a:p>
            <a:endParaRPr lang="en-US"/>
          </a:p>
        </p:txBody>
      </p:sp>
      <p:pic>
        <p:nvPicPr>
          <p:cNvPr id="5" name="Image 0" descr="/home/claude/x_deliver.png"/>
          <p:cNvPicPr>
            <a:picLocks noChangeAspect="1"/>
          </p:cNvPicPr>
          <p:nvPr/>
        </p:nvPicPr>
        <p:blipFill>
          <a:blip r:embed="rId3"/>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marL="0" indent="0">
              <a:buNone/>
            </a:pPr>
            <a:r>
              <a:rPr lang="en-US" sz="1050" i="1" dirty="0">
                <a:solidFill>
                  <a:srgbClr val="9FE1CB"/>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5DCAA5"/>
          </a:solidFill>
          <a:ln/>
        </p:spPr>
        <p:txBody>
          <a:bodyPr/>
          <a:lstStyle/>
          <a:p>
            <a:endParaRPr lang="en-US"/>
          </a:p>
        </p:txBody>
      </p:sp>
      <p:sp>
        <p:nvSpPr>
          <p:cNvPr id="9" name="Text 6"/>
          <p:cNvSpPr txBox="1"/>
          <p:nvPr/>
        </p:nvSpPr>
        <p:spPr>
          <a:xfrm>
            <a:off x="777240" y="2880360"/>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Article-level regulatory gap map across the binding regimes</a:t>
            </a:r>
            <a:endParaRPr lang="en-US" sz="1150" dirty="0"/>
          </a:p>
        </p:txBody>
      </p:sp>
      <p:sp>
        <p:nvSpPr>
          <p:cNvPr id="11" name="Shape 8"/>
          <p:cNvSpPr/>
          <p:nvPr/>
        </p:nvSpPr>
        <p:spPr>
          <a:xfrm>
            <a:off x="777240" y="3483864"/>
            <a:ext cx="310896" cy="310896"/>
          </a:xfrm>
          <a:prstGeom prst="roundRect">
            <a:avLst>
              <a:gd name="adj" fmla="val 14706"/>
            </a:avLst>
          </a:prstGeom>
          <a:solidFill>
            <a:srgbClr val="5DCAA5"/>
          </a:solidFill>
          <a:ln/>
        </p:spPr>
        <p:txBody>
          <a:bodyPr/>
          <a:lstStyle/>
          <a:p>
            <a:endParaRPr lang="en-US"/>
          </a:p>
        </p:txBody>
      </p:sp>
      <p:sp>
        <p:nvSpPr>
          <p:cNvPr id="12" name="Text 9"/>
          <p:cNvSpPr txBox="1"/>
          <p:nvPr/>
        </p:nvSpPr>
        <p:spPr>
          <a:xfrm>
            <a:off x="777240" y="3483864"/>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Concentration-risk analysis and third-party framework</a:t>
            </a:r>
            <a:endParaRPr lang="en-US" sz="1150" dirty="0"/>
          </a:p>
        </p:txBody>
      </p:sp>
      <p:sp>
        <p:nvSpPr>
          <p:cNvPr id="14" name="Shape 11"/>
          <p:cNvSpPr/>
          <p:nvPr/>
        </p:nvSpPr>
        <p:spPr>
          <a:xfrm>
            <a:off x="777240" y="4087368"/>
            <a:ext cx="310896" cy="310896"/>
          </a:xfrm>
          <a:prstGeom prst="roundRect">
            <a:avLst>
              <a:gd name="adj" fmla="val 14706"/>
            </a:avLst>
          </a:prstGeom>
          <a:solidFill>
            <a:srgbClr val="5DCAA5"/>
          </a:solidFill>
          <a:ln/>
        </p:spPr>
        <p:txBody>
          <a:bodyPr/>
          <a:lstStyle/>
          <a:p>
            <a:endParaRPr lang="en-US"/>
          </a:p>
        </p:txBody>
      </p:sp>
      <p:sp>
        <p:nvSpPr>
          <p:cNvPr id="15" name="Text 12"/>
          <p:cNvSpPr txBox="1"/>
          <p:nvPr/>
        </p:nvSpPr>
        <p:spPr>
          <a:xfrm>
            <a:off x="777240" y="4087368"/>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Exit-strategy designs for critical ICT providers</a:t>
            </a:r>
            <a:endParaRPr lang="en-US" sz="1150" dirty="0"/>
          </a:p>
        </p:txBody>
      </p:sp>
      <p:sp>
        <p:nvSpPr>
          <p:cNvPr id="17" name="Shape 14"/>
          <p:cNvSpPr/>
          <p:nvPr/>
        </p:nvSpPr>
        <p:spPr>
          <a:xfrm>
            <a:off x="777240" y="4690872"/>
            <a:ext cx="310896" cy="310896"/>
          </a:xfrm>
          <a:prstGeom prst="roundRect">
            <a:avLst>
              <a:gd name="adj" fmla="val 14706"/>
            </a:avLst>
          </a:prstGeom>
          <a:solidFill>
            <a:srgbClr val="5DCAA5"/>
          </a:solidFill>
          <a:ln/>
        </p:spPr>
        <p:txBody>
          <a:bodyPr/>
          <a:lstStyle/>
          <a:p>
            <a:endParaRPr lang="en-US"/>
          </a:p>
        </p:txBody>
      </p:sp>
      <p:sp>
        <p:nvSpPr>
          <p:cNvPr id="18" name="Text 15"/>
          <p:cNvSpPr txBox="1"/>
          <p:nvPr/>
        </p:nvSpPr>
        <p:spPr>
          <a:xfrm>
            <a:off x="777240" y="4690872"/>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Target control, evidence and testing model</a:t>
            </a:r>
            <a:endParaRPr lang="en-US" sz="1150" dirty="0"/>
          </a:p>
        </p:txBody>
      </p:sp>
      <p:sp>
        <p:nvSpPr>
          <p:cNvPr id="20" name="Shape 17"/>
          <p:cNvSpPr/>
          <p:nvPr/>
        </p:nvSpPr>
        <p:spPr>
          <a:xfrm>
            <a:off x="777240" y="5294376"/>
            <a:ext cx="310896" cy="310896"/>
          </a:xfrm>
          <a:prstGeom prst="roundRect">
            <a:avLst>
              <a:gd name="adj" fmla="val 14706"/>
            </a:avLst>
          </a:prstGeom>
          <a:solidFill>
            <a:srgbClr val="5DCAA5"/>
          </a:solidFill>
          <a:ln/>
        </p:spPr>
        <p:txBody>
          <a:bodyPr/>
          <a:lstStyle/>
          <a:p>
            <a:endParaRPr lang="en-US"/>
          </a:p>
        </p:txBody>
      </p:sp>
      <p:sp>
        <p:nvSpPr>
          <p:cNvPr id="21" name="Text 18"/>
          <p:cNvSpPr txBox="1"/>
          <p:nvPr/>
        </p:nvSpPr>
        <p:spPr>
          <a:xfrm>
            <a:off x="777240" y="5294376"/>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Board-ready regulatory posture and remediation roadmap</a:t>
            </a:r>
            <a:endParaRPr lang="en-US" sz="1150" dirty="0"/>
          </a:p>
        </p:txBody>
      </p:sp>
      <p:sp>
        <p:nvSpPr>
          <p:cNvPr id="23" name="Shape 20"/>
          <p:cNvSpPr/>
          <p:nvPr/>
        </p:nvSpPr>
        <p:spPr>
          <a:xfrm>
            <a:off x="6263640" y="1600200"/>
            <a:ext cx="5394960" cy="2286000"/>
          </a:xfrm>
          <a:prstGeom prst="roundRect">
            <a:avLst>
              <a:gd name="adj" fmla="val 2800"/>
            </a:avLst>
          </a:prstGeom>
          <a:solidFill>
            <a:srgbClr val="F3F8F6"/>
          </a:solidFill>
          <a:ln w="9525">
            <a:solidFill>
              <a:srgbClr val="BFE3D2"/>
            </a:solidFill>
            <a:prstDash val="solid"/>
          </a:ln>
        </p:spPr>
        <p:txBody>
          <a:bodyPr/>
          <a:lstStyle/>
          <a:p>
            <a:endParaRPr lang="en-US"/>
          </a:p>
        </p:txBody>
      </p:sp>
      <p:pic>
        <p:nvPicPr>
          <p:cNvPr id="24" name="Image 1" descr="/home/claude/x_chk_in.png"/>
          <p:cNvPicPr>
            <a:picLocks noChangeAspect="1"/>
          </p:cNvPicPr>
          <p:nvPr/>
        </p:nvPicPr>
        <p:blipFill>
          <a:blip r:embed="rId4"/>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marL="0" indent="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Readiness diagnosis against DORA, NIS2, EU AI Act, DPDP (and equivalents in client geographies)</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Register of Information and third-party inventory review</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Concentration-risk analysis (including hyperscaler dependency)</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Control, evidence, testing and reporting-cadence design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Exit-strategy design for critical providers (architecture, data, contractual, operational)</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Remediation roadmap and sustaining governance model</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3F0"/>
          </a:solidFill>
          <a:ln w="9525">
            <a:solidFill>
              <a:srgbClr val="ECCFC4"/>
            </a:solidFill>
            <a:prstDash val="solid"/>
          </a:ln>
        </p:spPr>
        <p:txBody>
          <a:bodyPr/>
          <a:lstStyle/>
          <a:p>
            <a:endParaRPr lang="en-US"/>
          </a:p>
        </p:txBody>
      </p:sp>
      <p:pic>
        <p:nvPicPr>
          <p:cNvPr id="28" name="Image 2" descr="/home/claude/x_chk_out.png"/>
          <p:cNvPicPr>
            <a:picLocks noChangeAspect="1"/>
          </p:cNvPicPr>
          <p:nvPr/>
        </p:nvPicPr>
        <p:blipFill>
          <a:blip r:embed="rId5"/>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marL="0" indent="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Legal interpretation, legal opinion or regulatory filing</a:t>
            </a:r>
            <a:r>
              <a:rPr lang="en-US" sz="900" i="1" dirty="0">
                <a:solidFill>
                  <a:srgbClr val="9A5541"/>
                </a:solidFill>
                <a:latin typeface="Calibri" pitchFamily="34" charset="0"/>
                <a:ea typeface="Calibri" pitchFamily="34" charset="-122"/>
                <a:cs typeface="Calibri" pitchFamily="34" charset="-120"/>
              </a:rPr>
              <a:t>   → Client legal / compliance</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Sovereignty posture and workload relocation</a:t>
            </a:r>
            <a:r>
              <a:rPr lang="en-US" sz="900" i="1" dirty="0">
                <a:solidFill>
                  <a:srgbClr val="9A5541"/>
                </a:solidFill>
                <a:latin typeface="Calibri" pitchFamily="34" charset="0"/>
                <a:ea typeface="Calibri" pitchFamily="34" charset="-122"/>
                <a:cs typeface="Calibri" pitchFamily="34" charset="-120"/>
              </a:rPr>
              <a:t>   → 02.1</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Cross-border transfer-mechanism design</a:t>
            </a:r>
            <a:r>
              <a:rPr lang="en-US" sz="900" i="1" dirty="0">
                <a:solidFill>
                  <a:srgbClr val="9A5541"/>
                </a:solidFill>
                <a:latin typeface="Calibri" pitchFamily="34" charset="0"/>
                <a:ea typeface="Calibri" pitchFamily="34" charset="-122"/>
                <a:cs typeface="Calibri" pitchFamily="34" charset="-120"/>
              </a:rPr>
              <a:t>   → 02.2</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Cyber security services and SOC operations</a:t>
            </a:r>
            <a:r>
              <a:rPr lang="en-US" sz="900" i="1" dirty="0">
                <a:solidFill>
                  <a:srgbClr val="9A5541"/>
                </a:solidFill>
                <a:latin typeface="Calibri" pitchFamily="34" charset="0"/>
                <a:ea typeface="Calibri" pitchFamily="34" charset="-122"/>
                <a:cs typeface="Calibri" pitchFamily="34" charset="-120"/>
              </a:rPr>
              <a:t>   → LTM Security practice</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Exit-readiness engineering and remediation build</a:t>
            </a:r>
            <a:r>
              <a:rPr lang="en-US" sz="900" i="1" dirty="0">
                <a:solidFill>
                  <a:srgbClr val="9A5541"/>
                </a:solidFill>
                <a:latin typeface="Calibri" pitchFamily="34" charset="0"/>
                <a:ea typeface="Calibri" pitchFamily="34" charset="-122"/>
                <a:cs typeface="Calibri" pitchFamily="34" charset="-120"/>
              </a:rPr>
              <a:t>   → Separate delivery engagement</a:t>
            </a:r>
            <a:endParaRPr lang="en-US" sz="970" dirty="0"/>
          </a:p>
        </p:txBody>
      </p:sp>
      <p:sp>
        <p:nvSpPr>
          <p:cNvPr id="35" name="Text 30"/>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6" name="Text 31"/>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02.3  ·  Deliverables &amp; scope</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OUT-SEQUENCE THE MOVE.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02.4   </a:t>
            </a:r>
            <a:r>
              <a:rPr lang="en-US" sz="2400" b="1" dirty="0">
                <a:solidFill>
                  <a:srgbClr val="1B1F23"/>
                </a:solidFill>
                <a:latin typeface="Cambria" pitchFamily="34" charset="0"/>
                <a:ea typeface="Cambria" pitchFamily="34" charset="-122"/>
                <a:cs typeface="Cambria" pitchFamily="34" charset="-120"/>
              </a:rPr>
              <a:t>Application Portfolio Mapping &amp; Roadmap</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marL="0" indent="0">
              <a:buNone/>
            </a:pPr>
            <a:r>
              <a:rPr lang="en-US" sz="900" b="1" kern="0" spc="100" dirty="0">
                <a:solidFill>
                  <a:srgbClr val="5DCAA5"/>
                </a:solidFill>
                <a:latin typeface="Calibri" pitchFamily="34" charset="0"/>
                <a:ea typeface="Calibri" pitchFamily="34" charset="-122"/>
                <a:cs typeface="Calibri" pitchFamily="34" charset="-120"/>
              </a:rPr>
              <a:t>STARTS FROM  </a:t>
            </a:r>
            <a:r>
              <a:rPr lang="en-US" sz="1050" dirty="0">
                <a:solidFill>
                  <a:srgbClr val="44515E"/>
                </a:solidFill>
                <a:latin typeface="Calibri" pitchFamily="34" charset="0"/>
                <a:ea typeface="Calibri" pitchFamily="34" charset="-122"/>
                <a:cs typeface="Calibri" pitchFamily="34" charset="-120"/>
              </a:rPr>
              <a:t>Outputs of 02.1 / 02.2 / 02.3 (posture, data rules, regulatory constraints)      </a:t>
            </a:r>
            <a:r>
              <a:rPr lang="en-US" sz="900" b="1" kern="0" spc="100" dirty="0">
                <a:solidFill>
                  <a:srgbClr val="5DCAA5"/>
                </a:solidFill>
                <a:latin typeface="Calibri" pitchFamily="34" charset="0"/>
                <a:ea typeface="Calibri" pitchFamily="34" charset="-122"/>
                <a:cs typeface="Calibri" pitchFamily="34" charset="-120"/>
              </a:rPr>
              <a:t>LEADS TO  </a:t>
            </a:r>
            <a:r>
              <a:rPr lang="en-US" sz="1050" dirty="0">
                <a:solidFill>
                  <a:srgbClr val="44515E"/>
                </a:solidFill>
                <a:latin typeface="Calibri" pitchFamily="34" charset="0"/>
                <a:ea typeface="Calibri" pitchFamily="34" charset="-122"/>
                <a:cs typeface="Calibri" pitchFamily="34" charset="-120"/>
              </a:rPr>
              <a:t>Migration &amp; build delivery</a:t>
            </a:r>
            <a:endParaRPr lang="en-US" sz="900" dirty="0"/>
          </a:p>
        </p:txBody>
      </p:sp>
      <p:sp>
        <p:nvSpPr>
          <p:cNvPr id="5" name="Shape 3"/>
          <p:cNvSpPr/>
          <p:nvPr/>
        </p:nvSpPr>
        <p:spPr>
          <a:xfrm>
            <a:off x="502920" y="1737360"/>
            <a:ext cx="5394960" cy="2395728"/>
          </a:xfrm>
          <a:prstGeom prst="roundRect">
            <a:avLst>
              <a:gd name="adj" fmla="val 2290"/>
            </a:avLst>
          </a:prstGeom>
          <a:solidFill>
            <a:srgbClr val="F3F8F6"/>
          </a:solidFill>
          <a:ln w="9525">
            <a:solidFill>
              <a:srgbClr val="D2E4DD"/>
            </a:solidFill>
            <a:prstDash val="solid"/>
          </a:ln>
        </p:spPr>
        <p:txBody>
          <a:bodyPr/>
          <a:lstStyle/>
          <a:p>
            <a:endParaRPr lang="en-US"/>
          </a:p>
        </p:txBody>
      </p:sp>
      <p:sp>
        <p:nvSpPr>
          <p:cNvPr id="6" name="Text 4"/>
          <p:cNvSpPr txBox="1"/>
          <p:nvPr/>
        </p:nvSpPr>
        <p:spPr>
          <a:xfrm>
            <a:off x="731520" y="1901952"/>
            <a:ext cx="4937760" cy="256032"/>
          </a:xfrm>
          <a:prstGeom prst="rect">
            <a:avLst/>
          </a:prstGeom>
          <a:noFill/>
          <a:ln/>
        </p:spPr>
        <p:txBody>
          <a:bodyPr wrap="square" lIns="0" tIns="0" rIns="0" bIns="0" rtlCol="0" anchor="ctr"/>
          <a:lstStyle/>
          <a:p>
            <a:pPr marL="0" indent="0">
              <a:buNone/>
            </a:pPr>
            <a:r>
              <a:rPr lang="en-US" sz="1100" b="1" kern="0" spc="150" dirty="0">
                <a:solidFill>
                  <a:srgbClr val="0F6E56"/>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marL="0" indent="0">
              <a:lnSpc>
                <a:spcPct val="104000"/>
              </a:lnSpc>
              <a:buNone/>
            </a:pPr>
            <a:r>
              <a:rPr lang="en-US" sz="1150" dirty="0">
                <a:solidFill>
                  <a:srgbClr val="2C3A34"/>
                </a:solidFill>
                <a:latin typeface="Calibri" pitchFamily="34" charset="0"/>
                <a:ea typeface="Calibri" pitchFamily="34" charset="-122"/>
                <a:cs typeface="Calibri" pitchFamily="34" charset="-120"/>
              </a:rPr>
              <a:t>Turns a sovereignty decision into an application-level plan the enterprise can execute without breaking the business. It inventories the application estate, classifies each application by sovereignty exposure, criticality and dependency, and sequences a dependency-aware wave plan — which applications to keep, refactor, repatriate or replace, and in what order. This is the confluence of the pillar: posture (02.1), data rules (02.2) and regulatory constraints (02.3) all feed in, and this offering produces the single roadmap a migration or remediation program runs on.</a:t>
            </a:r>
            <a:endParaRPr lang="en-US" sz="1150" dirty="0"/>
          </a:p>
        </p:txBody>
      </p:sp>
      <p:sp>
        <p:nvSpPr>
          <p:cNvPr id="8" name="Shape 6"/>
          <p:cNvSpPr/>
          <p:nvPr/>
        </p:nvSpPr>
        <p:spPr>
          <a:xfrm>
            <a:off x="502920" y="4279392"/>
            <a:ext cx="5394960" cy="1627632"/>
          </a:xfrm>
          <a:prstGeom prst="roundRect">
            <a:avLst>
              <a:gd name="adj" fmla="val 3371"/>
            </a:avLst>
          </a:prstGeom>
          <a:solidFill>
            <a:srgbClr val="0F6E56"/>
          </a:solidFill>
          <a:ln w="9525">
            <a:solidFill>
              <a:srgbClr val="0F6E56"/>
            </a:solidFill>
            <a:prstDash val="solid"/>
          </a:ln>
        </p:spPr>
        <p:txBody>
          <a:bodyPr/>
          <a:lstStyle/>
          <a:p>
            <a:endParaRPr lang="en-US"/>
          </a:p>
        </p:txBody>
      </p:sp>
      <p:sp>
        <p:nvSpPr>
          <p:cNvPr id="9" name="Text 7"/>
          <p:cNvSpPr txBox="1"/>
          <p:nvPr/>
        </p:nvSpPr>
        <p:spPr>
          <a:xfrm>
            <a:off x="731520" y="4425696"/>
            <a:ext cx="4937760" cy="256032"/>
          </a:xfrm>
          <a:prstGeom prst="rect">
            <a:avLst/>
          </a:prstGeom>
          <a:noFill/>
          <a:ln/>
        </p:spPr>
        <p:txBody>
          <a:bodyPr wrap="square" lIns="0" tIns="0" rIns="0" bIns="0" rtlCol="0" anchor="ctr"/>
          <a:lstStyle/>
          <a:p>
            <a:pPr marL="0" indent="0">
              <a:buNone/>
            </a:pPr>
            <a:r>
              <a:rPr lang="en-US" sz="1100" b="1" kern="0" spc="150" dirty="0">
                <a:solidFill>
                  <a:srgbClr val="9FE1CB"/>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marL="0" indent="0">
              <a:lnSpc>
                <a:spcPct val="103000"/>
              </a:lnSpc>
              <a:buNone/>
            </a:pPr>
            <a:r>
              <a:rPr lang="en-US" sz="1100" dirty="0">
                <a:solidFill>
                  <a:srgbClr val="EAF6F1"/>
                </a:solidFill>
                <a:latin typeface="Calibri" pitchFamily="34" charset="0"/>
                <a:ea typeface="Calibri" pitchFamily="34" charset="-122"/>
                <a:cs typeface="Calibri" pitchFamily="34" charset="-120"/>
              </a:rPr>
              <a:t>Geopatriation is a funded, active motion — Gartner estimates it will shift 20% of current workloads from global to local providers, with European sovereign cloud spending up 83% in 2026. That movement is application-by-application work; the enterprises that can name and sequence the specific applications to move capture provider capacity and migration windows first, rather than stalling on an undocumented estate.</a:t>
            </a:r>
            <a:endParaRPr lang="en-US" sz="110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marL="0" indent="0">
              <a:buNone/>
            </a:pPr>
            <a:r>
              <a:rPr lang="en-US" sz="850" i="1" dirty="0">
                <a:solidFill>
                  <a:srgbClr val="8FC9B7"/>
                </a:solidFill>
                <a:latin typeface="Calibri" pitchFamily="34" charset="0"/>
                <a:ea typeface="Calibri" pitchFamily="34" charset="-122"/>
                <a:cs typeface="Calibri" pitchFamily="34" charset="-120"/>
              </a:rPr>
              <a:t>Source: Gartner / regulatory bodies, 2025–2026.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D2E4DD"/>
            </a:solidFill>
            <a:prstDash val="solid"/>
          </a:ln>
        </p:spPr>
        <p:txBody>
          <a:bodyPr/>
          <a:lstStyle/>
          <a:p>
            <a:endParaRPr lang="en-US"/>
          </a:p>
        </p:txBody>
      </p:sp>
      <p:sp>
        <p:nvSpPr>
          <p:cNvPr id="13" name="Text 11"/>
          <p:cNvSpPr txBox="1"/>
          <p:nvPr/>
        </p:nvSpPr>
        <p:spPr>
          <a:xfrm>
            <a:off x="6492240" y="1901952"/>
            <a:ext cx="4937760" cy="256032"/>
          </a:xfrm>
          <a:prstGeom prst="rect">
            <a:avLst/>
          </a:prstGeom>
          <a:noFill/>
          <a:ln/>
        </p:spPr>
        <p:txBody>
          <a:bodyPr wrap="square" lIns="0" tIns="0" rIns="0" bIns="0" rtlCol="0" anchor="ctr"/>
          <a:lstStyle/>
          <a:p>
            <a:pPr marL="0" indent="0">
              <a:buNone/>
            </a:pPr>
            <a:r>
              <a:rPr lang="en-US" sz="1100" b="1" kern="0" spc="120" dirty="0">
                <a:solidFill>
                  <a:srgbClr val="0F6E56"/>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157984"/>
            <a:ext cx="4937760" cy="457200"/>
          </a:xfrm>
          <a:prstGeom prst="rect">
            <a:avLst/>
          </a:prstGeom>
          <a:noFill/>
          <a:ln/>
        </p:spPr>
        <p:txBody>
          <a:bodyPr wrap="square" lIns="0" tIns="0" rIns="0" bIns="0" rtlCol="0" anchor="ctr"/>
          <a:lstStyle/>
          <a:p>
            <a:pPr marL="0" indent="0">
              <a:lnSpc>
                <a:spcPct val="95000"/>
              </a:lnSpc>
              <a:buNone/>
            </a:pPr>
            <a:r>
              <a:rPr lang="en-US" sz="1150" i="1" dirty="0">
                <a:solidFill>
                  <a:srgbClr val="D35400"/>
                </a:solidFill>
                <a:latin typeface="Cambria" pitchFamily="34" charset="0"/>
                <a:ea typeface="Cambria" pitchFamily="34" charset="-122"/>
                <a:cs typeface="Cambria" pitchFamily="34" charset="-120"/>
              </a:rPr>
              <a:t>Enterprises have decided to act on sovereignty but have no dependency-aware map of which applications move, in what order.</a:t>
            </a:r>
            <a:endParaRPr lang="en-US" sz="1150" dirty="0"/>
          </a:p>
        </p:txBody>
      </p:sp>
      <p:sp>
        <p:nvSpPr>
          <p:cNvPr id="15" name="Text 13"/>
          <p:cNvSpPr txBox="1"/>
          <p:nvPr/>
        </p:nvSpPr>
        <p:spPr>
          <a:xfrm>
            <a:off x="6492240" y="2697480"/>
            <a:ext cx="4937760" cy="1325880"/>
          </a:xfrm>
          <a:prstGeom prst="rect">
            <a:avLst/>
          </a:prstGeom>
          <a:noFill/>
          <a:ln/>
        </p:spPr>
        <p:txBody>
          <a:bodyPr wrap="square" lIns="0" tIns="0" rIns="0" bIns="0" rtlCol="0" anchor="ctr"/>
          <a:lstStyle/>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The application estate is poorly documented — ownership, hosting, data classification and interdependencies are scattered or stale.</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Sovereignty and regulatory constraints are understood in principle but not mapped to specific applications.</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Hidden dependencies mean moving one application breaks three others — the reason migrations stall mid-flight.</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Disposition decisions get made on gut feel or vendor push, not a consistent scoring of exposure, criticality and effort.</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Without a sequenced wave plan, the program becomes a big-bang risk the business won’t approve.</a:t>
            </a:r>
            <a:endParaRPr lang="en-US" sz="1000" dirty="0"/>
          </a:p>
        </p:txBody>
      </p:sp>
      <p:sp>
        <p:nvSpPr>
          <p:cNvPr id="16" name="Shape 14"/>
          <p:cNvSpPr/>
          <p:nvPr/>
        </p:nvSpPr>
        <p:spPr>
          <a:xfrm>
            <a:off x="6263640" y="4279392"/>
            <a:ext cx="5394960" cy="1627632"/>
          </a:xfrm>
          <a:prstGeom prst="roundRect">
            <a:avLst>
              <a:gd name="adj" fmla="val 3371"/>
            </a:avLst>
          </a:prstGeom>
          <a:solidFill>
            <a:srgbClr val="F3F8F6"/>
          </a:solidFill>
          <a:ln w="9525">
            <a:solidFill>
              <a:srgbClr val="D2E4DD"/>
            </a:solidFill>
            <a:prstDash val="solid"/>
          </a:ln>
        </p:spPr>
        <p:txBody>
          <a:bodyPr/>
          <a:lstStyle/>
          <a:p>
            <a:endParaRPr lang="en-US"/>
          </a:p>
        </p:txBody>
      </p:sp>
      <p:sp>
        <p:nvSpPr>
          <p:cNvPr id="17" name="Text 15"/>
          <p:cNvSpPr txBox="1"/>
          <p:nvPr/>
        </p:nvSpPr>
        <p:spPr>
          <a:xfrm>
            <a:off x="6492240" y="4407408"/>
            <a:ext cx="4937760" cy="256032"/>
          </a:xfrm>
          <a:prstGeom prst="rect">
            <a:avLst/>
          </a:prstGeom>
          <a:noFill/>
          <a:ln/>
        </p:spPr>
        <p:txBody>
          <a:bodyPr wrap="square" lIns="0" tIns="0" rIns="0" bIns="0" rtlCol="0" anchor="ctr"/>
          <a:lstStyle/>
          <a:p>
            <a:pPr marL="0" indent="0">
              <a:buNone/>
            </a:pPr>
            <a:r>
              <a:rPr lang="en-US" sz="1100" b="1" kern="0" spc="120" dirty="0">
                <a:solidFill>
                  <a:srgbClr val="0F6E56"/>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81728"/>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A single, trusted application map  </a:t>
            </a:r>
            <a:r>
              <a:rPr lang="en-US" sz="900" dirty="0">
                <a:solidFill>
                  <a:srgbClr val="44515E"/>
                </a:solidFill>
                <a:latin typeface="Calibri" pitchFamily="34" charset="0"/>
                <a:ea typeface="Calibri" pitchFamily="34" charset="-122"/>
                <a:cs typeface="Calibri" pitchFamily="34" charset="-120"/>
              </a:rPr>
              <a:t>— One authoritative view with sovereignty exposure, criticality and dependencies per application.</a:t>
            </a:r>
            <a:endParaRPr lang="en-US" sz="950" dirty="0"/>
          </a:p>
        </p:txBody>
      </p:sp>
      <p:sp>
        <p:nvSpPr>
          <p:cNvPr id="19" name="Text 17"/>
          <p:cNvSpPr txBox="1"/>
          <p:nvPr/>
        </p:nvSpPr>
        <p:spPr>
          <a:xfrm>
            <a:off x="6492240" y="491581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Disposition decisions you can defend  </a:t>
            </a:r>
            <a:r>
              <a:rPr lang="en-US" sz="900" dirty="0">
                <a:solidFill>
                  <a:srgbClr val="44515E"/>
                </a:solidFill>
                <a:latin typeface="Calibri" pitchFamily="34" charset="0"/>
                <a:ea typeface="Calibri" pitchFamily="34" charset="-122"/>
                <a:cs typeface="Calibri" pitchFamily="34" charset="-120"/>
              </a:rPr>
              <a:t>— Every keep / refactor / repatriate / replace call scored consistently, not argued case by case.</a:t>
            </a:r>
            <a:endParaRPr lang="en-US" sz="950" dirty="0"/>
          </a:p>
        </p:txBody>
      </p:sp>
      <p:sp>
        <p:nvSpPr>
          <p:cNvPr id="20" name="Text 18"/>
          <p:cNvSpPr txBox="1"/>
          <p:nvPr/>
        </p:nvSpPr>
        <p:spPr>
          <a:xfrm>
            <a:off x="6492240" y="5149901"/>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Migrations that don’t break the business  </a:t>
            </a:r>
            <a:r>
              <a:rPr lang="en-US" sz="900" dirty="0">
                <a:solidFill>
                  <a:srgbClr val="44515E"/>
                </a:solidFill>
                <a:latin typeface="Calibri" pitchFamily="34" charset="0"/>
                <a:ea typeface="Calibri" pitchFamily="34" charset="-122"/>
                <a:cs typeface="Calibri" pitchFamily="34" charset="-120"/>
              </a:rPr>
              <a:t>— Dependency-aware sequencing that avoids the stalled-program failure mode.</a:t>
            </a:r>
            <a:endParaRPr lang="en-US" sz="950" dirty="0"/>
          </a:p>
        </p:txBody>
      </p:sp>
      <p:sp>
        <p:nvSpPr>
          <p:cNvPr id="21" name="Text 19"/>
          <p:cNvSpPr txBox="1"/>
          <p:nvPr/>
        </p:nvSpPr>
        <p:spPr>
          <a:xfrm>
            <a:off x="6492240" y="5383987"/>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A fundable wave plan  </a:t>
            </a:r>
            <a:r>
              <a:rPr lang="en-US" sz="900" dirty="0">
                <a:solidFill>
                  <a:srgbClr val="44515E"/>
                </a:solidFill>
                <a:latin typeface="Calibri" pitchFamily="34" charset="0"/>
                <a:ea typeface="Calibri" pitchFamily="34" charset="-122"/>
                <a:cs typeface="Calibri" pitchFamily="34" charset="-120"/>
              </a:rPr>
              <a:t>— Phased so early waves land value fast and the board can approve incrementally.</a:t>
            </a:r>
            <a:endParaRPr lang="en-US" sz="950" dirty="0"/>
          </a:p>
        </p:txBody>
      </p:sp>
      <p:sp>
        <p:nvSpPr>
          <p:cNvPr id="22" name="Text 20"/>
          <p:cNvSpPr txBox="1"/>
          <p:nvPr/>
        </p:nvSpPr>
        <p:spPr>
          <a:xfrm>
            <a:off x="6492240" y="561807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A reusable asset  </a:t>
            </a:r>
            <a:r>
              <a:rPr lang="en-US" sz="900" dirty="0">
                <a:solidFill>
                  <a:srgbClr val="44515E"/>
                </a:solidFill>
                <a:latin typeface="Calibri" pitchFamily="34" charset="0"/>
                <a:ea typeface="Calibri" pitchFamily="34" charset="-122"/>
                <a:cs typeface="Calibri" pitchFamily="34" charset="-120"/>
              </a:rPr>
              <a:t>— The map keeps serving modernization, cost and resilience decisions long after the program closes.</a:t>
            </a:r>
            <a:endParaRPr lang="en-US" sz="950" dirty="0"/>
          </a:p>
        </p:txBody>
      </p:sp>
      <p:sp>
        <p:nvSpPr>
          <p:cNvPr id="23" name="Text 21"/>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24" name="Text 22"/>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02.4  ·  Overview</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02.4   </a:t>
            </a:r>
            <a:r>
              <a:rPr lang="en-US" sz="2400" b="1" dirty="0">
                <a:solidFill>
                  <a:srgbClr val="1B1F23"/>
                </a:solidFill>
                <a:latin typeface="Cambria" pitchFamily="34" charset="0"/>
                <a:ea typeface="Cambria" pitchFamily="34" charset="-122"/>
                <a:cs typeface="Cambria" pitchFamily="34" charset="-120"/>
              </a:rPr>
              <a:t>Application Portfolio Mapping &amp; Roadmap</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marL="0" indent="0">
              <a:buNone/>
            </a:pPr>
            <a:r>
              <a:rPr lang="en-US" sz="1200" i="1" dirty="0">
                <a:solidFill>
                  <a:srgbClr val="5A6B7B"/>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6" name="Shape 4"/>
          <p:cNvSpPr/>
          <p:nvPr/>
        </p:nvSpPr>
        <p:spPr>
          <a:xfrm>
            <a:off x="502920" y="1783080"/>
            <a:ext cx="3602736" cy="868680"/>
          </a:xfrm>
          <a:prstGeom prst="roundRect">
            <a:avLst>
              <a:gd name="adj" fmla="val 7368"/>
            </a:avLst>
          </a:prstGeom>
          <a:solidFill>
            <a:srgbClr val="0F6E56"/>
          </a:solidFill>
          <a:ln/>
        </p:spPr>
        <p:txBody>
          <a:bodyPr/>
          <a:lstStyle/>
          <a:p>
            <a:endParaRPr lang="en-US"/>
          </a:p>
        </p:txBody>
      </p:sp>
      <p:sp>
        <p:nvSpPr>
          <p:cNvPr id="7" name="Shape 5"/>
          <p:cNvSpPr/>
          <p:nvPr/>
        </p:nvSpPr>
        <p:spPr>
          <a:xfrm>
            <a:off x="502920" y="2194560"/>
            <a:ext cx="3602736" cy="457200"/>
          </a:xfrm>
          <a:prstGeom prst="rect">
            <a:avLst/>
          </a:prstGeom>
          <a:solidFill>
            <a:srgbClr val="0F6E56"/>
          </a:solidFill>
          <a:ln/>
        </p:spPr>
        <p:txBody>
          <a:bodyPr/>
          <a:lstStyle/>
          <a:p>
            <a:endParaRPr lang="en-US"/>
          </a:p>
        </p:txBody>
      </p:sp>
      <p:pic>
        <p:nvPicPr>
          <p:cNvPr id="8" name="Image 0" descr="/home/claude/x_ph_understand.png"/>
          <p:cNvPicPr>
            <a:picLocks noChangeAspect="1"/>
          </p:cNvPicPr>
          <p:nvPr/>
        </p:nvPicPr>
        <p:blipFill>
          <a:blip r:embed="rId3"/>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Inventory the application estate — ownership, hosting, data classification, business function</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Map dependencies and integration points across applications and data flows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Ingest constraints from prior phases (posture, data-residency rules, regulatory obligations)</a:t>
            </a:r>
            <a:endParaRPr lang="en-US" sz="1000" dirty="0"/>
          </a:p>
        </p:txBody>
      </p:sp>
      <p:sp>
        <p:nvSpPr>
          <p:cNvPr id="12" name="Shape 9"/>
          <p:cNvSpPr/>
          <p:nvPr/>
        </p:nvSpPr>
        <p:spPr>
          <a:xfrm>
            <a:off x="740664" y="4983480"/>
            <a:ext cx="3127248" cy="0"/>
          </a:xfrm>
          <a:prstGeom prst="line">
            <a:avLst/>
          </a:prstGeom>
          <a:noFill/>
          <a:ln w="12700">
            <a:solidFill>
              <a:srgbClr val="D2E4DD"/>
            </a:solidFill>
            <a:prstDash val="solid"/>
          </a:ln>
        </p:spPr>
        <p:txBody>
          <a:bodyPr/>
          <a:lstStyle/>
          <a:p>
            <a:endParaRPr lang="en-US"/>
          </a:p>
        </p:txBody>
      </p:sp>
      <p:sp>
        <p:nvSpPr>
          <p:cNvPr id="13" name="Text 10"/>
          <p:cNvSpPr txBox="1"/>
          <p:nvPr/>
        </p:nvSpPr>
        <p:spPr>
          <a:xfrm>
            <a:off x="74066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Application inventory · dependency map · consolidated constraint set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marL="0" indent="0" algn="ctr">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17" name="Shape 14"/>
          <p:cNvSpPr/>
          <p:nvPr/>
        </p:nvSpPr>
        <p:spPr>
          <a:xfrm>
            <a:off x="4343400" y="1783080"/>
            <a:ext cx="3602736" cy="868680"/>
          </a:xfrm>
          <a:prstGeom prst="roundRect">
            <a:avLst>
              <a:gd name="adj" fmla="val 7368"/>
            </a:avLst>
          </a:prstGeom>
          <a:solidFill>
            <a:srgbClr val="0A5643"/>
          </a:solidFill>
          <a:ln/>
        </p:spPr>
        <p:txBody>
          <a:bodyPr/>
          <a:lstStyle/>
          <a:p>
            <a:endParaRPr lang="en-US"/>
          </a:p>
        </p:txBody>
      </p:sp>
      <p:sp>
        <p:nvSpPr>
          <p:cNvPr id="18" name="Shape 15"/>
          <p:cNvSpPr/>
          <p:nvPr/>
        </p:nvSpPr>
        <p:spPr>
          <a:xfrm>
            <a:off x="4343400" y="2194560"/>
            <a:ext cx="3602736" cy="457200"/>
          </a:xfrm>
          <a:prstGeom prst="rect">
            <a:avLst/>
          </a:prstGeom>
          <a:solidFill>
            <a:srgbClr val="0A5643"/>
          </a:solidFill>
          <a:ln/>
        </p:spPr>
        <p:txBody>
          <a:bodyPr/>
          <a:lstStyle/>
          <a:p>
            <a:endParaRPr lang="en-US"/>
          </a:p>
        </p:txBody>
      </p:sp>
      <p:pic>
        <p:nvPicPr>
          <p:cNvPr id="19" name="Image 1" descr="/home/claude/x_ph_ideate.png"/>
          <p:cNvPicPr>
            <a:picLocks noChangeAspect="1"/>
          </p:cNvPicPr>
          <p:nvPr/>
        </p:nvPicPr>
        <p:blipFill>
          <a:blip r:embed="rId4"/>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Score each application on sovereignty exposure, criticality and remediation effort</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Assign disposition per application (keep / refactor / repatriate / replace) against consistent criteria</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Sequence the dependency-aware remediation wave plan</a:t>
            </a:r>
            <a:endParaRPr lang="en-US" sz="1000" dirty="0"/>
          </a:p>
        </p:txBody>
      </p:sp>
      <p:sp>
        <p:nvSpPr>
          <p:cNvPr id="23" name="Shape 19"/>
          <p:cNvSpPr/>
          <p:nvPr/>
        </p:nvSpPr>
        <p:spPr>
          <a:xfrm>
            <a:off x="4581144" y="4983480"/>
            <a:ext cx="3127248" cy="0"/>
          </a:xfrm>
          <a:prstGeom prst="line">
            <a:avLst/>
          </a:prstGeom>
          <a:noFill/>
          <a:ln w="12700">
            <a:solidFill>
              <a:srgbClr val="D2E4DD"/>
            </a:solidFill>
            <a:prstDash val="solid"/>
          </a:ln>
        </p:spPr>
        <p:txBody>
          <a:bodyPr/>
          <a:lstStyle/>
          <a:p>
            <a:endParaRPr lang="en-US"/>
          </a:p>
        </p:txBody>
      </p:sp>
      <p:sp>
        <p:nvSpPr>
          <p:cNvPr id="24" name="Text 20"/>
          <p:cNvSpPr txBox="1"/>
          <p:nvPr/>
        </p:nvSpPr>
        <p:spPr>
          <a:xfrm>
            <a:off x="458114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Disposition scoring model · per-application disposition map · sequenced wave plan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marL="0" indent="0" algn="ctr">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28" name="Shape 24"/>
          <p:cNvSpPr/>
          <p:nvPr/>
        </p:nvSpPr>
        <p:spPr>
          <a:xfrm>
            <a:off x="8183880" y="1783080"/>
            <a:ext cx="3602736" cy="868680"/>
          </a:xfrm>
          <a:prstGeom prst="roundRect">
            <a:avLst>
              <a:gd name="adj" fmla="val 7368"/>
            </a:avLst>
          </a:prstGeom>
          <a:solidFill>
            <a:srgbClr val="084438"/>
          </a:solidFill>
          <a:ln/>
        </p:spPr>
        <p:txBody>
          <a:bodyPr/>
          <a:lstStyle/>
          <a:p>
            <a:endParaRPr lang="en-US"/>
          </a:p>
        </p:txBody>
      </p:sp>
      <p:sp>
        <p:nvSpPr>
          <p:cNvPr id="29" name="Shape 25"/>
          <p:cNvSpPr/>
          <p:nvPr/>
        </p:nvSpPr>
        <p:spPr>
          <a:xfrm>
            <a:off x="8183880" y="2194560"/>
            <a:ext cx="3602736" cy="457200"/>
          </a:xfrm>
          <a:prstGeom prst="rect">
            <a:avLst/>
          </a:prstGeom>
          <a:solidFill>
            <a:srgbClr val="084438"/>
          </a:solidFill>
          <a:ln/>
        </p:spPr>
        <p:txBody>
          <a:bodyPr/>
          <a:lstStyle/>
          <a:p>
            <a:endParaRPr lang="en-US"/>
          </a:p>
        </p:txBody>
      </p:sp>
      <p:pic>
        <p:nvPicPr>
          <p:cNvPr id="30" name="Image 2" descr="/home/claude/x_ph_outcreate.png"/>
          <p:cNvPicPr>
            <a:picLocks noChangeAspect="1"/>
          </p:cNvPicPr>
          <p:nvPr/>
        </p:nvPicPr>
        <p:blipFill>
          <a:blip r:embed="rId5"/>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Consolidate into an executive-ready portfolio roadmap with early, fundable waves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Confirm wave-level business cases, go / no-go criteria and value milestones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Executive playback, decision sign-off, first-wave mobilization</a:t>
            </a:r>
            <a:endParaRPr lang="en-US" sz="1000" dirty="0"/>
          </a:p>
        </p:txBody>
      </p:sp>
      <p:sp>
        <p:nvSpPr>
          <p:cNvPr id="34" name="Shape 29"/>
          <p:cNvSpPr/>
          <p:nvPr/>
        </p:nvSpPr>
        <p:spPr>
          <a:xfrm>
            <a:off x="8421624" y="4983480"/>
            <a:ext cx="3127248" cy="0"/>
          </a:xfrm>
          <a:prstGeom prst="line">
            <a:avLst/>
          </a:prstGeom>
          <a:noFill/>
          <a:ln w="12700">
            <a:solidFill>
              <a:srgbClr val="D2E4DD"/>
            </a:solidFill>
            <a:prstDash val="solid"/>
          </a:ln>
        </p:spPr>
        <p:txBody>
          <a:bodyPr/>
          <a:lstStyle/>
          <a:p>
            <a:endParaRPr lang="en-US"/>
          </a:p>
        </p:txBody>
      </p:sp>
      <p:sp>
        <p:nvSpPr>
          <p:cNvPr id="35" name="Text 30"/>
          <p:cNvSpPr txBox="1"/>
          <p:nvPr/>
        </p:nvSpPr>
        <p:spPr>
          <a:xfrm>
            <a:off x="842162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Board-ready portfolio roadmap · wave business cases · mobilization plan · Executive Playback · Closure Pack</a:t>
            </a:r>
            <a:endParaRPr lang="en-US" sz="950" dirty="0"/>
          </a:p>
        </p:txBody>
      </p:sp>
      <p:sp>
        <p:nvSpPr>
          <p:cNvPr id="37" name="Text 32"/>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8" name="Text 33"/>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02.4  ·  Solution</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02.4   </a:t>
            </a:r>
            <a:r>
              <a:rPr lang="en-US" sz="2400" b="1" dirty="0">
                <a:solidFill>
                  <a:srgbClr val="1B1F23"/>
                </a:solidFill>
                <a:latin typeface="Cambria" pitchFamily="34" charset="0"/>
                <a:ea typeface="Cambria" pitchFamily="34" charset="-122"/>
                <a:cs typeface="Cambria" pitchFamily="34" charset="-120"/>
              </a:rPr>
              <a:t>Application Portfolio Mapping &amp; Roadmap</a:t>
            </a:r>
            <a:endParaRPr lang="en-US" sz="2400" dirty="0"/>
          </a:p>
        </p:txBody>
      </p:sp>
      <p:sp>
        <p:nvSpPr>
          <p:cNvPr id="4" name="Shape 2"/>
          <p:cNvSpPr/>
          <p:nvPr/>
        </p:nvSpPr>
        <p:spPr>
          <a:xfrm>
            <a:off x="502920" y="1600200"/>
            <a:ext cx="5394960" cy="4480560"/>
          </a:xfrm>
          <a:prstGeom prst="roundRect">
            <a:avLst>
              <a:gd name="adj" fmla="val 1429"/>
            </a:avLst>
          </a:prstGeom>
          <a:solidFill>
            <a:srgbClr val="0F6E56"/>
          </a:solidFill>
          <a:ln/>
        </p:spPr>
        <p:txBody>
          <a:bodyPr/>
          <a:lstStyle/>
          <a:p>
            <a:endParaRPr lang="en-US"/>
          </a:p>
        </p:txBody>
      </p:sp>
      <p:pic>
        <p:nvPicPr>
          <p:cNvPr id="5" name="Image 0" descr="/home/claude/x_deliver.png"/>
          <p:cNvPicPr>
            <a:picLocks noChangeAspect="1"/>
          </p:cNvPicPr>
          <p:nvPr/>
        </p:nvPicPr>
        <p:blipFill>
          <a:blip r:embed="rId3"/>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marL="0" indent="0">
              <a:buNone/>
            </a:pPr>
            <a:r>
              <a:rPr lang="en-US" sz="1050" i="1" dirty="0">
                <a:solidFill>
                  <a:srgbClr val="9FE1CB"/>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5DCAA5"/>
          </a:solidFill>
          <a:ln/>
        </p:spPr>
        <p:txBody>
          <a:bodyPr/>
          <a:lstStyle/>
          <a:p>
            <a:endParaRPr lang="en-US"/>
          </a:p>
        </p:txBody>
      </p:sp>
      <p:sp>
        <p:nvSpPr>
          <p:cNvPr id="9" name="Text 6"/>
          <p:cNvSpPr txBox="1"/>
          <p:nvPr/>
        </p:nvSpPr>
        <p:spPr>
          <a:xfrm>
            <a:off x="777240" y="2880360"/>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Application inventory and dependency map</a:t>
            </a:r>
            <a:endParaRPr lang="en-US" sz="1150" dirty="0"/>
          </a:p>
        </p:txBody>
      </p:sp>
      <p:sp>
        <p:nvSpPr>
          <p:cNvPr id="11" name="Shape 8"/>
          <p:cNvSpPr/>
          <p:nvPr/>
        </p:nvSpPr>
        <p:spPr>
          <a:xfrm>
            <a:off x="777240" y="3483864"/>
            <a:ext cx="310896" cy="310896"/>
          </a:xfrm>
          <a:prstGeom prst="roundRect">
            <a:avLst>
              <a:gd name="adj" fmla="val 14706"/>
            </a:avLst>
          </a:prstGeom>
          <a:solidFill>
            <a:srgbClr val="5DCAA5"/>
          </a:solidFill>
          <a:ln/>
        </p:spPr>
        <p:txBody>
          <a:bodyPr/>
          <a:lstStyle/>
          <a:p>
            <a:endParaRPr lang="en-US"/>
          </a:p>
        </p:txBody>
      </p:sp>
      <p:sp>
        <p:nvSpPr>
          <p:cNvPr id="12" name="Text 9"/>
          <p:cNvSpPr txBox="1"/>
          <p:nvPr/>
        </p:nvSpPr>
        <p:spPr>
          <a:xfrm>
            <a:off x="777240" y="3483864"/>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Per-application sovereignty exposure and criticality classification</a:t>
            </a:r>
            <a:endParaRPr lang="en-US" sz="1150" dirty="0"/>
          </a:p>
        </p:txBody>
      </p:sp>
      <p:sp>
        <p:nvSpPr>
          <p:cNvPr id="14" name="Shape 11"/>
          <p:cNvSpPr/>
          <p:nvPr/>
        </p:nvSpPr>
        <p:spPr>
          <a:xfrm>
            <a:off x="777240" y="4087368"/>
            <a:ext cx="310896" cy="310896"/>
          </a:xfrm>
          <a:prstGeom prst="roundRect">
            <a:avLst>
              <a:gd name="adj" fmla="val 14706"/>
            </a:avLst>
          </a:prstGeom>
          <a:solidFill>
            <a:srgbClr val="5DCAA5"/>
          </a:solidFill>
          <a:ln/>
        </p:spPr>
        <p:txBody>
          <a:bodyPr/>
          <a:lstStyle/>
          <a:p>
            <a:endParaRPr lang="en-US"/>
          </a:p>
        </p:txBody>
      </p:sp>
      <p:sp>
        <p:nvSpPr>
          <p:cNvPr id="15" name="Text 12"/>
          <p:cNvSpPr txBox="1"/>
          <p:nvPr/>
        </p:nvSpPr>
        <p:spPr>
          <a:xfrm>
            <a:off x="777240" y="4087368"/>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Disposition scoring model and per-application disposition map</a:t>
            </a:r>
            <a:endParaRPr lang="en-US" sz="1150" dirty="0"/>
          </a:p>
        </p:txBody>
      </p:sp>
      <p:sp>
        <p:nvSpPr>
          <p:cNvPr id="17" name="Shape 14"/>
          <p:cNvSpPr/>
          <p:nvPr/>
        </p:nvSpPr>
        <p:spPr>
          <a:xfrm>
            <a:off x="777240" y="4690872"/>
            <a:ext cx="310896" cy="310896"/>
          </a:xfrm>
          <a:prstGeom prst="roundRect">
            <a:avLst>
              <a:gd name="adj" fmla="val 14706"/>
            </a:avLst>
          </a:prstGeom>
          <a:solidFill>
            <a:srgbClr val="5DCAA5"/>
          </a:solidFill>
          <a:ln/>
        </p:spPr>
        <p:txBody>
          <a:bodyPr/>
          <a:lstStyle/>
          <a:p>
            <a:endParaRPr lang="en-US"/>
          </a:p>
        </p:txBody>
      </p:sp>
      <p:sp>
        <p:nvSpPr>
          <p:cNvPr id="18" name="Text 15"/>
          <p:cNvSpPr txBox="1"/>
          <p:nvPr/>
        </p:nvSpPr>
        <p:spPr>
          <a:xfrm>
            <a:off x="777240" y="4690872"/>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Sequenced, dependency-aware remediation wave plan</a:t>
            </a:r>
            <a:endParaRPr lang="en-US" sz="1150" dirty="0"/>
          </a:p>
        </p:txBody>
      </p:sp>
      <p:sp>
        <p:nvSpPr>
          <p:cNvPr id="20" name="Shape 17"/>
          <p:cNvSpPr/>
          <p:nvPr/>
        </p:nvSpPr>
        <p:spPr>
          <a:xfrm>
            <a:off x="777240" y="5294376"/>
            <a:ext cx="310896" cy="310896"/>
          </a:xfrm>
          <a:prstGeom prst="roundRect">
            <a:avLst>
              <a:gd name="adj" fmla="val 14706"/>
            </a:avLst>
          </a:prstGeom>
          <a:solidFill>
            <a:srgbClr val="5DCAA5"/>
          </a:solidFill>
          <a:ln/>
        </p:spPr>
        <p:txBody>
          <a:bodyPr/>
          <a:lstStyle/>
          <a:p>
            <a:endParaRPr lang="en-US"/>
          </a:p>
        </p:txBody>
      </p:sp>
      <p:sp>
        <p:nvSpPr>
          <p:cNvPr id="21" name="Text 18"/>
          <p:cNvSpPr txBox="1"/>
          <p:nvPr/>
        </p:nvSpPr>
        <p:spPr>
          <a:xfrm>
            <a:off x="777240" y="5294376"/>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Board-ready portfolio roadmap with wave business cases</a:t>
            </a:r>
            <a:endParaRPr lang="en-US" sz="1150" dirty="0"/>
          </a:p>
        </p:txBody>
      </p:sp>
      <p:sp>
        <p:nvSpPr>
          <p:cNvPr id="23" name="Shape 20"/>
          <p:cNvSpPr/>
          <p:nvPr/>
        </p:nvSpPr>
        <p:spPr>
          <a:xfrm>
            <a:off x="6263640" y="1600200"/>
            <a:ext cx="5394960" cy="2286000"/>
          </a:xfrm>
          <a:prstGeom prst="roundRect">
            <a:avLst>
              <a:gd name="adj" fmla="val 2800"/>
            </a:avLst>
          </a:prstGeom>
          <a:solidFill>
            <a:srgbClr val="F3F8F6"/>
          </a:solidFill>
          <a:ln w="9525">
            <a:solidFill>
              <a:srgbClr val="BFE3D2"/>
            </a:solidFill>
            <a:prstDash val="solid"/>
          </a:ln>
        </p:spPr>
        <p:txBody>
          <a:bodyPr/>
          <a:lstStyle/>
          <a:p>
            <a:endParaRPr lang="en-US"/>
          </a:p>
        </p:txBody>
      </p:sp>
      <p:pic>
        <p:nvPicPr>
          <p:cNvPr id="24" name="Image 1" descr="/home/claude/x_chk_in.png"/>
          <p:cNvPicPr>
            <a:picLocks noChangeAspect="1"/>
          </p:cNvPicPr>
          <p:nvPr/>
        </p:nvPicPr>
        <p:blipFill>
          <a:blip r:embed="rId4"/>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marL="0" indent="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Application estate inventory and metadata capture</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Dependency and integration mapping</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Exposure and criticality classification per application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Disposition scoring and assignment (keep / refactor / repatriate / replace)</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Dependency-aware wave sequencing and roadmap</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Wave-level business case framing</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3F0"/>
          </a:solidFill>
          <a:ln w="9525">
            <a:solidFill>
              <a:srgbClr val="ECCFC4"/>
            </a:solidFill>
            <a:prstDash val="solid"/>
          </a:ln>
        </p:spPr>
        <p:txBody>
          <a:bodyPr/>
          <a:lstStyle/>
          <a:p>
            <a:endParaRPr lang="en-US"/>
          </a:p>
        </p:txBody>
      </p:sp>
      <p:pic>
        <p:nvPicPr>
          <p:cNvPr id="28" name="Image 2" descr="/home/claude/x_chk_out.png"/>
          <p:cNvPicPr>
            <a:picLocks noChangeAspect="1"/>
          </p:cNvPicPr>
          <p:nvPr/>
        </p:nvPicPr>
        <p:blipFill>
          <a:blip r:embed="rId5"/>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marL="0" indent="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Estate-level sovereignty posture and geopatriation business case</a:t>
            </a:r>
            <a:r>
              <a:rPr lang="en-US" sz="900" i="1" dirty="0">
                <a:solidFill>
                  <a:srgbClr val="9A5541"/>
                </a:solidFill>
                <a:latin typeface="Calibri" pitchFamily="34" charset="0"/>
                <a:ea typeface="Calibri" pitchFamily="34" charset="-122"/>
                <a:cs typeface="Calibri" pitchFamily="34" charset="-120"/>
              </a:rPr>
              <a:t>   → 02.1</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Cross-border transfer-mechanism design</a:t>
            </a:r>
            <a:r>
              <a:rPr lang="en-US" sz="900" i="1" dirty="0">
                <a:solidFill>
                  <a:srgbClr val="9A5541"/>
                </a:solidFill>
                <a:latin typeface="Calibri" pitchFamily="34" charset="0"/>
                <a:ea typeface="Calibri" pitchFamily="34" charset="-122"/>
                <a:cs typeface="Calibri" pitchFamily="34" charset="-120"/>
              </a:rPr>
              <a:t>   → 02.2</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Article-level regulatory remediation design</a:t>
            </a:r>
            <a:r>
              <a:rPr lang="en-US" sz="900" i="1" dirty="0">
                <a:solidFill>
                  <a:srgbClr val="9A5541"/>
                </a:solidFill>
                <a:latin typeface="Calibri" pitchFamily="34" charset="0"/>
                <a:ea typeface="Calibri" pitchFamily="34" charset="-122"/>
                <a:cs typeface="Calibri" pitchFamily="34" charset="-120"/>
              </a:rPr>
              <a:t>   → 02.3</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Application refactoring, re-platforming or migration build</a:t>
            </a:r>
            <a:r>
              <a:rPr lang="en-US" sz="900" i="1" dirty="0">
                <a:solidFill>
                  <a:srgbClr val="9A5541"/>
                </a:solidFill>
                <a:latin typeface="Calibri" pitchFamily="34" charset="0"/>
                <a:ea typeface="Calibri" pitchFamily="34" charset="-122"/>
                <a:cs typeface="Calibri" pitchFamily="34" charset="-120"/>
              </a:rPr>
              <a:t>   → Separate delivery engagement</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General (non-sovereignty) modernization disposition</a:t>
            </a:r>
            <a:r>
              <a:rPr lang="en-US" sz="900" i="1" dirty="0">
                <a:solidFill>
                  <a:srgbClr val="9A5541"/>
                </a:solidFill>
                <a:latin typeface="Calibri" pitchFamily="34" charset="0"/>
                <a:ea typeface="Calibri" pitchFamily="34" charset="-122"/>
                <a:cs typeface="Calibri" pitchFamily="34" charset="-120"/>
              </a:rPr>
              <a:t>   → 03.4</a:t>
            </a:r>
            <a:endParaRPr lang="en-US" sz="970" dirty="0"/>
          </a:p>
        </p:txBody>
      </p:sp>
      <p:sp>
        <p:nvSpPr>
          <p:cNvPr id="35" name="Text 30"/>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6" name="Text 31"/>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02.4  ·  Deliverables &amp; scope</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OUT-THINK THE BOUNDARY.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02.5   </a:t>
            </a:r>
            <a:r>
              <a:rPr lang="en-US" sz="2400" b="1" dirty="0">
                <a:solidFill>
                  <a:srgbClr val="1B1F23"/>
                </a:solidFill>
                <a:latin typeface="Cambria" pitchFamily="34" charset="0"/>
                <a:ea typeface="Cambria" pitchFamily="34" charset="-122"/>
                <a:cs typeface="Cambria" pitchFamily="34" charset="-120"/>
              </a:rPr>
              <a:t>Sovereign AI &amp; Data Boundary Architecture</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marL="0" indent="0">
              <a:buNone/>
            </a:pPr>
            <a:r>
              <a:rPr lang="en-US" sz="900" b="1" kern="0" spc="100" dirty="0">
                <a:solidFill>
                  <a:srgbClr val="5DCAA5"/>
                </a:solidFill>
                <a:latin typeface="Calibri" pitchFamily="34" charset="0"/>
                <a:ea typeface="Calibri" pitchFamily="34" charset="-122"/>
                <a:cs typeface="Calibri" pitchFamily="34" charset="-120"/>
              </a:rPr>
              <a:t>STARTS FROM  </a:t>
            </a:r>
            <a:r>
              <a:rPr lang="en-US" sz="1050" dirty="0">
                <a:solidFill>
                  <a:srgbClr val="44515E"/>
                </a:solidFill>
                <a:latin typeface="Calibri" pitchFamily="34" charset="0"/>
                <a:ea typeface="Calibri" pitchFamily="34" charset="-122"/>
                <a:cs typeface="Calibri" pitchFamily="34" charset="-120"/>
              </a:rPr>
              <a:t>Sovereign IQ → Posture IQ (AI / data lens)      </a:t>
            </a:r>
            <a:r>
              <a:rPr lang="en-US" sz="900" b="1" kern="0" spc="100" dirty="0">
                <a:solidFill>
                  <a:srgbClr val="5DCAA5"/>
                </a:solidFill>
                <a:latin typeface="Calibri" pitchFamily="34" charset="0"/>
                <a:ea typeface="Calibri" pitchFamily="34" charset="-122"/>
                <a:cs typeface="Calibri" pitchFamily="34" charset="-120"/>
              </a:rPr>
              <a:t>LEADS TO  </a:t>
            </a:r>
            <a:r>
              <a:rPr lang="en-US" sz="1050" dirty="0">
                <a:solidFill>
                  <a:srgbClr val="44515E"/>
                </a:solidFill>
                <a:latin typeface="Calibri" pitchFamily="34" charset="0"/>
                <a:ea typeface="Calibri" pitchFamily="34" charset="-122"/>
                <a:cs typeface="Calibri" pitchFamily="34" charset="-120"/>
              </a:rPr>
              <a:t>Sovereign AI platform build</a:t>
            </a:r>
            <a:endParaRPr lang="en-US" sz="900" dirty="0"/>
          </a:p>
        </p:txBody>
      </p:sp>
      <p:sp>
        <p:nvSpPr>
          <p:cNvPr id="5" name="Shape 3"/>
          <p:cNvSpPr/>
          <p:nvPr/>
        </p:nvSpPr>
        <p:spPr>
          <a:xfrm>
            <a:off x="502920" y="1737360"/>
            <a:ext cx="5394960" cy="2395728"/>
          </a:xfrm>
          <a:prstGeom prst="roundRect">
            <a:avLst>
              <a:gd name="adj" fmla="val 2290"/>
            </a:avLst>
          </a:prstGeom>
          <a:solidFill>
            <a:srgbClr val="F3F8F6"/>
          </a:solidFill>
          <a:ln w="9525">
            <a:solidFill>
              <a:srgbClr val="D2E4DD"/>
            </a:solidFill>
            <a:prstDash val="solid"/>
          </a:ln>
        </p:spPr>
        <p:txBody>
          <a:bodyPr/>
          <a:lstStyle/>
          <a:p>
            <a:endParaRPr lang="en-US"/>
          </a:p>
        </p:txBody>
      </p:sp>
      <p:sp>
        <p:nvSpPr>
          <p:cNvPr id="6" name="Text 4"/>
          <p:cNvSpPr txBox="1"/>
          <p:nvPr/>
        </p:nvSpPr>
        <p:spPr>
          <a:xfrm>
            <a:off x="731520" y="1901952"/>
            <a:ext cx="4937760" cy="256032"/>
          </a:xfrm>
          <a:prstGeom prst="rect">
            <a:avLst/>
          </a:prstGeom>
          <a:noFill/>
          <a:ln/>
        </p:spPr>
        <p:txBody>
          <a:bodyPr wrap="square" lIns="0" tIns="0" rIns="0" bIns="0" rtlCol="0" anchor="ctr"/>
          <a:lstStyle/>
          <a:p>
            <a:pPr marL="0" indent="0">
              <a:buNone/>
            </a:pPr>
            <a:r>
              <a:rPr lang="en-US" sz="1100" b="1" kern="0" spc="150" dirty="0">
                <a:solidFill>
                  <a:srgbClr val="0F6E56"/>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marL="0" indent="0">
              <a:lnSpc>
                <a:spcPct val="104000"/>
              </a:lnSpc>
              <a:buNone/>
            </a:pPr>
            <a:r>
              <a:rPr lang="en-US" sz="1150" dirty="0">
                <a:solidFill>
                  <a:srgbClr val="2C3A34"/>
                </a:solidFill>
                <a:latin typeface="Calibri" pitchFamily="34" charset="0"/>
                <a:ea typeface="Calibri" pitchFamily="34" charset="-122"/>
                <a:cs typeface="Calibri" pitchFamily="34" charset="-120"/>
              </a:rPr>
              <a:t>Lets the enterprise adopt enterprise AI without letting sensitive data, model provenance or inference cross a boundary it shouldn’t. It assesses where AI workloads create sovereignty and residency risk, designs the data-boundary architecture that keeps prompts, embeddings, context and outputs inside a regulated perimeter, and sizes the honest trade-offs between sovereign, private and public AI patterns. The outcome is a sequenced path to AI the enterprise can run in regulated jurisdictions with confidence — an architecture, not a governance document.</a:t>
            </a:r>
            <a:endParaRPr lang="en-US" sz="1150" dirty="0"/>
          </a:p>
        </p:txBody>
      </p:sp>
      <p:sp>
        <p:nvSpPr>
          <p:cNvPr id="8" name="Shape 6"/>
          <p:cNvSpPr/>
          <p:nvPr/>
        </p:nvSpPr>
        <p:spPr>
          <a:xfrm>
            <a:off x="502920" y="4279392"/>
            <a:ext cx="5394960" cy="1627632"/>
          </a:xfrm>
          <a:prstGeom prst="roundRect">
            <a:avLst>
              <a:gd name="adj" fmla="val 3371"/>
            </a:avLst>
          </a:prstGeom>
          <a:solidFill>
            <a:srgbClr val="0F6E56"/>
          </a:solidFill>
          <a:ln w="9525">
            <a:solidFill>
              <a:srgbClr val="0F6E56"/>
            </a:solidFill>
            <a:prstDash val="solid"/>
          </a:ln>
        </p:spPr>
        <p:txBody>
          <a:bodyPr/>
          <a:lstStyle/>
          <a:p>
            <a:endParaRPr lang="en-US"/>
          </a:p>
        </p:txBody>
      </p:sp>
      <p:sp>
        <p:nvSpPr>
          <p:cNvPr id="9" name="Text 7"/>
          <p:cNvSpPr txBox="1"/>
          <p:nvPr/>
        </p:nvSpPr>
        <p:spPr>
          <a:xfrm>
            <a:off x="731520" y="4425696"/>
            <a:ext cx="4937760" cy="256032"/>
          </a:xfrm>
          <a:prstGeom prst="rect">
            <a:avLst/>
          </a:prstGeom>
          <a:noFill/>
          <a:ln/>
        </p:spPr>
        <p:txBody>
          <a:bodyPr wrap="square" lIns="0" tIns="0" rIns="0" bIns="0" rtlCol="0" anchor="ctr"/>
          <a:lstStyle/>
          <a:p>
            <a:pPr marL="0" indent="0">
              <a:buNone/>
            </a:pPr>
            <a:r>
              <a:rPr lang="en-US" sz="1100" b="1" kern="0" spc="150" dirty="0">
                <a:solidFill>
                  <a:srgbClr val="9FE1CB"/>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marL="0" indent="0">
              <a:lnSpc>
                <a:spcPct val="103000"/>
              </a:lnSpc>
              <a:buNone/>
            </a:pPr>
            <a:r>
              <a:rPr lang="en-US" sz="1100" dirty="0">
                <a:solidFill>
                  <a:srgbClr val="EAF6F1"/>
                </a:solidFill>
                <a:latin typeface="Calibri" pitchFamily="34" charset="0"/>
                <a:ea typeface="Calibri" pitchFamily="34" charset="-122"/>
                <a:cs typeface="Calibri" pitchFamily="34" charset="-120"/>
              </a:rPr>
              <a:t>AI adoption and sovereignty pressure are peaking together. European end-user spending on GenAI models is forecast to grow 78% in 2026, while sovereign-cloud demand rises 83% and the EU AI Act phases into force — putting residency, provenance and oversight obligations onto AI stacks built without them. Enterprises designing the data boundary now avoid re-architecting a live AI estate under regulatory pressure later.</a:t>
            </a:r>
            <a:endParaRPr lang="en-US" sz="110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marL="0" indent="0">
              <a:buNone/>
            </a:pPr>
            <a:r>
              <a:rPr lang="en-US" sz="850" i="1" dirty="0">
                <a:solidFill>
                  <a:srgbClr val="8FC9B7"/>
                </a:solidFill>
                <a:latin typeface="Calibri" pitchFamily="34" charset="0"/>
                <a:ea typeface="Calibri" pitchFamily="34" charset="-122"/>
                <a:cs typeface="Calibri" pitchFamily="34" charset="-120"/>
              </a:rPr>
              <a:t>Source: Gartner / regulatory bodies, 2025–2026.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D2E4DD"/>
            </a:solidFill>
            <a:prstDash val="solid"/>
          </a:ln>
        </p:spPr>
        <p:txBody>
          <a:bodyPr/>
          <a:lstStyle/>
          <a:p>
            <a:endParaRPr lang="en-US"/>
          </a:p>
        </p:txBody>
      </p:sp>
      <p:sp>
        <p:nvSpPr>
          <p:cNvPr id="13" name="Text 11"/>
          <p:cNvSpPr txBox="1"/>
          <p:nvPr/>
        </p:nvSpPr>
        <p:spPr>
          <a:xfrm>
            <a:off x="6492240" y="1901952"/>
            <a:ext cx="4937760" cy="256032"/>
          </a:xfrm>
          <a:prstGeom prst="rect">
            <a:avLst/>
          </a:prstGeom>
          <a:noFill/>
          <a:ln/>
        </p:spPr>
        <p:txBody>
          <a:bodyPr wrap="square" lIns="0" tIns="0" rIns="0" bIns="0" rtlCol="0" anchor="ctr"/>
          <a:lstStyle/>
          <a:p>
            <a:pPr marL="0" indent="0">
              <a:buNone/>
            </a:pPr>
            <a:r>
              <a:rPr lang="en-US" sz="1100" b="1" kern="0" spc="120" dirty="0">
                <a:solidFill>
                  <a:srgbClr val="0F6E56"/>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157984"/>
            <a:ext cx="4937760" cy="457200"/>
          </a:xfrm>
          <a:prstGeom prst="rect">
            <a:avLst/>
          </a:prstGeom>
          <a:noFill/>
          <a:ln/>
        </p:spPr>
        <p:txBody>
          <a:bodyPr wrap="square" lIns="0" tIns="0" rIns="0" bIns="0" rtlCol="0" anchor="ctr"/>
          <a:lstStyle/>
          <a:p>
            <a:pPr marL="0" indent="0">
              <a:lnSpc>
                <a:spcPct val="95000"/>
              </a:lnSpc>
              <a:buNone/>
            </a:pPr>
            <a:r>
              <a:rPr lang="en-US" sz="1150" i="1" dirty="0">
                <a:solidFill>
                  <a:srgbClr val="D35400"/>
                </a:solidFill>
                <a:latin typeface="Cambria" pitchFamily="34" charset="0"/>
                <a:ea typeface="Cambria" pitchFamily="34" charset="-122"/>
                <a:cs typeface="Cambria" pitchFamily="34" charset="-120"/>
              </a:rPr>
              <a:t>Enterprises want enterprise AI but can’t yet prove their AI stack respects data residency, provenance and jurisdictional limits.</a:t>
            </a:r>
            <a:endParaRPr lang="en-US" sz="1150" dirty="0"/>
          </a:p>
        </p:txBody>
      </p:sp>
      <p:sp>
        <p:nvSpPr>
          <p:cNvPr id="15" name="Text 13"/>
          <p:cNvSpPr txBox="1"/>
          <p:nvPr/>
        </p:nvSpPr>
        <p:spPr>
          <a:xfrm>
            <a:off x="6492240" y="2697480"/>
            <a:ext cx="4937760" cy="1325880"/>
          </a:xfrm>
          <a:prstGeom prst="rect">
            <a:avLst/>
          </a:prstGeom>
          <a:noFill/>
          <a:ln/>
        </p:spPr>
        <p:txBody>
          <a:bodyPr wrap="square" lIns="0" tIns="0" rIns="0" bIns="0" rtlCol="0" anchor="ctr"/>
          <a:lstStyle/>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AI pipelines move sensitive data to wherever the model runs — often outside the sovereign or regulated perimeter, invisibly.</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Model provenance and training-data lineage are opaque, creating IP, licensing and compliance exposure.</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Prompts, embeddings and outputs are rarely governed as regulated data, though they often contain it.</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Public, private and sovereign AI patterns carry very different cost, capability and residency trade-offs — rarely sized honestly.</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The EU AI Act and sector regulators add provenance, transparency and oversight obligations most AI stacks weren’t built for.</a:t>
            </a:r>
            <a:endParaRPr lang="en-US" sz="1000" dirty="0"/>
          </a:p>
        </p:txBody>
      </p:sp>
      <p:sp>
        <p:nvSpPr>
          <p:cNvPr id="16" name="Shape 14"/>
          <p:cNvSpPr/>
          <p:nvPr/>
        </p:nvSpPr>
        <p:spPr>
          <a:xfrm>
            <a:off x="6263640" y="4279392"/>
            <a:ext cx="5394960" cy="1627632"/>
          </a:xfrm>
          <a:prstGeom prst="roundRect">
            <a:avLst>
              <a:gd name="adj" fmla="val 3371"/>
            </a:avLst>
          </a:prstGeom>
          <a:solidFill>
            <a:srgbClr val="F3F8F6"/>
          </a:solidFill>
          <a:ln w="9525">
            <a:solidFill>
              <a:srgbClr val="D2E4DD"/>
            </a:solidFill>
            <a:prstDash val="solid"/>
          </a:ln>
        </p:spPr>
        <p:txBody>
          <a:bodyPr/>
          <a:lstStyle/>
          <a:p>
            <a:endParaRPr lang="en-US"/>
          </a:p>
        </p:txBody>
      </p:sp>
      <p:sp>
        <p:nvSpPr>
          <p:cNvPr id="17" name="Text 15"/>
          <p:cNvSpPr txBox="1"/>
          <p:nvPr/>
        </p:nvSpPr>
        <p:spPr>
          <a:xfrm>
            <a:off x="6492240" y="4407408"/>
            <a:ext cx="4937760" cy="256032"/>
          </a:xfrm>
          <a:prstGeom prst="rect">
            <a:avLst/>
          </a:prstGeom>
          <a:noFill/>
          <a:ln/>
        </p:spPr>
        <p:txBody>
          <a:bodyPr wrap="square" lIns="0" tIns="0" rIns="0" bIns="0" rtlCol="0" anchor="ctr"/>
          <a:lstStyle/>
          <a:p>
            <a:pPr marL="0" indent="0">
              <a:buNone/>
            </a:pPr>
            <a:r>
              <a:rPr lang="en-US" sz="1100" b="1" kern="0" spc="120" dirty="0">
                <a:solidFill>
                  <a:srgbClr val="0F6E56"/>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81728"/>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AI you can run in regulated jurisdictions  </a:t>
            </a:r>
            <a:r>
              <a:rPr lang="en-US" sz="900" dirty="0">
                <a:solidFill>
                  <a:srgbClr val="44515E"/>
                </a:solidFill>
                <a:latin typeface="Calibri" pitchFamily="34" charset="0"/>
                <a:ea typeface="Calibri" pitchFamily="34" charset="-122"/>
                <a:cs typeface="Calibri" pitchFamily="34" charset="-120"/>
              </a:rPr>
              <a:t>— A data-boundary architecture that keeps sensitive prompts, embeddings and outputs inside the perimeter.</a:t>
            </a:r>
            <a:endParaRPr lang="en-US" sz="950" dirty="0"/>
          </a:p>
        </p:txBody>
      </p:sp>
      <p:sp>
        <p:nvSpPr>
          <p:cNvPr id="19" name="Text 17"/>
          <p:cNvSpPr txBox="1"/>
          <p:nvPr/>
        </p:nvSpPr>
        <p:spPr>
          <a:xfrm>
            <a:off x="6492240" y="491581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Provenance you can evidence  </a:t>
            </a:r>
            <a:r>
              <a:rPr lang="en-US" sz="900" dirty="0">
                <a:solidFill>
                  <a:srgbClr val="44515E"/>
                </a:solidFill>
                <a:latin typeface="Calibri" pitchFamily="34" charset="0"/>
                <a:ea typeface="Calibri" pitchFamily="34" charset="-122"/>
                <a:cs typeface="Calibri" pitchFamily="34" charset="-120"/>
              </a:rPr>
              <a:t>— Model and data lineage documented to the standard regulators and boards now expect.</a:t>
            </a:r>
            <a:endParaRPr lang="en-US" sz="950" dirty="0"/>
          </a:p>
        </p:txBody>
      </p:sp>
      <p:sp>
        <p:nvSpPr>
          <p:cNvPr id="20" name="Text 18"/>
          <p:cNvSpPr txBox="1"/>
          <p:nvPr/>
        </p:nvSpPr>
        <p:spPr>
          <a:xfrm>
            <a:off x="6492240" y="5149901"/>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Honest trade-offs, sized  </a:t>
            </a:r>
            <a:r>
              <a:rPr lang="en-US" sz="900" dirty="0">
                <a:solidFill>
                  <a:srgbClr val="44515E"/>
                </a:solidFill>
                <a:latin typeface="Calibri" pitchFamily="34" charset="0"/>
                <a:ea typeface="Calibri" pitchFamily="34" charset="-122"/>
                <a:cs typeface="Calibri" pitchFamily="34" charset="-120"/>
              </a:rPr>
              <a:t>— Sovereign vs private vs public AI compared on cost, capability and residency, so the choice is deliberate.</a:t>
            </a:r>
            <a:endParaRPr lang="en-US" sz="950" dirty="0"/>
          </a:p>
        </p:txBody>
      </p:sp>
      <p:sp>
        <p:nvSpPr>
          <p:cNvPr id="21" name="Text 19"/>
          <p:cNvSpPr txBox="1"/>
          <p:nvPr/>
        </p:nvSpPr>
        <p:spPr>
          <a:xfrm>
            <a:off x="6492240" y="5383987"/>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Regulatory exposure closed early  </a:t>
            </a:r>
            <a:r>
              <a:rPr lang="en-US" sz="900" dirty="0">
                <a:solidFill>
                  <a:srgbClr val="44515E"/>
                </a:solidFill>
                <a:latin typeface="Calibri" pitchFamily="34" charset="0"/>
                <a:ea typeface="Calibri" pitchFamily="34" charset="-122"/>
                <a:cs typeface="Calibri" pitchFamily="34" charset="-120"/>
              </a:rPr>
              <a:t>— EU AI Act obligations met by design rather than retrofitted under pressure.</a:t>
            </a:r>
            <a:endParaRPr lang="en-US" sz="950" dirty="0"/>
          </a:p>
        </p:txBody>
      </p:sp>
      <p:sp>
        <p:nvSpPr>
          <p:cNvPr id="22" name="Text 20"/>
          <p:cNvSpPr txBox="1"/>
          <p:nvPr/>
        </p:nvSpPr>
        <p:spPr>
          <a:xfrm>
            <a:off x="6492240" y="561807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A sequenced path, not a moratorium  </a:t>
            </a:r>
            <a:r>
              <a:rPr lang="en-US" sz="900" dirty="0">
                <a:solidFill>
                  <a:srgbClr val="44515E"/>
                </a:solidFill>
                <a:latin typeface="Calibri" pitchFamily="34" charset="0"/>
                <a:ea typeface="Calibri" pitchFamily="34" charset="-122"/>
                <a:cs typeface="Calibri" pitchFamily="34" charset="-120"/>
              </a:rPr>
              <a:t>— Regulated use-cases enabled in the right order instead of AI being blocked wholesale.</a:t>
            </a:r>
            <a:endParaRPr lang="en-US" sz="950" dirty="0"/>
          </a:p>
        </p:txBody>
      </p:sp>
      <p:sp>
        <p:nvSpPr>
          <p:cNvPr id="23" name="Text 21"/>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24" name="Text 22"/>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02.5  ·  Overview</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02.5   </a:t>
            </a:r>
            <a:r>
              <a:rPr lang="en-US" sz="2400" b="1" dirty="0">
                <a:solidFill>
                  <a:srgbClr val="1B1F23"/>
                </a:solidFill>
                <a:latin typeface="Cambria" pitchFamily="34" charset="0"/>
                <a:ea typeface="Cambria" pitchFamily="34" charset="-122"/>
                <a:cs typeface="Cambria" pitchFamily="34" charset="-120"/>
              </a:rPr>
              <a:t>Sovereign AI &amp; Data Boundary Architecture</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marL="0" indent="0">
              <a:buNone/>
            </a:pPr>
            <a:r>
              <a:rPr lang="en-US" sz="1200" i="1" dirty="0">
                <a:solidFill>
                  <a:srgbClr val="5A6B7B"/>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6" name="Shape 4"/>
          <p:cNvSpPr/>
          <p:nvPr/>
        </p:nvSpPr>
        <p:spPr>
          <a:xfrm>
            <a:off x="502920" y="1783080"/>
            <a:ext cx="3602736" cy="868680"/>
          </a:xfrm>
          <a:prstGeom prst="roundRect">
            <a:avLst>
              <a:gd name="adj" fmla="val 7368"/>
            </a:avLst>
          </a:prstGeom>
          <a:solidFill>
            <a:srgbClr val="0F6E56"/>
          </a:solidFill>
          <a:ln/>
        </p:spPr>
        <p:txBody>
          <a:bodyPr/>
          <a:lstStyle/>
          <a:p>
            <a:endParaRPr lang="en-US"/>
          </a:p>
        </p:txBody>
      </p:sp>
      <p:sp>
        <p:nvSpPr>
          <p:cNvPr id="7" name="Shape 5"/>
          <p:cNvSpPr/>
          <p:nvPr/>
        </p:nvSpPr>
        <p:spPr>
          <a:xfrm>
            <a:off x="502920" y="2194560"/>
            <a:ext cx="3602736" cy="457200"/>
          </a:xfrm>
          <a:prstGeom prst="rect">
            <a:avLst/>
          </a:prstGeom>
          <a:solidFill>
            <a:srgbClr val="0F6E56"/>
          </a:solidFill>
          <a:ln/>
        </p:spPr>
        <p:txBody>
          <a:bodyPr/>
          <a:lstStyle/>
          <a:p>
            <a:endParaRPr lang="en-US"/>
          </a:p>
        </p:txBody>
      </p:sp>
      <p:pic>
        <p:nvPicPr>
          <p:cNvPr id="8" name="Image 0" descr="/home/claude/x_ph_understand.png"/>
          <p:cNvPicPr>
            <a:picLocks noChangeAspect="1"/>
          </p:cNvPicPr>
          <p:nvPr/>
        </p:nvPicPr>
        <p:blipFill>
          <a:blip r:embed="rId3"/>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Assess AI workload sovereignty risk — data residency, model provenance, inference location, prompt / output governance</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Map where AI pipelines move sensitive data across boundaries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Identify the regulated use-cases and the obligations that bind them</a:t>
            </a:r>
            <a:endParaRPr lang="en-US" sz="1000" dirty="0"/>
          </a:p>
        </p:txBody>
      </p:sp>
      <p:sp>
        <p:nvSpPr>
          <p:cNvPr id="12" name="Shape 9"/>
          <p:cNvSpPr/>
          <p:nvPr/>
        </p:nvSpPr>
        <p:spPr>
          <a:xfrm>
            <a:off x="740664" y="4983480"/>
            <a:ext cx="3127248" cy="0"/>
          </a:xfrm>
          <a:prstGeom prst="line">
            <a:avLst/>
          </a:prstGeom>
          <a:noFill/>
          <a:ln w="12700">
            <a:solidFill>
              <a:srgbClr val="D2E4DD"/>
            </a:solidFill>
            <a:prstDash val="solid"/>
          </a:ln>
        </p:spPr>
        <p:txBody>
          <a:bodyPr/>
          <a:lstStyle/>
          <a:p>
            <a:endParaRPr lang="en-US"/>
          </a:p>
        </p:txBody>
      </p:sp>
      <p:sp>
        <p:nvSpPr>
          <p:cNvPr id="13" name="Text 10"/>
          <p:cNvSpPr txBox="1"/>
          <p:nvPr/>
        </p:nvSpPr>
        <p:spPr>
          <a:xfrm>
            <a:off x="74066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AI sovereignty risk assessment · AI data-flow map · use-case / obligation register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marL="0" indent="0" algn="ctr">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17" name="Shape 14"/>
          <p:cNvSpPr/>
          <p:nvPr/>
        </p:nvSpPr>
        <p:spPr>
          <a:xfrm>
            <a:off x="4343400" y="1783080"/>
            <a:ext cx="3602736" cy="868680"/>
          </a:xfrm>
          <a:prstGeom prst="roundRect">
            <a:avLst>
              <a:gd name="adj" fmla="val 7368"/>
            </a:avLst>
          </a:prstGeom>
          <a:solidFill>
            <a:srgbClr val="0A5643"/>
          </a:solidFill>
          <a:ln/>
        </p:spPr>
        <p:txBody>
          <a:bodyPr/>
          <a:lstStyle/>
          <a:p>
            <a:endParaRPr lang="en-US"/>
          </a:p>
        </p:txBody>
      </p:sp>
      <p:sp>
        <p:nvSpPr>
          <p:cNvPr id="18" name="Shape 15"/>
          <p:cNvSpPr/>
          <p:nvPr/>
        </p:nvSpPr>
        <p:spPr>
          <a:xfrm>
            <a:off x="4343400" y="2194560"/>
            <a:ext cx="3602736" cy="457200"/>
          </a:xfrm>
          <a:prstGeom prst="rect">
            <a:avLst/>
          </a:prstGeom>
          <a:solidFill>
            <a:srgbClr val="0A5643"/>
          </a:solidFill>
          <a:ln/>
        </p:spPr>
        <p:txBody>
          <a:bodyPr/>
          <a:lstStyle/>
          <a:p>
            <a:endParaRPr lang="en-US"/>
          </a:p>
        </p:txBody>
      </p:sp>
      <p:pic>
        <p:nvPicPr>
          <p:cNvPr id="19" name="Image 1" descr="/home/claude/x_ph_ideate.png"/>
          <p:cNvPicPr>
            <a:picLocks noChangeAspect="1"/>
          </p:cNvPicPr>
          <p:nvPr/>
        </p:nvPicPr>
        <p:blipFill>
          <a:blip r:embed="rId4"/>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Design the data-boundary architecture (regulated perimeter for prompts, embeddings, context, outputs)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Define the sovereign AI stack options — on-prem / sovereign-cloud hosting, private-model patterns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Size the sovereign vs private vs public trade-offs and align the AI operating model to the EU AI Act</a:t>
            </a:r>
            <a:endParaRPr lang="en-US" sz="1000" dirty="0"/>
          </a:p>
        </p:txBody>
      </p:sp>
      <p:sp>
        <p:nvSpPr>
          <p:cNvPr id="23" name="Shape 19"/>
          <p:cNvSpPr/>
          <p:nvPr/>
        </p:nvSpPr>
        <p:spPr>
          <a:xfrm>
            <a:off x="4581144" y="4983480"/>
            <a:ext cx="3127248" cy="0"/>
          </a:xfrm>
          <a:prstGeom prst="line">
            <a:avLst/>
          </a:prstGeom>
          <a:noFill/>
          <a:ln w="12700">
            <a:solidFill>
              <a:srgbClr val="D2E4DD"/>
            </a:solidFill>
            <a:prstDash val="solid"/>
          </a:ln>
        </p:spPr>
        <p:txBody>
          <a:bodyPr/>
          <a:lstStyle/>
          <a:p>
            <a:endParaRPr lang="en-US"/>
          </a:p>
        </p:txBody>
      </p:sp>
      <p:sp>
        <p:nvSpPr>
          <p:cNvPr id="24" name="Text 20"/>
          <p:cNvSpPr txBox="1"/>
          <p:nvPr/>
        </p:nvSpPr>
        <p:spPr>
          <a:xfrm>
            <a:off x="458114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Data-boundary architecture · sovereign AI stack options · trade-off analysis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marL="0" indent="0" algn="ctr">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28" name="Shape 24"/>
          <p:cNvSpPr/>
          <p:nvPr/>
        </p:nvSpPr>
        <p:spPr>
          <a:xfrm>
            <a:off x="8183880" y="1783080"/>
            <a:ext cx="3602736" cy="868680"/>
          </a:xfrm>
          <a:prstGeom prst="roundRect">
            <a:avLst>
              <a:gd name="adj" fmla="val 7368"/>
            </a:avLst>
          </a:prstGeom>
          <a:solidFill>
            <a:srgbClr val="084438"/>
          </a:solidFill>
          <a:ln/>
        </p:spPr>
        <p:txBody>
          <a:bodyPr/>
          <a:lstStyle/>
          <a:p>
            <a:endParaRPr lang="en-US"/>
          </a:p>
        </p:txBody>
      </p:sp>
      <p:sp>
        <p:nvSpPr>
          <p:cNvPr id="29" name="Shape 25"/>
          <p:cNvSpPr/>
          <p:nvPr/>
        </p:nvSpPr>
        <p:spPr>
          <a:xfrm>
            <a:off x="8183880" y="2194560"/>
            <a:ext cx="3602736" cy="457200"/>
          </a:xfrm>
          <a:prstGeom prst="rect">
            <a:avLst/>
          </a:prstGeom>
          <a:solidFill>
            <a:srgbClr val="084438"/>
          </a:solidFill>
          <a:ln/>
        </p:spPr>
        <p:txBody>
          <a:bodyPr/>
          <a:lstStyle/>
          <a:p>
            <a:endParaRPr lang="en-US"/>
          </a:p>
        </p:txBody>
      </p:sp>
      <p:pic>
        <p:nvPicPr>
          <p:cNvPr id="30" name="Image 2" descr="/home/claude/x_ph_outcreate.png"/>
          <p:cNvPicPr>
            <a:picLocks noChangeAspect="1"/>
          </p:cNvPicPr>
          <p:nvPr/>
        </p:nvPicPr>
        <p:blipFill>
          <a:blip r:embed="rId5"/>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Consolidate into a sequenced sovereign AI roadmap linking use-cases to infrastructure and governance readiness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Confirm the target architecture and mobilization plan</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Executive playback, decision sign-off, first-use-case mobilization</a:t>
            </a:r>
            <a:endParaRPr lang="en-US" sz="1000" dirty="0"/>
          </a:p>
        </p:txBody>
      </p:sp>
      <p:sp>
        <p:nvSpPr>
          <p:cNvPr id="34" name="Shape 29"/>
          <p:cNvSpPr/>
          <p:nvPr/>
        </p:nvSpPr>
        <p:spPr>
          <a:xfrm>
            <a:off x="8421624" y="4983480"/>
            <a:ext cx="3127248" cy="0"/>
          </a:xfrm>
          <a:prstGeom prst="line">
            <a:avLst/>
          </a:prstGeom>
          <a:noFill/>
          <a:ln w="12700">
            <a:solidFill>
              <a:srgbClr val="D2E4DD"/>
            </a:solidFill>
            <a:prstDash val="solid"/>
          </a:ln>
        </p:spPr>
        <p:txBody>
          <a:bodyPr/>
          <a:lstStyle/>
          <a:p>
            <a:endParaRPr lang="en-US"/>
          </a:p>
        </p:txBody>
      </p:sp>
      <p:sp>
        <p:nvSpPr>
          <p:cNvPr id="35" name="Text 30"/>
          <p:cNvSpPr txBox="1"/>
          <p:nvPr/>
        </p:nvSpPr>
        <p:spPr>
          <a:xfrm>
            <a:off x="842162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Board-ready sovereign AI roadmap · target architecture · mobilization plan · Executive Playback · Closure Pack</a:t>
            </a:r>
            <a:endParaRPr lang="en-US" sz="950" dirty="0"/>
          </a:p>
        </p:txBody>
      </p:sp>
      <p:sp>
        <p:nvSpPr>
          <p:cNvPr id="37" name="Text 32"/>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8" name="Text 33"/>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02.5  ·  Solution</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02.5   </a:t>
            </a:r>
            <a:r>
              <a:rPr lang="en-US" sz="2400" b="1" dirty="0">
                <a:solidFill>
                  <a:srgbClr val="1B1F23"/>
                </a:solidFill>
                <a:latin typeface="Cambria" pitchFamily="34" charset="0"/>
                <a:ea typeface="Cambria" pitchFamily="34" charset="-122"/>
                <a:cs typeface="Cambria" pitchFamily="34" charset="-120"/>
              </a:rPr>
              <a:t>Sovereign AI &amp; Data Boundary Architecture</a:t>
            </a:r>
            <a:endParaRPr lang="en-US" sz="2400" dirty="0"/>
          </a:p>
        </p:txBody>
      </p:sp>
      <p:sp>
        <p:nvSpPr>
          <p:cNvPr id="4" name="Shape 2"/>
          <p:cNvSpPr/>
          <p:nvPr/>
        </p:nvSpPr>
        <p:spPr>
          <a:xfrm>
            <a:off x="502920" y="1600200"/>
            <a:ext cx="5394960" cy="4480560"/>
          </a:xfrm>
          <a:prstGeom prst="roundRect">
            <a:avLst>
              <a:gd name="adj" fmla="val 1429"/>
            </a:avLst>
          </a:prstGeom>
          <a:solidFill>
            <a:srgbClr val="0F6E56"/>
          </a:solidFill>
          <a:ln/>
        </p:spPr>
        <p:txBody>
          <a:bodyPr/>
          <a:lstStyle/>
          <a:p>
            <a:endParaRPr lang="en-US"/>
          </a:p>
        </p:txBody>
      </p:sp>
      <p:pic>
        <p:nvPicPr>
          <p:cNvPr id="5" name="Image 0" descr="/home/claude/x_deliver.png"/>
          <p:cNvPicPr>
            <a:picLocks noChangeAspect="1"/>
          </p:cNvPicPr>
          <p:nvPr/>
        </p:nvPicPr>
        <p:blipFill>
          <a:blip r:embed="rId3"/>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marL="0" indent="0">
              <a:buNone/>
            </a:pPr>
            <a:r>
              <a:rPr lang="en-US" sz="1050" i="1" dirty="0">
                <a:solidFill>
                  <a:srgbClr val="9FE1CB"/>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5DCAA5"/>
          </a:solidFill>
          <a:ln/>
        </p:spPr>
        <p:txBody>
          <a:bodyPr/>
          <a:lstStyle/>
          <a:p>
            <a:endParaRPr lang="en-US"/>
          </a:p>
        </p:txBody>
      </p:sp>
      <p:sp>
        <p:nvSpPr>
          <p:cNvPr id="9" name="Text 6"/>
          <p:cNvSpPr txBox="1"/>
          <p:nvPr/>
        </p:nvSpPr>
        <p:spPr>
          <a:xfrm>
            <a:off x="777240" y="2880360"/>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AI sovereignty risk assessment and AI data-flow map</a:t>
            </a:r>
            <a:endParaRPr lang="en-US" sz="1150" dirty="0"/>
          </a:p>
        </p:txBody>
      </p:sp>
      <p:sp>
        <p:nvSpPr>
          <p:cNvPr id="11" name="Shape 8"/>
          <p:cNvSpPr/>
          <p:nvPr/>
        </p:nvSpPr>
        <p:spPr>
          <a:xfrm>
            <a:off x="777240" y="3483864"/>
            <a:ext cx="310896" cy="310896"/>
          </a:xfrm>
          <a:prstGeom prst="roundRect">
            <a:avLst>
              <a:gd name="adj" fmla="val 14706"/>
            </a:avLst>
          </a:prstGeom>
          <a:solidFill>
            <a:srgbClr val="5DCAA5"/>
          </a:solidFill>
          <a:ln/>
        </p:spPr>
        <p:txBody>
          <a:bodyPr/>
          <a:lstStyle/>
          <a:p>
            <a:endParaRPr lang="en-US"/>
          </a:p>
        </p:txBody>
      </p:sp>
      <p:sp>
        <p:nvSpPr>
          <p:cNvPr id="12" name="Text 9"/>
          <p:cNvSpPr txBox="1"/>
          <p:nvPr/>
        </p:nvSpPr>
        <p:spPr>
          <a:xfrm>
            <a:off x="777240" y="3483864"/>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Data-boundary architecture (regulated perimeter design)</a:t>
            </a:r>
            <a:endParaRPr lang="en-US" sz="1150" dirty="0"/>
          </a:p>
        </p:txBody>
      </p:sp>
      <p:sp>
        <p:nvSpPr>
          <p:cNvPr id="14" name="Shape 11"/>
          <p:cNvSpPr/>
          <p:nvPr/>
        </p:nvSpPr>
        <p:spPr>
          <a:xfrm>
            <a:off x="777240" y="4087368"/>
            <a:ext cx="310896" cy="310896"/>
          </a:xfrm>
          <a:prstGeom prst="roundRect">
            <a:avLst>
              <a:gd name="adj" fmla="val 14706"/>
            </a:avLst>
          </a:prstGeom>
          <a:solidFill>
            <a:srgbClr val="5DCAA5"/>
          </a:solidFill>
          <a:ln/>
        </p:spPr>
        <p:txBody>
          <a:bodyPr/>
          <a:lstStyle/>
          <a:p>
            <a:endParaRPr lang="en-US"/>
          </a:p>
        </p:txBody>
      </p:sp>
      <p:sp>
        <p:nvSpPr>
          <p:cNvPr id="15" name="Text 12"/>
          <p:cNvSpPr txBox="1"/>
          <p:nvPr/>
        </p:nvSpPr>
        <p:spPr>
          <a:xfrm>
            <a:off x="777240" y="4087368"/>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Sovereign vs private vs public AI trade-off analysis</a:t>
            </a:r>
            <a:endParaRPr lang="en-US" sz="1150" dirty="0"/>
          </a:p>
        </p:txBody>
      </p:sp>
      <p:sp>
        <p:nvSpPr>
          <p:cNvPr id="17" name="Shape 14"/>
          <p:cNvSpPr/>
          <p:nvPr/>
        </p:nvSpPr>
        <p:spPr>
          <a:xfrm>
            <a:off x="777240" y="4690872"/>
            <a:ext cx="310896" cy="310896"/>
          </a:xfrm>
          <a:prstGeom prst="roundRect">
            <a:avLst>
              <a:gd name="adj" fmla="val 14706"/>
            </a:avLst>
          </a:prstGeom>
          <a:solidFill>
            <a:srgbClr val="5DCAA5"/>
          </a:solidFill>
          <a:ln/>
        </p:spPr>
        <p:txBody>
          <a:bodyPr/>
          <a:lstStyle/>
          <a:p>
            <a:endParaRPr lang="en-US"/>
          </a:p>
        </p:txBody>
      </p:sp>
      <p:sp>
        <p:nvSpPr>
          <p:cNvPr id="18" name="Text 15"/>
          <p:cNvSpPr txBox="1"/>
          <p:nvPr/>
        </p:nvSpPr>
        <p:spPr>
          <a:xfrm>
            <a:off x="777240" y="4690872"/>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EU AI Act–aligned AI operating model</a:t>
            </a:r>
            <a:endParaRPr lang="en-US" sz="1150" dirty="0"/>
          </a:p>
        </p:txBody>
      </p:sp>
      <p:sp>
        <p:nvSpPr>
          <p:cNvPr id="20" name="Shape 17"/>
          <p:cNvSpPr/>
          <p:nvPr/>
        </p:nvSpPr>
        <p:spPr>
          <a:xfrm>
            <a:off x="777240" y="5294376"/>
            <a:ext cx="310896" cy="310896"/>
          </a:xfrm>
          <a:prstGeom prst="roundRect">
            <a:avLst>
              <a:gd name="adj" fmla="val 14706"/>
            </a:avLst>
          </a:prstGeom>
          <a:solidFill>
            <a:srgbClr val="5DCAA5"/>
          </a:solidFill>
          <a:ln/>
        </p:spPr>
        <p:txBody>
          <a:bodyPr/>
          <a:lstStyle/>
          <a:p>
            <a:endParaRPr lang="en-US"/>
          </a:p>
        </p:txBody>
      </p:sp>
      <p:sp>
        <p:nvSpPr>
          <p:cNvPr id="21" name="Text 18"/>
          <p:cNvSpPr txBox="1"/>
          <p:nvPr/>
        </p:nvSpPr>
        <p:spPr>
          <a:xfrm>
            <a:off x="777240" y="5294376"/>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Board-ready, sequenced sovereign AI roadmap</a:t>
            </a:r>
            <a:endParaRPr lang="en-US" sz="1150" dirty="0"/>
          </a:p>
        </p:txBody>
      </p:sp>
      <p:sp>
        <p:nvSpPr>
          <p:cNvPr id="23" name="Shape 20"/>
          <p:cNvSpPr/>
          <p:nvPr/>
        </p:nvSpPr>
        <p:spPr>
          <a:xfrm>
            <a:off x="6263640" y="1600200"/>
            <a:ext cx="5394960" cy="2286000"/>
          </a:xfrm>
          <a:prstGeom prst="roundRect">
            <a:avLst>
              <a:gd name="adj" fmla="val 2800"/>
            </a:avLst>
          </a:prstGeom>
          <a:solidFill>
            <a:srgbClr val="F3F8F6"/>
          </a:solidFill>
          <a:ln w="9525">
            <a:solidFill>
              <a:srgbClr val="BFE3D2"/>
            </a:solidFill>
            <a:prstDash val="solid"/>
          </a:ln>
        </p:spPr>
        <p:txBody>
          <a:bodyPr/>
          <a:lstStyle/>
          <a:p>
            <a:endParaRPr lang="en-US"/>
          </a:p>
        </p:txBody>
      </p:sp>
      <p:pic>
        <p:nvPicPr>
          <p:cNvPr id="24" name="Image 1" descr="/home/claude/x_chk_in.png"/>
          <p:cNvPicPr>
            <a:picLocks noChangeAspect="1"/>
          </p:cNvPicPr>
          <p:nvPr/>
        </p:nvPicPr>
        <p:blipFill>
          <a:blip r:embed="rId4"/>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marL="0" indent="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AI workload sovereignty and residency risk assessment</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AI data-flow mapping (prompts, embeddings, context, outputs)</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Data-boundary architecture design (regulated perimeter)</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Sovereign / private / public AI pattern trade-off analysis</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EU AI Act alignment of the AI operating model</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Sequenced sovereign AI roadmap</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3F0"/>
          </a:solidFill>
          <a:ln w="9525">
            <a:solidFill>
              <a:srgbClr val="ECCFC4"/>
            </a:solidFill>
            <a:prstDash val="solid"/>
          </a:ln>
        </p:spPr>
        <p:txBody>
          <a:bodyPr/>
          <a:lstStyle/>
          <a:p>
            <a:endParaRPr lang="en-US"/>
          </a:p>
        </p:txBody>
      </p:sp>
      <p:pic>
        <p:nvPicPr>
          <p:cNvPr id="28" name="Image 2" descr="/home/claude/x_chk_out.png"/>
          <p:cNvPicPr>
            <a:picLocks noChangeAspect="1"/>
          </p:cNvPicPr>
          <p:nvPr/>
        </p:nvPicPr>
        <p:blipFill>
          <a:blip r:embed="rId5"/>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marL="0" indent="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General AI readiness, opportunity and operating model</a:t>
            </a:r>
            <a:r>
              <a:rPr lang="en-US" sz="900" i="1" dirty="0">
                <a:solidFill>
                  <a:srgbClr val="9A5541"/>
                </a:solidFill>
                <a:latin typeface="Calibri" pitchFamily="34" charset="0"/>
                <a:ea typeface="Calibri" pitchFamily="34" charset="-122"/>
                <a:cs typeface="Calibri" pitchFamily="34" charset="-120"/>
              </a:rPr>
              <a:t>   → Pillar 04</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Responsible-AI governance framework and platform</a:t>
            </a:r>
            <a:r>
              <a:rPr lang="en-US" sz="900" i="1" dirty="0">
                <a:solidFill>
                  <a:srgbClr val="9A5541"/>
                </a:solidFill>
                <a:latin typeface="Calibri" pitchFamily="34" charset="0"/>
                <a:ea typeface="Calibri" pitchFamily="34" charset="-122"/>
                <a:cs typeface="Calibri" pitchFamily="34" charset="-120"/>
              </a:rPr>
              <a:t>   → 04.3</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Estate-wide sovereignty posture</a:t>
            </a:r>
            <a:r>
              <a:rPr lang="en-US" sz="900" i="1" dirty="0">
                <a:solidFill>
                  <a:srgbClr val="9A5541"/>
                </a:solidFill>
                <a:latin typeface="Calibri" pitchFamily="34" charset="0"/>
                <a:ea typeface="Calibri" pitchFamily="34" charset="-122"/>
                <a:cs typeface="Calibri" pitchFamily="34" charset="-120"/>
              </a:rPr>
              <a:t>   → 02.1</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Sovereign AI platform build and model deployment</a:t>
            </a:r>
            <a:r>
              <a:rPr lang="en-US" sz="900" i="1" dirty="0">
                <a:solidFill>
                  <a:srgbClr val="9A5541"/>
                </a:solidFill>
                <a:latin typeface="Calibri" pitchFamily="34" charset="0"/>
                <a:ea typeface="Calibri" pitchFamily="34" charset="-122"/>
                <a:cs typeface="Calibri" pitchFamily="34" charset="-120"/>
              </a:rPr>
              <a:t>   → Separate delivery engagement</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Data platform, pipelines and data quality</a:t>
            </a:r>
            <a:r>
              <a:rPr lang="en-US" sz="900" i="1" dirty="0">
                <a:solidFill>
                  <a:srgbClr val="9A5541"/>
                </a:solidFill>
                <a:latin typeface="Calibri" pitchFamily="34" charset="0"/>
                <a:ea typeface="Calibri" pitchFamily="34" charset="-122"/>
                <a:cs typeface="Calibri" pitchFamily="34" charset="-120"/>
              </a:rPr>
              <a:t>   → LTM Data practice</a:t>
            </a:r>
            <a:endParaRPr lang="en-US" sz="970" dirty="0"/>
          </a:p>
        </p:txBody>
      </p:sp>
      <p:sp>
        <p:nvSpPr>
          <p:cNvPr id="35" name="Text 30"/>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6" name="Text 31"/>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02.5  ·  Deliverables &amp; scope</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074920"/>
            <a:ext cx="12191695" cy="1783080"/>
          </a:xfrm>
          <a:prstGeom prst="rect">
            <a:avLst/>
          </a:prstGeom>
          <a:solidFill>
            <a:srgbClr val="8F3A17"/>
          </a:solidFill>
          <a:ln/>
        </p:spPr>
        <p:txBody>
          <a:bodyPr/>
          <a:lstStyle/>
          <a:p>
            <a:endParaRPr lang="en-US"/>
          </a:p>
        </p:txBody>
      </p:sp>
      <p:sp>
        <p:nvSpPr>
          <p:cNvPr id="3" name="Text 1"/>
          <p:cNvSpPr txBox="1"/>
          <p:nvPr/>
        </p:nvSpPr>
        <p:spPr>
          <a:xfrm>
            <a:off x="685800" y="640080"/>
            <a:ext cx="7315200" cy="274320"/>
          </a:xfrm>
          <a:prstGeom prst="rect">
            <a:avLst/>
          </a:prstGeom>
          <a:noFill/>
          <a:ln/>
        </p:spPr>
        <p:txBody>
          <a:bodyPr wrap="square" lIns="0" tIns="0" rIns="0" bIns="0" rtlCol="0" anchor="ctr"/>
          <a:lstStyle/>
          <a:p>
            <a:pPr marL="0" indent="0">
              <a:buNone/>
            </a:pPr>
            <a:r>
              <a:rPr lang="en-US" sz="1200" b="1" kern="0" spc="250" dirty="0">
                <a:solidFill>
                  <a:srgbClr val="EEB08A"/>
                </a:solidFill>
                <a:latin typeface="Calibri" pitchFamily="34" charset="0"/>
                <a:ea typeface="Calibri" pitchFamily="34" charset="-122"/>
                <a:cs typeface="Calibri" pitchFamily="34" charset="-120"/>
              </a:rPr>
              <a:t>PILLAR 03  ·  INFRA TECH ADVISORY</a:t>
            </a:r>
            <a:endParaRPr lang="en-US" sz="1200" dirty="0"/>
          </a:p>
        </p:txBody>
      </p:sp>
      <p:sp>
        <p:nvSpPr>
          <p:cNvPr id="4" name="Text 2"/>
          <p:cNvSpPr txBox="1"/>
          <p:nvPr/>
        </p:nvSpPr>
        <p:spPr>
          <a:xfrm>
            <a:off x="658368" y="1024128"/>
            <a:ext cx="10972800" cy="105156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Public Cloud &amp; Modernization</a:t>
            </a:r>
            <a:endParaRPr lang="en-US" sz="4600" dirty="0"/>
          </a:p>
        </p:txBody>
      </p:sp>
      <p:sp>
        <p:nvSpPr>
          <p:cNvPr id="5" name="Text 3"/>
          <p:cNvSpPr txBox="1"/>
          <p:nvPr/>
        </p:nvSpPr>
        <p:spPr>
          <a:xfrm>
            <a:off x="685800" y="2103120"/>
            <a:ext cx="9875520" cy="502920"/>
          </a:xfrm>
          <a:prstGeom prst="rect">
            <a:avLst/>
          </a:prstGeom>
          <a:noFill/>
          <a:ln/>
        </p:spPr>
        <p:txBody>
          <a:bodyPr wrap="square" lIns="0" tIns="0" rIns="0" bIns="0" rtlCol="0" anchor="ctr"/>
          <a:lstStyle/>
          <a:p>
            <a:pPr marL="0" indent="0">
              <a:buNone/>
            </a:pPr>
            <a:r>
              <a:rPr lang="en-US" sz="2000" i="1" dirty="0">
                <a:solidFill>
                  <a:srgbClr val="F7D9C8"/>
                </a:solidFill>
                <a:latin typeface="Cambria" pitchFamily="34" charset="0"/>
                <a:ea typeface="Cambria" pitchFamily="34" charset="-122"/>
                <a:cs typeface="Cambria" pitchFamily="34" charset="-120"/>
              </a:rPr>
              <a:t>How do I get speed, modernity and unit-economics discipline out of my estate?</a:t>
            </a:r>
            <a:endParaRPr lang="en-US" sz="2000" dirty="0"/>
          </a:p>
        </p:txBody>
      </p:sp>
      <p:sp>
        <p:nvSpPr>
          <p:cNvPr id="6" name="Text 4"/>
          <p:cNvSpPr txBox="1"/>
          <p:nvPr/>
        </p:nvSpPr>
        <p:spPr>
          <a:xfrm>
            <a:off x="685800" y="2834640"/>
            <a:ext cx="7406640" cy="1737360"/>
          </a:xfrm>
          <a:prstGeom prst="rect">
            <a:avLst/>
          </a:prstGeom>
          <a:noFill/>
          <a:ln/>
        </p:spPr>
        <p:txBody>
          <a:bodyPr wrap="square" lIns="0" tIns="0" rIns="0" bIns="0" rtlCol="0" anchor="ctr"/>
          <a:lstStyle/>
          <a:p>
            <a:pPr marL="0" indent="0">
              <a:lnSpc>
                <a:spcPct val="112000"/>
              </a:lnSpc>
              <a:buNone/>
            </a:pPr>
            <a:r>
              <a:rPr lang="en-US" sz="1400" dirty="0">
                <a:solidFill>
                  <a:srgbClr val="FBEDE6"/>
                </a:solidFill>
                <a:latin typeface="Calibri" pitchFamily="34" charset="0"/>
                <a:ea typeface="Calibri" pitchFamily="34" charset="-122"/>
                <a:cs typeface="Calibri" pitchFamily="34" charset="-120"/>
              </a:rPr>
              <a:t>Public Cloud &amp; Modernization serves two customer populations — those already in the cloud who need to optimize what’s running, and those still deciding, migrating or deliberately hybrid. A single diagnostic front door tells them apart, then routes each to the offerings that fit where they actually are on the journey.</a:t>
            </a:r>
            <a:endParaRPr lang="en-US" sz="1400" dirty="0"/>
          </a:p>
        </p:txBody>
      </p:sp>
      <p:sp>
        <p:nvSpPr>
          <p:cNvPr id="7" name="Text 5"/>
          <p:cNvSpPr txBox="1"/>
          <p:nvPr/>
        </p:nvSpPr>
        <p:spPr>
          <a:xfrm>
            <a:off x="8366760" y="2724912"/>
            <a:ext cx="3108960" cy="420624"/>
          </a:xfrm>
          <a:prstGeom prst="rect">
            <a:avLst/>
          </a:prstGeom>
          <a:noFill/>
          <a:ln/>
        </p:spPr>
        <p:txBody>
          <a:bodyPr wrap="square" lIns="0" tIns="0" rIns="0" bIns="0" rtlCol="0" anchor="ctr"/>
          <a:lstStyle/>
          <a:p>
            <a:pPr marL="0" indent="0">
              <a:buNone/>
            </a:pPr>
            <a:r>
              <a:rPr lang="en-US" sz="2700" b="1" dirty="0">
                <a:solidFill>
                  <a:srgbClr val="EEB08A"/>
                </a:solidFill>
                <a:latin typeface="Cambria" pitchFamily="34" charset="0"/>
                <a:ea typeface="Cambria" pitchFamily="34" charset="-122"/>
                <a:cs typeface="Cambria" pitchFamily="34" charset="-120"/>
              </a:rPr>
              <a:t>$850B</a:t>
            </a:r>
            <a:endParaRPr lang="en-US" sz="2700" dirty="0"/>
          </a:p>
        </p:txBody>
      </p:sp>
      <p:sp>
        <p:nvSpPr>
          <p:cNvPr id="8" name="Text 6"/>
          <p:cNvSpPr txBox="1"/>
          <p:nvPr/>
        </p:nvSpPr>
        <p:spPr>
          <a:xfrm>
            <a:off x="8394192" y="3127248"/>
            <a:ext cx="3063240" cy="384048"/>
          </a:xfrm>
          <a:prstGeom prst="rect">
            <a:avLst/>
          </a:prstGeom>
          <a:noFill/>
          <a:ln/>
        </p:spPr>
        <p:txBody>
          <a:bodyPr wrap="square" lIns="0" tIns="0" rIns="0" bIns="0" rtlCol="0" anchor="ctr"/>
          <a:lstStyle/>
          <a:p>
            <a:pPr marL="0" indent="0">
              <a:lnSpc>
                <a:spcPct val="95000"/>
              </a:lnSpc>
              <a:buNone/>
            </a:pPr>
            <a:r>
              <a:rPr lang="en-US" sz="1050" dirty="0">
                <a:solidFill>
                  <a:srgbClr val="F6DACB"/>
                </a:solidFill>
                <a:latin typeface="Calibri" pitchFamily="34" charset="0"/>
                <a:ea typeface="Calibri" pitchFamily="34" charset="-122"/>
                <a:cs typeface="Calibri" pitchFamily="34" charset="-120"/>
              </a:rPr>
              <a:t>worldwide public cloud spend in 2026, up 21.3% — IaaS fastest at +24%</a:t>
            </a:r>
            <a:endParaRPr lang="en-US" sz="1050" dirty="0"/>
          </a:p>
        </p:txBody>
      </p:sp>
      <p:sp>
        <p:nvSpPr>
          <p:cNvPr id="9" name="Text 7"/>
          <p:cNvSpPr txBox="1"/>
          <p:nvPr/>
        </p:nvSpPr>
        <p:spPr>
          <a:xfrm>
            <a:off x="8366760" y="3511296"/>
            <a:ext cx="3108960" cy="420624"/>
          </a:xfrm>
          <a:prstGeom prst="rect">
            <a:avLst/>
          </a:prstGeom>
          <a:noFill/>
          <a:ln/>
        </p:spPr>
        <p:txBody>
          <a:bodyPr wrap="square" lIns="0" tIns="0" rIns="0" bIns="0" rtlCol="0" anchor="ctr"/>
          <a:lstStyle/>
          <a:p>
            <a:pPr marL="0" indent="0">
              <a:buNone/>
            </a:pPr>
            <a:r>
              <a:rPr lang="en-US" sz="2700" b="1" dirty="0">
                <a:solidFill>
                  <a:srgbClr val="EEB08A"/>
                </a:solidFill>
                <a:latin typeface="Cambria" pitchFamily="34" charset="0"/>
                <a:ea typeface="Cambria" pitchFamily="34" charset="-122"/>
                <a:cs typeface="Cambria" pitchFamily="34" charset="-120"/>
              </a:rPr>
              <a:t>29%</a:t>
            </a:r>
            <a:endParaRPr lang="en-US" sz="2700" dirty="0"/>
          </a:p>
        </p:txBody>
      </p:sp>
      <p:sp>
        <p:nvSpPr>
          <p:cNvPr id="10" name="Text 8"/>
          <p:cNvSpPr txBox="1"/>
          <p:nvPr/>
        </p:nvSpPr>
        <p:spPr>
          <a:xfrm>
            <a:off x="8394192" y="3913632"/>
            <a:ext cx="3063240" cy="384048"/>
          </a:xfrm>
          <a:prstGeom prst="rect">
            <a:avLst/>
          </a:prstGeom>
          <a:noFill/>
          <a:ln/>
        </p:spPr>
        <p:txBody>
          <a:bodyPr wrap="square" lIns="0" tIns="0" rIns="0" bIns="0" rtlCol="0" anchor="ctr"/>
          <a:lstStyle/>
          <a:p>
            <a:pPr marL="0" indent="0">
              <a:lnSpc>
                <a:spcPct val="95000"/>
              </a:lnSpc>
              <a:buNone/>
            </a:pPr>
            <a:r>
              <a:rPr lang="en-US" sz="1050" dirty="0">
                <a:solidFill>
                  <a:srgbClr val="F6DACB"/>
                </a:solidFill>
                <a:latin typeface="Calibri" pitchFamily="34" charset="0"/>
                <a:ea typeface="Calibri" pitchFamily="34" charset="-122"/>
                <a:cs typeface="Calibri" pitchFamily="34" charset="-120"/>
              </a:rPr>
              <a:t>of cloud spend wasted — a five-year high, driven by AI workloads</a:t>
            </a:r>
            <a:endParaRPr lang="en-US" sz="1050" dirty="0"/>
          </a:p>
        </p:txBody>
      </p:sp>
      <p:sp>
        <p:nvSpPr>
          <p:cNvPr id="11" name="Text 9"/>
          <p:cNvSpPr txBox="1"/>
          <p:nvPr/>
        </p:nvSpPr>
        <p:spPr>
          <a:xfrm>
            <a:off x="8366760" y="4297680"/>
            <a:ext cx="3108960" cy="420624"/>
          </a:xfrm>
          <a:prstGeom prst="rect">
            <a:avLst/>
          </a:prstGeom>
          <a:noFill/>
          <a:ln/>
        </p:spPr>
        <p:txBody>
          <a:bodyPr wrap="square" lIns="0" tIns="0" rIns="0" bIns="0" rtlCol="0" anchor="ctr"/>
          <a:lstStyle/>
          <a:p>
            <a:pPr marL="0" indent="0">
              <a:buNone/>
            </a:pPr>
            <a:r>
              <a:rPr lang="en-US" sz="2700" b="1" dirty="0">
                <a:solidFill>
                  <a:srgbClr val="EEB08A"/>
                </a:solidFill>
                <a:latin typeface="Cambria" pitchFamily="34" charset="0"/>
                <a:ea typeface="Cambria" pitchFamily="34" charset="-122"/>
                <a:cs typeface="Cambria" pitchFamily="34" charset="-120"/>
              </a:rPr>
              <a:t>80%</a:t>
            </a:r>
            <a:endParaRPr lang="en-US" sz="2700" dirty="0"/>
          </a:p>
        </p:txBody>
      </p:sp>
      <p:sp>
        <p:nvSpPr>
          <p:cNvPr id="12" name="Text 10"/>
          <p:cNvSpPr txBox="1"/>
          <p:nvPr/>
        </p:nvSpPr>
        <p:spPr>
          <a:xfrm>
            <a:off x="8394192" y="4700016"/>
            <a:ext cx="3063240" cy="384048"/>
          </a:xfrm>
          <a:prstGeom prst="rect">
            <a:avLst/>
          </a:prstGeom>
          <a:noFill/>
          <a:ln/>
        </p:spPr>
        <p:txBody>
          <a:bodyPr wrap="square" lIns="0" tIns="0" rIns="0" bIns="0" rtlCol="0" anchor="ctr"/>
          <a:lstStyle/>
          <a:p>
            <a:pPr marL="0" indent="0">
              <a:lnSpc>
                <a:spcPct val="95000"/>
              </a:lnSpc>
              <a:buNone/>
            </a:pPr>
            <a:r>
              <a:rPr lang="en-US" sz="1050" dirty="0">
                <a:solidFill>
                  <a:srgbClr val="F6DACB"/>
                </a:solidFill>
                <a:latin typeface="Calibri" pitchFamily="34" charset="0"/>
                <a:ea typeface="Calibri" pitchFamily="34" charset="-122"/>
                <a:cs typeface="Calibri" pitchFamily="34" charset="-120"/>
              </a:rPr>
              <a:t>of large orgs will run platform-engineering teams by end-2026</a:t>
            </a:r>
            <a:endParaRPr lang="en-US" sz="1050" dirty="0"/>
          </a:p>
        </p:txBody>
      </p:sp>
      <p:sp>
        <p:nvSpPr>
          <p:cNvPr id="13" name="Text 11"/>
          <p:cNvSpPr txBox="1"/>
          <p:nvPr/>
        </p:nvSpPr>
        <p:spPr>
          <a:xfrm>
            <a:off x="685800" y="5285232"/>
            <a:ext cx="5486400" cy="274320"/>
          </a:xfrm>
          <a:prstGeom prst="rect">
            <a:avLst/>
          </a:prstGeom>
          <a:noFill/>
          <a:ln/>
        </p:spPr>
        <p:txBody>
          <a:bodyPr wrap="square" lIns="0" tIns="0" rIns="0" bIns="0" rtlCol="0" anchor="ctr"/>
          <a:lstStyle/>
          <a:p>
            <a:pPr marL="0" indent="0">
              <a:buNone/>
            </a:pPr>
            <a:r>
              <a:rPr lang="en-US" sz="1050" b="1" kern="0" spc="200" dirty="0">
                <a:solidFill>
                  <a:srgbClr val="EEB08A"/>
                </a:solidFill>
                <a:latin typeface="Calibri" pitchFamily="34" charset="0"/>
                <a:ea typeface="Calibri" pitchFamily="34" charset="-122"/>
                <a:cs typeface="Calibri" pitchFamily="34" charset="-120"/>
              </a:rPr>
              <a:t>TWO JOURNEYS, ONE FRONT DOOR</a:t>
            </a:r>
            <a:endParaRPr lang="en-US" sz="1050" dirty="0"/>
          </a:p>
        </p:txBody>
      </p:sp>
      <p:sp>
        <p:nvSpPr>
          <p:cNvPr id="14" name="Text 12"/>
          <p:cNvSpPr txBox="1"/>
          <p:nvPr/>
        </p:nvSpPr>
        <p:spPr>
          <a:xfrm>
            <a:off x="685800" y="5596128"/>
            <a:ext cx="10789920" cy="457200"/>
          </a:xfrm>
          <a:prstGeom prst="rect">
            <a:avLst/>
          </a:prstGeom>
          <a:noFill/>
          <a:ln/>
        </p:spPr>
        <p:txBody>
          <a:bodyPr wrap="square" lIns="0" tIns="0" rIns="0" bIns="0" rtlCol="0" anchor="ctr"/>
          <a:lstStyle/>
          <a:p>
            <a:pPr marL="0" indent="0">
              <a:buNone/>
            </a:pPr>
            <a:r>
              <a:rPr lang="en-US" sz="1650" i="1" dirty="0">
                <a:solidFill>
                  <a:srgbClr val="FFFFFF"/>
                </a:solidFill>
                <a:latin typeface="Cambria" pitchFamily="34" charset="0"/>
                <a:ea typeface="Cambria" pitchFamily="34" charset="-122"/>
                <a:cs typeface="Cambria" pitchFamily="34" charset="-120"/>
              </a:rPr>
              <a:t>Cloud IQ sorts the customer — then routes to Optimize (already on cloud) or Decide &amp; Modernize (still on the journey).</a:t>
            </a:r>
            <a:endParaRPr lang="en-US" sz="1650" dirty="0"/>
          </a:p>
        </p:txBody>
      </p:sp>
      <p:sp>
        <p:nvSpPr>
          <p:cNvPr id="15" name="Text 13"/>
          <p:cNvSpPr txBox="1"/>
          <p:nvPr/>
        </p:nvSpPr>
        <p:spPr>
          <a:xfrm>
            <a:off x="685800" y="6089904"/>
            <a:ext cx="7498080" cy="320040"/>
          </a:xfrm>
          <a:prstGeom prst="rect">
            <a:avLst/>
          </a:prstGeom>
          <a:noFill/>
          <a:ln/>
        </p:spPr>
        <p:txBody>
          <a:bodyPr wrap="square" lIns="0" tIns="0" rIns="0" bIns="0" rtlCol="0" anchor="ctr"/>
          <a:lstStyle/>
          <a:p>
            <a:pPr marL="0" indent="0">
              <a:buNone/>
            </a:pPr>
            <a:r>
              <a:rPr lang="en-US" sz="1100" dirty="0">
                <a:solidFill>
                  <a:srgbClr val="F0C4AC"/>
                </a:solidFill>
                <a:latin typeface="Calibri" pitchFamily="34" charset="0"/>
                <a:ea typeface="Calibri" pitchFamily="34" charset="-122"/>
                <a:cs typeface="Calibri" pitchFamily="34" charset="-120"/>
              </a:rPr>
              <a:t>Journey A · FinOps · Multi-Cloud · Platform Engineering    │    Journey B · Right Cloud · App Modernization · Data Centre</a:t>
            </a:r>
            <a:endParaRPr lang="en-US" sz="1100" dirty="0"/>
          </a:p>
        </p:txBody>
      </p:sp>
      <p:sp>
        <p:nvSpPr>
          <p:cNvPr id="16" name="Text 14"/>
          <p:cNvSpPr txBox="1"/>
          <p:nvPr/>
        </p:nvSpPr>
        <p:spPr>
          <a:xfrm>
            <a:off x="8366760" y="6108192"/>
            <a:ext cx="3108960" cy="274320"/>
          </a:xfrm>
          <a:prstGeom prst="rect">
            <a:avLst/>
          </a:prstGeom>
          <a:noFill/>
          <a:ln/>
        </p:spPr>
        <p:txBody>
          <a:bodyPr wrap="square" lIns="0" tIns="0" rIns="0" bIns="0" rtlCol="0" anchor="ctr"/>
          <a:lstStyle/>
          <a:p>
            <a:pPr marL="0" indent="0" algn="r">
              <a:buNone/>
            </a:pPr>
            <a:r>
              <a:rPr lang="en-US" sz="900" i="1" dirty="0">
                <a:solidFill>
                  <a:srgbClr val="D89D7E"/>
                </a:solidFill>
                <a:latin typeface="Calibri" pitchFamily="34" charset="0"/>
                <a:ea typeface="Calibri" pitchFamily="34" charset="-122"/>
                <a:cs typeface="Calibri" pitchFamily="34" charset="-120"/>
              </a:rPr>
              <a:t>Source: Gartner / Flexera, 2026.</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marL="0" indent="0">
              <a:buNone/>
            </a:pPr>
            <a:r>
              <a:rPr lang="en-US" sz="1100" b="1" kern="0" spc="200" dirty="0">
                <a:solidFill>
                  <a:srgbClr val="B0481E"/>
                </a:solidFill>
                <a:latin typeface="Calibri" pitchFamily="34" charset="0"/>
                <a:ea typeface="Calibri" pitchFamily="34" charset="-122"/>
                <a:cs typeface="Calibri" pitchFamily="34" charset="-120"/>
              </a:rPr>
              <a:t>HOW EVERY ENGAGEMENT FINDS ITS PATH</a:t>
            </a:r>
            <a:endParaRPr lang="en-US" sz="1100" dirty="0"/>
          </a:p>
        </p:txBody>
      </p:sp>
      <p:sp>
        <p:nvSpPr>
          <p:cNvPr id="3" name="Text 1"/>
          <p:cNvSpPr txBox="1"/>
          <p:nvPr/>
        </p:nvSpPr>
        <p:spPr>
          <a:xfrm>
            <a:off x="484632" y="676656"/>
            <a:ext cx="10058400" cy="457200"/>
          </a:xfrm>
          <a:prstGeom prst="rect">
            <a:avLst/>
          </a:prstGeom>
          <a:noFill/>
          <a:ln/>
        </p:spPr>
        <p:txBody>
          <a:bodyPr wrap="square" lIns="0" tIns="0" rIns="0" bIns="0" rtlCol="0" anchor="ctr"/>
          <a:lstStyle/>
          <a:p>
            <a:pPr marL="0" indent="0">
              <a:buNone/>
            </a:pPr>
            <a:r>
              <a:rPr lang="en-US" sz="2500" b="1" dirty="0">
                <a:solidFill>
                  <a:srgbClr val="1B1F23"/>
                </a:solidFill>
                <a:latin typeface="Cambria" pitchFamily="34" charset="0"/>
                <a:ea typeface="Cambria" pitchFamily="34" charset="-122"/>
                <a:cs typeface="Cambria" pitchFamily="34" charset="-120"/>
              </a:rPr>
              <a:t>One front door, two journeys</a:t>
            </a:r>
            <a:endParaRPr lang="en-US" sz="2500" dirty="0"/>
          </a:p>
        </p:txBody>
      </p:sp>
      <p:sp>
        <p:nvSpPr>
          <p:cNvPr id="4" name="Text 2"/>
          <p:cNvSpPr txBox="1"/>
          <p:nvPr/>
        </p:nvSpPr>
        <p:spPr>
          <a:xfrm>
            <a:off x="502920" y="1188720"/>
            <a:ext cx="10972800" cy="274320"/>
          </a:xfrm>
          <a:prstGeom prst="rect">
            <a:avLst/>
          </a:prstGeom>
          <a:noFill/>
          <a:ln/>
        </p:spPr>
        <p:txBody>
          <a:bodyPr wrap="square" lIns="0" tIns="0" rIns="0" bIns="0" rtlCol="0" anchor="ctr"/>
          <a:lstStyle/>
          <a:p>
            <a:pPr marL="0" indent="0">
              <a:buNone/>
            </a:pPr>
            <a:r>
              <a:rPr lang="en-US" sz="1200" dirty="0">
                <a:solidFill>
                  <a:srgbClr val="6B5A52"/>
                </a:solidFill>
                <a:latin typeface="Calibri" pitchFamily="34" charset="0"/>
                <a:ea typeface="Calibri" pitchFamily="34" charset="-122"/>
                <a:cs typeface="Calibri" pitchFamily="34" charset="-120"/>
              </a:rPr>
              <a:t>The diagnostic’s first job is to tell the two customer populations apart — then route within the right journey.</a:t>
            </a:r>
            <a:endParaRPr lang="en-US" sz="1200" dirty="0"/>
          </a:p>
        </p:txBody>
      </p:sp>
      <p:sp>
        <p:nvSpPr>
          <p:cNvPr id="5" name="Shape 3"/>
          <p:cNvSpPr/>
          <p:nvPr/>
        </p:nvSpPr>
        <p:spPr>
          <a:xfrm>
            <a:off x="4114800" y="1572768"/>
            <a:ext cx="3959352" cy="566928"/>
          </a:xfrm>
          <a:prstGeom prst="roundRect">
            <a:avLst>
              <a:gd name="adj" fmla="val 9677"/>
            </a:avLst>
          </a:prstGeom>
          <a:solidFill>
            <a:srgbClr val="B0481E"/>
          </a:solidFill>
          <a:ln/>
        </p:spPr>
        <p:txBody>
          <a:bodyPr/>
          <a:lstStyle/>
          <a:p>
            <a:endParaRPr lang="en-US"/>
          </a:p>
        </p:txBody>
      </p:sp>
      <p:sp>
        <p:nvSpPr>
          <p:cNvPr id="6" name="Text 4"/>
          <p:cNvSpPr txBox="1"/>
          <p:nvPr/>
        </p:nvSpPr>
        <p:spPr>
          <a:xfrm>
            <a:off x="4114800" y="1572768"/>
            <a:ext cx="3959352"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Cloud IQ   </a:t>
            </a:r>
            <a:r>
              <a:rPr lang="en-US" sz="1100" i="1" dirty="0">
                <a:solidFill>
                  <a:srgbClr val="F4D3BF"/>
                </a:solidFill>
                <a:latin typeface="Calibri" pitchFamily="34" charset="0"/>
                <a:ea typeface="Calibri" pitchFamily="34" charset="-122"/>
                <a:cs typeface="Calibri" pitchFamily="34" charset="-120"/>
              </a:rPr>
              <a:t>free self-assessment</a:t>
            </a:r>
            <a:endParaRPr lang="en-US" sz="1500" dirty="0"/>
          </a:p>
        </p:txBody>
      </p:sp>
      <p:sp>
        <p:nvSpPr>
          <p:cNvPr id="7" name="Text 5"/>
          <p:cNvSpPr txBox="1"/>
          <p:nvPr/>
        </p:nvSpPr>
        <p:spPr>
          <a:xfrm>
            <a:off x="4114800" y="2157984"/>
            <a:ext cx="3959352" cy="237744"/>
          </a:xfrm>
          <a:prstGeom prst="rect">
            <a:avLst/>
          </a:prstGeom>
          <a:noFill/>
          <a:ln/>
        </p:spPr>
        <p:txBody>
          <a:bodyPr wrap="square" lIns="0" tIns="0" rIns="0" bIns="0" rtlCol="0" anchor="ctr"/>
          <a:lstStyle/>
          <a:p>
            <a:pPr marL="0" indent="0" algn="ctr">
              <a:buNone/>
            </a:pPr>
            <a:r>
              <a:rPr lang="en-US" sz="1000" i="1" dirty="0">
                <a:solidFill>
                  <a:srgbClr val="B0481E"/>
                </a:solidFill>
                <a:latin typeface="Calibri" pitchFamily="34" charset="0"/>
                <a:ea typeface="Calibri" pitchFamily="34" charset="-122"/>
                <a:cs typeface="Calibri" pitchFamily="34" charset="-120"/>
              </a:rPr>
              <a:t>“where are you on the journey, and what hurts?”</a:t>
            </a:r>
            <a:endParaRPr lang="en-US" sz="1000" dirty="0"/>
          </a:p>
        </p:txBody>
      </p:sp>
      <p:sp>
        <p:nvSpPr>
          <p:cNvPr id="8" name="Shape 6"/>
          <p:cNvSpPr/>
          <p:nvPr/>
        </p:nvSpPr>
        <p:spPr>
          <a:xfrm flipH="1">
            <a:off x="2642716" y="2395728"/>
            <a:ext cx="2295044" cy="384048"/>
          </a:xfrm>
          <a:prstGeom prst="line">
            <a:avLst/>
          </a:prstGeom>
          <a:noFill/>
          <a:ln w="19050">
            <a:solidFill>
              <a:srgbClr val="B0481E"/>
            </a:solidFill>
            <a:prstDash val="solid"/>
            <a:tailEnd type="triangle"/>
          </a:ln>
        </p:spPr>
        <p:txBody>
          <a:bodyPr/>
          <a:lstStyle/>
          <a:p>
            <a:endParaRPr lang="en-US"/>
          </a:p>
        </p:txBody>
      </p:sp>
      <p:sp>
        <p:nvSpPr>
          <p:cNvPr id="9" name="Shape 7"/>
          <p:cNvSpPr/>
          <p:nvPr/>
        </p:nvSpPr>
        <p:spPr>
          <a:xfrm>
            <a:off x="7223760" y="2395728"/>
            <a:ext cx="1828800" cy="329184"/>
          </a:xfrm>
          <a:prstGeom prst="line">
            <a:avLst/>
          </a:prstGeom>
          <a:noFill/>
          <a:ln w="19050">
            <a:solidFill>
              <a:srgbClr val="B0481E"/>
            </a:solidFill>
            <a:prstDash val="solid"/>
            <a:tailEnd type="triangle"/>
          </a:ln>
        </p:spPr>
        <p:txBody>
          <a:bodyPr/>
          <a:lstStyle/>
          <a:p>
            <a:endParaRPr lang="en-US"/>
          </a:p>
        </p:txBody>
      </p:sp>
      <p:sp>
        <p:nvSpPr>
          <p:cNvPr id="10" name="Shape 8"/>
          <p:cNvSpPr/>
          <p:nvPr/>
        </p:nvSpPr>
        <p:spPr>
          <a:xfrm>
            <a:off x="502920" y="2788920"/>
            <a:ext cx="5394960" cy="658368"/>
          </a:xfrm>
          <a:prstGeom prst="roundRect">
            <a:avLst>
              <a:gd name="adj" fmla="val 8333"/>
            </a:avLst>
          </a:prstGeom>
          <a:solidFill>
            <a:srgbClr val="8F3A17"/>
          </a:solidFill>
          <a:ln/>
        </p:spPr>
        <p:txBody>
          <a:bodyPr/>
          <a:lstStyle/>
          <a:p>
            <a:endParaRPr lang="en-US"/>
          </a:p>
        </p:txBody>
      </p:sp>
      <p:sp>
        <p:nvSpPr>
          <p:cNvPr id="11" name="Text 9"/>
          <p:cNvSpPr txBox="1"/>
          <p:nvPr/>
        </p:nvSpPr>
        <p:spPr>
          <a:xfrm>
            <a:off x="731520" y="2871216"/>
            <a:ext cx="4937760" cy="2743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JOURNEY A · OPTIMIZE</a:t>
            </a:r>
            <a:endParaRPr lang="en-US" sz="1400" dirty="0"/>
          </a:p>
        </p:txBody>
      </p:sp>
      <p:sp>
        <p:nvSpPr>
          <p:cNvPr id="12" name="Text 10"/>
          <p:cNvSpPr txBox="1"/>
          <p:nvPr/>
        </p:nvSpPr>
        <p:spPr>
          <a:xfrm>
            <a:off x="731520" y="3145536"/>
            <a:ext cx="4937760" cy="237744"/>
          </a:xfrm>
          <a:prstGeom prst="rect">
            <a:avLst/>
          </a:prstGeom>
          <a:noFill/>
          <a:ln/>
        </p:spPr>
        <p:txBody>
          <a:bodyPr wrap="square" lIns="0" tIns="0" rIns="0" bIns="0" rtlCol="0" anchor="ctr"/>
          <a:lstStyle/>
          <a:p>
            <a:pPr marL="0" indent="0">
              <a:buNone/>
            </a:pPr>
            <a:r>
              <a:rPr lang="en-US" sz="1000" i="1" dirty="0">
                <a:solidFill>
                  <a:srgbClr val="F4D3BF"/>
                </a:solidFill>
                <a:latin typeface="Calibri" pitchFamily="34" charset="0"/>
                <a:ea typeface="Calibri" pitchFamily="34" charset="-122"/>
                <a:cs typeface="Calibri" pitchFamily="34" charset="-120"/>
              </a:rPr>
              <a:t>already on cloud / mid-migration</a:t>
            </a:r>
            <a:endParaRPr lang="en-US" sz="1000" dirty="0"/>
          </a:p>
        </p:txBody>
      </p:sp>
      <p:sp>
        <p:nvSpPr>
          <p:cNvPr id="13" name="Text 11"/>
          <p:cNvSpPr txBox="1"/>
          <p:nvPr/>
        </p:nvSpPr>
        <p:spPr>
          <a:xfrm>
            <a:off x="731520" y="3520440"/>
            <a:ext cx="4937760" cy="256032"/>
          </a:xfrm>
          <a:prstGeom prst="rect">
            <a:avLst/>
          </a:prstGeom>
          <a:noFill/>
          <a:ln/>
        </p:spPr>
        <p:txBody>
          <a:bodyPr wrap="square" lIns="0" tIns="0" rIns="0" bIns="0" rtlCol="0" anchor="ctr"/>
          <a:lstStyle/>
          <a:p>
            <a:pPr marL="0" indent="0">
              <a:buNone/>
            </a:pPr>
            <a:r>
              <a:rPr lang="en-US" sz="1050" b="1" dirty="0">
                <a:solidFill>
                  <a:srgbClr val="B0481E"/>
                </a:solidFill>
                <a:latin typeface="Calibri" pitchFamily="34" charset="0"/>
                <a:ea typeface="Calibri" pitchFamily="34" charset="-122"/>
                <a:cs typeface="Calibri" pitchFamily="34" charset="-120"/>
              </a:rPr>
              <a:t>→ deepen with FinOps IQ (cost)</a:t>
            </a:r>
            <a:endParaRPr lang="en-US" sz="1050" dirty="0"/>
          </a:p>
        </p:txBody>
      </p:sp>
      <p:sp>
        <p:nvSpPr>
          <p:cNvPr id="14" name="Shape 12"/>
          <p:cNvSpPr/>
          <p:nvPr/>
        </p:nvSpPr>
        <p:spPr>
          <a:xfrm>
            <a:off x="502920" y="3858768"/>
            <a:ext cx="5394960" cy="512064"/>
          </a:xfrm>
          <a:prstGeom prst="roundRect">
            <a:avLst>
              <a:gd name="adj" fmla="val 8929"/>
            </a:avLst>
          </a:prstGeom>
          <a:solidFill>
            <a:srgbClr val="FBEDE6"/>
          </a:solidFill>
          <a:ln w="9525">
            <a:solidFill>
              <a:srgbClr val="EEB08A"/>
            </a:solidFill>
            <a:prstDash val="solid"/>
          </a:ln>
        </p:spPr>
        <p:txBody>
          <a:bodyPr/>
          <a:lstStyle/>
          <a:p>
            <a:endParaRPr lang="en-US"/>
          </a:p>
        </p:txBody>
      </p:sp>
      <p:sp>
        <p:nvSpPr>
          <p:cNvPr id="15" name="Text 13"/>
          <p:cNvSpPr txBox="1"/>
          <p:nvPr/>
        </p:nvSpPr>
        <p:spPr>
          <a:xfrm>
            <a:off x="731520" y="3858768"/>
            <a:ext cx="4937760" cy="512064"/>
          </a:xfrm>
          <a:prstGeom prst="rect">
            <a:avLst/>
          </a:prstGeom>
          <a:noFill/>
          <a:ln/>
        </p:spPr>
        <p:txBody>
          <a:bodyPr wrap="square" lIns="0" tIns="0" rIns="0" bIns="0" rtlCol="0" anchor="ctr"/>
          <a:lstStyle/>
          <a:p>
            <a:pPr marL="0" indent="0">
              <a:buNone/>
            </a:pPr>
            <a:r>
              <a:rPr lang="en-US" sz="1300" b="1" dirty="0">
                <a:solidFill>
                  <a:srgbClr val="8F3A17"/>
                </a:solidFill>
                <a:latin typeface="Cambria" pitchFamily="34" charset="0"/>
                <a:ea typeface="Cambria" pitchFamily="34" charset="-122"/>
                <a:cs typeface="Cambria" pitchFamily="34" charset="-120"/>
              </a:rPr>
              <a:t>03.3 FinOps Excellence</a:t>
            </a:r>
            <a:endParaRPr lang="en-US" sz="1300" dirty="0"/>
          </a:p>
        </p:txBody>
      </p:sp>
      <p:sp>
        <p:nvSpPr>
          <p:cNvPr id="16" name="Shape 14"/>
          <p:cNvSpPr/>
          <p:nvPr/>
        </p:nvSpPr>
        <p:spPr>
          <a:xfrm>
            <a:off x="502920" y="4462272"/>
            <a:ext cx="5394960" cy="512064"/>
          </a:xfrm>
          <a:prstGeom prst="roundRect">
            <a:avLst>
              <a:gd name="adj" fmla="val 8929"/>
            </a:avLst>
          </a:prstGeom>
          <a:solidFill>
            <a:srgbClr val="FBEDE6"/>
          </a:solidFill>
          <a:ln w="9525">
            <a:solidFill>
              <a:srgbClr val="EEB08A"/>
            </a:solidFill>
            <a:prstDash val="solid"/>
          </a:ln>
        </p:spPr>
        <p:txBody>
          <a:bodyPr/>
          <a:lstStyle/>
          <a:p>
            <a:endParaRPr lang="en-US"/>
          </a:p>
        </p:txBody>
      </p:sp>
      <p:sp>
        <p:nvSpPr>
          <p:cNvPr id="17" name="Text 15"/>
          <p:cNvSpPr txBox="1"/>
          <p:nvPr/>
        </p:nvSpPr>
        <p:spPr>
          <a:xfrm>
            <a:off x="731520" y="4462272"/>
            <a:ext cx="4937760" cy="512064"/>
          </a:xfrm>
          <a:prstGeom prst="rect">
            <a:avLst/>
          </a:prstGeom>
          <a:noFill/>
          <a:ln/>
        </p:spPr>
        <p:txBody>
          <a:bodyPr wrap="square" lIns="0" tIns="0" rIns="0" bIns="0" rtlCol="0" anchor="ctr"/>
          <a:lstStyle/>
          <a:p>
            <a:pPr marL="0" indent="0">
              <a:buNone/>
            </a:pPr>
            <a:r>
              <a:rPr lang="en-US" sz="1300" b="1" dirty="0">
                <a:solidFill>
                  <a:srgbClr val="8F3A17"/>
                </a:solidFill>
                <a:latin typeface="Cambria" pitchFamily="34" charset="0"/>
                <a:ea typeface="Cambria" pitchFamily="34" charset="-122"/>
                <a:cs typeface="Cambria" pitchFamily="34" charset="-120"/>
              </a:rPr>
              <a:t>03.2 Hybrid &amp; Multi-Cloud Mgmt</a:t>
            </a:r>
            <a:endParaRPr lang="en-US" sz="1300" dirty="0"/>
          </a:p>
        </p:txBody>
      </p:sp>
      <p:sp>
        <p:nvSpPr>
          <p:cNvPr id="18" name="Shape 16"/>
          <p:cNvSpPr/>
          <p:nvPr/>
        </p:nvSpPr>
        <p:spPr>
          <a:xfrm>
            <a:off x="502920" y="5065776"/>
            <a:ext cx="5394960" cy="512064"/>
          </a:xfrm>
          <a:prstGeom prst="roundRect">
            <a:avLst>
              <a:gd name="adj" fmla="val 8929"/>
            </a:avLst>
          </a:prstGeom>
          <a:solidFill>
            <a:srgbClr val="FBEDE6"/>
          </a:solidFill>
          <a:ln w="9525">
            <a:solidFill>
              <a:srgbClr val="EEB08A"/>
            </a:solidFill>
            <a:prstDash val="solid"/>
          </a:ln>
        </p:spPr>
        <p:txBody>
          <a:bodyPr/>
          <a:lstStyle/>
          <a:p>
            <a:endParaRPr lang="en-US"/>
          </a:p>
        </p:txBody>
      </p:sp>
      <p:sp>
        <p:nvSpPr>
          <p:cNvPr id="19" name="Text 17"/>
          <p:cNvSpPr txBox="1"/>
          <p:nvPr/>
        </p:nvSpPr>
        <p:spPr>
          <a:xfrm>
            <a:off x="731520" y="5065776"/>
            <a:ext cx="4937760" cy="512064"/>
          </a:xfrm>
          <a:prstGeom prst="rect">
            <a:avLst/>
          </a:prstGeom>
          <a:noFill/>
          <a:ln/>
        </p:spPr>
        <p:txBody>
          <a:bodyPr wrap="square" lIns="0" tIns="0" rIns="0" bIns="0" rtlCol="0" anchor="ctr"/>
          <a:lstStyle/>
          <a:p>
            <a:pPr marL="0" indent="0">
              <a:buNone/>
            </a:pPr>
            <a:r>
              <a:rPr lang="en-US" sz="1300" b="1" dirty="0">
                <a:solidFill>
                  <a:srgbClr val="8F3A17"/>
                </a:solidFill>
                <a:latin typeface="Cambria" pitchFamily="34" charset="0"/>
                <a:ea typeface="Cambria" pitchFamily="34" charset="-122"/>
                <a:cs typeface="Cambria" pitchFamily="34" charset="-120"/>
              </a:rPr>
              <a:t>03.6 Platform Engineering</a:t>
            </a:r>
            <a:endParaRPr lang="en-US" sz="1300" dirty="0"/>
          </a:p>
        </p:txBody>
      </p:sp>
      <p:sp>
        <p:nvSpPr>
          <p:cNvPr id="20" name="Shape 18"/>
          <p:cNvSpPr/>
          <p:nvPr/>
        </p:nvSpPr>
        <p:spPr>
          <a:xfrm>
            <a:off x="6263640" y="2788920"/>
            <a:ext cx="5394960" cy="658368"/>
          </a:xfrm>
          <a:prstGeom prst="roundRect">
            <a:avLst>
              <a:gd name="adj" fmla="val 8333"/>
            </a:avLst>
          </a:prstGeom>
          <a:solidFill>
            <a:srgbClr val="8F3A17"/>
          </a:solidFill>
          <a:ln/>
        </p:spPr>
        <p:txBody>
          <a:bodyPr/>
          <a:lstStyle/>
          <a:p>
            <a:endParaRPr lang="en-US"/>
          </a:p>
        </p:txBody>
      </p:sp>
      <p:sp>
        <p:nvSpPr>
          <p:cNvPr id="21" name="Text 19"/>
          <p:cNvSpPr txBox="1"/>
          <p:nvPr/>
        </p:nvSpPr>
        <p:spPr>
          <a:xfrm>
            <a:off x="6492240" y="2871216"/>
            <a:ext cx="4937760" cy="2743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JOURNEY B · DECIDE &amp; MODERNIZE</a:t>
            </a:r>
            <a:endParaRPr lang="en-US" sz="1400" dirty="0"/>
          </a:p>
        </p:txBody>
      </p:sp>
      <p:sp>
        <p:nvSpPr>
          <p:cNvPr id="22" name="Text 20"/>
          <p:cNvSpPr txBox="1"/>
          <p:nvPr/>
        </p:nvSpPr>
        <p:spPr>
          <a:xfrm>
            <a:off x="6492240" y="3145536"/>
            <a:ext cx="4937760" cy="237744"/>
          </a:xfrm>
          <a:prstGeom prst="rect">
            <a:avLst/>
          </a:prstGeom>
          <a:noFill/>
          <a:ln/>
        </p:spPr>
        <p:txBody>
          <a:bodyPr wrap="square" lIns="0" tIns="0" rIns="0" bIns="0" rtlCol="0" anchor="ctr"/>
          <a:lstStyle/>
          <a:p>
            <a:pPr marL="0" indent="0">
              <a:buNone/>
            </a:pPr>
            <a:r>
              <a:rPr lang="en-US" sz="1000" i="1" dirty="0">
                <a:solidFill>
                  <a:srgbClr val="F4D3BF"/>
                </a:solidFill>
                <a:latin typeface="Calibri" pitchFamily="34" charset="0"/>
                <a:ea typeface="Calibri" pitchFamily="34" charset="-122"/>
                <a:cs typeface="Calibri" pitchFamily="34" charset="-120"/>
              </a:rPr>
              <a:t>not started / tentative / hybrid</a:t>
            </a:r>
            <a:endParaRPr lang="en-US" sz="1000" dirty="0"/>
          </a:p>
        </p:txBody>
      </p:sp>
      <p:sp>
        <p:nvSpPr>
          <p:cNvPr id="23" name="Text 21"/>
          <p:cNvSpPr txBox="1"/>
          <p:nvPr/>
        </p:nvSpPr>
        <p:spPr>
          <a:xfrm>
            <a:off x="6492240" y="3520440"/>
            <a:ext cx="4937760" cy="256032"/>
          </a:xfrm>
          <a:prstGeom prst="rect">
            <a:avLst/>
          </a:prstGeom>
          <a:noFill/>
          <a:ln/>
        </p:spPr>
        <p:txBody>
          <a:bodyPr wrap="square" lIns="0" tIns="0" rIns="0" bIns="0" rtlCol="0" anchor="ctr"/>
          <a:lstStyle/>
          <a:p>
            <a:pPr marL="0" indent="0">
              <a:buNone/>
            </a:pPr>
            <a:r>
              <a:rPr lang="en-US" sz="1050" b="1" dirty="0">
                <a:solidFill>
                  <a:srgbClr val="B0481E"/>
                </a:solidFill>
                <a:latin typeface="Calibri" pitchFamily="34" charset="0"/>
                <a:ea typeface="Calibri" pitchFamily="34" charset="-122"/>
                <a:cs typeface="Calibri" pitchFamily="34" charset="-120"/>
              </a:rPr>
              <a:t>→ deepen with Modernization IQ (estate)</a:t>
            </a:r>
            <a:endParaRPr lang="en-US" sz="1050" dirty="0"/>
          </a:p>
        </p:txBody>
      </p:sp>
      <p:sp>
        <p:nvSpPr>
          <p:cNvPr id="24" name="Shape 22"/>
          <p:cNvSpPr/>
          <p:nvPr/>
        </p:nvSpPr>
        <p:spPr>
          <a:xfrm>
            <a:off x="6263640" y="3858768"/>
            <a:ext cx="5394960" cy="512064"/>
          </a:xfrm>
          <a:prstGeom prst="roundRect">
            <a:avLst>
              <a:gd name="adj" fmla="val 8929"/>
            </a:avLst>
          </a:prstGeom>
          <a:solidFill>
            <a:srgbClr val="FBEDE6"/>
          </a:solidFill>
          <a:ln w="9525">
            <a:solidFill>
              <a:srgbClr val="EEB08A"/>
            </a:solidFill>
            <a:prstDash val="solid"/>
          </a:ln>
        </p:spPr>
        <p:txBody>
          <a:bodyPr/>
          <a:lstStyle/>
          <a:p>
            <a:endParaRPr lang="en-US"/>
          </a:p>
        </p:txBody>
      </p:sp>
      <p:sp>
        <p:nvSpPr>
          <p:cNvPr id="25" name="Text 23"/>
          <p:cNvSpPr txBox="1"/>
          <p:nvPr/>
        </p:nvSpPr>
        <p:spPr>
          <a:xfrm>
            <a:off x="6492240" y="3858768"/>
            <a:ext cx="4937760" cy="512064"/>
          </a:xfrm>
          <a:prstGeom prst="rect">
            <a:avLst/>
          </a:prstGeom>
          <a:noFill/>
          <a:ln/>
        </p:spPr>
        <p:txBody>
          <a:bodyPr wrap="square" lIns="0" tIns="0" rIns="0" bIns="0" rtlCol="0" anchor="ctr"/>
          <a:lstStyle/>
          <a:p>
            <a:pPr marL="0" indent="0">
              <a:buNone/>
            </a:pPr>
            <a:r>
              <a:rPr lang="en-US" sz="1300" b="1" dirty="0">
                <a:solidFill>
                  <a:srgbClr val="8F3A17"/>
                </a:solidFill>
                <a:latin typeface="Cambria" pitchFamily="34" charset="0"/>
                <a:ea typeface="Cambria" pitchFamily="34" charset="-122"/>
                <a:cs typeface="Cambria" pitchFamily="34" charset="-120"/>
              </a:rPr>
              <a:t>03.1 Right Cloud Strategy</a:t>
            </a:r>
            <a:endParaRPr lang="en-US" sz="1300" dirty="0"/>
          </a:p>
        </p:txBody>
      </p:sp>
      <p:sp>
        <p:nvSpPr>
          <p:cNvPr id="26" name="Shape 24"/>
          <p:cNvSpPr/>
          <p:nvPr/>
        </p:nvSpPr>
        <p:spPr>
          <a:xfrm>
            <a:off x="6263640" y="4462272"/>
            <a:ext cx="5394960" cy="512064"/>
          </a:xfrm>
          <a:prstGeom prst="roundRect">
            <a:avLst>
              <a:gd name="adj" fmla="val 8929"/>
            </a:avLst>
          </a:prstGeom>
          <a:solidFill>
            <a:srgbClr val="FBEDE6"/>
          </a:solidFill>
          <a:ln w="9525">
            <a:solidFill>
              <a:srgbClr val="EEB08A"/>
            </a:solidFill>
            <a:prstDash val="solid"/>
          </a:ln>
        </p:spPr>
        <p:txBody>
          <a:bodyPr/>
          <a:lstStyle/>
          <a:p>
            <a:endParaRPr lang="en-US"/>
          </a:p>
        </p:txBody>
      </p:sp>
      <p:sp>
        <p:nvSpPr>
          <p:cNvPr id="27" name="Text 25"/>
          <p:cNvSpPr txBox="1"/>
          <p:nvPr/>
        </p:nvSpPr>
        <p:spPr>
          <a:xfrm>
            <a:off x="6492240" y="4462272"/>
            <a:ext cx="4937760" cy="512064"/>
          </a:xfrm>
          <a:prstGeom prst="rect">
            <a:avLst/>
          </a:prstGeom>
          <a:noFill/>
          <a:ln/>
        </p:spPr>
        <p:txBody>
          <a:bodyPr wrap="square" lIns="0" tIns="0" rIns="0" bIns="0" rtlCol="0" anchor="ctr"/>
          <a:lstStyle/>
          <a:p>
            <a:pPr marL="0" indent="0">
              <a:buNone/>
            </a:pPr>
            <a:r>
              <a:rPr lang="en-US" sz="1300" b="1" dirty="0">
                <a:solidFill>
                  <a:srgbClr val="8F3A17"/>
                </a:solidFill>
                <a:latin typeface="Cambria" pitchFamily="34" charset="0"/>
                <a:ea typeface="Cambria" pitchFamily="34" charset="-122"/>
                <a:cs typeface="Cambria" pitchFamily="34" charset="-120"/>
              </a:rPr>
              <a:t>03.4 Application Modernization</a:t>
            </a:r>
            <a:endParaRPr lang="en-US" sz="1300" dirty="0"/>
          </a:p>
        </p:txBody>
      </p:sp>
      <p:sp>
        <p:nvSpPr>
          <p:cNvPr id="28" name="Shape 26"/>
          <p:cNvSpPr/>
          <p:nvPr/>
        </p:nvSpPr>
        <p:spPr>
          <a:xfrm>
            <a:off x="6263640" y="5065776"/>
            <a:ext cx="5394960" cy="512064"/>
          </a:xfrm>
          <a:prstGeom prst="roundRect">
            <a:avLst>
              <a:gd name="adj" fmla="val 8929"/>
            </a:avLst>
          </a:prstGeom>
          <a:solidFill>
            <a:srgbClr val="FBEDE6"/>
          </a:solidFill>
          <a:ln w="9525">
            <a:solidFill>
              <a:srgbClr val="EEB08A"/>
            </a:solidFill>
            <a:prstDash val="solid"/>
          </a:ln>
        </p:spPr>
        <p:txBody>
          <a:bodyPr/>
          <a:lstStyle/>
          <a:p>
            <a:endParaRPr lang="en-US"/>
          </a:p>
        </p:txBody>
      </p:sp>
      <p:sp>
        <p:nvSpPr>
          <p:cNvPr id="29" name="Text 27"/>
          <p:cNvSpPr txBox="1"/>
          <p:nvPr/>
        </p:nvSpPr>
        <p:spPr>
          <a:xfrm>
            <a:off x="6492240" y="5065776"/>
            <a:ext cx="4937760" cy="512064"/>
          </a:xfrm>
          <a:prstGeom prst="rect">
            <a:avLst/>
          </a:prstGeom>
          <a:noFill/>
          <a:ln/>
        </p:spPr>
        <p:txBody>
          <a:bodyPr wrap="square" lIns="0" tIns="0" rIns="0" bIns="0" rtlCol="0" anchor="ctr"/>
          <a:lstStyle/>
          <a:p>
            <a:pPr marL="0" indent="0">
              <a:buNone/>
            </a:pPr>
            <a:r>
              <a:rPr lang="en-US" sz="1300" b="1" dirty="0">
                <a:solidFill>
                  <a:srgbClr val="8F3A17"/>
                </a:solidFill>
                <a:latin typeface="Cambria" pitchFamily="34" charset="0"/>
                <a:ea typeface="Cambria" pitchFamily="34" charset="-122"/>
                <a:cs typeface="Cambria" pitchFamily="34" charset="-120"/>
              </a:rPr>
              <a:t>03.5 Data Centre Strategy</a:t>
            </a:r>
            <a:endParaRPr lang="en-US" sz="1300" dirty="0"/>
          </a:p>
        </p:txBody>
      </p:sp>
      <p:sp>
        <p:nvSpPr>
          <p:cNvPr id="30" name="Shape 28"/>
          <p:cNvSpPr/>
          <p:nvPr/>
        </p:nvSpPr>
        <p:spPr>
          <a:xfrm>
            <a:off x="502920" y="5742432"/>
            <a:ext cx="11183112" cy="548640"/>
          </a:xfrm>
          <a:prstGeom prst="roundRect">
            <a:avLst>
              <a:gd name="adj" fmla="val 10000"/>
            </a:avLst>
          </a:prstGeom>
          <a:solidFill>
            <a:srgbClr val="FFFFFF"/>
          </a:solidFill>
          <a:ln w="12700">
            <a:solidFill>
              <a:srgbClr val="0F6E56"/>
            </a:solidFill>
            <a:prstDash val="solid"/>
          </a:ln>
        </p:spPr>
        <p:txBody>
          <a:bodyPr/>
          <a:lstStyle/>
          <a:p>
            <a:endParaRPr lang="en-US"/>
          </a:p>
        </p:txBody>
      </p:sp>
      <p:sp>
        <p:nvSpPr>
          <p:cNvPr id="31" name="Text 29"/>
          <p:cNvSpPr txBox="1"/>
          <p:nvPr/>
        </p:nvSpPr>
        <p:spPr>
          <a:xfrm>
            <a:off x="777240" y="5742432"/>
            <a:ext cx="10698480" cy="548640"/>
          </a:xfrm>
          <a:prstGeom prst="rect">
            <a:avLst/>
          </a:prstGeom>
          <a:noFill/>
          <a:ln/>
        </p:spPr>
        <p:txBody>
          <a:bodyPr wrap="square" lIns="0" tIns="0" rIns="0" bIns="0" rtlCol="0" anchor="ctr"/>
          <a:lstStyle/>
          <a:p>
            <a:pPr marL="0" indent="0">
              <a:buNone/>
            </a:pPr>
            <a:r>
              <a:rPr lang="en-US" sz="1050" b="1" kern="0" spc="100" dirty="0">
                <a:solidFill>
                  <a:srgbClr val="0F6E56"/>
                </a:solidFill>
                <a:latin typeface="Calibri" pitchFamily="34" charset="0"/>
                <a:ea typeface="Calibri" pitchFamily="34" charset="-122"/>
                <a:cs typeface="Calibri" pitchFamily="34" charset="-120"/>
              </a:rPr>
              <a:t>★ SHARED ACROSS BOTH JOURNEYS   </a:t>
            </a:r>
            <a:r>
              <a:rPr lang="en-US" sz="1250" i="1" dirty="0">
                <a:solidFill>
                  <a:srgbClr val="2C3A34"/>
                </a:solidFill>
                <a:latin typeface="Cambria" pitchFamily="34" charset="0"/>
                <a:ea typeface="Cambria" pitchFamily="34" charset="-122"/>
                <a:cs typeface="Cambria" pitchFamily="34" charset="-120"/>
              </a:rPr>
              <a:t>Application Modernization (03.4) and Platform Engineering (03.6) appear on either path, depending on where the customer starts.</a:t>
            </a:r>
            <a:endParaRPr lang="en-US" sz="1050" dirty="0"/>
          </a:p>
        </p:txBody>
      </p:sp>
      <p:sp>
        <p:nvSpPr>
          <p:cNvPr id="32" name="Text 30"/>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B0A39B"/>
                </a:solidFill>
                <a:latin typeface="Calibri" pitchFamily="34" charset="0"/>
                <a:ea typeface="Calibri" pitchFamily="34" charset="-122"/>
                <a:cs typeface="Calibri" pitchFamily="34" charset="-120"/>
              </a:rPr>
              <a:t>LTM  ·  Infra Tech Advisory  ·  Public Cloud &amp; Modernization</a:t>
            </a:r>
            <a:endParaRPr lang="en-US" sz="950" dirty="0"/>
          </a:p>
        </p:txBody>
      </p:sp>
      <p:sp>
        <p:nvSpPr>
          <p:cNvPr id="33" name="Text 31"/>
          <p:cNvSpPr txBox="1"/>
          <p:nvPr/>
        </p:nvSpPr>
        <p:spPr>
          <a:xfrm>
            <a:off x="8961120" y="6473952"/>
            <a:ext cx="2724912" cy="274320"/>
          </a:xfrm>
          <a:prstGeom prst="rect">
            <a:avLst/>
          </a:prstGeom>
          <a:noFill/>
          <a:ln/>
        </p:spPr>
        <p:txBody>
          <a:bodyPr wrap="square" lIns="0" tIns="0" rIns="0" bIns="0" rtlCol="0" anchor="ctr"/>
          <a:lstStyle/>
          <a:p>
            <a:pPr marL="0" indent="0" algn="r">
              <a:buNone/>
            </a:pPr>
            <a:r>
              <a:rPr lang="en-US" sz="950" dirty="0">
                <a:solidFill>
                  <a:srgbClr val="B0A39B"/>
                </a:solidFill>
                <a:latin typeface="Calibri" pitchFamily="34" charset="0"/>
                <a:ea typeface="Calibri" pitchFamily="34" charset="-122"/>
                <a:cs typeface="Calibri" pitchFamily="34" charset="-120"/>
              </a:rPr>
              <a:t>Routing map</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marL="0" indent="0">
              <a:buNone/>
            </a:pPr>
            <a:r>
              <a:rPr lang="en-US" sz="1100" b="1" kern="0" spc="200" dirty="0">
                <a:solidFill>
                  <a:srgbClr val="B0481E"/>
                </a:solidFill>
                <a:latin typeface="Calibri" pitchFamily="34" charset="0"/>
                <a:ea typeface="Calibri" pitchFamily="34" charset="-122"/>
                <a:cs typeface="Calibri" pitchFamily="34" charset="-120"/>
              </a:rPr>
              <a:t>THE ENGAGEMENT SPINE</a:t>
            </a:r>
            <a:endParaRPr lang="en-US" sz="1100" dirty="0"/>
          </a:p>
        </p:txBody>
      </p:sp>
      <p:sp>
        <p:nvSpPr>
          <p:cNvPr id="3" name="Text 1"/>
          <p:cNvSpPr txBox="1"/>
          <p:nvPr/>
        </p:nvSpPr>
        <p:spPr>
          <a:xfrm>
            <a:off x="484632" y="676656"/>
            <a:ext cx="10058400" cy="457200"/>
          </a:xfrm>
          <a:prstGeom prst="rect">
            <a:avLst/>
          </a:prstGeom>
          <a:noFill/>
          <a:ln/>
        </p:spPr>
        <p:txBody>
          <a:bodyPr wrap="square" lIns="0" tIns="0" rIns="0" bIns="0" rtlCol="0" anchor="ctr"/>
          <a:lstStyle/>
          <a:p>
            <a:pPr marL="0" indent="0">
              <a:buNone/>
            </a:pPr>
            <a:r>
              <a:rPr lang="en-US" sz="2500" b="1" dirty="0">
                <a:solidFill>
                  <a:srgbClr val="1B1F23"/>
                </a:solidFill>
                <a:latin typeface="Cambria" pitchFamily="34" charset="0"/>
                <a:ea typeface="Cambria" pitchFamily="34" charset="-122"/>
                <a:cs typeface="Cambria" pitchFamily="34" charset="-120"/>
              </a:rPr>
              <a:t>Two journeys, one delivery discipline</a:t>
            </a:r>
            <a:endParaRPr lang="en-US" sz="2500" dirty="0"/>
          </a:p>
        </p:txBody>
      </p:sp>
      <p:sp>
        <p:nvSpPr>
          <p:cNvPr id="4" name="Text 2"/>
          <p:cNvSpPr txBox="1"/>
          <p:nvPr/>
        </p:nvSpPr>
        <p:spPr>
          <a:xfrm>
            <a:off x="502920" y="1188720"/>
            <a:ext cx="10972800" cy="274320"/>
          </a:xfrm>
          <a:prstGeom prst="rect">
            <a:avLst/>
          </a:prstGeom>
          <a:noFill/>
          <a:ln/>
        </p:spPr>
        <p:txBody>
          <a:bodyPr wrap="square" lIns="0" tIns="0" rIns="0" bIns="0" rtlCol="0" anchor="ctr"/>
          <a:lstStyle/>
          <a:p>
            <a:pPr marL="0" indent="0">
              <a:buNone/>
            </a:pPr>
            <a:r>
              <a:rPr lang="en-US" sz="1200" dirty="0">
                <a:solidFill>
                  <a:srgbClr val="6B5A52"/>
                </a:solidFill>
                <a:latin typeface="Calibri" pitchFamily="34" charset="0"/>
                <a:ea typeface="Calibri" pitchFamily="34" charset="-122"/>
                <a:cs typeface="Calibri" pitchFamily="34" charset="-120"/>
              </a:rPr>
              <a:t>Each journey runs its own left-to-right motion. Every offering is standalone-sellable — clients can enter at any step.</a:t>
            </a:r>
            <a:endParaRPr lang="en-US" sz="1200" dirty="0"/>
          </a:p>
        </p:txBody>
      </p:sp>
      <p:sp>
        <p:nvSpPr>
          <p:cNvPr id="5" name="Text 3"/>
          <p:cNvSpPr txBox="1"/>
          <p:nvPr/>
        </p:nvSpPr>
        <p:spPr>
          <a:xfrm>
            <a:off x="548640" y="1828800"/>
            <a:ext cx="10058400" cy="274320"/>
          </a:xfrm>
          <a:prstGeom prst="rect">
            <a:avLst/>
          </a:prstGeom>
          <a:noFill/>
          <a:ln/>
        </p:spPr>
        <p:txBody>
          <a:bodyPr wrap="square" lIns="0" tIns="0" rIns="0" bIns="0" rtlCol="0" anchor="ctr"/>
          <a:lstStyle/>
          <a:p>
            <a:pPr marL="0" indent="0">
              <a:buNone/>
            </a:pPr>
            <a:r>
              <a:rPr lang="en-US" sz="1100" b="1" kern="0" spc="150" dirty="0">
                <a:solidFill>
                  <a:srgbClr val="B0481E"/>
                </a:solidFill>
                <a:latin typeface="Calibri" pitchFamily="34" charset="0"/>
                <a:ea typeface="Calibri" pitchFamily="34" charset="-122"/>
                <a:cs typeface="Calibri" pitchFamily="34" charset="-120"/>
              </a:rPr>
              <a:t>JOURNEY A · OPTIMIZE WHAT’S RUNNING</a:t>
            </a:r>
            <a:endParaRPr lang="en-US" sz="1100" dirty="0"/>
          </a:p>
        </p:txBody>
      </p:sp>
      <p:sp>
        <p:nvSpPr>
          <p:cNvPr id="6" name="Shape 4"/>
          <p:cNvSpPr/>
          <p:nvPr/>
        </p:nvSpPr>
        <p:spPr>
          <a:xfrm>
            <a:off x="566928" y="2157984"/>
            <a:ext cx="2487168" cy="1298448"/>
          </a:xfrm>
          <a:prstGeom prst="roundRect">
            <a:avLst>
              <a:gd name="adj" fmla="val 5634"/>
            </a:avLst>
          </a:prstGeom>
          <a:solidFill>
            <a:srgbClr val="B0481E"/>
          </a:solidFill>
          <a:ln/>
        </p:spPr>
        <p:txBody>
          <a:bodyPr/>
          <a:lstStyle/>
          <a:p>
            <a:endParaRPr lang="en-US"/>
          </a:p>
        </p:txBody>
      </p:sp>
      <p:sp>
        <p:nvSpPr>
          <p:cNvPr id="7" name="Text 5"/>
          <p:cNvSpPr txBox="1"/>
          <p:nvPr/>
        </p:nvSpPr>
        <p:spPr>
          <a:xfrm>
            <a:off x="749808" y="2267712"/>
            <a:ext cx="548640" cy="411480"/>
          </a:xfrm>
          <a:prstGeom prst="rect">
            <a:avLst/>
          </a:prstGeom>
          <a:noFill/>
          <a:ln/>
        </p:spPr>
        <p:txBody>
          <a:bodyPr wrap="square" lIns="0" tIns="0" rIns="0" bIns="0" rtlCol="0" anchor="ctr"/>
          <a:lstStyle/>
          <a:p>
            <a:pPr marL="0" indent="0">
              <a:buNone/>
            </a:pPr>
            <a:r>
              <a:rPr lang="en-US" sz="2200" b="1" dirty="0">
                <a:solidFill>
                  <a:srgbClr val="FFFFFF">
                    <a:alpha val="70000"/>
                  </a:srgbClr>
                </a:solidFill>
                <a:latin typeface="Cambria" pitchFamily="34" charset="0"/>
                <a:ea typeface="Cambria" pitchFamily="34" charset="-122"/>
                <a:cs typeface="Cambria" pitchFamily="34" charset="-120"/>
              </a:rPr>
              <a:t>1</a:t>
            </a:r>
            <a:endParaRPr lang="en-US" sz="2200" dirty="0"/>
          </a:p>
        </p:txBody>
      </p:sp>
      <p:sp>
        <p:nvSpPr>
          <p:cNvPr id="8" name="Text 6"/>
          <p:cNvSpPr txBox="1"/>
          <p:nvPr/>
        </p:nvSpPr>
        <p:spPr>
          <a:xfrm>
            <a:off x="786384" y="2660904"/>
            <a:ext cx="2048256" cy="347472"/>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Diagnose</a:t>
            </a:r>
            <a:endParaRPr lang="en-US" sz="1700" dirty="0"/>
          </a:p>
        </p:txBody>
      </p:sp>
      <p:sp>
        <p:nvSpPr>
          <p:cNvPr id="9" name="Text 7"/>
          <p:cNvSpPr txBox="1"/>
          <p:nvPr/>
        </p:nvSpPr>
        <p:spPr>
          <a:xfrm>
            <a:off x="786384" y="3026664"/>
            <a:ext cx="2048256" cy="384048"/>
          </a:xfrm>
          <a:prstGeom prst="rect">
            <a:avLst/>
          </a:prstGeom>
          <a:noFill/>
          <a:ln/>
        </p:spPr>
        <p:txBody>
          <a:bodyPr wrap="square" lIns="0" tIns="0" rIns="0" bIns="0" rtlCol="0" anchor="ctr"/>
          <a:lstStyle/>
          <a:p>
            <a:pPr marL="0" indent="0">
              <a:lnSpc>
                <a:spcPct val="95000"/>
              </a:lnSpc>
              <a:buNone/>
            </a:pPr>
            <a:r>
              <a:rPr lang="en-US" sz="1000" dirty="0">
                <a:solidFill>
                  <a:srgbClr val="FBEDE6"/>
                </a:solidFill>
                <a:latin typeface="Calibri" pitchFamily="34" charset="0"/>
                <a:ea typeface="Calibri" pitchFamily="34" charset="-122"/>
                <a:cs typeface="Calibri" pitchFamily="34" charset="-120"/>
              </a:rPr>
              <a:t>Cloud IQ → FinOps IQ</a:t>
            </a:r>
            <a:endParaRPr lang="en-US" sz="1000" dirty="0"/>
          </a:p>
        </p:txBody>
      </p:sp>
      <p:sp>
        <p:nvSpPr>
          <p:cNvPr id="10" name="Shape 8"/>
          <p:cNvSpPr/>
          <p:nvPr/>
        </p:nvSpPr>
        <p:spPr>
          <a:xfrm>
            <a:off x="3108960" y="2807208"/>
            <a:ext cx="274320" cy="0"/>
          </a:xfrm>
          <a:prstGeom prst="line">
            <a:avLst/>
          </a:prstGeom>
          <a:noFill/>
          <a:ln w="25400">
            <a:solidFill>
              <a:srgbClr val="6B5A52"/>
            </a:solidFill>
            <a:prstDash val="solid"/>
            <a:tailEnd type="triangle"/>
          </a:ln>
        </p:spPr>
        <p:txBody>
          <a:bodyPr/>
          <a:lstStyle/>
          <a:p>
            <a:endParaRPr lang="en-US"/>
          </a:p>
        </p:txBody>
      </p:sp>
      <p:sp>
        <p:nvSpPr>
          <p:cNvPr id="11" name="Shape 9"/>
          <p:cNvSpPr/>
          <p:nvPr/>
        </p:nvSpPr>
        <p:spPr>
          <a:xfrm>
            <a:off x="3328416" y="2157984"/>
            <a:ext cx="2487168" cy="1298448"/>
          </a:xfrm>
          <a:prstGeom prst="roundRect">
            <a:avLst>
              <a:gd name="adj" fmla="val 5634"/>
            </a:avLst>
          </a:prstGeom>
          <a:solidFill>
            <a:srgbClr val="B0481E"/>
          </a:solidFill>
          <a:ln/>
        </p:spPr>
        <p:txBody>
          <a:bodyPr/>
          <a:lstStyle/>
          <a:p>
            <a:endParaRPr lang="en-US"/>
          </a:p>
        </p:txBody>
      </p:sp>
      <p:sp>
        <p:nvSpPr>
          <p:cNvPr id="12" name="Text 10"/>
          <p:cNvSpPr txBox="1"/>
          <p:nvPr/>
        </p:nvSpPr>
        <p:spPr>
          <a:xfrm>
            <a:off x="3511296" y="2267712"/>
            <a:ext cx="548640" cy="411480"/>
          </a:xfrm>
          <a:prstGeom prst="rect">
            <a:avLst/>
          </a:prstGeom>
          <a:noFill/>
          <a:ln/>
        </p:spPr>
        <p:txBody>
          <a:bodyPr wrap="square" lIns="0" tIns="0" rIns="0" bIns="0" rtlCol="0" anchor="ctr"/>
          <a:lstStyle/>
          <a:p>
            <a:pPr marL="0" indent="0">
              <a:buNone/>
            </a:pPr>
            <a:r>
              <a:rPr lang="en-US" sz="2200" b="1" dirty="0">
                <a:solidFill>
                  <a:srgbClr val="FFFFFF">
                    <a:alpha val="70000"/>
                  </a:srgbClr>
                </a:solidFill>
                <a:latin typeface="Cambria" pitchFamily="34" charset="0"/>
                <a:ea typeface="Cambria" pitchFamily="34" charset="-122"/>
                <a:cs typeface="Cambria" pitchFamily="34" charset="-120"/>
              </a:rPr>
              <a:t>2</a:t>
            </a:r>
            <a:endParaRPr lang="en-US" sz="2200" dirty="0"/>
          </a:p>
        </p:txBody>
      </p:sp>
      <p:sp>
        <p:nvSpPr>
          <p:cNvPr id="13" name="Text 11"/>
          <p:cNvSpPr txBox="1"/>
          <p:nvPr/>
        </p:nvSpPr>
        <p:spPr>
          <a:xfrm>
            <a:off x="3547872" y="2660904"/>
            <a:ext cx="2048256" cy="347472"/>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Optimize</a:t>
            </a:r>
            <a:endParaRPr lang="en-US" sz="1700" dirty="0"/>
          </a:p>
        </p:txBody>
      </p:sp>
      <p:sp>
        <p:nvSpPr>
          <p:cNvPr id="14" name="Text 12"/>
          <p:cNvSpPr txBox="1"/>
          <p:nvPr/>
        </p:nvSpPr>
        <p:spPr>
          <a:xfrm>
            <a:off x="3547872" y="3026664"/>
            <a:ext cx="2048256" cy="384048"/>
          </a:xfrm>
          <a:prstGeom prst="rect">
            <a:avLst/>
          </a:prstGeom>
          <a:noFill/>
          <a:ln/>
        </p:spPr>
        <p:txBody>
          <a:bodyPr wrap="square" lIns="0" tIns="0" rIns="0" bIns="0" rtlCol="0" anchor="ctr"/>
          <a:lstStyle/>
          <a:p>
            <a:pPr marL="0" indent="0">
              <a:lnSpc>
                <a:spcPct val="95000"/>
              </a:lnSpc>
              <a:buNone/>
            </a:pPr>
            <a:r>
              <a:rPr lang="en-US" sz="1000" dirty="0">
                <a:solidFill>
                  <a:srgbClr val="FBEDE6"/>
                </a:solidFill>
                <a:latin typeface="Calibri" pitchFamily="34" charset="0"/>
                <a:ea typeface="Calibri" pitchFamily="34" charset="-122"/>
                <a:cs typeface="Calibri" pitchFamily="34" charset="-120"/>
              </a:rPr>
              <a:t>FinOps Excellence</a:t>
            </a:r>
            <a:endParaRPr lang="en-US" sz="1000" dirty="0"/>
          </a:p>
        </p:txBody>
      </p:sp>
      <p:sp>
        <p:nvSpPr>
          <p:cNvPr id="15" name="Shape 13"/>
          <p:cNvSpPr/>
          <p:nvPr/>
        </p:nvSpPr>
        <p:spPr>
          <a:xfrm>
            <a:off x="5870448" y="2807208"/>
            <a:ext cx="274320" cy="0"/>
          </a:xfrm>
          <a:prstGeom prst="line">
            <a:avLst/>
          </a:prstGeom>
          <a:noFill/>
          <a:ln w="25400">
            <a:solidFill>
              <a:srgbClr val="6B5A52"/>
            </a:solidFill>
            <a:prstDash val="solid"/>
            <a:tailEnd type="triangle"/>
          </a:ln>
        </p:spPr>
        <p:txBody>
          <a:bodyPr/>
          <a:lstStyle/>
          <a:p>
            <a:endParaRPr lang="en-US"/>
          </a:p>
        </p:txBody>
      </p:sp>
      <p:sp>
        <p:nvSpPr>
          <p:cNvPr id="16" name="Shape 14"/>
          <p:cNvSpPr/>
          <p:nvPr/>
        </p:nvSpPr>
        <p:spPr>
          <a:xfrm>
            <a:off x="6089904" y="2157984"/>
            <a:ext cx="2487168" cy="1298448"/>
          </a:xfrm>
          <a:prstGeom prst="roundRect">
            <a:avLst>
              <a:gd name="adj" fmla="val 5634"/>
            </a:avLst>
          </a:prstGeom>
          <a:solidFill>
            <a:srgbClr val="B0481E"/>
          </a:solidFill>
          <a:ln/>
        </p:spPr>
        <p:txBody>
          <a:bodyPr/>
          <a:lstStyle/>
          <a:p>
            <a:endParaRPr lang="en-US"/>
          </a:p>
        </p:txBody>
      </p:sp>
      <p:sp>
        <p:nvSpPr>
          <p:cNvPr id="17" name="Text 15"/>
          <p:cNvSpPr txBox="1"/>
          <p:nvPr/>
        </p:nvSpPr>
        <p:spPr>
          <a:xfrm>
            <a:off x="6272784" y="2267712"/>
            <a:ext cx="548640" cy="411480"/>
          </a:xfrm>
          <a:prstGeom prst="rect">
            <a:avLst/>
          </a:prstGeom>
          <a:noFill/>
          <a:ln/>
        </p:spPr>
        <p:txBody>
          <a:bodyPr wrap="square" lIns="0" tIns="0" rIns="0" bIns="0" rtlCol="0" anchor="ctr"/>
          <a:lstStyle/>
          <a:p>
            <a:pPr marL="0" indent="0">
              <a:buNone/>
            </a:pPr>
            <a:r>
              <a:rPr lang="en-US" sz="2200" b="1" dirty="0">
                <a:solidFill>
                  <a:srgbClr val="FFFFFF">
                    <a:alpha val="70000"/>
                  </a:srgbClr>
                </a:solidFill>
                <a:latin typeface="Cambria" pitchFamily="34" charset="0"/>
                <a:ea typeface="Cambria" pitchFamily="34" charset="-122"/>
                <a:cs typeface="Cambria" pitchFamily="34" charset="-120"/>
              </a:rPr>
              <a:t>3</a:t>
            </a:r>
            <a:endParaRPr lang="en-US" sz="2200" dirty="0"/>
          </a:p>
        </p:txBody>
      </p:sp>
      <p:sp>
        <p:nvSpPr>
          <p:cNvPr id="18" name="Text 16"/>
          <p:cNvSpPr txBox="1"/>
          <p:nvPr/>
        </p:nvSpPr>
        <p:spPr>
          <a:xfrm>
            <a:off x="6309360" y="2660904"/>
            <a:ext cx="2048256" cy="347472"/>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Govern</a:t>
            </a:r>
            <a:endParaRPr lang="en-US" sz="1700" dirty="0"/>
          </a:p>
        </p:txBody>
      </p:sp>
      <p:sp>
        <p:nvSpPr>
          <p:cNvPr id="19" name="Text 17"/>
          <p:cNvSpPr txBox="1"/>
          <p:nvPr/>
        </p:nvSpPr>
        <p:spPr>
          <a:xfrm>
            <a:off x="6309360" y="3026664"/>
            <a:ext cx="2048256" cy="384048"/>
          </a:xfrm>
          <a:prstGeom prst="rect">
            <a:avLst/>
          </a:prstGeom>
          <a:noFill/>
          <a:ln/>
        </p:spPr>
        <p:txBody>
          <a:bodyPr wrap="square" lIns="0" tIns="0" rIns="0" bIns="0" rtlCol="0" anchor="ctr"/>
          <a:lstStyle/>
          <a:p>
            <a:pPr marL="0" indent="0">
              <a:lnSpc>
                <a:spcPct val="95000"/>
              </a:lnSpc>
              <a:buNone/>
            </a:pPr>
            <a:r>
              <a:rPr lang="en-US" sz="1000" dirty="0">
                <a:solidFill>
                  <a:srgbClr val="FBEDE6"/>
                </a:solidFill>
                <a:latin typeface="Calibri" pitchFamily="34" charset="0"/>
                <a:ea typeface="Calibri" pitchFamily="34" charset="-122"/>
                <a:cs typeface="Calibri" pitchFamily="34" charset="-120"/>
              </a:rPr>
              <a:t>Multi-Cloud · Platform Eng</a:t>
            </a:r>
            <a:endParaRPr lang="en-US" sz="1000" dirty="0"/>
          </a:p>
        </p:txBody>
      </p:sp>
      <p:sp>
        <p:nvSpPr>
          <p:cNvPr id="20" name="Shape 18"/>
          <p:cNvSpPr/>
          <p:nvPr/>
        </p:nvSpPr>
        <p:spPr>
          <a:xfrm>
            <a:off x="8631936" y="2807208"/>
            <a:ext cx="274320" cy="0"/>
          </a:xfrm>
          <a:prstGeom prst="line">
            <a:avLst/>
          </a:prstGeom>
          <a:noFill/>
          <a:ln w="25400">
            <a:solidFill>
              <a:srgbClr val="6B5A52"/>
            </a:solidFill>
            <a:prstDash val="solid"/>
            <a:tailEnd type="triangle"/>
          </a:ln>
        </p:spPr>
        <p:txBody>
          <a:bodyPr/>
          <a:lstStyle/>
          <a:p>
            <a:endParaRPr lang="en-US"/>
          </a:p>
        </p:txBody>
      </p:sp>
      <p:sp>
        <p:nvSpPr>
          <p:cNvPr id="21" name="Shape 19"/>
          <p:cNvSpPr/>
          <p:nvPr/>
        </p:nvSpPr>
        <p:spPr>
          <a:xfrm>
            <a:off x="8851392" y="2157984"/>
            <a:ext cx="2487168" cy="1298448"/>
          </a:xfrm>
          <a:prstGeom prst="roundRect">
            <a:avLst>
              <a:gd name="adj" fmla="val 5634"/>
            </a:avLst>
          </a:prstGeom>
          <a:solidFill>
            <a:srgbClr val="B0481E"/>
          </a:solidFill>
          <a:ln/>
        </p:spPr>
        <p:txBody>
          <a:bodyPr/>
          <a:lstStyle/>
          <a:p>
            <a:endParaRPr lang="en-US"/>
          </a:p>
        </p:txBody>
      </p:sp>
      <p:sp>
        <p:nvSpPr>
          <p:cNvPr id="22" name="Text 20"/>
          <p:cNvSpPr txBox="1"/>
          <p:nvPr/>
        </p:nvSpPr>
        <p:spPr>
          <a:xfrm>
            <a:off x="9034272" y="2267712"/>
            <a:ext cx="548640" cy="411480"/>
          </a:xfrm>
          <a:prstGeom prst="rect">
            <a:avLst/>
          </a:prstGeom>
          <a:noFill/>
          <a:ln/>
        </p:spPr>
        <p:txBody>
          <a:bodyPr wrap="square" lIns="0" tIns="0" rIns="0" bIns="0" rtlCol="0" anchor="ctr"/>
          <a:lstStyle/>
          <a:p>
            <a:pPr marL="0" indent="0">
              <a:buNone/>
            </a:pPr>
            <a:r>
              <a:rPr lang="en-US" sz="2200" b="1" dirty="0">
                <a:solidFill>
                  <a:srgbClr val="FFFFFF">
                    <a:alpha val="70000"/>
                  </a:srgbClr>
                </a:solidFill>
                <a:latin typeface="Cambria" pitchFamily="34" charset="0"/>
                <a:ea typeface="Cambria" pitchFamily="34" charset="-122"/>
                <a:cs typeface="Cambria" pitchFamily="34" charset="-120"/>
              </a:rPr>
              <a:t>4</a:t>
            </a:r>
            <a:endParaRPr lang="en-US" sz="2200" dirty="0"/>
          </a:p>
        </p:txBody>
      </p:sp>
      <p:sp>
        <p:nvSpPr>
          <p:cNvPr id="23" name="Text 21"/>
          <p:cNvSpPr txBox="1"/>
          <p:nvPr/>
        </p:nvSpPr>
        <p:spPr>
          <a:xfrm>
            <a:off x="9070848" y="2660904"/>
            <a:ext cx="2048256" cy="347472"/>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Run</a:t>
            </a:r>
            <a:endParaRPr lang="en-US" sz="1700" dirty="0"/>
          </a:p>
        </p:txBody>
      </p:sp>
      <p:sp>
        <p:nvSpPr>
          <p:cNvPr id="24" name="Text 22"/>
          <p:cNvSpPr txBox="1"/>
          <p:nvPr/>
        </p:nvSpPr>
        <p:spPr>
          <a:xfrm>
            <a:off x="9070848" y="3026664"/>
            <a:ext cx="2048256" cy="384048"/>
          </a:xfrm>
          <a:prstGeom prst="rect">
            <a:avLst/>
          </a:prstGeom>
          <a:noFill/>
          <a:ln/>
        </p:spPr>
        <p:txBody>
          <a:bodyPr wrap="square" lIns="0" tIns="0" rIns="0" bIns="0" rtlCol="0" anchor="ctr"/>
          <a:lstStyle/>
          <a:p>
            <a:pPr marL="0" indent="0">
              <a:lnSpc>
                <a:spcPct val="95000"/>
              </a:lnSpc>
              <a:buNone/>
            </a:pPr>
            <a:r>
              <a:rPr lang="en-US" sz="1000" dirty="0">
                <a:solidFill>
                  <a:srgbClr val="FBEDE6"/>
                </a:solidFill>
                <a:latin typeface="Calibri" pitchFamily="34" charset="0"/>
                <a:ea typeface="Calibri" pitchFamily="34" charset="-122"/>
                <a:cs typeface="Calibri" pitchFamily="34" charset="-120"/>
              </a:rPr>
              <a:t>Managed operations</a:t>
            </a:r>
            <a:endParaRPr lang="en-US" sz="1000" dirty="0"/>
          </a:p>
        </p:txBody>
      </p:sp>
      <p:sp>
        <p:nvSpPr>
          <p:cNvPr id="25" name="Text 23"/>
          <p:cNvSpPr txBox="1"/>
          <p:nvPr/>
        </p:nvSpPr>
        <p:spPr>
          <a:xfrm>
            <a:off x="548640" y="3977640"/>
            <a:ext cx="10058400" cy="274320"/>
          </a:xfrm>
          <a:prstGeom prst="rect">
            <a:avLst/>
          </a:prstGeom>
          <a:noFill/>
          <a:ln/>
        </p:spPr>
        <p:txBody>
          <a:bodyPr wrap="square" lIns="0" tIns="0" rIns="0" bIns="0" rtlCol="0" anchor="ctr"/>
          <a:lstStyle/>
          <a:p>
            <a:pPr marL="0" indent="0">
              <a:buNone/>
            </a:pPr>
            <a:r>
              <a:rPr lang="en-US" sz="1100" b="1" kern="0" spc="150" dirty="0">
                <a:solidFill>
                  <a:srgbClr val="8F3A17"/>
                </a:solidFill>
                <a:latin typeface="Calibri" pitchFamily="34" charset="0"/>
                <a:ea typeface="Calibri" pitchFamily="34" charset="-122"/>
                <a:cs typeface="Calibri" pitchFamily="34" charset="-120"/>
              </a:rPr>
              <a:t>JOURNEY B · DECIDE &amp; MODERNIZE</a:t>
            </a:r>
            <a:endParaRPr lang="en-US" sz="1100" dirty="0"/>
          </a:p>
        </p:txBody>
      </p:sp>
      <p:sp>
        <p:nvSpPr>
          <p:cNvPr id="26" name="Shape 24"/>
          <p:cNvSpPr/>
          <p:nvPr/>
        </p:nvSpPr>
        <p:spPr>
          <a:xfrm>
            <a:off x="566928" y="4306824"/>
            <a:ext cx="2487168" cy="1298448"/>
          </a:xfrm>
          <a:prstGeom prst="roundRect">
            <a:avLst>
              <a:gd name="adj" fmla="val 5634"/>
            </a:avLst>
          </a:prstGeom>
          <a:solidFill>
            <a:srgbClr val="8F3A17"/>
          </a:solidFill>
          <a:ln/>
        </p:spPr>
        <p:txBody>
          <a:bodyPr/>
          <a:lstStyle/>
          <a:p>
            <a:endParaRPr lang="en-US"/>
          </a:p>
        </p:txBody>
      </p:sp>
      <p:sp>
        <p:nvSpPr>
          <p:cNvPr id="27" name="Text 25"/>
          <p:cNvSpPr txBox="1"/>
          <p:nvPr/>
        </p:nvSpPr>
        <p:spPr>
          <a:xfrm>
            <a:off x="749808" y="4416552"/>
            <a:ext cx="548640" cy="411480"/>
          </a:xfrm>
          <a:prstGeom prst="rect">
            <a:avLst/>
          </a:prstGeom>
          <a:noFill/>
          <a:ln/>
        </p:spPr>
        <p:txBody>
          <a:bodyPr wrap="square" lIns="0" tIns="0" rIns="0" bIns="0" rtlCol="0" anchor="ctr"/>
          <a:lstStyle/>
          <a:p>
            <a:pPr marL="0" indent="0">
              <a:buNone/>
            </a:pPr>
            <a:r>
              <a:rPr lang="en-US" sz="2200" b="1" dirty="0">
                <a:solidFill>
                  <a:srgbClr val="FFFFFF">
                    <a:alpha val="70000"/>
                  </a:srgbClr>
                </a:solidFill>
                <a:latin typeface="Cambria" pitchFamily="34" charset="0"/>
                <a:ea typeface="Cambria" pitchFamily="34" charset="-122"/>
                <a:cs typeface="Cambria" pitchFamily="34" charset="-120"/>
              </a:rPr>
              <a:t>1</a:t>
            </a:r>
            <a:endParaRPr lang="en-US" sz="2200" dirty="0"/>
          </a:p>
        </p:txBody>
      </p:sp>
      <p:sp>
        <p:nvSpPr>
          <p:cNvPr id="28" name="Text 26"/>
          <p:cNvSpPr txBox="1"/>
          <p:nvPr/>
        </p:nvSpPr>
        <p:spPr>
          <a:xfrm>
            <a:off x="786384" y="4809744"/>
            <a:ext cx="2048256" cy="347472"/>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Diagnose</a:t>
            </a:r>
            <a:endParaRPr lang="en-US" sz="1700" dirty="0"/>
          </a:p>
        </p:txBody>
      </p:sp>
      <p:sp>
        <p:nvSpPr>
          <p:cNvPr id="29" name="Text 27"/>
          <p:cNvSpPr txBox="1"/>
          <p:nvPr/>
        </p:nvSpPr>
        <p:spPr>
          <a:xfrm>
            <a:off x="786384" y="5175504"/>
            <a:ext cx="2048256" cy="384048"/>
          </a:xfrm>
          <a:prstGeom prst="rect">
            <a:avLst/>
          </a:prstGeom>
          <a:noFill/>
          <a:ln/>
        </p:spPr>
        <p:txBody>
          <a:bodyPr wrap="square" lIns="0" tIns="0" rIns="0" bIns="0" rtlCol="0" anchor="ctr"/>
          <a:lstStyle/>
          <a:p>
            <a:pPr marL="0" indent="0">
              <a:lnSpc>
                <a:spcPct val="95000"/>
              </a:lnSpc>
              <a:buNone/>
            </a:pPr>
            <a:r>
              <a:rPr lang="en-US" sz="1000" dirty="0">
                <a:solidFill>
                  <a:srgbClr val="FBEDE6"/>
                </a:solidFill>
                <a:latin typeface="Calibri" pitchFamily="34" charset="0"/>
                <a:ea typeface="Calibri" pitchFamily="34" charset="-122"/>
                <a:cs typeface="Calibri" pitchFamily="34" charset="-120"/>
              </a:rPr>
              <a:t>Cloud IQ → Modernization IQ</a:t>
            </a:r>
            <a:endParaRPr lang="en-US" sz="1000" dirty="0"/>
          </a:p>
        </p:txBody>
      </p:sp>
      <p:sp>
        <p:nvSpPr>
          <p:cNvPr id="30" name="Shape 28"/>
          <p:cNvSpPr/>
          <p:nvPr/>
        </p:nvSpPr>
        <p:spPr>
          <a:xfrm>
            <a:off x="3108960" y="4956048"/>
            <a:ext cx="274320" cy="0"/>
          </a:xfrm>
          <a:prstGeom prst="line">
            <a:avLst/>
          </a:prstGeom>
          <a:noFill/>
          <a:ln w="25400">
            <a:solidFill>
              <a:srgbClr val="6B5A52"/>
            </a:solidFill>
            <a:prstDash val="solid"/>
            <a:tailEnd type="triangle"/>
          </a:ln>
        </p:spPr>
        <p:txBody>
          <a:bodyPr/>
          <a:lstStyle/>
          <a:p>
            <a:endParaRPr lang="en-US"/>
          </a:p>
        </p:txBody>
      </p:sp>
      <p:sp>
        <p:nvSpPr>
          <p:cNvPr id="31" name="Shape 29"/>
          <p:cNvSpPr/>
          <p:nvPr/>
        </p:nvSpPr>
        <p:spPr>
          <a:xfrm>
            <a:off x="3328416" y="4306824"/>
            <a:ext cx="2487168" cy="1298448"/>
          </a:xfrm>
          <a:prstGeom prst="roundRect">
            <a:avLst>
              <a:gd name="adj" fmla="val 5634"/>
            </a:avLst>
          </a:prstGeom>
          <a:solidFill>
            <a:srgbClr val="8F3A17"/>
          </a:solidFill>
          <a:ln/>
        </p:spPr>
        <p:txBody>
          <a:bodyPr/>
          <a:lstStyle/>
          <a:p>
            <a:endParaRPr lang="en-US"/>
          </a:p>
        </p:txBody>
      </p:sp>
      <p:sp>
        <p:nvSpPr>
          <p:cNvPr id="32" name="Text 30"/>
          <p:cNvSpPr txBox="1"/>
          <p:nvPr/>
        </p:nvSpPr>
        <p:spPr>
          <a:xfrm>
            <a:off x="3511296" y="4416552"/>
            <a:ext cx="548640" cy="411480"/>
          </a:xfrm>
          <a:prstGeom prst="rect">
            <a:avLst/>
          </a:prstGeom>
          <a:noFill/>
          <a:ln/>
        </p:spPr>
        <p:txBody>
          <a:bodyPr wrap="square" lIns="0" tIns="0" rIns="0" bIns="0" rtlCol="0" anchor="ctr"/>
          <a:lstStyle/>
          <a:p>
            <a:pPr marL="0" indent="0">
              <a:buNone/>
            </a:pPr>
            <a:r>
              <a:rPr lang="en-US" sz="2200" b="1" dirty="0">
                <a:solidFill>
                  <a:srgbClr val="FFFFFF">
                    <a:alpha val="70000"/>
                  </a:srgbClr>
                </a:solidFill>
                <a:latin typeface="Cambria" pitchFamily="34" charset="0"/>
                <a:ea typeface="Cambria" pitchFamily="34" charset="-122"/>
                <a:cs typeface="Cambria" pitchFamily="34" charset="-120"/>
              </a:rPr>
              <a:t>2</a:t>
            </a:r>
            <a:endParaRPr lang="en-US" sz="2200" dirty="0"/>
          </a:p>
        </p:txBody>
      </p:sp>
      <p:sp>
        <p:nvSpPr>
          <p:cNvPr id="33" name="Text 31"/>
          <p:cNvSpPr txBox="1"/>
          <p:nvPr/>
        </p:nvSpPr>
        <p:spPr>
          <a:xfrm>
            <a:off x="3547872" y="4809744"/>
            <a:ext cx="2048256" cy="347472"/>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Decide</a:t>
            </a:r>
            <a:endParaRPr lang="en-US" sz="1700" dirty="0"/>
          </a:p>
        </p:txBody>
      </p:sp>
      <p:sp>
        <p:nvSpPr>
          <p:cNvPr id="34" name="Text 32"/>
          <p:cNvSpPr txBox="1"/>
          <p:nvPr/>
        </p:nvSpPr>
        <p:spPr>
          <a:xfrm>
            <a:off x="3547872" y="5175504"/>
            <a:ext cx="2048256" cy="384048"/>
          </a:xfrm>
          <a:prstGeom prst="rect">
            <a:avLst/>
          </a:prstGeom>
          <a:noFill/>
          <a:ln/>
        </p:spPr>
        <p:txBody>
          <a:bodyPr wrap="square" lIns="0" tIns="0" rIns="0" bIns="0" rtlCol="0" anchor="ctr"/>
          <a:lstStyle/>
          <a:p>
            <a:pPr marL="0" indent="0">
              <a:lnSpc>
                <a:spcPct val="95000"/>
              </a:lnSpc>
              <a:buNone/>
            </a:pPr>
            <a:r>
              <a:rPr lang="en-US" sz="1000" dirty="0">
                <a:solidFill>
                  <a:srgbClr val="FBEDE6"/>
                </a:solidFill>
                <a:latin typeface="Calibri" pitchFamily="34" charset="0"/>
                <a:ea typeface="Calibri" pitchFamily="34" charset="-122"/>
                <a:cs typeface="Calibri" pitchFamily="34" charset="-120"/>
              </a:rPr>
              <a:t>Right Cloud Strategy</a:t>
            </a:r>
            <a:endParaRPr lang="en-US" sz="1000" dirty="0"/>
          </a:p>
        </p:txBody>
      </p:sp>
      <p:sp>
        <p:nvSpPr>
          <p:cNvPr id="35" name="Shape 33"/>
          <p:cNvSpPr/>
          <p:nvPr/>
        </p:nvSpPr>
        <p:spPr>
          <a:xfrm>
            <a:off x="5870448" y="4956048"/>
            <a:ext cx="274320" cy="0"/>
          </a:xfrm>
          <a:prstGeom prst="line">
            <a:avLst/>
          </a:prstGeom>
          <a:noFill/>
          <a:ln w="25400">
            <a:solidFill>
              <a:srgbClr val="6B5A52"/>
            </a:solidFill>
            <a:prstDash val="solid"/>
            <a:tailEnd type="triangle"/>
          </a:ln>
        </p:spPr>
        <p:txBody>
          <a:bodyPr/>
          <a:lstStyle/>
          <a:p>
            <a:endParaRPr lang="en-US"/>
          </a:p>
        </p:txBody>
      </p:sp>
      <p:sp>
        <p:nvSpPr>
          <p:cNvPr id="36" name="Shape 34"/>
          <p:cNvSpPr/>
          <p:nvPr/>
        </p:nvSpPr>
        <p:spPr>
          <a:xfrm>
            <a:off x="6089904" y="4306824"/>
            <a:ext cx="2487168" cy="1298448"/>
          </a:xfrm>
          <a:prstGeom prst="roundRect">
            <a:avLst>
              <a:gd name="adj" fmla="val 5634"/>
            </a:avLst>
          </a:prstGeom>
          <a:solidFill>
            <a:srgbClr val="8F3A17"/>
          </a:solidFill>
          <a:ln/>
        </p:spPr>
        <p:txBody>
          <a:bodyPr/>
          <a:lstStyle/>
          <a:p>
            <a:endParaRPr lang="en-US"/>
          </a:p>
        </p:txBody>
      </p:sp>
      <p:sp>
        <p:nvSpPr>
          <p:cNvPr id="37" name="Text 35"/>
          <p:cNvSpPr txBox="1"/>
          <p:nvPr/>
        </p:nvSpPr>
        <p:spPr>
          <a:xfrm>
            <a:off x="6272784" y="4416552"/>
            <a:ext cx="548640" cy="411480"/>
          </a:xfrm>
          <a:prstGeom prst="rect">
            <a:avLst/>
          </a:prstGeom>
          <a:noFill/>
          <a:ln/>
        </p:spPr>
        <p:txBody>
          <a:bodyPr wrap="square" lIns="0" tIns="0" rIns="0" bIns="0" rtlCol="0" anchor="ctr"/>
          <a:lstStyle/>
          <a:p>
            <a:pPr marL="0" indent="0">
              <a:buNone/>
            </a:pPr>
            <a:r>
              <a:rPr lang="en-US" sz="2200" b="1" dirty="0">
                <a:solidFill>
                  <a:srgbClr val="FFFFFF">
                    <a:alpha val="70000"/>
                  </a:srgbClr>
                </a:solidFill>
                <a:latin typeface="Cambria" pitchFamily="34" charset="0"/>
                <a:ea typeface="Cambria" pitchFamily="34" charset="-122"/>
                <a:cs typeface="Cambria" pitchFamily="34" charset="-120"/>
              </a:rPr>
              <a:t>3</a:t>
            </a:r>
            <a:endParaRPr lang="en-US" sz="2200" dirty="0"/>
          </a:p>
        </p:txBody>
      </p:sp>
      <p:sp>
        <p:nvSpPr>
          <p:cNvPr id="38" name="Text 36"/>
          <p:cNvSpPr txBox="1"/>
          <p:nvPr/>
        </p:nvSpPr>
        <p:spPr>
          <a:xfrm>
            <a:off x="6309360" y="4809744"/>
            <a:ext cx="2048256" cy="347472"/>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Modernize</a:t>
            </a:r>
            <a:endParaRPr lang="en-US" sz="1700" dirty="0"/>
          </a:p>
        </p:txBody>
      </p:sp>
      <p:sp>
        <p:nvSpPr>
          <p:cNvPr id="39" name="Text 37"/>
          <p:cNvSpPr txBox="1"/>
          <p:nvPr/>
        </p:nvSpPr>
        <p:spPr>
          <a:xfrm>
            <a:off x="6309360" y="5175504"/>
            <a:ext cx="2048256" cy="384048"/>
          </a:xfrm>
          <a:prstGeom prst="rect">
            <a:avLst/>
          </a:prstGeom>
          <a:noFill/>
          <a:ln/>
        </p:spPr>
        <p:txBody>
          <a:bodyPr wrap="square" lIns="0" tIns="0" rIns="0" bIns="0" rtlCol="0" anchor="ctr"/>
          <a:lstStyle/>
          <a:p>
            <a:pPr marL="0" indent="0">
              <a:lnSpc>
                <a:spcPct val="95000"/>
              </a:lnSpc>
              <a:buNone/>
            </a:pPr>
            <a:r>
              <a:rPr lang="en-US" sz="1000" dirty="0">
                <a:solidFill>
                  <a:srgbClr val="FBEDE6"/>
                </a:solidFill>
                <a:latin typeface="Calibri" pitchFamily="34" charset="0"/>
                <a:ea typeface="Calibri" pitchFamily="34" charset="-122"/>
                <a:cs typeface="Calibri" pitchFamily="34" charset="-120"/>
              </a:rPr>
              <a:t>App Mod · Data Centre</a:t>
            </a:r>
            <a:endParaRPr lang="en-US" sz="1000" dirty="0"/>
          </a:p>
        </p:txBody>
      </p:sp>
      <p:sp>
        <p:nvSpPr>
          <p:cNvPr id="40" name="Shape 38"/>
          <p:cNvSpPr/>
          <p:nvPr/>
        </p:nvSpPr>
        <p:spPr>
          <a:xfrm>
            <a:off x="8631936" y="4956048"/>
            <a:ext cx="274320" cy="0"/>
          </a:xfrm>
          <a:prstGeom prst="line">
            <a:avLst/>
          </a:prstGeom>
          <a:noFill/>
          <a:ln w="25400">
            <a:solidFill>
              <a:srgbClr val="6B5A52"/>
            </a:solidFill>
            <a:prstDash val="solid"/>
            <a:tailEnd type="triangle"/>
          </a:ln>
        </p:spPr>
        <p:txBody>
          <a:bodyPr/>
          <a:lstStyle/>
          <a:p>
            <a:endParaRPr lang="en-US"/>
          </a:p>
        </p:txBody>
      </p:sp>
      <p:sp>
        <p:nvSpPr>
          <p:cNvPr id="41" name="Shape 39"/>
          <p:cNvSpPr/>
          <p:nvPr/>
        </p:nvSpPr>
        <p:spPr>
          <a:xfrm>
            <a:off x="8851392" y="4306824"/>
            <a:ext cx="2487168" cy="1298448"/>
          </a:xfrm>
          <a:prstGeom prst="roundRect">
            <a:avLst>
              <a:gd name="adj" fmla="val 5634"/>
            </a:avLst>
          </a:prstGeom>
          <a:solidFill>
            <a:srgbClr val="8F3A17"/>
          </a:solidFill>
          <a:ln/>
        </p:spPr>
        <p:txBody>
          <a:bodyPr/>
          <a:lstStyle/>
          <a:p>
            <a:endParaRPr lang="en-US"/>
          </a:p>
        </p:txBody>
      </p:sp>
      <p:sp>
        <p:nvSpPr>
          <p:cNvPr id="42" name="Text 40"/>
          <p:cNvSpPr txBox="1"/>
          <p:nvPr/>
        </p:nvSpPr>
        <p:spPr>
          <a:xfrm>
            <a:off x="9034272" y="4416552"/>
            <a:ext cx="548640" cy="411480"/>
          </a:xfrm>
          <a:prstGeom prst="rect">
            <a:avLst/>
          </a:prstGeom>
          <a:noFill/>
          <a:ln/>
        </p:spPr>
        <p:txBody>
          <a:bodyPr wrap="square" lIns="0" tIns="0" rIns="0" bIns="0" rtlCol="0" anchor="ctr"/>
          <a:lstStyle/>
          <a:p>
            <a:pPr marL="0" indent="0">
              <a:buNone/>
            </a:pPr>
            <a:r>
              <a:rPr lang="en-US" sz="2200" b="1" dirty="0">
                <a:solidFill>
                  <a:srgbClr val="FFFFFF">
                    <a:alpha val="70000"/>
                  </a:srgbClr>
                </a:solidFill>
                <a:latin typeface="Cambria" pitchFamily="34" charset="0"/>
                <a:ea typeface="Cambria" pitchFamily="34" charset="-122"/>
                <a:cs typeface="Cambria" pitchFamily="34" charset="-120"/>
              </a:rPr>
              <a:t>4</a:t>
            </a:r>
            <a:endParaRPr lang="en-US" sz="2200" dirty="0"/>
          </a:p>
        </p:txBody>
      </p:sp>
      <p:sp>
        <p:nvSpPr>
          <p:cNvPr id="43" name="Text 41"/>
          <p:cNvSpPr txBox="1"/>
          <p:nvPr/>
        </p:nvSpPr>
        <p:spPr>
          <a:xfrm>
            <a:off x="9070848" y="4809744"/>
            <a:ext cx="2048256" cy="347472"/>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Build</a:t>
            </a:r>
            <a:endParaRPr lang="en-US" sz="1700" dirty="0"/>
          </a:p>
        </p:txBody>
      </p:sp>
      <p:sp>
        <p:nvSpPr>
          <p:cNvPr id="44" name="Text 42"/>
          <p:cNvSpPr txBox="1"/>
          <p:nvPr/>
        </p:nvSpPr>
        <p:spPr>
          <a:xfrm>
            <a:off x="9070848" y="5175504"/>
            <a:ext cx="2048256" cy="384048"/>
          </a:xfrm>
          <a:prstGeom prst="rect">
            <a:avLst/>
          </a:prstGeom>
          <a:noFill/>
          <a:ln/>
        </p:spPr>
        <p:txBody>
          <a:bodyPr wrap="square" lIns="0" tIns="0" rIns="0" bIns="0" rtlCol="0" anchor="ctr"/>
          <a:lstStyle/>
          <a:p>
            <a:pPr marL="0" indent="0">
              <a:lnSpc>
                <a:spcPct val="95000"/>
              </a:lnSpc>
              <a:buNone/>
            </a:pPr>
            <a:r>
              <a:rPr lang="en-US" sz="1000" dirty="0">
                <a:solidFill>
                  <a:srgbClr val="FBEDE6"/>
                </a:solidFill>
                <a:latin typeface="Calibri" pitchFamily="34" charset="0"/>
                <a:ea typeface="Calibri" pitchFamily="34" charset="-122"/>
                <a:cs typeface="Calibri" pitchFamily="34" charset="-120"/>
              </a:rPr>
              <a:t>Migration &amp; delivery</a:t>
            </a:r>
            <a:endParaRPr lang="en-US" sz="1000" dirty="0"/>
          </a:p>
        </p:txBody>
      </p:sp>
      <p:sp>
        <p:nvSpPr>
          <p:cNvPr id="45" name="Text 43"/>
          <p:cNvSpPr txBox="1"/>
          <p:nvPr/>
        </p:nvSpPr>
        <p:spPr>
          <a:xfrm>
            <a:off x="566928" y="5943600"/>
            <a:ext cx="10972800" cy="274320"/>
          </a:xfrm>
          <a:prstGeom prst="rect">
            <a:avLst/>
          </a:prstGeom>
          <a:noFill/>
          <a:ln/>
        </p:spPr>
        <p:txBody>
          <a:bodyPr wrap="square" lIns="0" tIns="0" rIns="0" bIns="0" rtlCol="0" anchor="ctr"/>
          <a:lstStyle/>
          <a:p>
            <a:pPr marL="0" indent="0">
              <a:buNone/>
            </a:pPr>
            <a:r>
              <a:rPr lang="en-US" sz="1250" i="1" dirty="0">
                <a:solidFill>
                  <a:srgbClr val="0F6E56"/>
                </a:solidFill>
                <a:latin typeface="Cambria" pitchFamily="34" charset="0"/>
                <a:ea typeface="Cambria" pitchFamily="34" charset="-122"/>
                <a:cs typeface="Cambria" pitchFamily="34" charset="-120"/>
              </a:rPr>
              <a:t>Shared offerings — Application Modernization and Platform Engineering — can appear on either journey.</a:t>
            </a:r>
            <a:endParaRPr lang="en-US" sz="1250" dirty="0"/>
          </a:p>
        </p:txBody>
      </p:sp>
      <p:sp>
        <p:nvSpPr>
          <p:cNvPr id="46" name="Text 44"/>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B0A39B"/>
                </a:solidFill>
                <a:latin typeface="Calibri" pitchFamily="34" charset="0"/>
                <a:ea typeface="Calibri" pitchFamily="34" charset="-122"/>
                <a:cs typeface="Calibri" pitchFamily="34" charset="-120"/>
              </a:rPr>
              <a:t>LTM  ·  Infra Tech Advisory  ·  Public Cloud &amp; Modernization</a:t>
            </a:r>
            <a:endParaRPr lang="en-US" sz="950" dirty="0"/>
          </a:p>
        </p:txBody>
      </p:sp>
      <p:sp>
        <p:nvSpPr>
          <p:cNvPr id="47" name="Text 45"/>
          <p:cNvSpPr txBox="1"/>
          <p:nvPr/>
        </p:nvSpPr>
        <p:spPr>
          <a:xfrm>
            <a:off x="8961120" y="6473952"/>
            <a:ext cx="2724912" cy="274320"/>
          </a:xfrm>
          <a:prstGeom prst="rect">
            <a:avLst/>
          </a:prstGeom>
          <a:noFill/>
          <a:ln/>
        </p:spPr>
        <p:txBody>
          <a:bodyPr wrap="square" lIns="0" tIns="0" rIns="0" bIns="0" rtlCol="0" anchor="ctr"/>
          <a:lstStyle/>
          <a:p>
            <a:pPr marL="0" indent="0" algn="r">
              <a:buNone/>
            </a:pPr>
            <a:r>
              <a:rPr lang="en-US" sz="950" dirty="0">
                <a:solidFill>
                  <a:srgbClr val="B0A39B"/>
                </a:solidFill>
                <a:latin typeface="Calibri" pitchFamily="34" charset="0"/>
                <a:ea typeface="Calibri" pitchFamily="34" charset="-122"/>
                <a:cs typeface="Calibri" pitchFamily="34" charset="-120"/>
              </a:rPr>
              <a:t>Engagement spine</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marL="0" indent="0">
              <a:buNone/>
            </a:pPr>
            <a:r>
              <a:rPr lang="en-US" sz="1100" b="1" kern="0" spc="200" dirty="0">
                <a:solidFill>
                  <a:srgbClr val="B0481E"/>
                </a:solidFill>
                <a:latin typeface="Calibri" pitchFamily="34" charset="0"/>
                <a:ea typeface="Calibri" pitchFamily="34" charset="-122"/>
                <a:cs typeface="Calibri" pitchFamily="34" charset="-120"/>
              </a:rPr>
              <a:t>HOW EVERY ENGAGEMENT BEGINS</a:t>
            </a:r>
            <a:endParaRPr lang="en-US" sz="1100" dirty="0"/>
          </a:p>
        </p:txBody>
      </p:sp>
      <p:sp>
        <p:nvSpPr>
          <p:cNvPr id="3" name="Text 1"/>
          <p:cNvSpPr txBox="1"/>
          <p:nvPr/>
        </p:nvSpPr>
        <p:spPr>
          <a:xfrm>
            <a:off x="484632" y="676656"/>
            <a:ext cx="10058400" cy="457200"/>
          </a:xfrm>
          <a:prstGeom prst="rect">
            <a:avLst/>
          </a:prstGeom>
          <a:noFill/>
          <a:ln/>
        </p:spPr>
        <p:txBody>
          <a:bodyPr wrap="square" lIns="0" tIns="0" rIns="0" bIns="0" rtlCol="0" anchor="ctr"/>
          <a:lstStyle/>
          <a:p>
            <a:pPr marL="0" indent="0">
              <a:buNone/>
            </a:pPr>
            <a:r>
              <a:rPr lang="en-US" sz="2500" b="1" dirty="0">
                <a:solidFill>
                  <a:srgbClr val="1B1F23"/>
                </a:solidFill>
                <a:latin typeface="Cambria" pitchFamily="34" charset="0"/>
                <a:ea typeface="Cambria" pitchFamily="34" charset="-122"/>
                <a:cs typeface="Cambria" pitchFamily="34" charset="-120"/>
              </a:rPr>
              <a:t>Three accelerators. Sort, then deepen.</a:t>
            </a:r>
            <a:endParaRPr lang="en-US" sz="2500" dirty="0"/>
          </a:p>
        </p:txBody>
      </p:sp>
      <p:sp>
        <p:nvSpPr>
          <p:cNvPr id="4" name="Text 2"/>
          <p:cNvSpPr txBox="1"/>
          <p:nvPr/>
        </p:nvSpPr>
        <p:spPr>
          <a:xfrm>
            <a:off x="502920" y="1188720"/>
            <a:ext cx="10972800" cy="274320"/>
          </a:xfrm>
          <a:prstGeom prst="rect">
            <a:avLst/>
          </a:prstGeom>
          <a:noFill/>
          <a:ln/>
        </p:spPr>
        <p:txBody>
          <a:bodyPr wrap="square" lIns="0" tIns="0" rIns="0" bIns="0" rtlCol="0" anchor="ctr"/>
          <a:lstStyle/>
          <a:p>
            <a:pPr marL="0" indent="0">
              <a:buNone/>
            </a:pPr>
            <a:r>
              <a:rPr lang="en-US" sz="1200" dirty="0">
                <a:solidFill>
                  <a:srgbClr val="6B5A52"/>
                </a:solidFill>
                <a:latin typeface="Calibri" pitchFamily="34" charset="0"/>
                <a:ea typeface="Calibri" pitchFamily="34" charset="-122"/>
                <a:cs typeface="Calibri" pitchFamily="34" charset="-120"/>
              </a:rPr>
              <a:t>A free self-assessment sorts the customer into a journey; a deeper read pinpoints the constraint; the evidence chooses the offering.</a:t>
            </a:r>
            <a:endParaRPr lang="en-US" sz="1200" dirty="0"/>
          </a:p>
        </p:txBody>
      </p:sp>
      <p:sp>
        <p:nvSpPr>
          <p:cNvPr id="5" name="Shape 3"/>
          <p:cNvSpPr/>
          <p:nvPr/>
        </p:nvSpPr>
        <p:spPr>
          <a:xfrm>
            <a:off x="502920" y="1828800"/>
            <a:ext cx="3602736" cy="3200400"/>
          </a:xfrm>
          <a:prstGeom prst="roundRect">
            <a:avLst>
              <a:gd name="adj" fmla="val 2000"/>
            </a:avLst>
          </a:prstGeom>
          <a:solidFill>
            <a:srgbClr val="FAF4F1"/>
          </a:solidFill>
          <a:ln w="9525">
            <a:solidFill>
              <a:srgbClr val="EAD9CF"/>
            </a:solidFill>
            <a:prstDash val="solid"/>
          </a:ln>
        </p:spPr>
        <p:txBody>
          <a:bodyPr/>
          <a:lstStyle/>
          <a:p>
            <a:endParaRPr lang="en-US"/>
          </a:p>
        </p:txBody>
      </p:sp>
      <p:sp>
        <p:nvSpPr>
          <p:cNvPr id="6" name="Shape 4"/>
          <p:cNvSpPr/>
          <p:nvPr/>
        </p:nvSpPr>
        <p:spPr>
          <a:xfrm>
            <a:off x="502920" y="1828800"/>
            <a:ext cx="3602736" cy="1051560"/>
          </a:xfrm>
          <a:prstGeom prst="roundRect">
            <a:avLst>
              <a:gd name="adj" fmla="val 6087"/>
            </a:avLst>
          </a:prstGeom>
          <a:solidFill>
            <a:srgbClr val="B0481E"/>
          </a:solidFill>
          <a:ln/>
        </p:spPr>
        <p:txBody>
          <a:bodyPr/>
          <a:lstStyle/>
          <a:p>
            <a:endParaRPr lang="en-US"/>
          </a:p>
        </p:txBody>
      </p:sp>
      <p:sp>
        <p:nvSpPr>
          <p:cNvPr id="7" name="Shape 5"/>
          <p:cNvSpPr/>
          <p:nvPr/>
        </p:nvSpPr>
        <p:spPr>
          <a:xfrm>
            <a:off x="502920" y="2331720"/>
            <a:ext cx="3602736" cy="548640"/>
          </a:xfrm>
          <a:prstGeom prst="rect">
            <a:avLst/>
          </a:prstGeom>
          <a:solidFill>
            <a:srgbClr val="B0481E"/>
          </a:solidFill>
          <a:ln/>
        </p:spPr>
        <p:txBody>
          <a:bodyPr/>
          <a:lstStyle/>
          <a:p>
            <a:endParaRPr lang="en-US"/>
          </a:p>
        </p:txBody>
      </p:sp>
      <p:pic>
        <p:nvPicPr>
          <p:cNvPr id="8" name="Image 0" descr="/home/claude/p3_a_cloudiq.png"/>
          <p:cNvPicPr>
            <a:picLocks noChangeAspect="1"/>
          </p:cNvPicPr>
          <p:nvPr/>
        </p:nvPicPr>
        <p:blipFill>
          <a:blip r:embed="rId3"/>
          <a:stretch>
            <a:fillRect/>
          </a:stretch>
        </p:blipFill>
        <p:spPr>
          <a:xfrm>
            <a:off x="758952" y="2103120"/>
            <a:ext cx="502920" cy="502920"/>
          </a:xfrm>
          <a:prstGeom prst="rect">
            <a:avLst/>
          </a:prstGeom>
        </p:spPr>
      </p:pic>
      <p:sp>
        <p:nvSpPr>
          <p:cNvPr id="9" name="Text 6"/>
          <p:cNvSpPr txBox="1"/>
          <p:nvPr/>
        </p:nvSpPr>
        <p:spPr>
          <a:xfrm>
            <a:off x="1399032" y="2066544"/>
            <a:ext cx="2596896"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Cloud IQ</a:t>
            </a:r>
            <a:endParaRPr lang="en-US" sz="1900" dirty="0"/>
          </a:p>
        </p:txBody>
      </p:sp>
      <p:sp>
        <p:nvSpPr>
          <p:cNvPr id="10" name="Text 7"/>
          <p:cNvSpPr txBox="1"/>
          <p:nvPr/>
        </p:nvSpPr>
        <p:spPr>
          <a:xfrm>
            <a:off x="1417320" y="2468880"/>
            <a:ext cx="2596896" cy="256032"/>
          </a:xfrm>
          <a:prstGeom prst="rect">
            <a:avLst/>
          </a:prstGeom>
          <a:noFill/>
          <a:ln/>
        </p:spPr>
        <p:txBody>
          <a:bodyPr wrap="square" lIns="0" tIns="0" rIns="0" bIns="0" rtlCol="0" anchor="ctr"/>
          <a:lstStyle/>
          <a:p>
            <a:pPr marL="0" indent="0">
              <a:buNone/>
            </a:pPr>
            <a:r>
              <a:rPr lang="en-US" sz="950" b="1" kern="0" spc="150" dirty="0">
                <a:solidFill>
                  <a:srgbClr val="F4D3BF"/>
                </a:solidFill>
                <a:latin typeface="Calibri" pitchFamily="34" charset="0"/>
                <a:ea typeface="Calibri" pitchFamily="34" charset="-122"/>
                <a:cs typeface="Calibri" pitchFamily="34" charset="-120"/>
              </a:rPr>
              <a:t>FREE · SELF-SERVE</a:t>
            </a:r>
            <a:endParaRPr lang="en-US" sz="950" dirty="0"/>
          </a:p>
        </p:txBody>
      </p:sp>
      <p:sp>
        <p:nvSpPr>
          <p:cNvPr id="11" name="Text 8"/>
          <p:cNvSpPr txBox="1"/>
          <p:nvPr/>
        </p:nvSpPr>
        <p:spPr>
          <a:xfrm>
            <a:off x="758952" y="3017520"/>
            <a:ext cx="3090672" cy="960120"/>
          </a:xfrm>
          <a:prstGeom prst="rect">
            <a:avLst/>
          </a:prstGeom>
          <a:noFill/>
          <a:ln/>
        </p:spPr>
        <p:txBody>
          <a:bodyPr wrap="square" lIns="0" tIns="0" rIns="0" bIns="0" rtlCol="0" anchor="ctr"/>
          <a:lstStyle/>
          <a:p>
            <a:pPr marL="0" indent="0">
              <a:lnSpc>
                <a:spcPct val="105000"/>
              </a:lnSpc>
              <a:buNone/>
            </a:pPr>
            <a:r>
              <a:rPr lang="en-US" sz="1300" i="1" dirty="0">
                <a:solidFill>
                  <a:srgbClr val="B0481E"/>
                </a:solidFill>
                <a:latin typeface="Cambria" pitchFamily="34" charset="0"/>
                <a:ea typeface="Cambria" pitchFamily="34" charset="-122"/>
                <a:cs typeface="Cambria" pitchFamily="34" charset="-120"/>
              </a:rPr>
              <a:t>“Where am I on the cloud journey, and what’s my binding constraint?”</a:t>
            </a:r>
            <a:endParaRPr lang="en-US" sz="1300" dirty="0"/>
          </a:p>
        </p:txBody>
      </p:sp>
      <p:sp>
        <p:nvSpPr>
          <p:cNvPr id="12" name="Shape 9"/>
          <p:cNvSpPr/>
          <p:nvPr/>
        </p:nvSpPr>
        <p:spPr>
          <a:xfrm>
            <a:off x="758952" y="4041648"/>
            <a:ext cx="3090672" cy="0"/>
          </a:xfrm>
          <a:prstGeom prst="line">
            <a:avLst/>
          </a:prstGeom>
          <a:noFill/>
          <a:ln w="12700">
            <a:solidFill>
              <a:srgbClr val="EAD9CF"/>
            </a:solidFill>
            <a:prstDash val="solid"/>
          </a:ln>
        </p:spPr>
        <p:txBody>
          <a:bodyPr/>
          <a:lstStyle/>
          <a:p>
            <a:endParaRPr lang="en-US"/>
          </a:p>
        </p:txBody>
      </p:sp>
      <p:sp>
        <p:nvSpPr>
          <p:cNvPr id="13" name="Text 10"/>
          <p:cNvSpPr txBox="1"/>
          <p:nvPr/>
        </p:nvSpPr>
        <p:spPr>
          <a:xfrm>
            <a:off x="758952" y="4114800"/>
            <a:ext cx="3090672" cy="822960"/>
          </a:xfrm>
          <a:prstGeom prst="rect">
            <a:avLst/>
          </a:prstGeom>
          <a:noFill/>
          <a:ln/>
        </p:spPr>
        <p:txBody>
          <a:bodyPr wrap="square" lIns="0" tIns="0" rIns="0" bIns="0" rtlCol="0" anchor="ctr"/>
          <a:lstStyle/>
          <a:p>
            <a:pPr marL="0" indent="0">
              <a:lnSpc>
                <a:spcPct val="100000"/>
              </a:lnSpc>
              <a:buNone/>
            </a:pPr>
            <a:r>
              <a:rPr lang="en-US" sz="1000" dirty="0">
                <a:solidFill>
                  <a:srgbClr val="4A3A32"/>
                </a:solidFill>
                <a:latin typeface="Calibri" pitchFamily="34" charset="0"/>
                <a:ea typeface="Calibri" pitchFamily="34" charset="-122"/>
                <a:cs typeface="Calibri" pitchFamily="34" charset="-120"/>
              </a:rPr>
              <a:t>The shared front door. Sorts the customer into Journey A (optimize) or Journey B (decide &amp; modernize), and flags the entry offering.</a:t>
            </a:r>
            <a:endParaRPr lang="en-US" sz="1000" dirty="0"/>
          </a:p>
        </p:txBody>
      </p:sp>
      <p:sp>
        <p:nvSpPr>
          <p:cNvPr id="14" name="Shape 11"/>
          <p:cNvSpPr/>
          <p:nvPr/>
        </p:nvSpPr>
        <p:spPr>
          <a:xfrm>
            <a:off x="4343400" y="1828800"/>
            <a:ext cx="3602736" cy="3200400"/>
          </a:xfrm>
          <a:prstGeom prst="roundRect">
            <a:avLst>
              <a:gd name="adj" fmla="val 2000"/>
            </a:avLst>
          </a:prstGeom>
          <a:solidFill>
            <a:srgbClr val="FAF4F1"/>
          </a:solidFill>
          <a:ln w="9525">
            <a:solidFill>
              <a:srgbClr val="EAD9CF"/>
            </a:solidFill>
            <a:prstDash val="solid"/>
          </a:ln>
        </p:spPr>
        <p:txBody>
          <a:bodyPr/>
          <a:lstStyle/>
          <a:p>
            <a:endParaRPr lang="en-US"/>
          </a:p>
        </p:txBody>
      </p:sp>
      <p:sp>
        <p:nvSpPr>
          <p:cNvPr id="15" name="Shape 12"/>
          <p:cNvSpPr/>
          <p:nvPr/>
        </p:nvSpPr>
        <p:spPr>
          <a:xfrm>
            <a:off x="4343400" y="1828800"/>
            <a:ext cx="3602736" cy="1051560"/>
          </a:xfrm>
          <a:prstGeom prst="roundRect">
            <a:avLst>
              <a:gd name="adj" fmla="val 6087"/>
            </a:avLst>
          </a:prstGeom>
          <a:solidFill>
            <a:srgbClr val="8F3A17"/>
          </a:solidFill>
          <a:ln/>
        </p:spPr>
        <p:txBody>
          <a:bodyPr/>
          <a:lstStyle/>
          <a:p>
            <a:endParaRPr lang="en-US"/>
          </a:p>
        </p:txBody>
      </p:sp>
      <p:sp>
        <p:nvSpPr>
          <p:cNvPr id="16" name="Shape 13"/>
          <p:cNvSpPr/>
          <p:nvPr/>
        </p:nvSpPr>
        <p:spPr>
          <a:xfrm>
            <a:off x="4343400" y="2331720"/>
            <a:ext cx="3602736" cy="548640"/>
          </a:xfrm>
          <a:prstGeom prst="rect">
            <a:avLst/>
          </a:prstGeom>
          <a:solidFill>
            <a:srgbClr val="8F3A17"/>
          </a:solidFill>
          <a:ln/>
        </p:spPr>
        <p:txBody>
          <a:bodyPr/>
          <a:lstStyle/>
          <a:p>
            <a:endParaRPr lang="en-US"/>
          </a:p>
        </p:txBody>
      </p:sp>
      <p:pic>
        <p:nvPicPr>
          <p:cNvPr id="17" name="Image 1" descr="/home/claude/p3_a_finopsiq.png"/>
          <p:cNvPicPr>
            <a:picLocks noChangeAspect="1"/>
          </p:cNvPicPr>
          <p:nvPr/>
        </p:nvPicPr>
        <p:blipFill>
          <a:blip r:embed="rId4"/>
          <a:stretch>
            <a:fillRect/>
          </a:stretch>
        </p:blipFill>
        <p:spPr>
          <a:xfrm>
            <a:off x="4599432" y="2103120"/>
            <a:ext cx="502920" cy="502920"/>
          </a:xfrm>
          <a:prstGeom prst="rect">
            <a:avLst/>
          </a:prstGeom>
        </p:spPr>
      </p:pic>
      <p:sp>
        <p:nvSpPr>
          <p:cNvPr id="18" name="Text 14"/>
          <p:cNvSpPr txBox="1"/>
          <p:nvPr/>
        </p:nvSpPr>
        <p:spPr>
          <a:xfrm>
            <a:off x="5239512" y="2066544"/>
            <a:ext cx="2596896"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FinOps IQ</a:t>
            </a:r>
            <a:endParaRPr lang="en-US" sz="1900" dirty="0"/>
          </a:p>
        </p:txBody>
      </p:sp>
      <p:sp>
        <p:nvSpPr>
          <p:cNvPr id="19" name="Text 15"/>
          <p:cNvSpPr txBox="1"/>
          <p:nvPr/>
        </p:nvSpPr>
        <p:spPr>
          <a:xfrm>
            <a:off x="5257800" y="2468880"/>
            <a:ext cx="2596896" cy="256032"/>
          </a:xfrm>
          <a:prstGeom prst="rect">
            <a:avLst/>
          </a:prstGeom>
          <a:noFill/>
          <a:ln/>
        </p:spPr>
        <p:txBody>
          <a:bodyPr wrap="square" lIns="0" tIns="0" rIns="0" bIns="0" rtlCol="0" anchor="ctr"/>
          <a:lstStyle/>
          <a:p>
            <a:pPr marL="0" indent="0">
              <a:buNone/>
            </a:pPr>
            <a:r>
              <a:rPr lang="en-US" sz="950" b="1" kern="0" spc="150" dirty="0">
                <a:solidFill>
                  <a:srgbClr val="F4D3BF"/>
                </a:solidFill>
                <a:latin typeface="Calibri" pitchFamily="34" charset="0"/>
                <a:ea typeface="Calibri" pitchFamily="34" charset="-122"/>
                <a:cs typeface="Calibri" pitchFamily="34" charset="-120"/>
              </a:rPr>
              <a:t>GATED · LTM-LED</a:t>
            </a:r>
            <a:endParaRPr lang="en-US" sz="950" dirty="0"/>
          </a:p>
        </p:txBody>
      </p:sp>
      <p:sp>
        <p:nvSpPr>
          <p:cNvPr id="20" name="Text 16"/>
          <p:cNvSpPr txBox="1"/>
          <p:nvPr/>
        </p:nvSpPr>
        <p:spPr>
          <a:xfrm>
            <a:off x="4599432" y="3017520"/>
            <a:ext cx="3090672" cy="960120"/>
          </a:xfrm>
          <a:prstGeom prst="rect">
            <a:avLst/>
          </a:prstGeom>
          <a:noFill/>
          <a:ln/>
        </p:spPr>
        <p:txBody>
          <a:bodyPr wrap="square" lIns="0" tIns="0" rIns="0" bIns="0" rtlCol="0" anchor="ctr"/>
          <a:lstStyle/>
          <a:p>
            <a:pPr marL="0" indent="0">
              <a:lnSpc>
                <a:spcPct val="105000"/>
              </a:lnSpc>
              <a:buNone/>
            </a:pPr>
            <a:r>
              <a:rPr lang="en-US" sz="1300" i="1" dirty="0">
                <a:solidFill>
                  <a:srgbClr val="B0481E"/>
                </a:solidFill>
                <a:latin typeface="Cambria" pitchFamily="34" charset="0"/>
                <a:ea typeface="Cambria" pitchFamily="34" charset="-122"/>
                <a:cs typeface="Cambria" pitchFamily="34" charset="-120"/>
              </a:rPr>
              <a:t>“How much am I wasting, and where is the spend actually going?”</a:t>
            </a:r>
            <a:endParaRPr lang="en-US" sz="1300" dirty="0"/>
          </a:p>
        </p:txBody>
      </p:sp>
      <p:sp>
        <p:nvSpPr>
          <p:cNvPr id="21" name="Shape 17"/>
          <p:cNvSpPr/>
          <p:nvPr/>
        </p:nvSpPr>
        <p:spPr>
          <a:xfrm>
            <a:off x="4599432" y="4041648"/>
            <a:ext cx="3090672" cy="0"/>
          </a:xfrm>
          <a:prstGeom prst="line">
            <a:avLst/>
          </a:prstGeom>
          <a:noFill/>
          <a:ln w="12700">
            <a:solidFill>
              <a:srgbClr val="EAD9CF"/>
            </a:solidFill>
            <a:prstDash val="solid"/>
          </a:ln>
        </p:spPr>
        <p:txBody>
          <a:bodyPr/>
          <a:lstStyle/>
          <a:p>
            <a:endParaRPr lang="en-US"/>
          </a:p>
        </p:txBody>
      </p:sp>
      <p:sp>
        <p:nvSpPr>
          <p:cNvPr id="22" name="Text 18"/>
          <p:cNvSpPr txBox="1"/>
          <p:nvPr/>
        </p:nvSpPr>
        <p:spPr>
          <a:xfrm>
            <a:off x="4599432" y="4114800"/>
            <a:ext cx="3090672" cy="822960"/>
          </a:xfrm>
          <a:prstGeom prst="rect">
            <a:avLst/>
          </a:prstGeom>
          <a:noFill/>
          <a:ln/>
        </p:spPr>
        <p:txBody>
          <a:bodyPr wrap="square" lIns="0" tIns="0" rIns="0" bIns="0" rtlCol="0" anchor="ctr"/>
          <a:lstStyle/>
          <a:p>
            <a:pPr marL="0" indent="0">
              <a:lnSpc>
                <a:spcPct val="100000"/>
              </a:lnSpc>
              <a:buNone/>
            </a:pPr>
            <a:r>
              <a:rPr lang="en-US" sz="1000" dirty="0">
                <a:solidFill>
                  <a:srgbClr val="4A3A32"/>
                </a:solidFill>
                <a:latin typeface="Calibri" pitchFamily="34" charset="0"/>
                <a:ea typeface="Calibri" pitchFamily="34" charset="-122"/>
                <a:cs typeface="Calibri" pitchFamily="34" charset="-120"/>
              </a:rPr>
              <a:t>The Journey A depth read — cost and unit-economics. Feeds FinOps Excellence (03.3) and the run-optimize offerings.</a:t>
            </a:r>
            <a:endParaRPr lang="en-US" sz="1000" dirty="0"/>
          </a:p>
        </p:txBody>
      </p:sp>
      <p:sp>
        <p:nvSpPr>
          <p:cNvPr id="23" name="Shape 19"/>
          <p:cNvSpPr/>
          <p:nvPr/>
        </p:nvSpPr>
        <p:spPr>
          <a:xfrm>
            <a:off x="8183880" y="1828800"/>
            <a:ext cx="3602736" cy="3200400"/>
          </a:xfrm>
          <a:prstGeom prst="roundRect">
            <a:avLst>
              <a:gd name="adj" fmla="val 2000"/>
            </a:avLst>
          </a:prstGeom>
          <a:solidFill>
            <a:srgbClr val="FAF4F1"/>
          </a:solidFill>
          <a:ln w="9525">
            <a:solidFill>
              <a:srgbClr val="EAD9CF"/>
            </a:solidFill>
            <a:prstDash val="solid"/>
          </a:ln>
        </p:spPr>
        <p:txBody>
          <a:bodyPr/>
          <a:lstStyle/>
          <a:p>
            <a:endParaRPr lang="en-US"/>
          </a:p>
        </p:txBody>
      </p:sp>
      <p:sp>
        <p:nvSpPr>
          <p:cNvPr id="24" name="Shape 20"/>
          <p:cNvSpPr/>
          <p:nvPr/>
        </p:nvSpPr>
        <p:spPr>
          <a:xfrm>
            <a:off x="8183880" y="1828800"/>
            <a:ext cx="3602736" cy="1051560"/>
          </a:xfrm>
          <a:prstGeom prst="roundRect">
            <a:avLst>
              <a:gd name="adj" fmla="val 6087"/>
            </a:avLst>
          </a:prstGeom>
          <a:solidFill>
            <a:srgbClr val="8F3A17"/>
          </a:solidFill>
          <a:ln/>
        </p:spPr>
        <p:txBody>
          <a:bodyPr/>
          <a:lstStyle/>
          <a:p>
            <a:endParaRPr lang="en-US"/>
          </a:p>
        </p:txBody>
      </p:sp>
      <p:sp>
        <p:nvSpPr>
          <p:cNvPr id="25" name="Shape 21"/>
          <p:cNvSpPr/>
          <p:nvPr/>
        </p:nvSpPr>
        <p:spPr>
          <a:xfrm>
            <a:off x="8183880" y="2331720"/>
            <a:ext cx="3602736" cy="548640"/>
          </a:xfrm>
          <a:prstGeom prst="rect">
            <a:avLst/>
          </a:prstGeom>
          <a:solidFill>
            <a:srgbClr val="8F3A17"/>
          </a:solidFill>
          <a:ln/>
        </p:spPr>
        <p:txBody>
          <a:bodyPr/>
          <a:lstStyle/>
          <a:p>
            <a:endParaRPr lang="en-US"/>
          </a:p>
        </p:txBody>
      </p:sp>
      <p:pic>
        <p:nvPicPr>
          <p:cNvPr id="26" name="Image 2" descr="/home/claude/p3_a_modiq.png"/>
          <p:cNvPicPr>
            <a:picLocks noChangeAspect="1"/>
          </p:cNvPicPr>
          <p:nvPr/>
        </p:nvPicPr>
        <p:blipFill>
          <a:blip r:embed="rId5"/>
          <a:stretch>
            <a:fillRect/>
          </a:stretch>
        </p:blipFill>
        <p:spPr>
          <a:xfrm>
            <a:off x="8439912" y="2103120"/>
            <a:ext cx="502920" cy="502920"/>
          </a:xfrm>
          <a:prstGeom prst="rect">
            <a:avLst/>
          </a:prstGeom>
        </p:spPr>
      </p:pic>
      <p:sp>
        <p:nvSpPr>
          <p:cNvPr id="27" name="Text 22"/>
          <p:cNvSpPr txBox="1"/>
          <p:nvPr/>
        </p:nvSpPr>
        <p:spPr>
          <a:xfrm>
            <a:off x="9079992" y="2066544"/>
            <a:ext cx="2596896"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Modernization IQ</a:t>
            </a:r>
            <a:endParaRPr lang="en-US" sz="1900" dirty="0"/>
          </a:p>
        </p:txBody>
      </p:sp>
      <p:sp>
        <p:nvSpPr>
          <p:cNvPr id="28" name="Text 23"/>
          <p:cNvSpPr txBox="1"/>
          <p:nvPr/>
        </p:nvSpPr>
        <p:spPr>
          <a:xfrm>
            <a:off x="9098280" y="2468880"/>
            <a:ext cx="2596896" cy="256032"/>
          </a:xfrm>
          <a:prstGeom prst="rect">
            <a:avLst/>
          </a:prstGeom>
          <a:noFill/>
          <a:ln/>
        </p:spPr>
        <p:txBody>
          <a:bodyPr wrap="square" lIns="0" tIns="0" rIns="0" bIns="0" rtlCol="0" anchor="ctr"/>
          <a:lstStyle/>
          <a:p>
            <a:pPr marL="0" indent="0">
              <a:buNone/>
            </a:pPr>
            <a:r>
              <a:rPr lang="en-US" sz="950" b="1" kern="0" spc="150" dirty="0">
                <a:solidFill>
                  <a:srgbClr val="F4D3BF"/>
                </a:solidFill>
                <a:latin typeface="Calibri" pitchFamily="34" charset="0"/>
                <a:ea typeface="Calibri" pitchFamily="34" charset="-122"/>
                <a:cs typeface="Calibri" pitchFamily="34" charset="-120"/>
              </a:rPr>
              <a:t>GATED · LTM-LED</a:t>
            </a:r>
            <a:endParaRPr lang="en-US" sz="950" dirty="0"/>
          </a:p>
        </p:txBody>
      </p:sp>
      <p:sp>
        <p:nvSpPr>
          <p:cNvPr id="29" name="Text 24"/>
          <p:cNvSpPr txBox="1"/>
          <p:nvPr/>
        </p:nvSpPr>
        <p:spPr>
          <a:xfrm>
            <a:off x="8439912" y="3017520"/>
            <a:ext cx="3090672" cy="960120"/>
          </a:xfrm>
          <a:prstGeom prst="rect">
            <a:avLst/>
          </a:prstGeom>
          <a:noFill/>
          <a:ln/>
        </p:spPr>
        <p:txBody>
          <a:bodyPr wrap="square" lIns="0" tIns="0" rIns="0" bIns="0" rtlCol="0" anchor="ctr"/>
          <a:lstStyle/>
          <a:p>
            <a:pPr marL="0" indent="0">
              <a:lnSpc>
                <a:spcPct val="105000"/>
              </a:lnSpc>
              <a:buNone/>
            </a:pPr>
            <a:r>
              <a:rPr lang="en-US" sz="1300" i="1" dirty="0">
                <a:solidFill>
                  <a:srgbClr val="B0481E"/>
                </a:solidFill>
                <a:latin typeface="Cambria" pitchFamily="34" charset="0"/>
                <a:ea typeface="Cambria" pitchFamily="34" charset="-122"/>
                <a:cs typeface="Cambria" pitchFamily="34" charset="-120"/>
              </a:rPr>
              <a:t>“What in my estate should move, modernize or be re-sited — and in what order?”</a:t>
            </a:r>
            <a:endParaRPr lang="en-US" sz="1300" dirty="0"/>
          </a:p>
        </p:txBody>
      </p:sp>
      <p:sp>
        <p:nvSpPr>
          <p:cNvPr id="30" name="Shape 25"/>
          <p:cNvSpPr/>
          <p:nvPr/>
        </p:nvSpPr>
        <p:spPr>
          <a:xfrm>
            <a:off x="8439912" y="4041648"/>
            <a:ext cx="3090672" cy="0"/>
          </a:xfrm>
          <a:prstGeom prst="line">
            <a:avLst/>
          </a:prstGeom>
          <a:noFill/>
          <a:ln w="12700">
            <a:solidFill>
              <a:srgbClr val="EAD9CF"/>
            </a:solidFill>
            <a:prstDash val="solid"/>
          </a:ln>
        </p:spPr>
        <p:txBody>
          <a:bodyPr/>
          <a:lstStyle/>
          <a:p>
            <a:endParaRPr lang="en-US"/>
          </a:p>
        </p:txBody>
      </p:sp>
      <p:sp>
        <p:nvSpPr>
          <p:cNvPr id="31" name="Text 26"/>
          <p:cNvSpPr txBox="1"/>
          <p:nvPr/>
        </p:nvSpPr>
        <p:spPr>
          <a:xfrm>
            <a:off x="8439912" y="4114800"/>
            <a:ext cx="3090672" cy="822960"/>
          </a:xfrm>
          <a:prstGeom prst="rect">
            <a:avLst/>
          </a:prstGeom>
          <a:noFill/>
          <a:ln/>
        </p:spPr>
        <p:txBody>
          <a:bodyPr wrap="square" lIns="0" tIns="0" rIns="0" bIns="0" rtlCol="0" anchor="ctr"/>
          <a:lstStyle/>
          <a:p>
            <a:pPr marL="0" indent="0">
              <a:lnSpc>
                <a:spcPct val="100000"/>
              </a:lnSpc>
              <a:buNone/>
            </a:pPr>
            <a:r>
              <a:rPr lang="en-US" sz="1000" dirty="0">
                <a:solidFill>
                  <a:srgbClr val="4A3A32"/>
                </a:solidFill>
                <a:latin typeface="Calibri" pitchFamily="34" charset="0"/>
                <a:ea typeface="Calibri" pitchFamily="34" charset="-122"/>
                <a:cs typeface="Calibri" pitchFamily="34" charset="-120"/>
              </a:rPr>
              <a:t>The Journey B depth read — application estate and data-centre disposition. Feeds Right Cloud (03.1), App Mod (03.4), Data Centre (03.5).</a:t>
            </a:r>
            <a:endParaRPr lang="en-US" sz="1000" dirty="0"/>
          </a:p>
        </p:txBody>
      </p:sp>
      <p:sp>
        <p:nvSpPr>
          <p:cNvPr id="32" name="Shape 27"/>
          <p:cNvSpPr/>
          <p:nvPr/>
        </p:nvSpPr>
        <p:spPr>
          <a:xfrm>
            <a:off x="502920" y="5285232"/>
            <a:ext cx="11183112" cy="658368"/>
          </a:xfrm>
          <a:prstGeom prst="roundRect">
            <a:avLst>
              <a:gd name="adj" fmla="val 8333"/>
            </a:avLst>
          </a:prstGeom>
          <a:solidFill>
            <a:srgbClr val="FBEDE6"/>
          </a:solidFill>
          <a:ln w="9525">
            <a:solidFill>
              <a:srgbClr val="EEB08A"/>
            </a:solidFill>
            <a:prstDash val="solid"/>
          </a:ln>
        </p:spPr>
        <p:txBody>
          <a:bodyPr/>
          <a:lstStyle/>
          <a:p>
            <a:endParaRPr lang="en-US"/>
          </a:p>
        </p:txBody>
      </p:sp>
      <p:sp>
        <p:nvSpPr>
          <p:cNvPr id="33" name="Text 28"/>
          <p:cNvSpPr txBox="1"/>
          <p:nvPr/>
        </p:nvSpPr>
        <p:spPr>
          <a:xfrm>
            <a:off x="777240" y="5394960"/>
            <a:ext cx="10698480" cy="457200"/>
          </a:xfrm>
          <a:prstGeom prst="rect">
            <a:avLst/>
          </a:prstGeom>
          <a:noFill/>
          <a:ln/>
        </p:spPr>
        <p:txBody>
          <a:bodyPr wrap="square" lIns="0" tIns="0" rIns="0" bIns="0" rtlCol="0" anchor="ctr"/>
          <a:lstStyle/>
          <a:p>
            <a:pPr marL="0" indent="0">
              <a:buNone/>
            </a:pPr>
            <a:r>
              <a:rPr lang="en-US" sz="1050" b="1" kern="0" spc="150" dirty="0">
                <a:solidFill>
                  <a:srgbClr val="B0481E"/>
                </a:solidFill>
                <a:latin typeface="Calibri" pitchFamily="34" charset="0"/>
                <a:ea typeface="Calibri" pitchFamily="34" charset="-122"/>
                <a:cs typeface="Calibri" pitchFamily="34" charset="-120"/>
              </a:rPr>
              <a:t>THE PATH   </a:t>
            </a:r>
            <a:r>
              <a:rPr lang="en-US" sz="1400" i="1" dirty="0">
                <a:solidFill>
                  <a:srgbClr val="8F3A17"/>
                </a:solidFill>
                <a:latin typeface="Cambria" pitchFamily="34" charset="0"/>
                <a:ea typeface="Cambria" pitchFamily="34" charset="-122"/>
                <a:cs typeface="Cambria" pitchFamily="34" charset="-120"/>
              </a:rPr>
              <a:t>Cloud IQ  →  sort into a journey  →  FinOps IQ / Modernization IQ  →  the offering the evidence points to  →  delivery</a:t>
            </a:r>
            <a:endParaRPr lang="en-US" sz="1050" dirty="0"/>
          </a:p>
        </p:txBody>
      </p:sp>
      <p:sp>
        <p:nvSpPr>
          <p:cNvPr id="34" name="Text 29"/>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B0A39B"/>
                </a:solidFill>
                <a:latin typeface="Calibri" pitchFamily="34" charset="0"/>
                <a:ea typeface="Calibri" pitchFamily="34" charset="-122"/>
                <a:cs typeface="Calibri" pitchFamily="34" charset="-120"/>
              </a:rPr>
              <a:t>LTM  ·  Infra Tech Advisory  ·  Public Cloud &amp; Modernization</a:t>
            </a:r>
            <a:endParaRPr lang="en-US" sz="950" dirty="0"/>
          </a:p>
        </p:txBody>
      </p:sp>
      <p:sp>
        <p:nvSpPr>
          <p:cNvPr id="35" name="Text 30"/>
          <p:cNvSpPr txBox="1"/>
          <p:nvPr/>
        </p:nvSpPr>
        <p:spPr>
          <a:xfrm>
            <a:off x="8961120" y="6473952"/>
            <a:ext cx="2724912" cy="274320"/>
          </a:xfrm>
          <a:prstGeom prst="rect">
            <a:avLst/>
          </a:prstGeom>
          <a:noFill/>
          <a:ln/>
        </p:spPr>
        <p:txBody>
          <a:bodyPr wrap="square" lIns="0" tIns="0" rIns="0" bIns="0" rtlCol="0" anchor="ctr"/>
          <a:lstStyle/>
          <a:p>
            <a:pPr marL="0" indent="0" algn="r">
              <a:buNone/>
            </a:pPr>
            <a:r>
              <a:rPr lang="en-US" sz="950" dirty="0">
                <a:solidFill>
                  <a:srgbClr val="B0A39B"/>
                </a:solidFill>
                <a:latin typeface="Calibri" pitchFamily="34" charset="0"/>
                <a:ea typeface="Calibri" pitchFamily="34" charset="-122"/>
                <a:cs typeface="Calibri" pitchFamily="34" charset="-120"/>
              </a:rPr>
              <a:t>Accelerators</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marL="0" indent="0">
              <a:buNone/>
            </a:pPr>
            <a:r>
              <a:rPr lang="en-US" sz="1100" b="1" kern="0" spc="200" dirty="0">
                <a:solidFill>
                  <a:srgbClr val="B0481E"/>
                </a:solidFill>
                <a:latin typeface="Calibri" pitchFamily="34" charset="0"/>
                <a:ea typeface="Calibri" pitchFamily="34" charset="-122"/>
                <a:cs typeface="Calibri" pitchFamily="34" charset="-120"/>
              </a:rPr>
              <a:t>OFFERING  ·  OUT-PLACE EVERY WORKLOAD.   ·   JOURNEY B · anchor</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EEB08A"/>
                </a:solidFill>
                <a:latin typeface="Cambria" pitchFamily="34" charset="0"/>
                <a:ea typeface="Cambria" pitchFamily="34" charset="-122"/>
                <a:cs typeface="Cambria" pitchFamily="34" charset="-120"/>
              </a:rPr>
              <a:t>03.1   </a:t>
            </a:r>
            <a:r>
              <a:rPr lang="en-US" sz="2400" b="1" dirty="0">
                <a:solidFill>
                  <a:srgbClr val="1B1F23"/>
                </a:solidFill>
                <a:latin typeface="Cambria" pitchFamily="34" charset="0"/>
                <a:ea typeface="Cambria" pitchFamily="34" charset="-122"/>
                <a:cs typeface="Cambria" pitchFamily="34" charset="-120"/>
              </a:rPr>
              <a:t>Right Cloud Strategy &amp; Workload Placement</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marL="0" indent="0">
              <a:buNone/>
            </a:pPr>
            <a:r>
              <a:rPr lang="en-US" sz="900" b="1" kern="0" spc="100" dirty="0">
                <a:solidFill>
                  <a:srgbClr val="EEB08A"/>
                </a:solidFill>
                <a:latin typeface="Calibri" pitchFamily="34" charset="0"/>
                <a:ea typeface="Calibri" pitchFamily="34" charset="-122"/>
                <a:cs typeface="Calibri" pitchFamily="34" charset="-120"/>
              </a:rPr>
              <a:t>STARTS FROM  </a:t>
            </a:r>
            <a:r>
              <a:rPr lang="en-US" sz="1050" dirty="0">
                <a:solidFill>
                  <a:srgbClr val="5A4A42"/>
                </a:solidFill>
                <a:latin typeface="Calibri" pitchFamily="34" charset="0"/>
                <a:ea typeface="Calibri" pitchFamily="34" charset="-122"/>
                <a:cs typeface="Calibri" pitchFamily="34" charset="-120"/>
              </a:rPr>
              <a:t>Cloud IQ → Modernization IQ      </a:t>
            </a:r>
            <a:r>
              <a:rPr lang="en-US" sz="900" b="1" kern="0" spc="100" dirty="0">
                <a:solidFill>
                  <a:srgbClr val="EEB08A"/>
                </a:solidFill>
                <a:latin typeface="Calibri" pitchFamily="34" charset="0"/>
                <a:ea typeface="Calibri" pitchFamily="34" charset="-122"/>
                <a:cs typeface="Calibri" pitchFamily="34" charset="-120"/>
              </a:rPr>
              <a:t>LEADS TO  </a:t>
            </a:r>
            <a:r>
              <a:rPr lang="en-US" sz="1050" dirty="0">
                <a:solidFill>
                  <a:srgbClr val="5A4A42"/>
                </a:solidFill>
                <a:latin typeface="Calibri" pitchFamily="34" charset="0"/>
                <a:ea typeface="Calibri" pitchFamily="34" charset="-122"/>
                <a:cs typeface="Calibri" pitchFamily="34" charset="-120"/>
              </a:rPr>
              <a:t>03.4 Application Modernization · 03.5 Data Centre Strategy → migration delivery</a:t>
            </a:r>
            <a:endParaRPr lang="en-US" sz="900" dirty="0"/>
          </a:p>
        </p:txBody>
      </p:sp>
      <p:sp>
        <p:nvSpPr>
          <p:cNvPr id="5" name="Shape 3"/>
          <p:cNvSpPr/>
          <p:nvPr/>
        </p:nvSpPr>
        <p:spPr>
          <a:xfrm>
            <a:off x="502920" y="1737360"/>
            <a:ext cx="5394960" cy="2395728"/>
          </a:xfrm>
          <a:prstGeom prst="roundRect">
            <a:avLst>
              <a:gd name="adj" fmla="val 2290"/>
            </a:avLst>
          </a:prstGeom>
          <a:solidFill>
            <a:srgbClr val="FAF4F1"/>
          </a:solidFill>
          <a:ln w="9525">
            <a:solidFill>
              <a:srgbClr val="EAD9CF"/>
            </a:solidFill>
            <a:prstDash val="solid"/>
          </a:ln>
        </p:spPr>
        <p:txBody>
          <a:bodyPr/>
          <a:lstStyle/>
          <a:p>
            <a:endParaRPr lang="en-US"/>
          </a:p>
        </p:txBody>
      </p:sp>
      <p:sp>
        <p:nvSpPr>
          <p:cNvPr id="6" name="Text 4"/>
          <p:cNvSpPr txBox="1"/>
          <p:nvPr/>
        </p:nvSpPr>
        <p:spPr>
          <a:xfrm>
            <a:off x="731520" y="1901952"/>
            <a:ext cx="4937760" cy="256032"/>
          </a:xfrm>
          <a:prstGeom prst="rect">
            <a:avLst/>
          </a:prstGeom>
          <a:noFill/>
          <a:ln/>
        </p:spPr>
        <p:txBody>
          <a:bodyPr wrap="square" lIns="0" tIns="0" rIns="0" bIns="0" rtlCol="0" anchor="ctr"/>
          <a:lstStyle/>
          <a:p>
            <a:pPr marL="0" indent="0">
              <a:buNone/>
            </a:pPr>
            <a:r>
              <a:rPr lang="en-US" sz="1100" b="1" kern="0" spc="150" dirty="0">
                <a:solidFill>
                  <a:srgbClr val="B0481E"/>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marL="0" indent="0">
              <a:lnSpc>
                <a:spcPct val="104000"/>
              </a:lnSpc>
              <a:buNone/>
            </a:pPr>
            <a:r>
              <a:rPr lang="en-US" sz="1150" dirty="0">
                <a:solidFill>
                  <a:srgbClr val="3A2E28"/>
                </a:solidFill>
                <a:latin typeface="Calibri" pitchFamily="34" charset="0"/>
                <a:ea typeface="Calibri" pitchFamily="34" charset="-122"/>
                <a:cs typeface="Calibri" pitchFamily="34" charset="-120"/>
              </a:rPr>
              <a:t>Gives the CIO a business-anchored answer to what goes where, and why — before a single workload moves. It sets hybrid and multi-cloud direction against cost, speed, resilience, sovereignty and AI-readiness, then places each workload across hyperscaler, sovereign, private, colocation and edge on evidence rather than vendor preference — including honest repatriation calls. It’s the strategy that stops a migration becoming an expensive accident.</a:t>
            </a:r>
            <a:endParaRPr lang="en-US" sz="1150" dirty="0"/>
          </a:p>
        </p:txBody>
      </p:sp>
      <p:sp>
        <p:nvSpPr>
          <p:cNvPr id="8" name="Shape 6"/>
          <p:cNvSpPr/>
          <p:nvPr/>
        </p:nvSpPr>
        <p:spPr>
          <a:xfrm>
            <a:off x="502920" y="4279392"/>
            <a:ext cx="5394960" cy="1627632"/>
          </a:xfrm>
          <a:prstGeom prst="roundRect">
            <a:avLst>
              <a:gd name="adj" fmla="val 3371"/>
            </a:avLst>
          </a:prstGeom>
          <a:solidFill>
            <a:srgbClr val="B0481E"/>
          </a:solidFill>
          <a:ln w="9525">
            <a:solidFill>
              <a:srgbClr val="B0481E"/>
            </a:solidFill>
            <a:prstDash val="solid"/>
          </a:ln>
        </p:spPr>
        <p:txBody>
          <a:bodyPr/>
          <a:lstStyle/>
          <a:p>
            <a:endParaRPr lang="en-US"/>
          </a:p>
        </p:txBody>
      </p:sp>
      <p:sp>
        <p:nvSpPr>
          <p:cNvPr id="9" name="Text 7"/>
          <p:cNvSpPr txBox="1"/>
          <p:nvPr/>
        </p:nvSpPr>
        <p:spPr>
          <a:xfrm>
            <a:off x="731520" y="4425696"/>
            <a:ext cx="4937760" cy="256032"/>
          </a:xfrm>
          <a:prstGeom prst="rect">
            <a:avLst/>
          </a:prstGeom>
          <a:noFill/>
          <a:ln/>
        </p:spPr>
        <p:txBody>
          <a:bodyPr wrap="square" lIns="0" tIns="0" rIns="0" bIns="0" rtlCol="0" anchor="ctr"/>
          <a:lstStyle/>
          <a:p>
            <a:pPr marL="0" indent="0">
              <a:buNone/>
            </a:pPr>
            <a:r>
              <a:rPr lang="en-US" sz="1100" b="1" kern="0" spc="150" dirty="0">
                <a:solidFill>
                  <a:srgbClr val="F4D3BF"/>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marL="0" indent="0">
              <a:lnSpc>
                <a:spcPct val="103000"/>
              </a:lnSpc>
              <a:buNone/>
            </a:pPr>
            <a:r>
              <a:rPr lang="en-US" sz="1100" dirty="0">
                <a:solidFill>
                  <a:srgbClr val="FBEDE6"/>
                </a:solidFill>
                <a:latin typeface="Calibri" pitchFamily="34" charset="0"/>
                <a:ea typeface="Calibri" pitchFamily="34" charset="-122"/>
                <a:cs typeface="Calibri" pitchFamily="34" charset="-120"/>
              </a:rPr>
              <a:t>Public cloud end-user spending is forecast at $850B in 2026, up 21.3%, with IaaS the fastest-growing segment at +24%. But cloud repatriation is now a documented 2026 CIO motion — misplaced workloads are being brought back. Placing workloads correctly before the move is the difference between the growth case and the regret case.</a:t>
            </a:r>
            <a:endParaRPr lang="en-US" sz="110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marL="0" indent="0">
              <a:buNone/>
            </a:pPr>
            <a:r>
              <a:rPr lang="en-US" sz="850" i="1" dirty="0">
                <a:solidFill>
                  <a:srgbClr val="E0A583"/>
                </a:solidFill>
                <a:latin typeface="Calibri" pitchFamily="34" charset="0"/>
                <a:ea typeface="Calibri" pitchFamily="34" charset="-122"/>
                <a:cs typeface="Calibri" pitchFamily="34" charset="-120"/>
              </a:rPr>
              <a:t>Source: Gartner / Flexera / FinOps Foundation, 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EAD9CF"/>
            </a:solidFill>
            <a:prstDash val="solid"/>
          </a:ln>
        </p:spPr>
        <p:txBody>
          <a:bodyPr/>
          <a:lstStyle/>
          <a:p>
            <a:endParaRPr lang="en-US"/>
          </a:p>
        </p:txBody>
      </p:sp>
      <p:sp>
        <p:nvSpPr>
          <p:cNvPr id="13" name="Text 11"/>
          <p:cNvSpPr txBox="1"/>
          <p:nvPr/>
        </p:nvSpPr>
        <p:spPr>
          <a:xfrm>
            <a:off x="6492240" y="1901952"/>
            <a:ext cx="4937760" cy="256032"/>
          </a:xfrm>
          <a:prstGeom prst="rect">
            <a:avLst/>
          </a:prstGeom>
          <a:noFill/>
          <a:ln/>
        </p:spPr>
        <p:txBody>
          <a:bodyPr wrap="square" lIns="0" tIns="0" rIns="0" bIns="0" rtlCol="0" anchor="ctr"/>
          <a:lstStyle/>
          <a:p>
            <a:pPr marL="0" indent="0">
              <a:buNone/>
            </a:pPr>
            <a:r>
              <a:rPr lang="en-US" sz="1100" b="1" kern="0" spc="120" dirty="0">
                <a:solidFill>
                  <a:srgbClr val="B0481E"/>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157984"/>
            <a:ext cx="4937760" cy="457200"/>
          </a:xfrm>
          <a:prstGeom prst="rect">
            <a:avLst/>
          </a:prstGeom>
          <a:noFill/>
          <a:ln/>
        </p:spPr>
        <p:txBody>
          <a:bodyPr wrap="square" lIns="0" tIns="0" rIns="0" bIns="0" rtlCol="0" anchor="ctr"/>
          <a:lstStyle/>
          <a:p>
            <a:pPr marL="0" indent="0">
              <a:lnSpc>
                <a:spcPct val="95000"/>
              </a:lnSpc>
              <a:buNone/>
            </a:pPr>
            <a:r>
              <a:rPr lang="en-US" sz="1150" i="1" dirty="0">
                <a:solidFill>
                  <a:srgbClr val="8F3A17"/>
                </a:solidFill>
                <a:latin typeface="Cambria" pitchFamily="34" charset="0"/>
                <a:ea typeface="Cambria" pitchFamily="34" charset="-122"/>
                <a:cs typeface="Cambria" pitchFamily="34" charset="-120"/>
              </a:rPr>
              <a:t>Enterprises are pushed to “move to cloud” without a defensible basis for what should move, where, or whether it should move at all.</a:t>
            </a:r>
            <a:endParaRPr lang="en-US" sz="1150" dirty="0"/>
          </a:p>
        </p:txBody>
      </p:sp>
      <p:sp>
        <p:nvSpPr>
          <p:cNvPr id="15" name="Text 13"/>
          <p:cNvSpPr txBox="1"/>
          <p:nvPr/>
        </p:nvSpPr>
        <p:spPr>
          <a:xfrm>
            <a:off x="6492240" y="2697480"/>
            <a:ext cx="4937760" cy="1325880"/>
          </a:xfrm>
          <a:prstGeom prst="rect">
            <a:avLst/>
          </a:prstGeom>
          <a:noFill/>
          <a:ln/>
        </p:spPr>
        <p:txBody>
          <a:bodyPr wrap="square" lIns="0" tIns="0" rIns="0" bIns="0" rtlCol="0" anchor="ctr"/>
          <a:lstStyle/>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Placement decisions are driven by hyperscaler incentives or internal politics, not workload economics.</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No consistent view of cost, latency, data-gravity and regulatory fit per workload, so the estate ends up misplaced.</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Lift-and-shift without a strategy inflates the cloud bill and disappoints on speed — the classic post-migration regret.</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Repatriation is a live question, but there’s no framework to decide it rationally.</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Tentative or hybrid-by-choice customers have no roadmap to sequence a move they can fund.</a:t>
            </a:r>
            <a:endParaRPr lang="en-US" sz="1000" dirty="0"/>
          </a:p>
        </p:txBody>
      </p:sp>
      <p:sp>
        <p:nvSpPr>
          <p:cNvPr id="16" name="Shape 14"/>
          <p:cNvSpPr/>
          <p:nvPr/>
        </p:nvSpPr>
        <p:spPr>
          <a:xfrm>
            <a:off x="6263640" y="4279392"/>
            <a:ext cx="5394960" cy="1627632"/>
          </a:xfrm>
          <a:prstGeom prst="roundRect">
            <a:avLst>
              <a:gd name="adj" fmla="val 3371"/>
            </a:avLst>
          </a:prstGeom>
          <a:solidFill>
            <a:srgbClr val="FAF4F1"/>
          </a:solidFill>
          <a:ln w="9525">
            <a:solidFill>
              <a:srgbClr val="EAD9CF"/>
            </a:solidFill>
            <a:prstDash val="solid"/>
          </a:ln>
        </p:spPr>
        <p:txBody>
          <a:bodyPr/>
          <a:lstStyle/>
          <a:p>
            <a:endParaRPr lang="en-US"/>
          </a:p>
        </p:txBody>
      </p:sp>
      <p:sp>
        <p:nvSpPr>
          <p:cNvPr id="17" name="Text 15"/>
          <p:cNvSpPr txBox="1"/>
          <p:nvPr/>
        </p:nvSpPr>
        <p:spPr>
          <a:xfrm>
            <a:off x="6492240" y="4407408"/>
            <a:ext cx="4937760" cy="256032"/>
          </a:xfrm>
          <a:prstGeom prst="rect">
            <a:avLst/>
          </a:prstGeom>
          <a:noFill/>
          <a:ln/>
        </p:spPr>
        <p:txBody>
          <a:bodyPr wrap="square" lIns="0" tIns="0" rIns="0" bIns="0" rtlCol="0" anchor="ctr"/>
          <a:lstStyle/>
          <a:p>
            <a:pPr marL="0" indent="0">
              <a:buNone/>
            </a:pPr>
            <a:r>
              <a:rPr lang="en-US" sz="1100" b="1" kern="0" spc="120" dirty="0">
                <a:solidFill>
                  <a:srgbClr val="B0481E"/>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81728"/>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A placement decision you can defend  </a:t>
            </a:r>
            <a:r>
              <a:rPr lang="en-US" sz="900" dirty="0">
                <a:solidFill>
                  <a:srgbClr val="5A4A42"/>
                </a:solidFill>
                <a:latin typeface="Calibri" pitchFamily="34" charset="0"/>
                <a:ea typeface="Calibri" pitchFamily="34" charset="-122"/>
                <a:cs typeface="Calibri" pitchFamily="34" charset="-120"/>
              </a:rPr>
              <a:t>— Every workload sited on cost, latency, data-gravity and regulatory evidence, not vendor push.</a:t>
            </a:r>
            <a:endParaRPr lang="en-US" sz="950" dirty="0"/>
          </a:p>
        </p:txBody>
      </p:sp>
      <p:sp>
        <p:nvSpPr>
          <p:cNvPr id="19" name="Text 17"/>
          <p:cNvSpPr txBox="1"/>
          <p:nvPr/>
        </p:nvSpPr>
        <p:spPr>
          <a:xfrm>
            <a:off x="6492240" y="491581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Migration regret avoided  </a:t>
            </a:r>
            <a:r>
              <a:rPr lang="en-US" sz="900" dirty="0">
                <a:solidFill>
                  <a:srgbClr val="5A4A42"/>
                </a:solidFill>
                <a:latin typeface="Calibri" pitchFamily="34" charset="0"/>
                <a:ea typeface="Calibri" pitchFamily="34" charset="-122"/>
                <a:cs typeface="Calibri" pitchFamily="34" charset="-120"/>
              </a:rPr>
              <a:t>— The strategy that prevents the inflated-bill, disappointing-speed outcome before it happens.</a:t>
            </a:r>
            <a:endParaRPr lang="en-US" sz="950" dirty="0"/>
          </a:p>
        </p:txBody>
      </p:sp>
      <p:sp>
        <p:nvSpPr>
          <p:cNvPr id="20" name="Text 18"/>
          <p:cNvSpPr txBox="1"/>
          <p:nvPr/>
        </p:nvSpPr>
        <p:spPr>
          <a:xfrm>
            <a:off x="6492240" y="5149901"/>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Honest repatriation calls  </a:t>
            </a:r>
            <a:r>
              <a:rPr lang="en-US" sz="900" dirty="0">
                <a:solidFill>
                  <a:srgbClr val="5A4A42"/>
                </a:solidFill>
                <a:latin typeface="Calibri" pitchFamily="34" charset="0"/>
                <a:ea typeface="Calibri" pitchFamily="34" charset="-122"/>
                <a:cs typeface="Calibri" pitchFamily="34" charset="-120"/>
              </a:rPr>
              <a:t>— Because LTM isn’t compensated on hyperscaler consumption.</a:t>
            </a:r>
            <a:endParaRPr lang="en-US" sz="950" dirty="0"/>
          </a:p>
        </p:txBody>
      </p:sp>
      <p:sp>
        <p:nvSpPr>
          <p:cNvPr id="21" name="Text 19"/>
          <p:cNvSpPr txBox="1"/>
          <p:nvPr/>
        </p:nvSpPr>
        <p:spPr>
          <a:xfrm>
            <a:off x="6492240" y="5383987"/>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A fundable wave plan  </a:t>
            </a:r>
            <a:r>
              <a:rPr lang="en-US" sz="900" dirty="0">
                <a:solidFill>
                  <a:srgbClr val="5A4A42"/>
                </a:solidFill>
                <a:latin typeface="Calibri" pitchFamily="34" charset="0"/>
                <a:ea typeface="Calibri" pitchFamily="34" charset="-122"/>
                <a:cs typeface="Calibri" pitchFamily="34" charset="-120"/>
              </a:rPr>
              <a:t>— Sequenced adoption with per-wave business cases and go / no-go gates.</a:t>
            </a:r>
            <a:endParaRPr lang="en-US" sz="950" dirty="0"/>
          </a:p>
        </p:txBody>
      </p:sp>
      <p:sp>
        <p:nvSpPr>
          <p:cNvPr id="22" name="Text 20"/>
          <p:cNvSpPr txBox="1"/>
          <p:nvPr/>
        </p:nvSpPr>
        <p:spPr>
          <a:xfrm>
            <a:off x="6492240" y="561807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AI-ready by design  </a:t>
            </a:r>
            <a:r>
              <a:rPr lang="en-US" sz="900" dirty="0">
                <a:solidFill>
                  <a:srgbClr val="5A4A42"/>
                </a:solidFill>
                <a:latin typeface="Calibri" pitchFamily="34" charset="0"/>
                <a:ea typeface="Calibri" pitchFamily="34" charset="-122"/>
                <a:cs typeface="Calibri" pitchFamily="34" charset="-120"/>
              </a:rPr>
              <a:t>— Foundations placed for GPU-capable and data-gravity-aware workloads from the start.</a:t>
            </a:r>
            <a:endParaRPr lang="en-US" sz="950" dirty="0"/>
          </a:p>
        </p:txBody>
      </p:sp>
      <p:sp>
        <p:nvSpPr>
          <p:cNvPr id="23" name="Text 21"/>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B0A39B"/>
                </a:solidFill>
                <a:latin typeface="Calibri" pitchFamily="34" charset="0"/>
                <a:ea typeface="Calibri" pitchFamily="34" charset="-122"/>
                <a:cs typeface="Calibri" pitchFamily="34" charset="-120"/>
              </a:rPr>
              <a:t>LTM  ·  Infra Tech Advisory  ·  Public Cloud &amp; Modernization</a:t>
            </a:r>
            <a:endParaRPr lang="en-US" sz="950" dirty="0"/>
          </a:p>
        </p:txBody>
      </p:sp>
      <p:sp>
        <p:nvSpPr>
          <p:cNvPr id="24" name="Text 22"/>
          <p:cNvSpPr txBox="1"/>
          <p:nvPr/>
        </p:nvSpPr>
        <p:spPr>
          <a:xfrm>
            <a:off x="8961120" y="6473952"/>
            <a:ext cx="2724912" cy="274320"/>
          </a:xfrm>
          <a:prstGeom prst="rect">
            <a:avLst/>
          </a:prstGeom>
          <a:noFill/>
          <a:ln/>
        </p:spPr>
        <p:txBody>
          <a:bodyPr wrap="square" lIns="0" tIns="0" rIns="0" bIns="0" rtlCol="0" anchor="ctr"/>
          <a:lstStyle/>
          <a:p>
            <a:pPr marL="0" indent="0" algn="r">
              <a:buNone/>
            </a:pPr>
            <a:r>
              <a:rPr lang="en-US" sz="950" dirty="0">
                <a:solidFill>
                  <a:srgbClr val="B0A39B"/>
                </a:solidFill>
                <a:latin typeface="Calibri" pitchFamily="34" charset="0"/>
                <a:ea typeface="Calibri" pitchFamily="34" charset="-122"/>
                <a:cs typeface="Calibri" pitchFamily="34" charset="-120"/>
              </a:rPr>
              <a:t>03.1  ·  Overview</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marL="0" indent="0">
              <a:buNone/>
            </a:pPr>
            <a:r>
              <a:rPr lang="en-US" sz="1100" b="1" kern="0" spc="200" dirty="0">
                <a:solidFill>
                  <a:srgbClr val="B0481E"/>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EEB08A"/>
                </a:solidFill>
                <a:latin typeface="Cambria" pitchFamily="34" charset="0"/>
                <a:ea typeface="Cambria" pitchFamily="34" charset="-122"/>
                <a:cs typeface="Cambria" pitchFamily="34" charset="-120"/>
              </a:rPr>
              <a:t>03.1   </a:t>
            </a:r>
            <a:r>
              <a:rPr lang="en-US" sz="2400" b="1" dirty="0">
                <a:solidFill>
                  <a:srgbClr val="1B1F23"/>
                </a:solidFill>
                <a:latin typeface="Cambria" pitchFamily="34" charset="0"/>
                <a:ea typeface="Cambria" pitchFamily="34" charset="-122"/>
                <a:cs typeface="Cambria" pitchFamily="34" charset="-120"/>
              </a:rPr>
              <a:t>Right Cloud Strategy &amp; Workload Placement</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marL="0" indent="0">
              <a:buNone/>
            </a:pPr>
            <a:r>
              <a:rPr lang="en-US" sz="1200" i="1" dirty="0">
                <a:solidFill>
                  <a:srgbClr val="6B5A52"/>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AF4F1"/>
          </a:solidFill>
          <a:ln w="9525">
            <a:solidFill>
              <a:srgbClr val="EAD9CF"/>
            </a:solidFill>
            <a:prstDash val="solid"/>
          </a:ln>
        </p:spPr>
        <p:txBody>
          <a:bodyPr/>
          <a:lstStyle/>
          <a:p>
            <a:endParaRPr lang="en-US"/>
          </a:p>
        </p:txBody>
      </p:sp>
      <p:sp>
        <p:nvSpPr>
          <p:cNvPr id="6" name="Shape 4"/>
          <p:cNvSpPr/>
          <p:nvPr/>
        </p:nvSpPr>
        <p:spPr>
          <a:xfrm>
            <a:off x="502920" y="1783080"/>
            <a:ext cx="3602736" cy="868680"/>
          </a:xfrm>
          <a:prstGeom prst="roundRect">
            <a:avLst>
              <a:gd name="adj" fmla="val 7368"/>
            </a:avLst>
          </a:prstGeom>
          <a:solidFill>
            <a:srgbClr val="B0481E"/>
          </a:solidFill>
          <a:ln/>
        </p:spPr>
        <p:txBody>
          <a:bodyPr/>
          <a:lstStyle/>
          <a:p>
            <a:endParaRPr lang="en-US"/>
          </a:p>
        </p:txBody>
      </p:sp>
      <p:sp>
        <p:nvSpPr>
          <p:cNvPr id="7" name="Shape 5"/>
          <p:cNvSpPr/>
          <p:nvPr/>
        </p:nvSpPr>
        <p:spPr>
          <a:xfrm>
            <a:off x="502920" y="2194560"/>
            <a:ext cx="3602736" cy="457200"/>
          </a:xfrm>
          <a:prstGeom prst="rect">
            <a:avLst/>
          </a:prstGeom>
          <a:solidFill>
            <a:srgbClr val="B0481E"/>
          </a:solidFill>
          <a:ln/>
        </p:spPr>
        <p:txBody>
          <a:bodyPr/>
          <a:lstStyle/>
          <a:p>
            <a:endParaRPr lang="en-US"/>
          </a:p>
        </p:txBody>
      </p:sp>
      <p:pic>
        <p:nvPicPr>
          <p:cNvPr id="8" name="Image 0" descr="/home/claude/p3_pe_understand.png"/>
          <p:cNvPicPr>
            <a:picLocks noChangeAspect="1"/>
          </p:cNvPicPr>
          <p:nvPr/>
        </p:nvPicPr>
        <p:blipFill>
          <a:blip r:embed="rId3"/>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marL="0" indent="0">
              <a:buNone/>
            </a:pPr>
            <a:r>
              <a:rPr lang="en-US" sz="1000" b="1" kern="0" spc="100" dirty="0">
                <a:solidFill>
                  <a:srgbClr val="F4D3BF"/>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Capture business objectives — cost, speed, resilience, sovereignty, AI-readiness</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Run an AI-powered well-architected review across the estate</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Baseline workload fit, cost, latency, data-gravity and regulatory constraints</a:t>
            </a:r>
            <a:endParaRPr lang="en-US" sz="1000" dirty="0"/>
          </a:p>
        </p:txBody>
      </p:sp>
      <p:sp>
        <p:nvSpPr>
          <p:cNvPr id="12" name="Shape 9"/>
          <p:cNvSpPr/>
          <p:nvPr/>
        </p:nvSpPr>
        <p:spPr>
          <a:xfrm>
            <a:off x="740664" y="4983480"/>
            <a:ext cx="3127248" cy="0"/>
          </a:xfrm>
          <a:prstGeom prst="line">
            <a:avLst/>
          </a:prstGeom>
          <a:noFill/>
          <a:ln w="12700">
            <a:solidFill>
              <a:srgbClr val="EAD9CF"/>
            </a:solidFill>
            <a:prstDash val="solid"/>
          </a:ln>
        </p:spPr>
        <p:txBody>
          <a:bodyPr/>
          <a:lstStyle/>
          <a:p>
            <a:endParaRPr lang="en-US"/>
          </a:p>
        </p:txBody>
      </p:sp>
      <p:sp>
        <p:nvSpPr>
          <p:cNvPr id="13" name="Text 10"/>
          <p:cNvSpPr txBox="1"/>
          <p:nvPr/>
        </p:nvSpPr>
        <p:spPr>
          <a:xfrm>
            <a:off x="740664" y="5056632"/>
            <a:ext cx="3127248" cy="219456"/>
          </a:xfrm>
          <a:prstGeom prst="rect">
            <a:avLst/>
          </a:prstGeom>
          <a:noFill/>
          <a:ln/>
        </p:spPr>
        <p:txBody>
          <a:bodyPr wrap="square" lIns="0" tIns="0" rIns="0" bIns="0" rtlCol="0" anchor="ctr"/>
          <a:lstStyle/>
          <a:p>
            <a:pPr marL="0" indent="0">
              <a:buNone/>
            </a:pPr>
            <a:r>
              <a:rPr lang="en-US" sz="900" b="1" kern="0" spc="100" dirty="0">
                <a:solidFill>
                  <a:srgbClr val="B0481E"/>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8F3A17"/>
                </a:solidFill>
                <a:latin typeface="Calibri" pitchFamily="34" charset="0"/>
                <a:ea typeface="Calibri" pitchFamily="34" charset="-122"/>
                <a:cs typeface="Calibri" pitchFamily="34" charset="-120"/>
              </a:rPr>
              <a:t>Estate baseline · workload-fit assessment · constraint map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marL="0" indent="0" algn="ctr">
              <a:buNone/>
            </a:pPr>
            <a:r>
              <a:rPr lang="en-US" sz="2000" dirty="0">
                <a:solidFill>
                  <a:srgbClr val="6B5A52"/>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AF4F1"/>
          </a:solidFill>
          <a:ln w="9525">
            <a:solidFill>
              <a:srgbClr val="EAD9CF"/>
            </a:solidFill>
            <a:prstDash val="solid"/>
          </a:ln>
        </p:spPr>
        <p:txBody>
          <a:bodyPr/>
          <a:lstStyle/>
          <a:p>
            <a:endParaRPr lang="en-US"/>
          </a:p>
        </p:txBody>
      </p:sp>
      <p:sp>
        <p:nvSpPr>
          <p:cNvPr id="17" name="Shape 14"/>
          <p:cNvSpPr/>
          <p:nvPr/>
        </p:nvSpPr>
        <p:spPr>
          <a:xfrm>
            <a:off x="4343400" y="1783080"/>
            <a:ext cx="3602736" cy="868680"/>
          </a:xfrm>
          <a:prstGeom prst="roundRect">
            <a:avLst>
              <a:gd name="adj" fmla="val 7368"/>
            </a:avLst>
          </a:prstGeom>
          <a:solidFill>
            <a:srgbClr val="8F3A17"/>
          </a:solidFill>
          <a:ln/>
        </p:spPr>
        <p:txBody>
          <a:bodyPr/>
          <a:lstStyle/>
          <a:p>
            <a:endParaRPr lang="en-US"/>
          </a:p>
        </p:txBody>
      </p:sp>
      <p:sp>
        <p:nvSpPr>
          <p:cNvPr id="18" name="Shape 15"/>
          <p:cNvSpPr/>
          <p:nvPr/>
        </p:nvSpPr>
        <p:spPr>
          <a:xfrm>
            <a:off x="4343400" y="2194560"/>
            <a:ext cx="3602736" cy="457200"/>
          </a:xfrm>
          <a:prstGeom prst="rect">
            <a:avLst/>
          </a:prstGeom>
          <a:solidFill>
            <a:srgbClr val="8F3A17"/>
          </a:solidFill>
          <a:ln/>
        </p:spPr>
        <p:txBody>
          <a:bodyPr/>
          <a:lstStyle/>
          <a:p>
            <a:endParaRPr lang="en-US"/>
          </a:p>
        </p:txBody>
      </p:sp>
      <p:pic>
        <p:nvPicPr>
          <p:cNvPr id="19" name="Image 1" descr="/home/claude/p3_pe_ideate.png"/>
          <p:cNvPicPr>
            <a:picLocks noChangeAspect="1"/>
          </p:cNvPicPr>
          <p:nvPr/>
        </p:nvPicPr>
        <p:blipFill>
          <a:blip r:embed="rId4"/>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marL="0" indent="0">
              <a:buNone/>
            </a:pPr>
            <a:r>
              <a:rPr lang="en-US" sz="1000" b="1" kern="0" spc="100" dirty="0">
                <a:solidFill>
                  <a:srgbClr val="F4D3BF"/>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Set hybrid / multi-cloud strategy anchored to business goals</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Place workloads across hyperscaler / sovereign / private / colo / edge — incl. repatriation calls</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Define the wave-plan adoption roadmap with per-wave business cases</a:t>
            </a:r>
            <a:endParaRPr lang="en-US" sz="1000" dirty="0"/>
          </a:p>
        </p:txBody>
      </p:sp>
      <p:sp>
        <p:nvSpPr>
          <p:cNvPr id="23" name="Shape 19"/>
          <p:cNvSpPr/>
          <p:nvPr/>
        </p:nvSpPr>
        <p:spPr>
          <a:xfrm>
            <a:off x="4581144" y="4983480"/>
            <a:ext cx="3127248" cy="0"/>
          </a:xfrm>
          <a:prstGeom prst="line">
            <a:avLst/>
          </a:prstGeom>
          <a:noFill/>
          <a:ln w="12700">
            <a:solidFill>
              <a:srgbClr val="EAD9CF"/>
            </a:solidFill>
            <a:prstDash val="solid"/>
          </a:ln>
        </p:spPr>
        <p:txBody>
          <a:bodyPr/>
          <a:lstStyle/>
          <a:p>
            <a:endParaRPr lang="en-US"/>
          </a:p>
        </p:txBody>
      </p:sp>
      <p:sp>
        <p:nvSpPr>
          <p:cNvPr id="24" name="Text 20"/>
          <p:cNvSpPr txBox="1"/>
          <p:nvPr/>
        </p:nvSpPr>
        <p:spPr>
          <a:xfrm>
            <a:off x="4581144" y="5056632"/>
            <a:ext cx="3127248" cy="219456"/>
          </a:xfrm>
          <a:prstGeom prst="rect">
            <a:avLst/>
          </a:prstGeom>
          <a:noFill/>
          <a:ln/>
        </p:spPr>
        <p:txBody>
          <a:bodyPr wrap="square" lIns="0" tIns="0" rIns="0" bIns="0" rtlCol="0" anchor="ctr"/>
          <a:lstStyle/>
          <a:p>
            <a:pPr marL="0" indent="0">
              <a:buNone/>
            </a:pPr>
            <a:r>
              <a:rPr lang="en-US" sz="900" b="1" kern="0" spc="100" dirty="0">
                <a:solidFill>
                  <a:srgbClr val="B0481E"/>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8F3A17"/>
                </a:solidFill>
                <a:latin typeface="Calibri" pitchFamily="34" charset="0"/>
                <a:ea typeface="Calibri" pitchFamily="34" charset="-122"/>
                <a:cs typeface="Calibri" pitchFamily="34" charset="-120"/>
              </a:rPr>
              <a:t>Target placement model · hybrid/multi-cloud strategy · wave-plan roadmap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marL="0" indent="0" algn="ctr">
              <a:buNone/>
            </a:pPr>
            <a:r>
              <a:rPr lang="en-US" sz="2000" dirty="0">
                <a:solidFill>
                  <a:srgbClr val="6B5A52"/>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AF4F1"/>
          </a:solidFill>
          <a:ln w="9525">
            <a:solidFill>
              <a:srgbClr val="EAD9CF"/>
            </a:solidFill>
            <a:prstDash val="solid"/>
          </a:ln>
        </p:spPr>
        <p:txBody>
          <a:bodyPr/>
          <a:lstStyle/>
          <a:p>
            <a:endParaRPr lang="en-US"/>
          </a:p>
        </p:txBody>
      </p:sp>
      <p:sp>
        <p:nvSpPr>
          <p:cNvPr id="28" name="Shape 24"/>
          <p:cNvSpPr/>
          <p:nvPr/>
        </p:nvSpPr>
        <p:spPr>
          <a:xfrm>
            <a:off x="8183880" y="1783080"/>
            <a:ext cx="3602736" cy="868680"/>
          </a:xfrm>
          <a:prstGeom prst="roundRect">
            <a:avLst>
              <a:gd name="adj" fmla="val 7368"/>
            </a:avLst>
          </a:prstGeom>
          <a:solidFill>
            <a:srgbClr val="6E2C11"/>
          </a:solidFill>
          <a:ln/>
        </p:spPr>
        <p:txBody>
          <a:bodyPr/>
          <a:lstStyle/>
          <a:p>
            <a:endParaRPr lang="en-US"/>
          </a:p>
        </p:txBody>
      </p:sp>
      <p:sp>
        <p:nvSpPr>
          <p:cNvPr id="29" name="Shape 25"/>
          <p:cNvSpPr/>
          <p:nvPr/>
        </p:nvSpPr>
        <p:spPr>
          <a:xfrm>
            <a:off x="8183880" y="2194560"/>
            <a:ext cx="3602736" cy="457200"/>
          </a:xfrm>
          <a:prstGeom prst="rect">
            <a:avLst/>
          </a:prstGeom>
          <a:solidFill>
            <a:srgbClr val="6E2C11"/>
          </a:solidFill>
          <a:ln/>
        </p:spPr>
        <p:txBody>
          <a:bodyPr/>
          <a:lstStyle/>
          <a:p>
            <a:endParaRPr lang="en-US"/>
          </a:p>
        </p:txBody>
      </p:sp>
      <p:pic>
        <p:nvPicPr>
          <p:cNvPr id="30" name="Image 2" descr="/home/claude/p3_pe_outcreate.png"/>
          <p:cNvPicPr>
            <a:picLocks noChangeAspect="1"/>
          </p:cNvPicPr>
          <p:nvPr/>
        </p:nvPicPr>
        <p:blipFill>
          <a:blip r:embed="rId5"/>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marL="0" indent="0">
              <a:buNone/>
            </a:pPr>
            <a:r>
              <a:rPr lang="en-US" sz="1000" b="1" kern="0" spc="100" dirty="0">
                <a:solidFill>
                  <a:srgbClr val="F4D3BF"/>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Consolidate into an executive-ready cloud strategy</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Define the hybrid orchestration and control model</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Executive playback, decision sign-off, first-wave mobilization</a:t>
            </a:r>
            <a:endParaRPr lang="en-US" sz="1000" dirty="0"/>
          </a:p>
        </p:txBody>
      </p:sp>
      <p:sp>
        <p:nvSpPr>
          <p:cNvPr id="34" name="Shape 29"/>
          <p:cNvSpPr/>
          <p:nvPr/>
        </p:nvSpPr>
        <p:spPr>
          <a:xfrm>
            <a:off x="8421624" y="4983480"/>
            <a:ext cx="3127248" cy="0"/>
          </a:xfrm>
          <a:prstGeom prst="line">
            <a:avLst/>
          </a:prstGeom>
          <a:noFill/>
          <a:ln w="12700">
            <a:solidFill>
              <a:srgbClr val="EAD9CF"/>
            </a:solidFill>
            <a:prstDash val="solid"/>
          </a:ln>
        </p:spPr>
        <p:txBody>
          <a:bodyPr/>
          <a:lstStyle/>
          <a:p>
            <a:endParaRPr lang="en-US"/>
          </a:p>
        </p:txBody>
      </p:sp>
      <p:sp>
        <p:nvSpPr>
          <p:cNvPr id="35" name="Text 30"/>
          <p:cNvSpPr txBox="1"/>
          <p:nvPr/>
        </p:nvSpPr>
        <p:spPr>
          <a:xfrm>
            <a:off x="8421624" y="5056632"/>
            <a:ext cx="3127248" cy="219456"/>
          </a:xfrm>
          <a:prstGeom prst="rect">
            <a:avLst/>
          </a:prstGeom>
          <a:noFill/>
          <a:ln/>
        </p:spPr>
        <p:txBody>
          <a:bodyPr wrap="square" lIns="0" tIns="0" rIns="0" bIns="0" rtlCol="0" anchor="ctr"/>
          <a:lstStyle/>
          <a:p>
            <a:pPr marL="0" indent="0">
              <a:buNone/>
            </a:pPr>
            <a:r>
              <a:rPr lang="en-US" sz="900" b="1" kern="0" spc="100" dirty="0">
                <a:solidFill>
                  <a:srgbClr val="B0481E"/>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8F3A17"/>
                </a:solidFill>
                <a:latin typeface="Calibri" pitchFamily="34" charset="0"/>
                <a:ea typeface="Calibri" pitchFamily="34" charset="-122"/>
                <a:cs typeface="Calibri" pitchFamily="34" charset="-120"/>
              </a:rPr>
              <a:t>Board-ready cloud strategy · orchestration model · mobilization plan · Executive Playback · Closure Pack</a:t>
            </a:r>
            <a:endParaRPr lang="en-US" sz="950" dirty="0"/>
          </a:p>
        </p:txBody>
      </p:sp>
      <p:sp>
        <p:nvSpPr>
          <p:cNvPr id="37" name="Text 32"/>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B0A39B"/>
                </a:solidFill>
                <a:latin typeface="Calibri" pitchFamily="34" charset="0"/>
                <a:ea typeface="Calibri" pitchFamily="34" charset="-122"/>
                <a:cs typeface="Calibri" pitchFamily="34" charset="-120"/>
              </a:rPr>
              <a:t>LTM  ·  Infra Tech Advisory  ·  Public Cloud &amp; Modernization</a:t>
            </a:r>
            <a:endParaRPr lang="en-US" sz="950" dirty="0"/>
          </a:p>
        </p:txBody>
      </p:sp>
      <p:sp>
        <p:nvSpPr>
          <p:cNvPr id="38" name="Text 33"/>
          <p:cNvSpPr txBox="1"/>
          <p:nvPr/>
        </p:nvSpPr>
        <p:spPr>
          <a:xfrm>
            <a:off x="8961120" y="6473952"/>
            <a:ext cx="2724912" cy="274320"/>
          </a:xfrm>
          <a:prstGeom prst="rect">
            <a:avLst/>
          </a:prstGeom>
          <a:noFill/>
          <a:ln/>
        </p:spPr>
        <p:txBody>
          <a:bodyPr wrap="square" lIns="0" tIns="0" rIns="0" bIns="0" rtlCol="0" anchor="ctr"/>
          <a:lstStyle/>
          <a:p>
            <a:pPr marL="0" indent="0" algn="r">
              <a:buNone/>
            </a:pPr>
            <a:r>
              <a:rPr lang="en-US" sz="950" dirty="0">
                <a:solidFill>
                  <a:srgbClr val="B0A39B"/>
                </a:solidFill>
                <a:latin typeface="Calibri" pitchFamily="34" charset="0"/>
                <a:ea typeface="Calibri" pitchFamily="34" charset="-122"/>
                <a:cs typeface="Calibri" pitchFamily="34" charset="-120"/>
              </a:rPr>
              <a:t>03.1  ·  Solution</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marL="0" indent="0">
              <a:buNone/>
            </a:pPr>
            <a:r>
              <a:rPr lang="en-US" sz="1100" b="1" kern="0" spc="200" dirty="0">
                <a:solidFill>
                  <a:srgbClr val="B0481E"/>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EEB08A"/>
                </a:solidFill>
                <a:latin typeface="Cambria" pitchFamily="34" charset="0"/>
                <a:ea typeface="Cambria" pitchFamily="34" charset="-122"/>
                <a:cs typeface="Cambria" pitchFamily="34" charset="-120"/>
              </a:rPr>
              <a:t>03.1   </a:t>
            </a:r>
            <a:r>
              <a:rPr lang="en-US" sz="2400" b="1" dirty="0">
                <a:solidFill>
                  <a:srgbClr val="1B1F23"/>
                </a:solidFill>
                <a:latin typeface="Cambria" pitchFamily="34" charset="0"/>
                <a:ea typeface="Cambria" pitchFamily="34" charset="-122"/>
                <a:cs typeface="Cambria" pitchFamily="34" charset="-120"/>
              </a:rPr>
              <a:t>Right Cloud Strategy &amp; Workload Placement</a:t>
            </a:r>
            <a:endParaRPr lang="en-US" sz="2400" dirty="0"/>
          </a:p>
        </p:txBody>
      </p:sp>
      <p:sp>
        <p:nvSpPr>
          <p:cNvPr id="4" name="Shape 2"/>
          <p:cNvSpPr/>
          <p:nvPr/>
        </p:nvSpPr>
        <p:spPr>
          <a:xfrm>
            <a:off x="502920" y="1600200"/>
            <a:ext cx="5394960" cy="4480560"/>
          </a:xfrm>
          <a:prstGeom prst="roundRect">
            <a:avLst>
              <a:gd name="adj" fmla="val 1429"/>
            </a:avLst>
          </a:prstGeom>
          <a:solidFill>
            <a:srgbClr val="B0481E"/>
          </a:solidFill>
          <a:ln/>
        </p:spPr>
        <p:txBody>
          <a:bodyPr/>
          <a:lstStyle/>
          <a:p>
            <a:endParaRPr lang="en-US"/>
          </a:p>
        </p:txBody>
      </p:sp>
      <p:pic>
        <p:nvPicPr>
          <p:cNvPr id="5" name="Image 0" descr="/home/claude/p3_pe_deliver.png"/>
          <p:cNvPicPr>
            <a:picLocks noChangeAspect="1"/>
          </p:cNvPicPr>
          <p:nvPr/>
        </p:nvPicPr>
        <p:blipFill>
          <a:blip r:embed="rId3"/>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marL="0" indent="0">
              <a:buNone/>
            </a:pPr>
            <a:r>
              <a:rPr lang="en-US" sz="1050" i="1" dirty="0">
                <a:solidFill>
                  <a:srgbClr val="F4D3BF"/>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EEB08A"/>
          </a:solidFill>
          <a:ln/>
        </p:spPr>
        <p:txBody>
          <a:bodyPr/>
          <a:lstStyle/>
          <a:p>
            <a:endParaRPr lang="en-US"/>
          </a:p>
        </p:txBody>
      </p:sp>
      <p:sp>
        <p:nvSpPr>
          <p:cNvPr id="9" name="Text 6"/>
          <p:cNvSpPr txBox="1"/>
          <p:nvPr/>
        </p:nvSpPr>
        <p:spPr>
          <a:xfrm>
            <a:off x="777240" y="2880360"/>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Estate baseline and AI-powered well-architected review</a:t>
            </a:r>
            <a:endParaRPr lang="en-US" sz="1150" dirty="0"/>
          </a:p>
        </p:txBody>
      </p:sp>
      <p:sp>
        <p:nvSpPr>
          <p:cNvPr id="11" name="Shape 8"/>
          <p:cNvSpPr/>
          <p:nvPr/>
        </p:nvSpPr>
        <p:spPr>
          <a:xfrm>
            <a:off x="777240" y="3483864"/>
            <a:ext cx="310896" cy="310896"/>
          </a:xfrm>
          <a:prstGeom prst="roundRect">
            <a:avLst>
              <a:gd name="adj" fmla="val 14706"/>
            </a:avLst>
          </a:prstGeom>
          <a:solidFill>
            <a:srgbClr val="EEB08A"/>
          </a:solidFill>
          <a:ln/>
        </p:spPr>
        <p:txBody>
          <a:bodyPr/>
          <a:lstStyle/>
          <a:p>
            <a:endParaRPr lang="en-US"/>
          </a:p>
        </p:txBody>
      </p:sp>
      <p:sp>
        <p:nvSpPr>
          <p:cNvPr id="12" name="Text 9"/>
          <p:cNvSpPr txBox="1"/>
          <p:nvPr/>
        </p:nvSpPr>
        <p:spPr>
          <a:xfrm>
            <a:off x="777240" y="3483864"/>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Per-workload placement model (incl. repatriation calls)</a:t>
            </a:r>
            <a:endParaRPr lang="en-US" sz="1150" dirty="0"/>
          </a:p>
        </p:txBody>
      </p:sp>
      <p:sp>
        <p:nvSpPr>
          <p:cNvPr id="14" name="Shape 11"/>
          <p:cNvSpPr/>
          <p:nvPr/>
        </p:nvSpPr>
        <p:spPr>
          <a:xfrm>
            <a:off x="777240" y="4087368"/>
            <a:ext cx="310896" cy="310896"/>
          </a:xfrm>
          <a:prstGeom prst="roundRect">
            <a:avLst>
              <a:gd name="adj" fmla="val 14706"/>
            </a:avLst>
          </a:prstGeom>
          <a:solidFill>
            <a:srgbClr val="EEB08A"/>
          </a:solidFill>
          <a:ln/>
        </p:spPr>
        <p:txBody>
          <a:bodyPr/>
          <a:lstStyle/>
          <a:p>
            <a:endParaRPr lang="en-US"/>
          </a:p>
        </p:txBody>
      </p:sp>
      <p:sp>
        <p:nvSpPr>
          <p:cNvPr id="15" name="Text 12"/>
          <p:cNvSpPr txBox="1"/>
          <p:nvPr/>
        </p:nvSpPr>
        <p:spPr>
          <a:xfrm>
            <a:off x="777240" y="4087368"/>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Hybrid / multi-cloud target strategy</a:t>
            </a:r>
            <a:endParaRPr lang="en-US" sz="1150" dirty="0"/>
          </a:p>
        </p:txBody>
      </p:sp>
      <p:sp>
        <p:nvSpPr>
          <p:cNvPr id="17" name="Shape 14"/>
          <p:cNvSpPr/>
          <p:nvPr/>
        </p:nvSpPr>
        <p:spPr>
          <a:xfrm>
            <a:off x="777240" y="4690872"/>
            <a:ext cx="310896" cy="310896"/>
          </a:xfrm>
          <a:prstGeom prst="roundRect">
            <a:avLst>
              <a:gd name="adj" fmla="val 14706"/>
            </a:avLst>
          </a:prstGeom>
          <a:solidFill>
            <a:srgbClr val="EEB08A"/>
          </a:solidFill>
          <a:ln/>
        </p:spPr>
        <p:txBody>
          <a:bodyPr/>
          <a:lstStyle/>
          <a:p>
            <a:endParaRPr lang="en-US"/>
          </a:p>
        </p:txBody>
      </p:sp>
      <p:sp>
        <p:nvSpPr>
          <p:cNvPr id="18" name="Text 15"/>
          <p:cNvSpPr txBox="1"/>
          <p:nvPr/>
        </p:nvSpPr>
        <p:spPr>
          <a:xfrm>
            <a:off x="777240" y="4690872"/>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Wave-plan adoption roadmap with per-wave business cases</a:t>
            </a:r>
            <a:endParaRPr lang="en-US" sz="1150" dirty="0"/>
          </a:p>
        </p:txBody>
      </p:sp>
      <p:sp>
        <p:nvSpPr>
          <p:cNvPr id="20" name="Shape 17"/>
          <p:cNvSpPr/>
          <p:nvPr/>
        </p:nvSpPr>
        <p:spPr>
          <a:xfrm>
            <a:off x="777240" y="5294376"/>
            <a:ext cx="310896" cy="310896"/>
          </a:xfrm>
          <a:prstGeom prst="roundRect">
            <a:avLst>
              <a:gd name="adj" fmla="val 14706"/>
            </a:avLst>
          </a:prstGeom>
          <a:solidFill>
            <a:srgbClr val="EEB08A"/>
          </a:solidFill>
          <a:ln/>
        </p:spPr>
        <p:txBody>
          <a:bodyPr/>
          <a:lstStyle/>
          <a:p>
            <a:endParaRPr lang="en-US"/>
          </a:p>
        </p:txBody>
      </p:sp>
      <p:sp>
        <p:nvSpPr>
          <p:cNvPr id="21" name="Text 18"/>
          <p:cNvSpPr txBox="1"/>
          <p:nvPr/>
        </p:nvSpPr>
        <p:spPr>
          <a:xfrm>
            <a:off x="777240" y="5294376"/>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Board-ready cloud strategy and mobilization plan</a:t>
            </a:r>
            <a:endParaRPr lang="en-US" sz="1150" dirty="0"/>
          </a:p>
        </p:txBody>
      </p:sp>
      <p:sp>
        <p:nvSpPr>
          <p:cNvPr id="23" name="Shape 20"/>
          <p:cNvSpPr/>
          <p:nvPr/>
        </p:nvSpPr>
        <p:spPr>
          <a:xfrm>
            <a:off x="6263640" y="1600200"/>
            <a:ext cx="5394960" cy="2286000"/>
          </a:xfrm>
          <a:prstGeom prst="roundRect">
            <a:avLst>
              <a:gd name="adj" fmla="val 2800"/>
            </a:avLst>
          </a:prstGeom>
          <a:solidFill>
            <a:srgbClr val="EEF6F0"/>
          </a:solidFill>
          <a:ln w="9525">
            <a:solidFill>
              <a:srgbClr val="BFE3D2"/>
            </a:solidFill>
            <a:prstDash val="solid"/>
          </a:ln>
        </p:spPr>
        <p:txBody>
          <a:bodyPr/>
          <a:lstStyle/>
          <a:p>
            <a:endParaRPr lang="en-US"/>
          </a:p>
        </p:txBody>
      </p:sp>
      <p:pic>
        <p:nvPicPr>
          <p:cNvPr id="24" name="Image 1" descr="/home/claude/x_chk_in.png"/>
          <p:cNvPicPr>
            <a:picLocks noChangeAspect="1"/>
          </p:cNvPicPr>
          <p:nvPr/>
        </p:nvPicPr>
        <p:blipFill>
          <a:blip r:embed="rId4"/>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marL="0" indent="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Business-anchored hybrid / multi-cloud strategy</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Well-architected review and workload-fit assessment</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Per-workload placement (hyperscaler / sovereign / private / colo / edge) incl. repatriation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Wave-plan adoption roadmap and business cases</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Hybrid orchestration and control model</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1EE"/>
          </a:solidFill>
          <a:ln w="9525">
            <a:solidFill>
              <a:srgbClr val="ECCFC4"/>
            </a:solidFill>
            <a:prstDash val="solid"/>
          </a:ln>
        </p:spPr>
        <p:txBody>
          <a:bodyPr/>
          <a:lstStyle/>
          <a:p>
            <a:endParaRPr lang="en-US"/>
          </a:p>
        </p:txBody>
      </p:sp>
      <p:pic>
        <p:nvPicPr>
          <p:cNvPr id="28" name="Image 2" descr="/home/claude/x_chk_out.png"/>
          <p:cNvPicPr>
            <a:picLocks noChangeAspect="1"/>
          </p:cNvPicPr>
          <p:nvPr/>
        </p:nvPicPr>
        <p:blipFill>
          <a:blip r:embed="rId5"/>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marL="0" indent="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Migration factory build and execution</a:t>
            </a:r>
            <a:r>
              <a:rPr lang="en-US" sz="900" i="1" dirty="0">
                <a:solidFill>
                  <a:srgbClr val="9A5541"/>
                </a:solidFill>
                <a:latin typeface="Calibri" pitchFamily="34" charset="0"/>
                <a:ea typeface="Calibri" pitchFamily="34" charset="-122"/>
                <a:cs typeface="Calibri" pitchFamily="34" charset="-120"/>
              </a:rPr>
              <a:t>   → Separate delivery</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Cloud cost-optimization program</a:t>
            </a:r>
            <a:r>
              <a:rPr lang="en-US" sz="900" i="1" dirty="0">
                <a:solidFill>
                  <a:srgbClr val="9A5541"/>
                </a:solidFill>
                <a:latin typeface="Calibri" pitchFamily="34" charset="0"/>
                <a:ea typeface="Calibri" pitchFamily="34" charset="-122"/>
                <a:cs typeface="Calibri" pitchFamily="34" charset="-120"/>
              </a:rPr>
              <a:t>   → 03.3 FinOps</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Application refactoring / re-platforming</a:t>
            </a:r>
            <a:r>
              <a:rPr lang="en-US" sz="900" i="1" dirty="0">
                <a:solidFill>
                  <a:srgbClr val="9A5541"/>
                </a:solidFill>
                <a:latin typeface="Calibri" pitchFamily="34" charset="0"/>
                <a:ea typeface="Calibri" pitchFamily="34" charset="-122"/>
                <a:cs typeface="Calibri" pitchFamily="34" charset="-120"/>
              </a:rPr>
              <a:t>   → 03.4 App Mod</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Data-centre exit and AI-compute siting detail</a:t>
            </a:r>
            <a:r>
              <a:rPr lang="en-US" sz="900" i="1" dirty="0">
                <a:solidFill>
                  <a:srgbClr val="9A5541"/>
                </a:solidFill>
                <a:latin typeface="Calibri" pitchFamily="34" charset="0"/>
                <a:ea typeface="Calibri" pitchFamily="34" charset="-122"/>
                <a:cs typeface="Calibri" pitchFamily="34" charset="-120"/>
              </a:rPr>
              <a:t>   → 03.5 DC Strategy</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Sovereignty posture and geopatriation</a:t>
            </a:r>
            <a:r>
              <a:rPr lang="en-US" sz="900" i="1" dirty="0">
                <a:solidFill>
                  <a:srgbClr val="9A5541"/>
                </a:solidFill>
                <a:latin typeface="Calibri" pitchFamily="34" charset="0"/>
                <a:ea typeface="Calibri" pitchFamily="34" charset="-122"/>
                <a:cs typeface="Calibri" pitchFamily="34" charset="-120"/>
              </a:rPr>
              <a:t>   → Pillar 02</a:t>
            </a:r>
            <a:endParaRPr lang="en-US" sz="970" dirty="0"/>
          </a:p>
        </p:txBody>
      </p:sp>
      <p:sp>
        <p:nvSpPr>
          <p:cNvPr id="35" name="Text 30"/>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B0A39B"/>
                </a:solidFill>
                <a:latin typeface="Calibri" pitchFamily="34" charset="0"/>
                <a:ea typeface="Calibri" pitchFamily="34" charset="-122"/>
                <a:cs typeface="Calibri" pitchFamily="34" charset="-120"/>
              </a:rPr>
              <a:t>LTM  ·  Infra Tech Advisory  ·  Public Cloud &amp; Modernization</a:t>
            </a:r>
            <a:endParaRPr lang="en-US" sz="950" dirty="0"/>
          </a:p>
        </p:txBody>
      </p:sp>
      <p:sp>
        <p:nvSpPr>
          <p:cNvPr id="36" name="Text 31"/>
          <p:cNvSpPr txBox="1"/>
          <p:nvPr/>
        </p:nvSpPr>
        <p:spPr>
          <a:xfrm>
            <a:off x="8961120" y="6473952"/>
            <a:ext cx="2724912" cy="274320"/>
          </a:xfrm>
          <a:prstGeom prst="rect">
            <a:avLst/>
          </a:prstGeom>
          <a:noFill/>
          <a:ln/>
        </p:spPr>
        <p:txBody>
          <a:bodyPr wrap="square" lIns="0" tIns="0" rIns="0" bIns="0" rtlCol="0" anchor="ctr"/>
          <a:lstStyle/>
          <a:p>
            <a:pPr marL="0" indent="0" algn="r">
              <a:buNone/>
            </a:pPr>
            <a:r>
              <a:rPr lang="en-US" sz="950" dirty="0">
                <a:solidFill>
                  <a:srgbClr val="B0A39B"/>
                </a:solidFill>
                <a:latin typeface="Calibri" pitchFamily="34" charset="0"/>
                <a:ea typeface="Calibri" pitchFamily="34" charset="-122"/>
                <a:cs typeface="Calibri" pitchFamily="34" charset="-120"/>
              </a:rPr>
              <a:t>03.1  ·  Deliverables &amp; scope</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marL="0" indent="0">
              <a:buNone/>
            </a:pPr>
            <a:r>
              <a:rPr lang="en-US" sz="1100" b="1" kern="0" spc="200" dirty="0">
                <a:solidFill>
                  <a:srgbClr val="B0481E"/>
                </a:solidFill>
                <a:latin typeface="Calibri" pitchFamily="34" charset="0"/>
                <a:ea typeface="Calibri" pitchFamily="34" charset="-122"/>
                <a:cs typeface="Calibri" pitchFamily="34" charset="-120"/>
              </a:rPr>
              <a:t>OFFERING  ·  OUT-RUN THE SPRAWL.   ·   JOURNEY A</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EEB08A"/>
                </a:solidFill>
                <a:latin typeface="Cambria" pitchFamily="34" charset="0"/>
                <a:ea typeface="Cambria" pitchFamily="34" charset="-122"/>
                <a:cs typeface="Cambria" pitchFamily="34" charset="-120"/>
              </a:rPr>
              <a:t>03.2   </a:t>
            </a:r>
            <a:r>
              <a:rPr lang="en-US" sz="2400" b="1" dirty="0">
                <a:solidFill>
                  <a:srgbClr val="1B1F23"/>
                </a:solidFill>
                <a:latin typeface="Cambria" pitchFamily="34" charset="0"/>
                <a:ea typeface="Cambria" pitchFamily="34" charset="-122"/>
                <a:cs typeface="Cambria" pitchFamily="34" charset="-120"/>
              </a:rPr>
              <a:t>Hybrid &amp; Multi-Cloud Management</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marL="0" indent="0">
              <a:buNone/>
            </a:pPr>
            <a:r>
              <a:rPr lang="en-US" sz="900" b="1" kern="0" spc="100" dirty="0">
                <a:solidFill>
                  <a:srgbClr val="EEB08A"/>
                </a:solidFill>
                <a:latin typeface="Calibri" pitchFamily="34" charset="0"/>
                <a:ea typeface="Calibri" pitchFamily="34" charset="-122"/>
                <a:cs typeface="Calibri" pitchFamily="34" charset="-120"/>
              </a:rPr>
              <a:t>STARTS FROM  </a:t>
            </a:r>
            <a:r>
              <a:rPr lang="en-US" sz="1050" dirty="0">
                <a:solidFill>
                  <a:srgbClr val="5A4A42"/>
                </a:solidFill>
                <a:latin typeface="Calibri" pitchFamily="34" charset="0"/>
                <a:ea typeface="Calibri" pitchFamily="34" charset="-122"/>
                <a:cs typeface="Calibri" pitchFamily="34" charset="-120"/>
              </a:rPr>
              <a:t>Cloud IQ → FinOps IQ      </a:t>
            </a:r>
            <a:r>
              <a:rPr lang="en-US" sz="900" b="1" kern="0" spc="100" dirty="0">
                <a:solidFill>
                  <a:srgbClr val="EEB08A"/>
                </a:solidFill>
                <a:latin typeface="Calibri" pitchFamily="34" charset="0"/>
                <a:ea typeface="Calibri" pitchFamily="34" charset="-122"/>
                <a:cs typeface="Calibri" pitchFamily="34" charset="-120"/>
              </a:rPr>
              <a:t>LEADS TO  </a:t>
            </a:r>
            <a:r>
              <a:rPr lang="en-US" sz="1050" dirty="0">
                <a:solidFill>
                  <a:srgbClr val="5A4A42"/>
                </a:solidFill>
                <a:latin typeface="Calibri" pitchFamily="34" charset="0"/>
                <a:ea typeface="Calibri" pitchFamily="34" charset="-122"/>
                <a:cs typeface="Calibri" pitchFamily="34" charset="-120"/>
              </a:rPr>
              <a:t>Managed multi-cloud operations · 03.6 Platform Engineering</a:t>
            </a:r>
            <a:endParaRPr lang="en-US" sz="900" dirty="0"/>
          </a:p>
        </p:txBody>
      </p:sp>
      <p:sp>
        <p:nvSpPr>
          <p:cNvPr id="5" name="Shape 3"/>
          <p:cNvSpPr/>
          <p:nvPr/>
        </p:nvSpPr>
        <p:spPr>
          <a:xfrm>
            <a:off x="502920" y="1737360"/>
            <a:ext cx="5394960" cy="2395728"/>
          </a:xfrm>
          <a:prstGeom prst="roundRect">
            <a:avLst>
              <a:gd name="adj" fmla="val 2290"/>
            </a:avLst>
          </a:prstGeom>
          <a:solidFill>
            <a:srgbClr val="FAF4F1"/>
          </a:solidFill>
          <a:ln w="9525">
            <a:solidFill>
              <a:srgbClr val="EAD9CF"/>
            </a:solidFill>
            <a:prstDash val="solid"/>
          </a:ln>
        </p:spPr>
        <p:txBody>
          <a:bodyPr/>
          <a:lstStyle/>
          <a:p>
            <a:endParaRPr lang="en-US"/>
          </a:p>
        </p:txBody>
      </p:sp>
      <p:sp>
        <p:nvSpPr>
          <p:cNvPr id="6" name="Text 4"/>
          <p:cNvSpPr txBox="1"/>
          <p:nvPr/>
        </p:nvSpPr>
        <p:spPr>
          <a:xfrm>
            <a:off x="731520" y="1901952"/>
            <a:ext cx="4937760" cy="256032"/>
          </a:xfrm>
          <a:prstGeom prst="rect">
            <a:avLst/>
          </a:prstGeom>
          <a:noFill/>
          <a:ln/>
        </p:spPr>
        <p:txBody>
          <a:bodyPr wrap="square" lIns="0" tIns="0" rIns="0" bIns="0" rtlCol="0" anchor="ctr"/>
          <a:lstStyle/>
          <a:p>
            <a:pPr marL="0" indent="0">
              <a:buNone/>
            </a:pPr>
            <a:r>
              <a:rPr lang="en-US" sz="1100" b="1" kern="0" spc="150" dirty="0">
                <a:solidFill>
                  <a:srgbClr val="B0481E"/>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marL="0" indent="0">
              <a:lnSpc>
                <a:spcPct val="104000"/>
              </a:lnSpc>
              <a:buNone/>
            </a:pPr>
            <a:r>
              <a:rPr lang="en-US" sz="1150" dirty="0">
                <a:solidFill>
                  <a:srgbClr val="3A2E28"/>
                </a:solidFill>
                <a:latin typeface="Calibri" pitchFamily="34" charset="0"/>
                <a:ea typeface="Calibri" pitchFamily="34" charset="-122"/>
                <a:cs typeface="Calibri" pitchFamily="34" charset="-120"/>
              </a:rPr>
              <a:t>Gives the CIO a single, governable operating model across a genuinely mixed estate. It turns fragmented hyperscaler, private and on-prem environments into one managed service to the business — consistent controls, visibility and orchestration — so multi-cloud is a deliberate advantage rather than accidental complexity nobody owns.</a:t>
            </a:r>
            <a:endParaRPr lang="en-US" sz="1150" dirty="0"/>
          </a:p>
        </p:txBody>
      </p:sp>
      <p:sp>
        <p:nvSpPr>
          <p:cNvPr id="8" name="Shape 6"/>
          <p:cNvSpPr/>
          <p:nvPr/>
        </p:nvSpPr>
        <p:spPr>
          <a:xfrm>
            <a:off x="502920" y="4279392"/>
            <a:ext cx="5394960" cy="1627632"/>
          </a:xfrm>
          <a:prstGeom prst="roundRect">
            <a:avLst>
              <a:gd name="adj" fmla="val 3371"/>
            </a:avLst>
          </a:prstGeom>
          <a:solidFill>
            <a:srgbClr val="B0481E"/>
          </a:solidFill>
          <a:ln w="9525">
            <a:solidFill>
              <a:srgbClr val="B0481E"/>
            </a:solidFill>
            <a:prstDash val="solid"/>
          </a:ln>
        </p:spPr>
        <p:txBody>
          <a:bodyPr/>
          <a:lstStyle/>
          <a:p>
            <a:endParaRPr lang="en-US"/>
          </a:p>
        </p:txBody>
      </p:sp>
      <p:sp>
        <p:nvSpPr>
          <p:cNvPr id="9" name="Text 7"/>
          <p:cNvSpPr txBox="1"/>
          <p:nvPr/>
        </p:nvSpPr>
        <p:spPr>
          <a:xfrm>
            <a:off x="731520" y="4425696"/>
            <a:ext cx="4937760" cy="256032"/>
          </a:xfrm>
          <a:prstGeom prst="rect">
            <a:avLst/>
          </a:prstGeom>
          <a:noFill/>
          <a:ln/>
        </p:spPr>
        <p:txBody>
          <a:bodyPr wrap="square" lIns="0" tIns="0" rIns="0" bIns="0" rtlCol="0" anchor="ctr"/>
          <a:lstStyle/>
          <a:p>
            <a:pPr marL="0" indent="0">
              <a:buNone/>
            </a:pPr>
            <a:r>
              <a:rPr lang="en-US" sz="1100" b="1" kern="0" spc="150" dirty="0">
                <a:solidFill>
                  <a:srgbClr val="F4D3BF"/>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marL="0" indent="0">
              <a:lnSpc>
                <a:spcPct val="103000"/>
              </a:lnSpc>
              <a:buNone/>
            </a:pPr>
            <a:r>
              <a:rPr lang="en-US" sz="1100" dirty="0">
                <a:solidFill>
                  <a:srgbClr val="FBEDE6"/>
                </a:solidFill>
                <a:latin typeface="Calibri" pitchFamily="34" charset="0"/>
                <a:ea typeface="Calibri" pitchFamily="34" charset="-122"/>
                <a:cs typeface="Calibri" pitchFamily="34" charset="-120"/>
              </a:rPr>
              <a:t>76% of enterprises now operate across two or more cloud providers, and unified cost and control visibility is the #1 cited FinOps challenge. As AI workloads multiply environments further, the estate that isn’t governed as one becomes ungovernable.</a:t>
            </a:r>
            <a:endParaRPr lang="en-US" sz="110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marL="0" indent="0">
              <a:buNone/>
            </a:pPr>
            <a:r>
              <a:rPr lang="en-US" sz="850" i="1" dirty="0">
                <a:solidFill>
                  <a:srgbClr val="E0A583"/>
                </a:solidFill>
                <a:latin typeface="Calibri" pitchFamily="34" charset="0"/>
                <a:ea typeface="Calibri" pitchFamily="34" charset="-122"/>
                <a:cs typeface="Calibri" pitchFamily="34" charset="-120"/>
              </a:rPr>
              <a:t>Source: Gartner / Flexera / FinOps Foundation, 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EAD9CF"/>
            </a:solidFill>
            <a:prstDash val="solid"/>
          </a:ln>
        </p:spPr>
        <p:txBody>
          <a:bodyPr/>
          <a:lstStyle/>
          <a:p>
            <a:endParaRPr lang="en-US"/>
          </a:p>
        </p:txBody>
      </p:sp>
      <p:sp>
        <p:nvSpPr>
          <p:cNvPr id="13" name="Text 11"/>
          <p:cNvSpPr txBox="1"/>
          <p:nvPr/>
        </p:nvSpPr>
        <p:spPr>
          <a:xfrm>
            <a:off x="6492240" y="1901952"/>
            <a:ext cx="4937760" cy="256032"/>
          </a:xfrm>
          <a:prstGeom prst="rect">
            <a:avLst/>
          </a:prstGeom>
          <a:noFill/>
          <a:ln/>
        </p:spPr>
        <p:txBody>
          <a:bodyPr wrap="square" lIns="0" tIns="0" rIns="0" bIns="0" rtlCol="0" anchor="ctr"/>
          <a:lstStyle/>
          <a:p>
            <a:pPr marL="0" indent="0">
              <a:buNone/>
            </a:pPr>
            <a:r>
              <a:rPr lang="en-US" sz="1100" b="1" kern="0" spc="120" dirty="0">
                <a:solidFill>
                  <a:srgbClr val="B0481E"/>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157984"/>
            <a:ext cx="4937760" cy="457200"/>
          </a:xfrm>
          <a:prstGeom prst="rect">
            <a:avLst/>
          </a:prstGeom>
          <a:noFill/>
          <a:ln/>
        </p:spPr>
        <p:txBody>
          <a:bodyPr wrap="square" lIns="0" tIns="0" rIns="0" bIns="0" rtlCol="0" anchor="ctr"/>
          <a:lstStyle/>
          <a:p>
            <a:pPr marL="0" indent="0">
              <a:lnSpc>
                <a:spcPct val="95000"/>
              </a:lnSpc>
              <a:buNone/>
            </a:pPr>
            <a:r>
              <a:rPr lang="en-US" sz="1150" i="1" dirty="0">
                <a:solidFill>
                  <a:srgbClr val="8F3A17"/>
                </a:solidFill>
                <a:latin typeface="Cambria" pitchFamily="34" charset="0"/>
                <a:ea typeface="Cambria" pitchFamily="34" charset="-122"/>
                <a:cs typeface="Cambria" pitchFamily="34" charset="-120"/>
              </a:rPr>
              <a:t>Multi-cloud happened by accretion, not design — and now no one can govern it as one estate.</a:t>
            </a:r>
            <a:endParaRPr lang="en-US" sz="1150" dirty="0"/>
          </a:p>
        </p:txBody>
      </p:sp>
      <p:sp>
        <p:nvSpPr>
          <p:cNvPr id="15" name="Text 13"/>
          <p:cNvSpPr txBox="1"/>
          <p:nvPr/>
        </p:nvSpPr>
        <p:spPr>
          <a:xfrm>
            <a:off x="6492240" y="2697480"/>
            <a:ext cx="4937760" cy="1325880"/>
          </a:xfrm>
          <a:prstGeom prst="rect">
            <a:avLst/>
          </a:prstGeom>
          <a:noFill/>
          <a:ln/>
        </p:spPr>
        <p:txBody>
          <a:bodyPr wrap="square" lIns="0" tIns="0" rIns="0" bIns="0" rtlCol="0" anchor="ctr"/>
          <a:lstStyle/>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76% of enterprises now run two or more clouds, but tooling, controls and visibility are siloed per provider.</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Inconsistent security, identity and policy across clouds create gaps and audit pain.</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No unified view of cost, performance or compliance — each cloud is its own island.</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Skills are stretched thin across providers; operational toil compounds with every new environment.</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Hybrid (cloud + on-prem) estates have no coherent orchestration or control plane.</a:t>
            </a:r>
            <a:endParaRPr lang="en-US" sz="1000" dirty="0"/>
          </a:p>
        </p:txBody>
      </p:sp>
      <p:sp>
        <p:nvSpPr>
          <p:cNvPr id="16" name="Shape 14"/>
          <p:cNvSpPr/>
          <p:nvPr/>
        </p:nvSpPr>
        <p:spPr>
          <a:xfrm>
            <a:off x="6263640" y="4279392"/>
            <a:ext cx="5394960" cy="1627632"/>
          </a:xfrm>
          <a:prstGeom prst="roundRect">
            <a:avLst>
              <a:gd name="adj" fmla="val 3371"/>
            </a:avLst>
          </a:prstGeom>
          <a:solidFill>
            <a:srgbClr val="FAF4F1"/>
          </a:solidFill>
          <a:ln w="9525">
            <a:solidFill>
              <a:srgbClr val="EAD9CF"/>
            </a:solidFill>
            <a:prstDash val="solid"/>
          </a:ln>
        </p:spPr>
        <p:txBody>
          <a:bodyPr/>
          <a:lstStyle/>
          <a:p>
            <a:endParaRPr lang="en-US"/>
          </a:p>
        </p:txBody>
      </p:sp>
      <p:sp>
        <p:nvSpPr>
          <p:cNvPr id="17" name="Text 15"/>
          <p:cNvSpPr txBox="1"/>
          <p:nvPr/>
        </p:nvSpPr>
        <p:spPr>
          <a:xfrm>
            <a:off x="6492240" y="4407408"/>
            <a:ext cx="4937760" cy="256032"/>
          </a:xfrm>
          <a:prstGeom prst="rect">
            <a:avLst/>
          </a:prstGeom>
          <a:noFill/>
          <a:ln/>
        </p:spPr>
        <p:txBody>
          <a:bodyPr wrap="square" lIns="0" tIns="0" rIns="0" bIns="0" rtlCol="0" anchor="ctr"/>
          <a:lstStyle/>
          <a:p>
            <a:pPr marL="0" indent="0">
              <a:buNone/>
            </a:pPr>
            <a:r>
              <a:rPr lang="en-US" sz="1100" b="1" kern="0" spc="120" dirty="0">
                <a:solidFill>
                  <a:srgbClr val="B0481E"/>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81728"/>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One estate, not many islands  </a:t>
            </a:r>
            <a:r>
              <a:rPr lang="en-US" sz="900" dirty="0">
                <a:solidFill>
                  <a:srgbClr val="5A4A42"/>
                </a:solidFill>
                <a:latin typeface="Calibri" pitchFamily="34" charset="0"/>
                <a:ea typeface="Calibri" pitchFamily="34" charset="-122"/>
                <a:cs typeface="Calibri" pitchFamily="34" charset="-120"/>
              </a:rPr>
              <a:t>— Consistent controls, identity and policy across every cloud and on-prem.</a:t>
            </a:r>
            <a:endParaRPr lang="en-US" sz="950" dirty="0"/>
          </a:p>
        </p:txBody>
      </p:sp>
      <p:sp>
        <p:nvSpPr>
          <p:cNvPr id="19" name="Text 17"/>
          <p:cNvSpPr txBox="1"/>
          <p:nvPr/>
        </p:nvSpPr>
        <p:spPr>
          <a:xfrm>
            <a:off x="6492240" y="491581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Unified visibility  </a:t>
            </a:r>
            <a:r>
              <a:rPr lang="en-US" sz="900" dirty="0">
                <a:solidFill>
                  <a:srgbClr val="5A4A42"/>
                </a:solidFill>
                <a:latin typeface="Calibri" pitchFamily="34" charset="0"/>
                <a:ea typeface="Calibri" pitchFamily="34" charset="-122"/>
                <a:cs typeface="Calibri" pitchFamily="34" charset="-120"/>
              </a:rPr>
              <a:t>— Cost, performance and compliance in a single pane, not per-provider spreadsheets.</a:t>
            </a:r>
            <a:endParaRPr lang="en-US" sz="950" dirty="0"/>
          </a:p>
        </p:txBody>
      </p:sp>
      <p:sp>
        <p:nvSpPr>
          <p:cNvPr id="20" name="Text 18"/>
          <p:cNvSpPr txBox="1"/>
          <p:nvPr/>
        </p:nvSpPr>
        <p:spPr>
          <a:xfrm>
            <a:off x="6492240" y="5149901"/>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Toil reduced  </a:t>
            </a:r>
            <a:r>
              <a:rPr lang="en-US" sz="900" dirty="0">
                <a:solidFill>
                  <a:srgbClr val="5A4A42"/>
                </a:solidFill>
                <a:latin typeface="Calibri" pitchFamily="34" charset="0"/>
                <a:ea typeface="Calibri" pitchFamily="34" charset="-122"/>
                <a:cs typeface="Calibri" pitchFamily="34" charset="-120"/>
              </a:rPr>
              <a:t>— Orchestration and automation that cut the operational load of a mixed estate.</a:t>
            </a:r>
            <a:endParaRPr lang="en-US" sz="950" dirty="0"/>
          </a:p>
        </p:txBody>
      </p:sp>
      <p:sp>
        <p:nvSpPr>
          <p:cNvPr id="21" name="Text 19"/>
          <p:cNvSpPr txBox="1"/>
          <p:nvPr/>
        </p:nvSpPr>
        <p:spPr>
          <a:xfrm>
            <a:off x="6492240" y="5383987"/>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Governed multi-cloud  </a:t>
            </a:r>
            <a:r>
              <a:rPr lang="en-US" sz="900" dirty="0">
                <a:solidFill>
                  <a:srgbClr val="5A4A42"/>
                </a:solidFill>
                <a:latin typeface="Calibri" pitchFamily="34" charset="0"/>
                <a:ea typeface="Calibri" pitchFamily="34" charset="-122"/>
                <a:cs typeface="Calibri" pitchFamily="34" charset="-120"/>
              </a:rPr>
              <a:t>— The deliberate-advantage version, not the accidental-complexity version.</a:t>
            </a:r>
            <a:endParaRPr lang="en-US" sz="950" dirty="0"/>
          </a:p>
        </p:txBody>
      </p:sp>
      <p:sp>
        <p:nvSpPr>
          <p:cNvPr id="22" name="Text 20"/>
          <p:cNvSpPr txBox="1"/>
          <p:nvPr/>
        </p:nvSpPr>
        <p:spPr>
          <a:xfrm>
            <a:off x="6492240" y="561807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Audit-ready consistency  </a:t>
            </a:r>
            <a:r>
              <a:rPr lang="en-US" sz="900" dirty="0">
                <a:solidFill>
                  <a:srgbClr val="5A4A42"/>
                </a:solidFill>
                <a:latin typeface="Calibri" pitchFamily="34" charset="0"/>
                <a:ea typeface="Calibri" pitchFamily="34" charset="-122"/>
                <a:cs typeface="Calibri" pitchFamily="34" charset="-120"/>
              </a:rPr>
              <a:t>— Controls that hold up across providers when a regulator asks.</a:t>
            </a:r>
            <a:endParaRPr lang="en-US" sz="950" dirty="0"/>
          </a:p>
        </p:txBody>
      </p:sp>
      <p:sp>
        <p:nvSpPr>
          <p:cNvPr id="23" name="Text 21"/>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B0A39B"/>
                </a:solidFill>
                <a:latin typeface="Calibri" pitchFamily="34" charset="0"/>
                <a:ea typeface="Calibri" pitchFamily="34" charset="-122"/>
                <a:cs typeface="Calibri" pitchFamily="34" charset="-120"/>
              </a:rPr>
              <a:t>LTM  ·  Infra Tech Advisory  ·  Public Cloud &amp; Modernization</a:t>
            </a:r>
            <a:endParaRPr lang="en-US" sz="950" dirty="0"/>
          </a:p>
        </p:txBody>
      </p:sp>
      <p:sp>
        <p:nvSpPr>
          <p:cNvPr id="24" name="Text 22"/>
          <p:cNvSpPr txBox="1"/>
          <p:nvPr/>
        </p:nvSpPr>
        <p:spPr>
          <a:xfrm>
            <a:off x="8961120" y="6473952"/>
            <a:ext cx="2724912" cy="274320"/>
          </a:xfrm>
          <a:prstGeom prst="rect">
            <a:avLst/>
          </a:prstGeom>
          <a:noFill/>
          <a:ln/>
        </p:spPr>
        <p:txBody>
          <a:bodyPr wrap="square" lIns="0" tIns="0" rIns="0" bIns="0" rtlCol="0" anchor="ctr"/>
          <a:lstStyle/>
          <a:p>
            <a:pPr marL="0" indent="0" algn="r">
              <a:buNone/>
            </a:pPr>
            <a:r>
              <a:rPr lang="en-US" sz="950" dirty="0">
                <a:solidFill>
                  <a:srgbClr val="B0A39B"/>
                </a:solidFill>
                <a:latin typeface="Calibri" pitchFamily="34" charset="0"/>
                <a:ea typeface="Calibri" pitchFamily="34" charset="-122"/>
                <a:cs typeface="Calibri" pitchFamily="34" charset="-120"/>
              </a:rPr>
              <a:t>03.2  ·  Overview</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marL="0" indent="0">
              <a:buNone/>
            </a:pPr>
            <a:r>
              <a:rPr lang="en-US" sz="1100" b="1" kern="0" spc="200" dirty="0">
                <a:solidFill>
                  <a:srgbClr val="B0481E"/>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EEB08A"/>
                </a:solidFill>
                <a:latin typeface="Cambria" pitchFamily="34" charset="0"/>
                <a:ea typeface="Cambria" pitchFamily="34" charset="-122"/>
                <a:cs typeface="Cambria" pitchFamily="34" charset="-120"/>
              </a:rPr>
              <a:t>03.2   </a:t>
            </a:r>
            <a:r>
              <a:rPr lang="en-US" sz="2400" b="1" dirty="0">
                <a:solidFill>
                  <a:srgbClr val="1B1F23"/>
                </a:solidFill>
                <a:latin typeface="Cambria" pitchFamily="34" charset="0"/>
                <a:ea typeface="Cambria" pitchFamily="34" charset="-122"/>
                <a:cs typeface="Cambria" pitchFamily="34" charset="-120"/>
              </a:rPr>
              <a:t>Hybrid &amp; Multi-Cloud Management</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marL="0" indent="0">
              <a:buNone/>
            </a:pPr>
            <a:r>
              <a:rPr lang="en-US" sz="1200" i="1" dirty="0">
                <a:solidFill>
                  <a:srgbClr val="6B5A52"/>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AF4F1"/>
          </a:solidFill>
          <a:ln w="9525">
            <a:solidFill>
              <a:srgbClr val="EAD9CF"/>
            </a:solidFill>
            <a:prstDash val="solid"/>
          </a:ln>
        </p:spPr>
        <p:txBody>
          <a:bodyPr/>
          <a:lstStyle/>
          <a:p>
            <a:endParaRPr lang="en-US"/>
          </a:p>
        </p:txBody>
      </p:sp>
      <p:sp>
        <p:nvSpPr>
          <p:cNvPr id="6" name="Shape 4"/>
          <p:cNvSpPr/>
          <p:nvPr/>
        </p:nvSpPr>
        <p:spPr>
          <a:xfrm>
            <a:off x="502920" y="1783080"/>
            <a:ext cx="3602736" cy="868680"/>
          </a:xfrm>
          <a:prstGeom prst="roundRect">
            <a:avLst>
              <a:gd name="adj" fmla="val 7368"/>
            </a:avLst>
          </a:prstGeom>
          <a:solidFill>
            <a:srgbClr val="B0481E"/>
          </a:solidFill>
          <a:ln/>
        </p:spPr>
        <p:txBody>
          <a:bodyPr/>
          <a:lstStyle/>
          <a:p>
            <a:endParaRPr lang="en-US"/>
          </a:p>
        </p:txBody>
      </p:sp>
      <p:sp>
        <p:nvSpPr>
          <p:cNvPr id="7" name="Shape 5"/>
          <p:cNvSpPr/>
          <p:nvPr/>
        </p:nvSpPr>
        <p:spPr>
          <a:xfrm>
            <a:off x="502920" y="2194560"/>
            <a:ext cx="3602736" cy="457200"/>
          </a:xfrm>
          <a:prstGeom prst="rect">
            <a:avLst/>
          </a:prstGeom>
          <a:solidFill>
            <a:srgbClr val="B0481E"/>
          </a:solidFill>
          <a:ln/>
        </p:spPr>
        <p:txBody>
          <a:bodyPr/>
          <a:lstStyle/>
          <a:p>
            <a:endParaRPr lang="en-US"/>
          </a:p>
        </p:txBody>
      </p:sp>
      <p:pic>
        <p:nvPicPr>
          <p:cNvPr id="8" name="Image 0" descr="/home/claude/p3_pe_understand.png"/>
          <p:cNvPicPr>
            <a:picLocks noChangeAspect="1"/>
          </p:cNvPicPr>
          <p:nvPr/>
        </p:nvPicPr>
        <p:blipFill>
          <a:blip r:embed="rId3"/>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marL="0" indent="0">
              <a:buNone/>
            </a:pPr>
            <a:r>
              <a:rPr lang="en-US" sz="1000" b="1" kern="0" spc="100" dirty="0">
                <a:solidFill>
                  <a:srgbClr val="F4D3BF"/>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Inventory the hybrid / multi-cloud estate, tooling and controls per environment</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Assess consistency gaps in security, identity, policy and visibility</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Baseline operating model and toil sources</a:t>
            </a:r>
            <a:endParaRPr lang="en-US" sz="1000" dirty="0"/>
          </a:p>
        </p:txBody>
      </p:sp>
      <p:sp>
        <p:nvSpPr>
          <p:cNvPr id="12" name="Shape 9"/>
          <p:cNvSpPr/>
          <p:nvPr/>
        </p:nvSpPr>
        <p:spPr>
          <a:xfrm>
            <a:off x="740664" y="4983480"/>
            <a:ext cx="3127248" cy="0"/>
          </a:xfrm>
          <a:prstGeom prst="line">
            <a:avLst/>
          </a:prstGeom>
          <a:noFill/>
          <a:ln w="12700">
            <a:solidFill>
              <a:srgbClr val="EAD9CF"/>
            </a:solidFill>
            <a:prstDash val="solid"/>
          </a:ln>
        </p:spPr>
        <p:txBody>
          <a:bodyPr/>
          <a:lstStyle/>
          <a:p>
            <a:endParaRPr lang="en-US"/>
          </a:p>
        </p:txBody>
      </p:sp>
      <p:sp>
        <p:nvSpPr>
          <p:cNvPr id="13" name="Text 10"/>
          <p:cNvSpPr txBox="1"/>
          <p:nvPr/>
        </p:nvSpPr>
        <p:spPr>
          <a:xfrm>
            <a:off x="740664" y="5056632"/>
            <a:ext cx="3127248" cy="219456"/>
          </a:xfrm>
          <a:prstGeom prst="rect">
            <a:avLst/>
          </a:prstGeom>
          <a:noFill/>
          <a:ln/>
        </p:spPr>
        <p:txBody>
          <a:bodyPr wrap="square" lIns="0" tIns="0" rIns="0" bIns="0" rtlCol="0" anchor="ctr"/>
          <a:lstStyle/>
          <a:p>
            <a:pPr marL="0" indent="0">
              <a:buNone/>
            </a:pPr>
            <a:r>
              <a:rPr lang="en-US" sz="900" b="1" kern="0" spc="100" dirty="0">
                <a:solidFill>
                  <a:srgbClr val="B0481E"/>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8F3A17"/>
                </a:solidFill>
                <a:latin typeface="Calibri" pitchFamily="34" charset="0"/>
                <a:ea typeface="Calibri" pitchFamily="34" charset="-122"/>
                <a:cs typeface="Calibri" pitchFamily="34" charset="-120"/>
              </a:rPr>
              <a:t>Estate &amp; tooling inventory · consistency-gap assessment · operating baseline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marL="0" indent="0" algn="ctr">
              <a:buNone/>
            </a:pPr>
            <a:r>
              <a:rPr lang="en-US" sz="2000" dirty="0">
                <a:solidFill>
                  <a:srgbClr val="6B5A52"/>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AF4F1"/>
          </a:solidFill>
          <a:ln w="9525">
            <a:solidFill>
              <a:srgbClr val="EAD9CF"/>
            </a:solidFill>
            <a:prstDash val="solid"/>
          </a:ln>
        </p:spPr>
        <p:txBody>
          <a:bodyPr/>
          <a:lstStyle/>
          <a:p>
            <a:endParaRPr lang="en-US"/>
          </a:p>
        </p:txBody>
      </p:sp>
      <p:sp>
        <p:nvSpPr>
          <p:cNvPr id="17" name="Shape 14"/>
          <p:cNvSpPr/>
          <p:nvPr/>
        </p:nvSpPr>
        <p:spPr>
          <a:xfrm>
            <a:off x="4343400" y="1783080"/>
            <a:ext cx="3602736" cy="868680"/>
          </a:xfrm>
          <a:prstGeom prst="roundRect">
            <a:avLst>
              <a:gd name="adj" fmla="val 7368"/>
            </a:avLst>
          </a:prstGeom>
          <a:solidFill>
            <a:srgbClr val="8F3A17"/>
          </a:solidFill>
          <a:ln/>
        </p:spPr>
        <p:txBody>
          <a:bodyPr/>
          <a:lstStyle/>
          <a:p>
            <a:endParaRPr lang="en-US"/>
          </a:p>
        </p:txBody>
      </p:sp>
      <p:sp>
        <p:nvSpPr>
          <p:cNvPr id="18" name="Shape 15"/>
          <p:cNvSpPr/>
          <p:nvPr/>
        </p:nvSpPr>
        <p:spPr>
          <a:xfrm>
            <a:off x="4343400" y="2194560"/>
            <a:ext cx="3602736" cy="457200"/>
          </a:xfrm>
          <a:prstGeom prst="rect">
            <a:avLst/>
          </a:prstGeom>
          <a:solidFill>
            <a:srgbClr val="8F3A17"/>
          </a:solidFill>
          <a:ln/>
        </p:spPr>
        <p:txBody>
          <a:bodyPr/>
          <a:lstStyle/>
          <a:p>
            <a:endParaRPr lang="en-US"/>
          </a:p>
        </p:txBody>
      </p:sp>
      <p:pic>
        <p:nvPicPr>
          <p:cNvPr id="19" name="Image 1" descr="/home/claude/p3_pe_ideate.png"/>
          <p:cNvPicPr>
            <a:picLocks noChangeAspect="1"/>
          </p:cNvPicPr>
          <p:nvPr/>
        </p:nvPicPr>
        <p:blipFill>
          <a:blip r:embed="rId4"/>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marL="0" indent="0">
              <a:buNone/>
            </a:pPr>
            <a:r>
              <a:rPr lang="en-US" sz="1000" b="1" kern="0" spc="100" dirty="0">
                <a:solidFill>
                  <a:srgbClr val="F4D3BF"/>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Design the unified operating model — controls, identity, policy, observability</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Define the orchestration and control-plane architecture across clouds and on-prem</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Design cost, performance and compliance visibility in a single pane</a:t>
            </a:r>
            <a:endParaRPr lang="en-US" sz="1000" dirty="0"/>
          </a:p>
        </p:txBody>
      </p:sp>
      <p:sp>
        <p:nvSpPr>
          <p:cNvPr id="23" name="Shape 19"/>
          <p:cNvSpPr/>
          <p:nvPr/>
        </p:nvSpPr>
        <p:spPr>
          <a:xfrm>
            <a:off x="4581144" y="4983480"/>
            <a:ext cx="3127248" cy="0"/>
          </a:xfrm>
          <a:prstGeom prst="line">
            <a:avLst/>
          </a:prstGeom>
          <a:noFill/>
          <a:ln w="12700">
            <a:solidFill>
              <a:srgbClr val="EAD9CF"/>
            </a:solidFill>
            <a:prstDash val="solid"/>
          </a:ln>
        </p:spPr>
        <p:txBody>
          <a:bodyPr/>
          <a:lstStyle/>
          <a:p>
            <a:endParaRPr lang="en-US"/>
          </a:p>
        </p:txBody>
      </p:sp>
      <p:sp>
        <p:nvSpPr>
          <p:cNvPr id="24" name="Text 20"/>
          <p:cNvSpPr txBox="1"/>
          <p:nvPr/>
        </p:nvSpPr>
        <p:spPr>
          <a:xfrm>
            <a:off x="4581144" y="5056632"/>
            <a:ext cx="3127248" cy="219456"/>
          </a:xfrm>
          <a:prstGeom prst="rect">
            <a:avLst/>
          </a:prstGeom>
          <a:noFill/>
          <a:ln/>
        </p:spPr>
        <p:txBody>
          <a:bodyPr wrap="square" lIns="0" tIns="0" rIns="0" bIns="0" rtlCol="0" anchor="ctr"/>
          <a:lstStyle/>
          <a:p>
            <a:pPr marL="0" indent="0">
              <a:buNone/>
            </a:pPr>
            <a:r>
              <a:rPr lang="en-US" sz="900" b="1" kern="0" spc="100" dirty="0">
                <a:solidFill>
                  <a:srgbClr val="B0481E"/>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8F3A17"/>
                </a:solidFill>
                <a:latin typeface="Calibri" pitchFamily="34" charset="0"/>
                <a:ea typeface="Calibri" pitchFamily="34" charset="-122"/>
                <a:cs typeface="Calibri" pitchFamily="34" charset="-120"/>
              </a:rPr>
              <a:t>Target operating model · orchestration architecture · unified-visibility design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marL="0" indent="0" algn="ctr">
              <a:buNone/>
            </a:pPr>
            <a:r>
              <a:rPr lang="en-US" sz="2000" dirty="0">
                <a:solidFill>
                  <a:srgbClr val="6B5A52"/>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AF4F1"/>
          </a:solidFill>
          <a:ln w="9525">
            <a:solidFill>
              <a:srgbClr val="EAD9CF"/>
            </a:solidFill>
            <a:prstDash val="solid"/>
          </a:ln>
        </p:spPr>
        <p:txBody>
          <a:bodyPr/>
          <a:lstStyle/>
          <a:p>
            <a:endParaRPr lang="en-US"/>
          </a:p>
        </p:txBody>
      </p:sp>
      <p:sp>
        <p:nvSpPr>
          <p:cNvPr id="28" name="Shape 24"/>
          <p:cNvSpPr/>
          <p:nvPr/>
        </p:nvSpPr>
        <p:spPr>
          <a:xfrm>
            <a:off x="8183880" y="1783080"/>
            <a:ext cx="3602736" cy="868680"/>
          </a:xfrm>
          <a:prstGeom prst="roundRect">
            <a:avLst>
              <a:gd name="adj" fmla="val 7368"/>
            </a:avLst>
          </a:prstGeom>
          <a:solidFill>
            <a:srgbClr val="6E2C11"/>
          </a:solidFill>
          <a:ln/>
        </p:spPr>
        <p:txBody>
          <a:bodyPr/>
          <a:lstStyle/>
          <a:p>
            <a:endParaRPr lang="en-US"/>
          </a:p>
        </p:txBody>
      </p:sp>
      <p:sp>
        <p:nvSpPr>
          <p:cNvPr id="29" name="Shape 25"/>
          <p:cNvSpPr/>
          <p:nvPr/>
        </p:nvSpPr>
        <p:spPr>
          <a:xfrm>
            <a:off x="8183880" y="2194560"/>
            <a:ext cx="3602736" cy="457200"/>
          </a:xfrm>
          <a:prstGeom prst="rect">
            <a:avLst/>
          </a:prstGeom>
          <a:solidFill>
            <a:srgbClr val="6E2C11"/>
          </a:solidFill>
          <a:ln/>
        </p:spPr>
        <p:txBody>
          <a:bodyPr/>
          <a:lstStyle/>
          <a:p>
            <a:endParaRPr lang="en-US"/>
          </a:p>
        </p:txBody>
      </p:sp>
      <p:pic>
        <p:nvPicPr>
          <p:cNvPr id="30" name="Image 2" descr="/home/claude/p3_pe_outcreate.png"/>
          <p:cNvPicPr>
            <a:picLocks noChangeAspect="1"/>
          </p:cNvPicPr>
          <p:nvPr/>
        </p:nvPicPr>
        <p:blipFill>
          <a:blip r:embed="rId5"/>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marL="0" indent="0">
              <a:buNone/>
            </a:pPr>
            <a:r>
              <a:rPr lang="en-US" sz="1000" b="1" kern="0" spc="100" dirty="0">
                <a:solidFill>
                  <a:srgbClr val="F4D3BF"/>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Consolidate into an executive-ready multi-cloud management blueprint</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Define governance, ownership and the run model</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Executive playback, decision sign-off, mobilization</a:t>
            </a:r>
            <a:endParaRPr lang="en-US" sz="1000" dirty="0"/>
          </a:p>
        </p:txBody>
      </p:sp>
      <p:sp>
        <p:nvSpPr>
          <p:cNvPr id="34" name="Shape 29"/>
          <p:cNvSpPr/>
          <p:nvPr/>
        </p:nvSpPr>
        <p:spPr>
          <a:xfrm>
            <a:off x="8421624" y="4983480"/>
            <a:ext cx="3127248" cy="0"/>
          </a:xfrm>
          <a:prstGeom prst="line">
            <a:avLst/>
          </a:prstGeom>
          <a:noFill/>
          <a:ln w="12700">
            <a:solidFill>
              <a:srgbClr val="EAD9CF"/>
            </a:solidFill>
            <a:prstDash val="solid"/>
          </a:ln>
        </p:spPr>
        <p:txBody>
          <a:bodyPr/>
          <a:lstStyle/>
          <a:p>
            <a:endParaRPr lang="en-US"/>
          </a:p>
        </p:txBody>
      </p:sp>
      <p:sp>
        <p:nvSpPr>
          <p:cNvPr id="35" name="Text 30"/>
          <p:cNvSpPr txBox="1"/>
          <p:nvPr/>
        </p:nvSpPr>
        <p:spPr>
          <a:xfrm>
            <a:off x="8421624" y="5056632"/>
            <a:ext cx="3127248" cy="219456"/>
          </a:xfrm>
          <a:prstGeom prst="rect">
            <a:avLst/>
          </a:prstGeom>
          <a:noFill/>
          <a:ln/>
        </p:spPr>
        <p:txBody>
          <a:bodyPr wrap="square" lIns="0" tIns="0" rIns="0" bIns="0" rtlCol="0" anchor="ctr"/>
          <a:lstStyle/>
          <a:p>
            <a:pPr marL="0" indent="0">
              <a:buNone/>
            </a:pPr>
            <a:r>
              <a:rPr lang="en-US" sz="900" b="1" kern="0" spc="100" dirty="0">
                <a:solidFill>
                  <a:srgbClr val="B0481E"/>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8F3A17"/>
                </a:solidFill>
                <a:latin typeface="Calibri" pitchFamily="34" charset="0"/>
                <a:ea typeface="Calibri" pitchFamily="34" charset="-122"/>
                <a:cs typeface="Calibri" pitchFamily="34" charset="-120"/>
              </a:rPr>
              <a:t>Management blueprint · governance &amp; run model · mobilization plan · Executive Playback · Closure Pack</a:t>
            </a:r>
            <a:endParaRPr lang="en-US" sz="950" dirty="0"/>
          </a:p>
        </p:txBody>
      </p:sp>
      <p:sp>
        <p:nvSpPr>
          <p:cNvPr id="37" name="Text 32"/>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B0A39B"/>
                </a:solidFill>
                <a:latin typeface="Calibri" pitchFamily="34" charset="0"/>
                <a:ea typeface="Calibri" pitchFamily="34" charset="-122"/>
                <a:cs typeface="Calibri" pitchFamily="34" charset="-120"/>
              </a:rPr>
              <a:t>LTM  ·  Infra Tech Advisory  ·  Public Cloud &amp; Modernization</a:t>
            </a:r>
            <a:endParaRPr lang="en-US" sz="950" dirty="0"/>
          </a:p>
        </p:txBody>
      </p:sp>
      <p:sp>
        <p:nvSpPr>
          <p:cNvPr id="38" name="Text 33"/>
          <p:cNvSpPr txBox="1"/>
          <p:nvPr/>
        </p:nvSpPr>
        <p:spPr>
          <a:xfrm>
            <a:off x="8961120" y="6473952"/>
            <a:ext cx="2724912" cy="274320"/>
          </a:xfrm>
          <a:prstGeom prst="rect">
            <a:avLst/>
          </a:prstGeom>
          <a:noFill/>
          <a:ln/>
        </p:spPr>
        <p:txBody>
          <a:bodyPr wrap="square" lIns="0" tIns="0" rIns="0" bIns="0" rtlCol="0" anchor="ctr"/>
          <a:lstStyle/>
          <a:p>
            <a:pPr marL="0" indent="0" algn="r">
              <a:buNone/>
            </a:pPr>
            <a:r>
              <a:rPr lang="en-US" sz="950" dirty="0">
                <a:solidFill>
                  <a:srgbClr val="B0A39B"/>
                </a:solidFill>
                <a:latin typeface="Calibri" pitchFamily="34" charset="0"/>
                <a:ea typeface="Calibri" pitchFamily="34" charset="-122"/>
                <a:cs typeface="Calibri" pitchFamily="34" charset="-120"/>
              </a:rPr>
              <a:t>03.2  ·  Solution</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marL="0" indent="0">
              <a:buNone/>
            </a:pPr>
            <a:r>
              <a:rPr lang="en-US" sz="1100" b="1" kern="0" spc="200" dirty="0">
                <a:solidFill>
                  <a:srgbClr val="B0481E"/>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EEB08A"/>
                </a:solidFill>
                <a:latin typeface="Cambria" pitchFamily="34" charset="0"/>
                <a:ea typeface="Cambria" pitchFamily="34" charset="-122"/>
                <a:cs typeface="Cambria" pitchFamily="34" charset="-120"/>
              </a:rPr>
              <a:t>03.2   </a:t>
            </a:r>
            <a:r>
              <a:rPr lang="en-US" sz="2400" b="1" dirty="0">
                <a:solidFill>
                  <a:srgbClr val="1B1F23"/>
                </a:solidFill>
                <a:latin typeface="Cambria" pitchFamily="34" charset="0"/>
                <a:ea typeface="Cambria" pitchFamily="34" charset="-122"/>
                <a:cs typeface="Cambria" pitchFamily="34" charset="-120"/>
              </a:rPr>
              <a:t>Hybrid &amp; Multi-Cloud Management</a:t>
            </a:r>
            <a:endParaRPr lang="en-US" sz="2400" dirty="0"/>
          </a:p>
        </p:txBody>
      </p:sp>
      <p:sp>
        <p:nvSpPr>
          <p:cNvPr id="4" name="Shape 2"/>
          <p:cNvSpPr/>
          <p:nvPr/>
        </p:nvSpPr>
        <p:spPr>
          <a:xfrm>
            <a:off x="502920" y="1600200"/>
            <a:ext cx="5394960" cy="4480560"/>
          </a:xfrm>
          <a:prstGeom prst="roundRect">
            <a:avLst>
              <a:gd name="adj" fmla="val 1429"/>
            </a:avLst>
          </a:prstGeom>
          <a:solidFill>
            <a:srgbClr val="B0481E"/>
          </a:solidFill>
          <a:ln/>
        </p:spPr>
        <p:txBody>
          <a:bodyPr/>
          <a:lstStyle/>
          <a:p>
            <a:endParaRPr lang="en-US"/>
          </a:p>
        </p:txBody>
      </p:sp>
      <p:pic>
        <p:nvPicPr>
          <p:cNvPr id="5" name="Image 0" descr="/home/claude/p3_pe_deliver.png"/>
          <p:cNvPicPr>
            <a:picLocks noChangeAspect="1"/>
          </p:cNvPicPr>
          <p:nvPr/>
        </p:nvPicPr>
        <p:blipFill>
          <a:blip r:embed="rId3"/>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marL="0" indent="0">
              <a:buNone/>
            </a:pPr>
            <a:r>
              <a:rPr lang="en-US" sz="1050" i="1" dirty="0">
                <a:solidFill>
                  <a:srgbClr val="F4D3BF"/>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EEB08A"/>
          </a:solidFill>
          <a:ln/>
        </p:spPr>
        <p:txBody>
          <a:bodyPr/>
          <a:lstStyle/>
          <a:p>
            <a:endParaRPr lang="en-US"/>
          </a:p>
        </p:txBody>
      </p:sp>
      <p:sp>
        <p:nvSpPr>
          <p:cNvPr id="9" name="Text 6"/>
          <p:cNvSpPr txBox="1"/>
          <p:nvPr/>
        </p:nvSpPr>
        <p:spPr>
          <a:xfrm>
            <a:off x="777240" y="2880360"/>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Hybrid / multi-cloud estate and tooling inventory</a:t>
            </a:r>
            <a:endParaRPr lang="en-US" sz="1150" dirty="0"/>
          </a:p>
        </p:txBody>
      </p:sp>
      <p:sp>
        <p:nvSpPr>
          <p:cNvPr id="11" name="Shape 8"/>
          <p:cNvSpPr/>
          <p:nvPr/>
        </p:nvSpPr>
        <p:spPr>
          <a:xfrm>
            <a:off x="777240" y="3483864"/>
            <a:ext cx="310896" cy="310896"/>
          </a:xfrm>
          <a:prstGeom prst="roundRect">
            <a:avLst>
              <a:gd name="adj" fmla="val 14706"/>
            </a:avLst>
          </a:prstGeom>
          <a:solidFill>
            <a:srgbClr val="EEB08A"/>
          </a:solidFill>
          <a:ln/>
        </p:spPr>
        <p:txBody>
          <a:bodyPr/>
          <a:lstStyle/>
          <a:p>
            <a:endParaRPr lang="en-US"/>
          </a:p>
        </p:txBody>
      </p:sp>
      <p:sp>
        <p:nvSpPr>
          <p:cNvPr id="12" name="Text 9"/>
          <p:cNvSpPr txBox="1"/>
          <p:nvPr/>
        </p:nvSpPr>
        <p:spPr>
          <a:xfrm>
            <a:off x="777240" y="3483864"/>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Consistency-gap assessment (security, identity, policy, visibility)</a:t>
            </a:r>
            <a:endParaRPr lang="en-US" sz="1150" dirty="0"/>
          </a:p>
        </p:txBody>
      </p:sp>
      <p:sp>
        <p:nvSpPr>
          <p:cNvPr id="14" name="Shape 11"/>
          <p:cNvSpPr/>
          <p:nvPr/>
        </p:nvSpPr>
        <p:spPr>
          <a:xfrm>
            <a:off x="777240" y="4087368"/>
            <a:ext cx="310896" cy="310896"/>
          </a:xfrm>
          <a:prstGeom prst="roundRect">
            <a:avLst>
              <a:gd name="adj" fmla="val 14706"/>
            </a:avLst>
          </a:prstGeom>
          <a:solidFill>
            <a:srgbClr val="EEB08A"/>
          </a:solidFill>
          <a:ln/>
        </p:spPr>
        <p:txBody>
          <a:bodyPr/>
          <a:lstStyle/>
          <a:p>
            <a:endParaRPr lang="en-US"/>
          </a:p>
        </p:txBody>
      </p:sp>
      <p:sp>
        <p:nvSpPr>
          <p:cNvPr id="15" name="Text 12"/>
          <p:cNvSpPr txBox="1"/>
          <p:nvPr/>
        </p:nvSpPr>
        <p:spPr>
          <a:xfrm>
            <a:off x="777240" y="4087368"/>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Target unified operating model and orchestration architecture</a:t>
            </a:r>
            <a:endParaRPr lang="en-US" sz="1150" dirty="0"/>
          </a:p>
        </p:txBody>
      </p:sp>
      <p:sp>
        <p:nvSpPr>
          <p:cNvPr id="17" name="Shape 14"/>
          <p:cNvSpPr/>
          <p:nvPr/>
        </p:nvSpPr>
        <p:spPr>
          <a:xfrm>
            <a:off x="777240" y="4690872"/>
            <a:ext cx="310896" cy="310896"/>
          </a:xfrm>
          <a:prstGeom prst="roundRect">
            <a:avLst>
              <a:gd name="adj" fmla="val 14706"/>
            </a:avLst>
          </a:prstGeom>
          <a:solidFill>
            <a:srgbClr val="EEB08A"/>
          </a:solidFill>
          <a:ln/>
        </p:spPr>
        <p:txBody>
          <a:bodyPr/>
          <a:lstStyle/>
          <a:p>
            <a:endParaRPr lang="en-US"/>
          </a:p>
        </p:txBody>
      </p:sp>
      <p:sp>
        <p:nvSpPr>
          <p:cNvPr id="18" name="Text 15"/>
          <p:cNvSpPr txBox="1"/>
          <p:nvPr/>
        </p:nvSpPr>
        <p:spPr>
          <a:xfrm>
            <a:off x="777240" y="4690872"/>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Unified cost / performance / compliance visibility design</a:t>
            </a:r>
            <a:endParaRPr lang="en-US" sz="1150" dirty="0"/>
          </a:p>
        </p:txBody>
      </p:sp>
      <p:sp>
        <p:nvSpPr>
          <p:cNvPr id="20" name="Shape 17"/>
          <p:cNvSpPr/>
          <p:nvPr/>
        </p:nvSpPr>
        <p:spPr>
          <a:xfrm>
            <a:off x="777240" y="5294376"/>
            <a:ext cx="310896" cy="310896"/>
          </a:xfrm>
          <a:prstGeom prst="roundRect">
            <a:avLst>
              <a:gd name="adj" fmla="val 14706"/>
            </a:avLst>
          </a:prstGeom>
          <a:solidFill>
            <a:srgbClr val="EEB08A"/>
          </a:solidFill>
          <a:ln/>
        </p:spPr>
        <p:txBody>
          <a:bodyPr/>
          <a:lstStyle/>
          <a:p>
            <a:endParaRPr lang="en-US"/>
          </a:p>
        </p:txBody>
      </p:sp>
      <p:sp>
        <p:nvSpPr>
          <p:cNvPr id="21" name="Text 18"/>
          <p:cNvSpPr txBox="1"/>
          <p:nvPr/>
        </p:nvSpPr>
        <p:spPr>
          <a:xfrm>
            <a:off x="777240" y="5294376"/>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Board-ready multi-cloud management blueprint</a:t>
            </a:r>
            <a:endParaRPr lang="en-US" sz="1150" dirty="0"/>
          </a:p>
        </p:txBody>
      </p:sp>
      <p:sp>
        <p:nvSpPr>
          <p:cNvPr id="23" name="Shape 20"/>
          <p:cNvSpPr/>
          <p:nvPr/>
        </p:nvSpPr>
        <p:spPr>
          <a:xfrm>
            <a:off x="6263640" y="1600200"/>
            <a:ext cx="5394960" cy="2286000"/>
          </a:xfrm>
          <a:prstGeom prst="roundRect">
            <a:avLst>
              <a:gd name="adj" fmla="val 2800"/>
            </a:avLst>
          </a:prstGeom>
          <a:solidFill>
            <a:srgbClr val="EEF6F0"/>
          </a:solidFill>
          <a:ln w="9525">
            <a:solidFill>
              <a:srgbClr val="BFE3D2"/>
            </a:solidFill>
            <a:prstDash val="solid"/>
          </a:ln>
        </p:spPr>
        <p:txBody>
          <a:bodyPr/>
          <a:lstStyle/>
          <a:p>
            <a:endParaRPr lang="en-US"/>
          </a:p>
        </p:txBody>
      </p:sp>
      <p:pic>
        <p:nvPicPr>
          <p:cNvPr id="24" name="Image 1" descr="/home/claude/x_chk_in.png"/>
          <p:cNvPicPr>
            <a:picLocks noChangeAspect="1"/>
          </p:cNvPicPr>
          <p:nvPr/>
        </p:nvPicPr>
        <p:blipFill>
          <a:blip r:embed="rId4"/>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marL="0" indent="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Multi-cloud and hybrid operating-model design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Cross-cloud controls, identity and policy consistency</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Orchestration and control-plane architecture</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Unified visibility (cost / performance / compliance) design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Governance and run-model definition</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1EE"/>
          </a:solidFill>
          <a:ln w="9525">
            <a:solidFill>
              <a:srgbClr val="ECCFC4"/>
            </a:solidFill>
            <a:prstDash val="solid"/>
          </a:ln>
        </p:spPr>
        <p:txBody>
          <a:bodyPr/>
          <a:lstStyle/>
          <a:p>
            <a:endParaRPr lang="en-US"/>
          </a:p>
        </p:txBody>
      </p:sp>
      <p:pic>
        <p:nvPicPr>
          <p:cNvPr id="28" name="Image 2" descr="/home/claude/x_chk_out.png"/>
          <p:cNvPicPr>
            <a:picLocks noChangeAspect="1"/>
          </p:cNvPicPr>
          <p:nvPr/>
        </p:nvPicPr>
        <p:blipFill>
          <a:blip r:embed="rId5"/>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marL="0" indent="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Cloud strategy and workload placement</a:t>
            </a:r>
            <a:r>
              <a:rPr lang="en-US" sz="900" i="1" dirty="0">
                <a:solidFill>
                  <a:srgbClr val="9A5541"/>
                </a:solidFill>
                <a:latin typeface="Calibri" pitchFamily="34" charset="0"/>
                <a:ea typeface="Calibri" pitchFamily="34" charset="-122"/>
                <a:cs typeface="Calibri" pitchFamily="34" charset="-120"/>
              </a:rPr>
              <a:t>   → 03.1 Right Cloud</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Deep cost-optimization delivery</a:t>
            </a:r>
            <a:r>
              <a:rPr lang="en-US" sz="900" i="1" dirty="0">
                <a:solidFill>
                  <a:srgbClr val="9A5541"/>
                </a:solidFill>
                <a:latin typeface="Calibri" pitchFamily="34" charset="0"/>
                <a:ea typeface="Calibri" pitchFamily="34" charset="-122"/>
                <a:cs typeface="Calibri" pitchFamily="34" charset="-120"/>
              </a:rPr>
              <a:t>   → 03.3 FinOps</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Internal developer platform build</a:t>
            </a:r>
            <a:r>
              <a:rPr lang="en-US" sz="900" i="1" dirty="0">
                <a:solidFill>
                  <a:srgbClr val="9A5541"/>
                </a:solidFill>
                <a:latin typeface="Calibri" pitchFamily="34" charset="0"/>
                <a:ea typeface="Calibri" pitchFamily="34" charset="-122"/>
                <a:cs typeface="Calibri" pitchFamily="34" charset="-120"/>
              </a:rPr>
              <a:t>   → 03.6 Platform Eng</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SOC / security operations services</a:t>
            </a:r>
            <a:r>
              <a:rPr lang="en-US" sz="900" i="1" dirty="0">
                <a:solidFill>
                  <a:srgbClr val="9A5541"/>
                </a:solidFill>
                <a:latin typeface="Calibri" pitchFamily="34" charset="0"/>
                <a:ea typeface="Calibri" pitchFamily="34" charset="-122"/>
                <a:cs typeface="Calibri" pitchFamily="34" charset="-120"/>
              </a:rPr>
              <a:t>   → LTM Security</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The managed-run service itself</a:t>
            </a:r>
            <a:r>
              <a:rPr lang="en-US" sz="900" i="1" dirty="0">
                <a:solidFill>
                  <a:srgbClr val="9A5541"/>
                </a:solidFill>
                <a:latin typeface="Calibri" pitchFamily="34" charset="0"/>
                <a:ea typeface="Calibri" pitchFamily="34" charset="-122"/>
                <a:cs typeface="Calibri" pitchFamily="34" charset="-120"/>
              </a:rPr>
              <a:t>   → Separate delivery</a:t>
            </a:r>
            <a:endParaRPr lang="en-US" sz="970" dirty="0"/>
          </a:p>
        </p:txBody>
      </p:sp>
      <p:sp>
        <p:nvSpPr>
          <p:cNvPr id="35" name="Text 30"/>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B0A39B"/>
                </a:solidFill>
                <a:latin typeface="Calibri" pitchFamily="34" charset="0"/>
                <a:ea typeface="Calibri" pitchFamily="34" charset="-122"/>
                <a:cs typeface="Calibri" pitchFamily="34" charset="-120"/>
              </a:rPr>
              <a:t>LTM  ·  Infra Tech Advisory  ·  Public Cloud &amp; Modernization</a:t>
            </a:r>
            <a:endParaRPr lang="en-US" sz="950" dirty="0"/>
          </a:p>
        </p:txBody>
      </p:sp>
      <p:sp>
        <p:nvSpPr>
          <p:cNvPr id="36" name="Text 31"/>
          <p:cNvSpPr txBox="1"/>
          <p:nvPr/>
        </p:nvSpPr>
        <p:spPr>
          <a:xfrm>
            <a:off x="8961120" y="6473952"/>
            <a:ext cx="2724912" cy="274320"/>
          </a:xfrm>
          <a:prstGeom prst="rect">
            <a:avLst/>
          </a:prstGeom>
          <a:noFill/>
          <a:ln/>
        </p:spPr>
        <p:txBody>
          <a:bodyPr wrap="square" lIns="0" tIns="0" rIns="0" bIns="0" rtlCol="0" anchor="ctr"/>
          <a:lstStyle/>
          <a:p>
            <a:pPr marL="0" indent="0" algn="r">
              <a:buNone/>
            </a:pPr>
            <a:r>
              <a:rPr lang="en-US" sz="950" dirty="0">
                <a:solidFill>
                  <a:srgbClr val="B0A39B"/>
                </a:solidFill>
                <a:latin typeface="Calibri" pitchFamily="34" charset="0"/>
                <a:ea typeface="Calibri" pitchFamily="34" charset="-122"/>
                <a:cs typeface="Calibri" pitchFamily="34" charset="-120"/>
              </a:rPr>
              <a:t>03.2  ·  Deliverables &amp; scope</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marL="0" indent="0">
              <a:buNone/>
            </a:pPr>
            <a:r>
              <a:rPr lang="en-US" sz="1100" b="1" kern="0" spc="200" dirty="0">
                <a:solidFill>
                  <a:srgbClr val="B0481E"/>
                </a:solidFill>
                <a:latin typeface="Calibri" pitchFamily="34" charset="0"/>
                <a:ea typeface="Calibri" pitchFamily="34" charset="-122"/>
                <a:cs typeface="Calibri" pitchFamily="34" charset="-120"/>
              </a:rPr>
              <a:t>OFFERING  ·  OUT-SMART THE SPEND.   ·   JOURNEY A · anchor</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EEB08A"/>
                </a:solidFill>
                <a:latin typeface="Cambria" pitchFamily="34" charset="0"/>
                <a:ea typeface="Cambria" pitchFamily="34" charset="-122"/>
                <a:cs typeface="Cambria" pitchFamily="34" charset="-120"/>
              </a:rPr>
              <a:t>03.3   </a:t>
            </a:r>
            <a:r>
              <a:rPr lang="en-US" sz="2400" b="1" dirty="0">
                <a:solidFill>
                  <a:srgbClr val="1B1F23"/>
                </a:solidFill>
                <a:latin typeface="Cambria" pitchFamily="34" charset="0"/>
                <a:ea typeface="Cambria" pitchFamily="34" charset="-122"/>
                <a:cs typeface="Cambria" pitchFamily="34" charset="-120"/>
              </a:rPr>
              <a:t>FinOps Excellence &amp; Cloud Unit Economics</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marL="0" indent="0">
              <a:buNone/>
            </a:pPr>
            <a:r>
              <a:rPr lang="en-US" sz="900" b="1" kern="0" spc="100" dirty="0">
                <a:solidFill>
                  <a:srgbClr val="EEB08A"/>
                </a:solidFill>
                <a:latin typeface="Calibri" pitchFamily="34" charset="0"/>
                <a:ea typeface="Calibri" pitchFamily="34" charset="-122"/>
                <a:cs typeface="Calibri" pitchFamily="34" charset="-120"/>
              </a:rPr>
              <a:t>STARTS FROM  </a:t>
            </a:r>
            <a:r>
              <a:rPr lang="en-US" sz="1050" dirty="0">
                <a:solidFill>
                  <a:srgbClr val="5A4A42"/>
                </a:solidFill>
                <a:latin typeface="Calibri" pitchFamily="34" charset="0"/>
                <a:ea typeface="Calibri" pitchFamily="34" charset="-122"/>
                <a:cs typeface="Calibri" pitchFamily="34" charset="-120"/>
              </a:rPr>
              <a:t>Cloud IQ → FinOps IQ      </a:t>
            </a:r>
            <a:r>
              <a:rPr lang="en-US" sz="900" b="1" kern="0" spc="100" dirty="0">
                <a:solidFill>
                  <a:srgbClr val="EEB08A"/>
                </a:solidFill>
                <a:latin typeface="Calibri" pitchFamily="34" charset="0"/>
                <a:ea typeface="Calibri" pitchFamily="34" charset="-122"/>
                <a:cs typeface="Calibri" pitchFamily="34" charset="-120"/>
              </a:rPr>
              <a:t>LEADS TO  </a:t>
            </a:r>
            <a:r>
              <a:rPr lang="en-US" sz="1050" dirty="0">
                <a:solidFill>
                  <a:srgbClr val="5A4A42"/>
                </a:solidFill>
                <a:latin typeface="Calibri" pitchFamily="34" charset="0"/>
                <a:ea typeface="Calibri" pitchFamily="34" charset="-122"/>
                <a:cs typeface="Calibri" pitchFamily="34" charset="-120"/>
              </a:rPr>
              <a:t>Managed FinOps services · continuous optimization</a:t>
            </a:r>
            <a:endParaRPr lang="en-US" sz="900" dirty="0"/>
          </a:p>
        </p:txBody>
      </p:sp>
      <p:sp>
        <p:nvSpPr>
          <p:cNvPr id="5" name="Shape 3"/>
          <p:cNvSpPr/>
          <p:nvPr/>
        </p:nvSpPr>
        <p:spPr>
          <a:xfrm>
            <a:off x="502920" y="1737360"/>
            <a:ext cx="5394960" cy="2395728"/>
          </a:xfrm>
          <a:prstGeom prst="roundRect">
            <a:avLst>
              <a:gd name="adj" fmla="val 2290"/>
            </a:avLst>
          </a:prstGeom>
          <a:solidFill>
            <a:srgbClr val="FAF4F1"/>
          </a:solidFill>
          <a:ln w="9525">
            <a:solidFill>
              <a:srgbClr val="EAD9CF"/>
            </a:solidFill>
            <a:prstDash val="solid"/>
          </a:ln>
        </p:spPr>
        <p:txBody>
          <a:bodyPr/>
          <a:lstStyle/>
          <a:p>
            <a:endParaRPr lang="en-US"/>
          </a:p>
        </p:txBody>
      </p:sp>
      <p:sp>
        <p:nvSpPr>
          <p:cNvPr id="6" name="Text 4"/>
          <p:cNvSpPr txBox="1"/>
          <p:nvPr/>
        </p:nvSpPr>
        <p:spPr>
          <a:xfrm>
            <a:off x="731520" y="1901952"/>
            <a:ext cx="4937760" cy="256032"/>
          </a:xfrm>
          <a:prstGeom prst="rect">
            <a:avLst/>
          </a:prstGeom>
          <a:noFill/>
          <a:ln/>
        </p:spPr>
        <p:txBody>
          <a:bodyPr wrap="square" lIns="0" tIns="0" rIns="0" bIns="0" rtlCol="0" anchor="ctr"/>
          <a:lstStyle/>
          <a:p>
            <a:pPr marL="0" indent="0">
              <a:buNone/>
            </a:pPr>
            <a:r>
              <a:rPr lang="en-US" sz="1100" b="1" kern="0" spc="150" dirty="0">
                <a:solidFill>
                  <a:srgbClr val="B0481E"/>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marL="0" indent="0">
              <a:lnSpc>
                <a:spcPct val="104000"/>
              </a:lnSpc>
              <a:buNone/>
            </a:pPr>
            <a:r>
              <a:rPr lang="en-US" sz="1150" dirty="0">
                <a:solidFill>
                  <a:srgbClr val="3A2E28"/>
                </a:solidFill>
                <a:latin typeface="Calibri" pitchFamily="34" charset="0"/>
                <a:ea typeface="Calibri" pitchFamily="34" charset="-122"/>
                <a:cs typeface="Calibri" pitchFamily="34" charset="-120"/>
              </a:rPr>
              <a:t>Turns cloud spend from an untracked liability into a governed, unit-economics-driven asset. It baselines FinOps maturity, delivers near-term cost-out, and embeds cost accountability where cost is incurred — linking spend to business unit economics (cost per customer, per feature, per AI workload) so the conversation moves from how much we spent to what it produced.</a:t>
            </a:r>
            <a:endParaRPr lang="en-US" sz="1150" dirty="0"/>
          </a:p>
        </p:txBody>
      </p:sp>
      <p:sp>
        <p:nvSpPr>
          <p:cNvPr id="8" name="Shape 6"/>
          <p:cNvSpPr/>
          <p:nvPr/>
        </p:nvSpPr>
        <p:spPr>
          <a:xfrm>
            <a:off x="502920" y="4279392"/>
            <a:ext cx="5394960" cy="1627632"/>
          </a:xfrm>
          <a:prstGeom prst="roundRect">
            <a:avLst>
              <a:gd name="adj" fmla="val 3371"/>
            </a:avLst>
          </a:prstGeom>
          <a:solidFill>
            <a:srgbClr val="B0481E"/>
          </a:solidFill>
          <a:ln w="9525">
            <a:solidFill>
              <a:srgbClr val="B0481E"/>
            </a:solidFill>
            <a:prstDash val="solid"/>
          </a:ln>
        </p:spPr>
        <p:txBody>
          <a:bodyPr/>
          <a:lstStyle/>
          <a:p>
            <a:endParaRPr lang="en-US"/>
          </a:p>
        </p:txBody>
      </p:sp>
      <p:sp>
        <p:nvSpPr>
          <p:cNvPr id="9" name="Text 7"/>
          <p:cNvSpPr txBox="1"/>
          <p:nvPr/>
        </p:nvSpPr>
        <p:spPr>
          <a:xfrm>
            <a:off x="731520" y="4425696"/>
            <a:ext cx="4937760" cy="256032"/>
          </a:xfrm>
          <a:prstGeom prst="rect">
            <a:avLst/>
          </a:prstGeom>
          <a:noFill/>
          <a:ln/>
        </p:spPr>
        <p:txBody>
          <a:bodyPr wrap="square" lIns="0" tIns="0" rIns="0" bIns="0" rtlCol="0" anchor="ctr"/>
          <a:lstStyle/>
          <a:p>
            <a:pPr marL="0" indent="0">
              <a:buNone/>
            </a:pPr>
            <a:r>
              <a:rPr lang="en-US" sz="1100" b="1" kern="0" spc="150" dirty="0">
                <a:solidFill>
                  <a:srgbClr val="F4D3BF"/>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marL="0" indent="0">
              <a:lnSpc>
                <a:spcPct val="103000"/>
              </a:lnSpc>
              <a:buNone/>
            </a:pPr>
            <a:r>
              <a:rPr lang="en-US" sz="1100" dirty="0">
                <a:solidFill>
                  <a:srgbClr val="FBEDE6"/>
                </a:solidFill>
                <a:latin typeface="Calibri" pitchFamily="34" charset="0"/>
                <a:ea typeface="Calibri" pitchFamily="34" charset="-122"/>
                <a:cs typeface="Calibri" pitchFamily="34" charset="-120"/>
              </a:rPr>
              <a:t>Flexera’s 2026 report puts wasted cloud spend at 29% — the first rise in five years — as AI makes cost structurally harder to forecast. 85% of decision-makers now cite spend management as a top problem, ahead of security. On a $10M annual cloud bill, that waste is $2.5–3.5M of avoidable cost every year.</a:t>
            </a:r>
            <a:endParaRPr lang="en-US" sz="110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marL="0" indent="0">
              <a:buNone/>
            </a:pPr>
            <a:r>
              <a:rPr lang="en-US" sz="850" i="1" dirty="0">
                <a:solidFill>
                  <a:srgbClr val="E0A583"/>
                </a:solidFill>
                <a:latin typeface="Calibri" pitchFamily="34" charset="0"/>
                <a:ea typeface="Calibri" pitchFamily="34" charset="-122"/>
                <a:cs typeface="Calibri" pitchFamily="34" charset="-120"/>
              </a:rPr>
              <a:t>Source: Gartner / Flexera / FinOps Foundation, 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EAD9CF"/>
            </a:solidFill>
            <a:prstDash val="solid"/>
          </a:ln>
        </p:spPr>
        <p:txBody>
          <a:bodyPr/>
          <a:lstStyle/>
          <a:p>
            <a:endParaRPr lang="en-US"/>
          </a:p>
        </p:txBody>
      </p:sp>
      <p:sp>
        <p:nvSpPr>
          <p:cNvPr id="13" name="Text 11"/>
          <p:cNvSpPr txBox="1"/>
          <p:nvPr/>
        </p:nvSpPr>
        <p:spPr>
          <a:xfrm>
            <a:off x="6492240" y="1901952"/>
            <a:ext cx="4937760" cy="256032"/>
          </a:xfrm>
          <a:prstGeom prst="rect">
            <a:avLst/>
          </a:prstGeom>
          <a:noFill/>
          <a:ln/>
        </p:spPr>
        <p:txBody>
          <a:bodyPr wrap="square" lIns="0" tIns="0" rIns="0" bIns="0" rtlCol="0" anchor="ctr"/>
          <a:lstStyle/>
          <a:p>
            <a:pPr marL="0" indent="0">
              <a:buNone/>
            </a:pPr>
            <a:r>
              <a:rPr lang="en-US" sz="1100" b="1" kern="0" spc="120" dirty="0">
                <a:solidFill>
                  <a:srgbClr val="B0481E"/>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157984"/>
            <a:ext cx="4937760" cy="457200"/>
          </a:xfrm>
          <a:prstGeom prst="rect">
            <a:avLst/>
          </a:prstGeom>
          <a:noFill/>
          <a:ln/>
        </p:spPr>
        <p:txBody>
          <a:bodyPr wrap="square" lIns="0" tIns="0" rIns="0" bIns="0" rtlCol="0" anchor="ctr"/>
          <a:lstStyle/>
          <a:p>
            <a:pPr marL="0" indent="0">
              <a:lnSpc>
                <a:spcPct val="95000"/>
              </a:lnSpc>
              <a:buNone/>
            </a:pPr>
            <a:r>
              <a:rPr lang="en-US" sz="1150" i="1" dirty="0">
                <a:solidFill>
                  <a:srgbClr val="8F3A17"/>
                </a:solidFill>
                <a:latin typeface="Cambria" pitchFamily="34" charset="0"/>
                <a:ea typeface="Cambria" pitchFamily="34" charset="-122"/>
                <a:cs typeface="Cambria" pitchFamily="34" charset="-120"/>
              </a:rPr>
              <a:t>Cloud spend is growing faster than the ability to see, govern or justify it.</a:t>
            </a:r>
            <a:endParaRPr lang="en-US" sz="1150" dirty="0"/>
          </a:p>
        </p:txBody>
      </p:sp>
      <p:sp>
        <p:nvSpPr>
          <p:cNvPr id="15" name="Text 13"/>
          <p:cNvSpPr txBox="1"/>
          <p:nvPr/>
        </p:nvSpPr>
        <p:spPr>
          <a:xfrm>
            <a:off x="6492240" y="2697480"/>
            <a:ext cx="4937760" cy="1325880"/>
          </a:xfrm>
          <a:prstGeom prst="rect">
            <a:avLst/>
          </a:prstGeom>
          <a:noFill/>
          <a:ln/>
        </p:spPr>
        <p:txBody>
          <a:bodyPr wrap="square" lIns="0" tIns="0" rIns="0" bIns="0" rtlCol="0" anchor="ctr"/>
          <a:lstStyle/>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29% of cloud spend is wasted — a five-year high, driven by AI workloads outrunning finance’s ability to forecast.</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Enterprises exceed cloud budgets by ~17%, a gap that compounds fast at scale.</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Lack of visibility, not overspend, is the #1 problem — 77% can’t see where spend happens or who owns it.</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Engineers are incentivized to ship, not optimize — cost decisions are made after the fact, if at all.</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AI / GPU spend is the fastest-growing waste category, with idle accelerators at 30–40% utilization.</a:t>
            </a:r>
            <a:endParaRPr lang="en-US" sz="1000" dirty="0"/>
          </a:p>
        </p:txBody>
      </p:sp>
      <p:sp>
        <p:nvSpPr>
          <p:cNvPr id="16" name="Shape 14"/>
          <p:cNvSpPr/>
          <p:nvPr/>
        </p:nvSpPr>
        <p:spPr>
          <a:xfrm>
            <a:off x="6263640" y="4279392"/>
            <a:ext cx="5394960" cy="1627632"/>
          </a:xfrm>
          <a:prstGeom prst="roundRect">
            <a:avLst>
              <a:gd name="adj" fmla="val 3371"/>
            </a:avLst>
          </a:prstGeom>
          <a:solidFill>
            <a:srgbClr val="FAF4F1"/>
          </a:solidFill>
          <a:ln w="9525">
            <a:solidFill>
              <a:srgbClr val="EAD9CF"/>
            </a:solidFill>
            <a:prstDash val="solid"/>
          </a:ln>
        </p:spPr>
        <p:txBody>
          <a:bodyPr/>
          <a:lstStyle/>
          <a:p>
            <a:endParaRPr lang="en-US"/>
          </a:p>
        </p:txBody>
      </p:sp>
      <p:sp>
        <p:nvSpPr>
          <p:cNvPr id="17" name="Text 15"/>
          <p:cNvSpPr txBox="1"/>
          <p:nvPr/>
        </p:nvSpPr>
        <p:spPr>
          <a:xfrm>
            <a:off x="6492240" y="4407408"/>
            <a:ext cx="4937760" cy="256032"/>
          </a:xfrm>
          <a:prstGeom prst="rect">
            <a:avLst/>
          </a:prstGeom>
          <a:noFill/>
          <a:ln/>
        </p:spPr>
        <p:txBody>
          <a:bodyPr wrap="square" lIns="0" tIns="0" rIns="0" bIns="0" rtlCol="0" anchor="ctr"/>
          <a:lstStyle/>
          <a:p>
            <a:pPr marL="0" indent="0">
              <a:buNone/>
            </a:pPr>
            <a:r>
              <a:rPr lang="en-US" sz="1100" b="1" kern="0" spc="120" dirty="0">
                <a:solidFill>
                  <a:srgbClr val="B0481E"/>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81728"/>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Near-term cost-out  </a:t>
            </a:r>
            <a:r>
              <a:rPr lang="en-US" sz="900" dirty="0">
                <a:solidFill>
                  <a:srgbClr val="5A4A42"/>
                </a:solidFill>
                <a:latin typeface="Calibri" pitchFamily="34" charset="0"/>
                <a:ea typeface="Calibri" pitchFamily="34" charset="-122"/>
                <a:cs typeface="Calibri" pitchFamily="34" charset="-120"/>
              </a:rPr>
              <a:t>— Mature FinOps cuts waste from ~29% to 15–20%; typical programs report 25–30% monthly savings.</a:t>
            </a:r>
            <a:endParaRPr lang="en-US" sz="950" dirty="0"/>
          </a:p>
        </p:txBody>
      </p:sp>
      <p:sp>
        <p:nvSpPr>
          <p:cNvPr id="19" name="Text 17"/>
          <p:cNvSpPr txBox="1"/>
          <p:nvPr/>
        </p:nvSpPr>
        <p:spPr>
          <a:xfrm>
            <a:off x="6492240" y="491581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Visibility, finally  </a:t>
            </a:r>
            <a:r>
              <a:rPr lang="en-US" sz="900" dirty="0">
                <a:solidFill>
                  <a:srgbClr val="5A4A42"/>
                </a:solidFill>
                <a:latin typeface="Calibri" pitchFamily="34" charset="0"/>
                <a:ea typeface="Calibri" pitchFamily="34" charset="-122"/>
                <a:cs typeface="Calibri" pitchFamily="34" charset="-120"/>
              </a:rPr>
              <a:t>— Spend seen by service, team, feature and AI workload, with clear ownership.</a:t>
            </a:r>
            <a:endParaRPr lang="en-US" sz="950" dirty="0"/>
          </a:p>
        </p:txBody>
      </p:sp>
      <p:sp>
        <p:nvSpPr>
          <p:cNvPr id="20" name="Text 18"/>
          <p:cNvSpPr txBox="1"/>
          <p:nvPr/>
        </p:nvSpPr>
        <p:spPr>
          <a:xfrm>
            <a:off x="6492240" y="5149901"/>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Cost decisions at the source  </a:t>
            </a:r>
            <a:r>
              <a:rPr lang="en-US" sz="900" dirty="0">
                <a:solidFill>
                  <a:srgbClr val="5A4A42"/>
                </a:solidFill>
                <a:latin typeface="Calibri" pitchFamily="34" charset="0"/>
                <a:ea typeface="Calibri" pitchFamily="34" charset="-122"/>
                <a:cs typeface="Calibri" pitchFamily="34" charset="-120"/>
              </a:rPr>
              <a:t>— FinOps embedded in engineering, so waste is prevented, not just reported.</a:t>
            </a:r>
            <a:endParaRPr lang="en-US" sz="950" dirty="0"/>
          </a:p>
        </p:txBody>
      </p:sp>
      <p:sp>
        <p:nvSpPr>
          <p:cNvPr id="21" name="Text 19"/>
          <p:cNvSpPr txBox="1"/>
          <p:nvPr/>
        </p:nvSpPr>
        <p:spPr>
          <a:xfrm>
            <a:off x="6492240" y="5383987"/>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Unit economics, not raw bills  </a:t>
            </a:r>
            <a:r>
              <a:rPr lang="en-US" sz="900" dirty="0">
                <a:solidFill>
                  <a:srgbClr val="5A4A42"/>
                </a:solidFill>
                <a:latin typeface="Calibri" pitchFamily="34" charset="0"/>
                <a:ea typeface="Calibri" pitchFamily="34" charset="-122"/>
                <a:cs typeface="Calibri" pitchFamily="34" charset="-120"/>
              </a:rPr>
              <a:t>— Cost per customer / feature / AI workload, tying spend to value.</a:t>
            </a:r>
            <a:endParaRPr lang="en-US" sz="950" dirty="0"/>
          </a:p>
        </p:txBody>
      </p:sp>
      <p:sp>
        <p:nvSpPr>
          <p:cNvPr id="22" name="Text 20"/>
          <p:cNvSpPr txBox="1"/>
          <p:nvPr/>
        </p:nvSpPr>
        <p:spPr>
          <a:xfrm>
            <a:off x="6492240" y="561807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AI cost under control  </a:t>
            </a:r>
            <a:r>
              <a:rPr lang="en-US" sz="900" dirty="0">
                <a:solidFill>
                  <a:srgbClr val="5A4A42"/>
                </a:solidFill>
                <a:latin typeface="Calibri" pitchFamily="34" charset="0"/>
                <a:ea typeface="Calibri" pitchFamily="34" charset="-122"/>
                <a:cs typeface="Calibri" pitchFamily="34" charset="-120"/>
              </a:rPr>
              <a:t>— Governance over the fastest-growing, least-predictable spend.</a:t>
            </a:r>
            <a:endParaRPr lang="en-US" sz="950" dirty="0"/>
          </a:p>
        </p:txBody>
      </p:sp>
      <p:sp>
        <p:nvSpPr>
          <p:cNvPr id="23" name="Text 21"/>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B0A39B"/>
                </a:solidFill>
                <a:latin typeface="Calibri" pitchFamily="34" charset="0"/>
                <a:ea typeface="Calibri" pitchFamily="34" charset="-122"/>
                <a:cs typeface="Calibri" pitchFamily="34" charset="-120"/>
              </a:rPr>
              <a:t>LTM  ·  Infra Tech Advisory  ·  Public Cloud &amp; Modernization</a:t>
            </a:r>
            <a:endParaRPr lang="en-US" sz="950" dirty="0"/>
          </a:p>
        </p:txBody>
      </p:sp>
      <p:sp>
        <p:nvSpPr>
          <p:cNvPr id="24" name="Text 22"/>
          <p:cNvSpPr txBox="1"/>
          <p:nvPr/>
        </p:nvSpPr>
        <p:spPr>
          <a:xfrm>
            <a:off x="8961120" y="6473952"/>
            <a:ext cx="2724912" cy="274320"/>
          </a:xfrm>
          <a:prstGeom prst="rect">
            <a:avLst/>
          </a:prstGeom>
          <a:noFill/>
          <a:ln/>
        </p:spPr>
        <p:txBody>
          <a:bodyPr wrap="square" lIns="0" tIns="0" rIns="0" bIns="0" rtlCol="0" anchor="ctr"/>
          <a:lstStyle/>
          <a:p>
            <a:pPr marL="0" indent="0" algn="r">
              <a:buNone/>
            </a:pPr>
            <a:r>
              <a:rPr lang="en-US" sz="950" dirty="0">
                <a:solidFill>
                  <a:srgbClr val="B0A39B"/>
                </a:solidFill>
                <a:latin typeface="Calibri" pitchFamily="34" charset="0"/>
                <a:ea typeface="Calibri" pitchFamily="34" charset="-122"/>
                <a:cs typeface="Calibri" pitchFamily="34" charset="-120"/>
              </a:rPr>
              <a:t>03.3  ·  Overview</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marL="0" indent="0">
              <a:buNone/>
            </a:pPr>
            <a:r>
              <a:rPr lang="en-US" sz="1100" b="1" kern="0" spc="200" dirty="0">
                <a:solidFill>
                  <a:srgbClr val="B0481E"/>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EEB08A"/>
                </a:solidFill>
                <a:latin typeface="Cambria" pitchFamily="34" charset="0"/>
                <a:ea typeface="Cambria" pitchFamily="34" charset="-122"/>
                <a:cs typeface="Cambria" pitchFamily="34" charset="-120"/>
              </a:rPr>
              <a:t>03.3   </a:t>
            </a:r>
            <a:r>
              <a:rPr lang="en-US" sz="2400" b="1" dirty="0">
                <a:solidFill>
                  <a:srgbClr val="1B1F23"/>
                </a:solidFill>
                <a:latin typeface="Cambria" pitchFamily="34" charset="0"/>
                <a:ea typeface="Cambria" pitchFamily="34" charset="-122"/>
                <a:cs typeface="Cambria" pitchFamily="34" charset="-120"/>
              </a:rPr>
              <a:t>FinOps Excellence &amp; Cloud Unit Economics</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marL="0" indent="0">
              <a:buNone/>
            </a:pPr>
            <a:r>
              <a:rPr lang="en-US" sz="1200" i="1" dirty="0">
                <a:solidFill>
                  <a:srgbClr val="6B5A52"/>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AF4F1"/>
          </a:solidFill>
          <a:ln w="9525">
            <a:solidFill>
              <a:srgbClr val="EAD9CF"/>
            </a:solidFill>
            <a:prstDash val="solid"/>
          </a:ln>
        </p:spPr>
        <p:txBody>
          <a:bodyPr/>
          <a:lstStyle/>
          <a:p>
            <a:endParaRPr lang="en-US"/>
          </a:p>
        </p:txBody>
      </p:sp>
      <p:sp>
        <p:nvSpPr>
          <p:cNvPr id="6" name="Shape 4"/>
          <p:cNvSpPr/>
          <p:nvPr/>
        </p:nvSpPr>
        <p:spPr>
          <a:xfrm>
            <a:off x="502920" y="1783080"/>
            <a:ext cx="3602736" cy="868680"/>
          </a:xfrm>
          <a:prstGeom prst="roundRect">
            <a:avLst>
              <a:gd name="adj" fmla="val 7368"/>
            </a:avLst>
          </a:prstGeom>
          <a:solidFill>
            <a:srgbClr val="B0481E"/>
          </a:solidFill>
          <a:ln/>
        </p:spPr>
        <p:txBody>
          <a:bodyPr/>
          <a:lstStyle/>
          <a:p>
            <a:endParaRPr lang="en-US"/>
          </a:p>
        </p:txBody>
      </p:sp>
      <p:sp>
        <p:nvSpPr>
          <p:cNvPr id="7" name="Shape 5"/>
          <p:cNvSpPr/>
          <p:nvPr/>
        </p:nvSpPr>
        <p:spPr>
          <a:xfrm>
            <a:off x="502920" y="2194560"/>
            <a:ext cx="3602736" cy="457200"/>
          </a:xfrm>
          <a:prstGeom prst="rect">
            <a:avLst/>
          </a:prstGeom>
          <a:solidFill>
            <a:srgbClr val="B0481E"/>
          </a:solidFill>
          <a:ln/>
        </p:spPr>
        <p:txBody>
          <a:bodyPr/>
          <a:lstStyle/>
          <a:p>
            <a:endParaRPr lang="en-US"/>
          </a:p>
        </p:txBody>
      </p:sp>
      <p:pic>
        <p:nvPicPr>
          <p:cNvPr id="8" name="Image 0" descr="/home/claude/p3_pe_understand.png"/>
          <p:cNvPicPr>
            <a:picLocks noChangeAspect="1"/>
          </p:cNvPicPr>
          <p:nvPr/>
        </p:nvPicPr>
        <p:blipFill>
          <a:blip r:embed="rId3"/>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marL="0" indent="0">
              <a:buNone/>
            </a:pPr>
            <a:r>
              <a:rPr lang="en-US" sz="1000" b="1" kern="0" spc="100" dirty="0">
                <a:solidFill>
                  <a:srgbClr val="F4D3BF"/>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Baseline FinOps maturity against the FinOps Foundation model</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Analyze bill and usage; identify the highest-yield cost-out opportunities</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Surface waste concentration (idle, over-provisioned, orphaned, AI/GPU)</a:t>
            </a:r>
            <a:endParaRPr lang="en-US" sz="1000" dirty="0"/>
          </a:p>
        </p:txBody>
      </p:sp>
      <p:sp>
        <p:nvSpPr>
          <p:cNvPr id="12" name="Shape 9"/>
          <p:cNvSpPr/>
          <p:nvPr/>
        </p:nvSpPr>
        <p:spPr>
          <a:xfrm>
            <a:off x="740664" y="4983480"/>
            <a:ext cx="3127248" cy="0"/>
          </a:xfrm>
          <a:prstGeom prst="line">
            <a:avLst/>
          </a:prstGeom>
          <a:noFill/>
          <a:ln w="12700">
            <a:solidFill>
              <a:srgbClr val="EAD9CF"/>
            </a:solidFill>
            <a:prstDash val="solid"/>
          </a:ln>
        </p:spPr>
        <p:txBody>
          <a:bodyPr/>
          <a:lstStyle/>
          <a:p>
            <a:endParaRPr lang="en-US"/>
          </a:p>
        </p:txBody>
      </p:sp>
      <p:sp>
        <p:nvSpPr>
          <p:cNvPr id="13" name="Text 10"/>
          <p:cNvSpPr txBox="1"/>
          <p:nvPr/>
        </p:nvSpPr>
        <p:spPr>
          <a:xfrm>
            <a:off x="740664" y="5056632"/>
            <a:ext cx="3127248" cy="219456"/>
          </a:xfrm>
          <a:prstGeom prst="rect">
            <a:avLst/>
          </a:prstGeom>
          <a:noFill/>
          <a:ln/>
        </p:spPr>
        <p:txBody>
          <a:bodyPr wrap="square" lIns="0" tIns="0" rIns="0" bIns="0" rtlCol="0" anchor="ctr"/>
          <a:lstStyle/>
          <a:p>
            <a:pPr marL="0" indent="0">
              <a:buNone/>
            </a:pPr>
            <a:r>
              <a:rPr lang="en-US" sz="900" b="1" kern="0" spc="100" dirty="0">
                <a:solidFill>
                  <a:srgbClr val="B0481E"/>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8F3A17"/>
                </a:solidFill>
                <a:latin typeface="Calibri" pitchFamily="34" charset="0"/>
                <a:ea typeface="Calibri" pitchFamily="34" charset="-122"/>
                <a:cs typeface="Calibri" pitchFamily="34" charset="-120"/>
              </a:rPr>
              <a:t>FinOps maturity baseline · prioritized savings register · waste-concentration view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marL="0" indent="0" algn="ctr">
              <a:buNone/>
            </a:pPr>
            <a:r>
              <a:rPr lang="en-US" sz="2000" dirty="0">
                <a:solidFill>
                  <a:srgbClr val="6B5A52"/>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AF4F1"/>
          </a:solidFill>
          <a:ln w="9525">
            <a:solidFill>
              <a:srgbClr val="EAD9CF"/>
            </a:solidFill>
            <a:prstDash val="solid"/>
          </a:ln>
        </p:spPr>
        <p:txBody>
          <a:bodyPr/>
          <a:lstStyle/>
          <a:p>
            <a:endParaRPr lang="en-US"/>
          </a:p>
        </p:txBody>
      </p:sp>
      <p:sp>
        <p:nvSpPr>
          <p:cNvPr id="17" name="Shape 14"/>
          <p:cNvSpPr/>
          <p:nvPr/>
        </p:nvSpPr>
        <p:spPr>
          <a:xfrm>
            <a:off x="4343400" y="1783080"/>
            <a:ext cx="3602736" cy="868680"/>
          </a:xfrm>
          <a:prstGeom prst="roundRect">
            <a:avLst>
              <a:gd name="adj" fmla="val 7368"/>
            </a:avLst>
          </a:prstGeom>
          <a:solidFill>
            <a:srgbClr val="8F3A17"/>
          </a:solidFill>
          <a:ln/>
        </p:spPr>
        <p:txBody>
          <a:bodyPr/>
          <a:lstStyle/>
          <a:p>
            <a:endParaRPr lang="en-US"/>
          </a:p>
        </p:txBody>
      </p:sp>
      <p:sp>
        <p:nvSpPr>
          <p:cNvPr id="18" name="Shape 15"/>
          <p:cNvSpPr/>
          <p:nvPr/>
        </p:nvSpPr>
        <p:spPr>
          <a:xfrm>
            <a:off x="4343400" y="2194560"/>
            <a:ext cx="3602736" cy="457200"/>
          </a:xfrm>
          <a:prstGeom prst="rect">
            <a:avLst/>
          </a:prstGeom>
          <a:solidFill>
            <a:srgbClr val="8F3A17"/>
          </a:solidFill>
          <a:ln/>
        </p:spPr>
        <p:txBody>
          <a:bodyPr/>
          <a:lstStyle/>
          <a:p>
            <a:endParaRPr lang="en-US"/>
          </a:p>
        </p:txBody>
      </p:sp>
      <p:pic>
        <p:nvPicPr>
          <p:cNvPr id="19" name="Image 1" descr="/home/claude/p3_pe_ideate.png"/>
          <p:cNvPicPr>
            <a:picLocks noChangeAspect="1"/>
          </p:cNvPicPr>
          <p:nvPr/>
        </p:nvPicPr>
        <p:blipFill>
          <a:blip r:embed="rId4"/>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marL="0" indent="0">
              <a:buNone/>
            </a:pPr>
            <a:r>
              <a:rPr lang="en-US" sz="1000" b="1" kern="0" spc="100" dirty="0">
                <a:solidFill>
                  <a:srgbClr val="F4D3BF"/>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Design the FinOps operating model — roles, cadence, tooling, showback/chargeback</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Define unit-economics reporting (cost per customer / feature / workload)</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Design cost-aware architecture patterns and automated guardrails</a:t>
            </a:r>
            <a:endParaRPr lang="en-US" sz="1000" dirty="0"/>
          </a:p>
        </p:txBody>
      </p:sp>
      <p:sp>
        <p:nvSpPr>
          <p:cNvPr id="23" name="Shape 19"/>
          <p:cNvSpPr/>
          <p:nvPr/>
        </p:nvSpPr>
        <p:spPr>
          <a:xfrm>
            <a:off x="4581144" y="4983480"/>
            <a:ext cx="3127248" cy="0"/>
          </a:xfrm>
          <a:prstGeom prst="line">
            <a:avLst/>
          </a:prstGeom>
          <a:noFill/>
          <a:ln w="12700">
            <a:solidFill>
              <a:srgbClr val="EAD9CF"/>
            </a:solidFill>
            <a:prstDash val="solid"/>
          </a:ln>
        </p:spPr>
        <p:txBody>
          <a:bodyPr/>
          <a:lstStyle/>
          <a:p>
            <a:endParaRPr lang="en-US"/>
          </a:p>
        </p:txBody>
      </p:sp>
      <p:sp>
        <p:nvSpPr>
          <p:cNvPr id="24" name="Text 20"/>
          <p:cNvSpPr txBox="1"/>
          <p:nvPr/>
        </p:nvSpPr>
        <p:spPr>
          <a:xfrm>
            <a:off x="4581144" y="5056632"/>
            <a:ext cx="3127248" cy="219456"/>
          </a:xfrm>
          <a:prstGeom prst="rect">
            <a:avLst/>
          </a:prstGeom>
          <a:noFill/>
          <a:ln/>
        </p:spPr>
        <p:txBody>
          <a:bodyPr wrap="square" lIns="0" tIns="0" rIns="0" bIns="0" rtlCol="0" anchor="ctr"/>
          <a:lstStyle/>
          <a:p>
            <a:pPr marL="0" indent="0">
              <a:buNone/>
            </a:pPr>
            <a:r>
              <a:rPr lang="en-US" sz="900" b="1" kern="0" spc="100" dirty="0">
                <a:solidFill>
                  <a:srgbClr val="B0481E"/>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8F3A17"/>
                </a:solidFill>
                <a:latin typeface="Calibri" pitchFamily="34" charset="0"/>
                <a:ea typeface="Calibri" pitchFamily="34" charset="-122"/>
                <a:cs typeface="Calibri" pitchFamily="34" charset="-120"/>
              </a:rPr>
              <a:t>FinOps operating model · unit-economics reporting design · guardrail patterns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marL="0" indent="0" algn="ctr">
              <a:buNone/>
            </a:pPr>
            <a:r>
              <a:rPr lang="en-US" sz="2000" dirty="0">
                <a:solidFill>
                  <a:srgbClr val="6B5A52"/>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AF4F1"/>
          </a:solidFill>
          <a:ln w="9525">
            <a:solidFill>
              <a:srgbClr val="EAD9CF"/>
            </a:solidFill>
            <a:prstDash val="solid"/>
          </a:ln>
        </p:spPr>
        <p:txBody>
          <a:bodyPr/>
          <a:lstStyle/>
          <a:p>
            <a:endParaRPr lang="en-US"/>
          </a:p>
        </p:txBody>
      </p:sp>
      <p:sp>
        <p:nvSpPr>
          <p:cNvPr id="28" name="Shape 24"/>
          <p:cNvSpPr/>
          <p:nvPr/>
        </p:nvSpPr>
        <p:spPr>
          <a:xfrm>
            <a:off x="8183880" y="1783080"/>
            <a:ext cx="3602736" cy="868680"/>
          </a:xfrm>
          <a:prstGeom prst="roundRect">
            <a:avLst>
              <a:gd name="adj" fmla="val 7368"/>
            </a:avLst>
          </a:prstGeom>
          <a:solidFill>
            <a:srgbClr val="6E2C11"/>
          </a:solidFill>
          <a:ln/>
        </p:spPr>
        <p:txBody>
          <a:bodyPr/>
          <a:lstStyle/>
          <a:p>
            <a:endParaRPr lang="en-US"/>
          </a:p>
        </p:txBody>
      </p:sp>
      <p:sp>
        <p:nvSpPr>
          <p:cNvPr id="29" name="Shape 25"/>
          <p:cNvSpPr/>
          <p:nvPr/>
        </p:nvSpPr>
        <p:spPr>
          <a:xfrm>
            <a:off x="8183880" y="2194560"/>
            <a:ext cx="3602736" cy="457200"/>
          </a:xfrm>
          <a:prstGeom prst="rect">
            <a:avLst/>
          </a:prstGeom>
          <a:solidFill>
            <a:srgbClr val="6E2C11"/>
          </a:solidFill>
          <a:ln/>
        </p:spPr>
        <p:txBody>
          <a:bodyPr/>
          <a:lstStyle/>
          <a:p>
            <a:endParaRPr lang="en-US"/>
          </a:p>
        </p:txBody>
      </p:sp>
      <p:pic>
        <p:nvPicPr>
          <p:cNvPr id="30" name="Image 2" descr="/home/claude/p3_pe_outcreate.png"/>
          <p:cNvPicPr>
            <a:picLocks noChangeAspect="1"/>
          </p:cNvPicPr>
          <p:nvPr/>
        </p:nvPicPr>
        <p:blipFill>
          <a:blip r:embed="rId5"/>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marL="0" indent="0">
              <a:buNone/>
            </a:pPr>
            <a:r>
              <a:rPr lang="en-US" sz="1000" b="1" kern="0" spc="100" dirty="0">
                <a:solidFill>
                  <a:srgbClr val="F4D3BF"/>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Consolidate into an executive-ready FinOps roadmap with committed savings targets</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Define governance forums and sustaining discipline</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Executive playback, decision sign-off, first cost-out wave</a:t>
            </a:r>
            <a:endParaRPr lang="en-US" sz="1000" dirty="0"/>
          </a:p>
        </p:txBody>
      </p:sp>
      <p:sp>
        <p:nvSpPr>
          <p:cNvPr id="34" name="Shape 29"/>
          <p:cNvSpPr/>
          <p:nvPr/>
        </p:nvSpPr>
        <p:spPr>
          <a:xfrm>
            <a:off x="8421624" y="4983480"/>
            <a:ext cx="3127248" cy="0"/>
          </a:xfrm>
          <a:prstGeom prst="line">
            <a:avLst/>
          </a:prstGeom>
          <a:noFill/>
          <a:ln w="12700">
            <a:solidFill>
              <a:srgbClr val="EAD9CF"/>
            </a:solidFill>
            <a:prstDash val="solid"/>
          </a:ln>
        </p:spPr>
        <p:txBody>
          <a:bodyPr/>
          <a:lstStyle/>
          <a:p>
            <a:endParaRPr lang="en-US"/>
          </a:p>
        </p:txBody>
      </p:sp>
      <p:sp>
        <p:nvSpPr>
          <p:cNvPr id="35" name="Text 30"/>
          <p:cNvSpPr txBox="1"/>
          <p:nvPr/>
        </p:nvSpPr>
        <p:spPr>
          <a:xfrm>
            <a:off x="8421624" y="5056632"/>
            <a:ext cx="3127248" cy="219456"/>
          </a:xfrm>
          <a:prstGeom prst="rect">
            <a:avLst/>
          </a:prstGeom>
          <a:noFill/>
          <a:ln/>
        </p:spPr>
        <p:txBody>
          <a:bodyPr wrap="square" lIns="0" tIns="0" rIns="0" bIns="0" rtlCol="0" anchor="ctr"/>
          <a:lstStyle/>
          <a:p>
            <a:pPr marL="0" indent="0">
              <a:buNone/>
            </a:pPr>
            <a:r>
              <a:rPr lang="en-US" sz="900" b="1" kern="0" spc="100" dirty="0">
                <a:solidFill>
                  <a:srgbClr val="B0481E"/>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8F3A17"/>
                </a:solidFill>
                <a:latin typeface="Calibri" pitchFamily="34" charset="0"/>
                <a:ea typeface="Calibri" pitchFamily="34" charset="-122"/>
                <a:cs typeface="Calibri" pitchFamily="34" charset="-120"/>
              </a:rPr>
              <a:t>Board-ready FinOps roadmap · governance model · mobilization plan · Executive Playback · Closure Pack</a:t>
            </a:r>
            <a:endParaRPr lang="en-US" sz="950" dirty="0"/>
          </a:p>
        </p:txBody>
      </p:sp>
      <p:sp>
        <p:nvSpPr>
          <p:cNvPr id="37" name="Text 32"/>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B0A39B"/>
                </a:solidFill>
                <a:latin typeface="Calibri" pitchFamily="34" charset="0"/>
                <a:ea typeface="Calibri" pitchFamily="34" charset="-122"/>
                <a:cs typeface="Calibri" pitchFamily="34" charset="-120"/>
              </a:rPr>
              <a:t>LTM  ·  Infra Tech Advisory  ·  Public Cloud &amp; Modernization</a:t>
            </a:r>
            <a:endParaRPr lang="en-US" sz="950" dirty="0"/>
          </a:p>
        </p:txBody>
      </p:sp>
      <p:sp>
        <p:nvSpPr>
          <p:cNvPr id="38" name="Text 33"/>
          <p:cNvSpPr txBox="1"/>
          <p:nvPr/>
        </p:nvSpPr>
        <p:spPr>
          <a:xfrm>
            <a:off x="8961120" y="6473952"/>
            <a:ext cx="2724912" cy="274320"/>
          </a:xfrm>
          <a:prstGeom prst="rect">
            <a:avLst/>
          </a:prstGeom>
          <a:noFill/>
          <a:ln/>
        </p:spPr>
        <p:txBody>
          <a:bodyPr wrap="square" lIns="0" tIns="0" rIns="0" bIns="0" rtlCol="0" anchor="ctr"/>
          <a:lstStyle/>
          <a:p>
            <a:pPr marL="0" indent="0" algn="r">
              <a:buNone/>
            </a:pPr>
            <a:r>
              <a:rPr lang="en-US" sz="950" dirty="0">
                <a:solidFill>
                  <a:srgbClr val="B0A39B"/>
                </a:solidFill>
                <a:latin typeface="Calibri" pitchFamily="34" charset="0"/>
                <a:ea typeface="Calibri" pitchFamily="34" charset="-122"/>
                <a:cs typeface="Calibri" pitchFamily="34" charset="-120"/>
              </a:rPr>
              <a:t>03.3  ·  Solution</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marL="0" indent="0">
              <a:buNone/>
            </a:pPr>
            <a:r>
              <a:rPr lang="en-US" sz="1100" b="1" kern="0" spc="200" dirty="0">
                <a:solidFill>
                  <a:srgbClr val="B0481E"/>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EEB08A"/>
                </a:solidFill>
                <a:latin typeface="Cambria" pitchFamily="34" charset="0"/>
                <a:ea typeface="Cambria" pitchFamily="34" charset="-122"/>
                <a:cs typeface="Cambria" pitchFamily="34" charset="-120"/>
              </a:rPr>
              <a:t>03.3   </a:t>
            </a:r>
            <a:r>
              <a:rPr lang="en-US" sz="2400" b="1" dirty="0">
                <a:solidFill>
                  <a:srgbClr val="1B1F23"/>
                </a:solidFill>
                <a:latin typeface="Cambria" pitchFamily="34" charset="0"/>
                <a:ea typeface="Cambria" pitchFamily="34" charset="-122"/>
                <a:cs typeface="Cambria" pitchFamily="34" charset="-120"/>
              </a:rPr>
              <a:t>FinOps Excellence &amp; Cloud Unit Economics</a:t>
            </a:r>
            <a:endParaRPr lang="en-US" sz="2400" dirty="0"/>
          </a:p>
        </p:txBody>
      </p:sp>
      <p:sp>
        <p:nvSpPr>
          <p:cNvPr id="4" name="Shape 2"/>
          <p:cNvSpPr/>
          <p:nvPr/>
        </p:nvSpPr>
        <p:spPr>
          <a:xfrm>
            <a:off x="502920" y="1600200"/>
            <a:ext cx="5394960" cy="4480560"/>
          </a:xfrm>
          <a:prstGeom prst="roundRect">
            <a:avLst>
              <a:gd name="adj" fmla="val 1429"/>
            </a:avLst>
          </a:prstGeom>
          <a:solidFill>
            <a:srgbClr val="B0481E"/>
          </a:solidFill>
          <a:ln/>
        </p:spPr>
        <p:txBody>
          <a:bodyPr/>
          <a:lstStyle/>
          <a:p>
            <a:endParaRPr lang="en-US"/>
          </a:p>
        </p:txBody>
      </p:sp>
      <p:pic>
        <p:nvPicPr>
          <p:cNvPr id="5" name="Image 0" descr="/home/claude/p3_pe_deliver.png"/>
          <p:cNvPicPr>
            <a:picLocks noChangeAspect="1"/>
          </p:cNvPicPr>
          <p:nvPr/>
        </p:nvPicPr>
        <p:blipFill>
          <a:blip r:embed="rId3"/>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marL="0" indent="0">
              <a:buNone/>
            </a:pPr>
            <a:r>
              <a:rPr lang="en-US" sz="1050" i="1" dirty="0">
                <a:solidFill>
                  <a:srgbClr val="F4D3BF"/>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EEB08A"/>
          </a:solidFill>
          <a:ln/>
        </p:spPr>
        <p:txBody>
          <a:bodyPr/>
          <a:lstStyle/>
          <a:p>
            <a:endParaRPr lang="en-US"/>
          </a:p>
        </p:txBody>
      </p:sp>
      <p:sp>
        <p:nvSpPr>
          <p:cNvPr id="9" name="Text 6"/>
          <p:cNvSpPr txBox="1"/>
          <p:nvPr/>
        </p:nvSpPr>
        <p:spPr>
          <a:xfrm>
            <a:off x="777240" y="2880360"/>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FinOps maturity baseline and prioritized savings register</a:t>
            </a:r>
            <a:endParaRPr lang="en-US" sz="1150" dirty="0"/>
          </a:p>
        </p:txBody>
      </p:sp>
      <p:sp>
        <p:nvSpPr>
          <p:cNvPr id="11" name="Shape 8"/>
          <p:cNvSpPr/>
          <p:nvPr/>
        </p:nvSpPr>
        <p:spPr>
          <a:xfrm>
            <a:off x="777240" y="3483864"/>
            <a:ext cx="310896" cy="310896"/>
          </a:xfrm>
          <a:prstGeom prst="roundRect">
            <a:avLst>
              <a:gd name="adj" fmla="val 14706"/>
            </a:avLst>
          </a:prstGeom>
          <a:solidFill>
            <a:srgbClr val="EEB08A"/>
          </a:solidFill>
          <a:ln/>
        </p:spPr>
        <p:txBody>
          <a:bodyPr/>
          <a:lstStyle/>
          <a:p>
            <a:endParaRPr lang="en-US"/>
          </a:p>
        </p:txBody>
      </p:sp>
      <p:sp>
        <p:nvSpPr>
          <p:cNvPr id="12" name="Text 9"/>
          <p:cNvSpPr txBox="1"/>
          <p:nvPr/>
        </p:nvSpPr>
        <p:spPr>
          <a:xfrm>
            <a:off x="777240" y="3483864"/>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FinOps operating model (roles, cadence, showback/chargeback)</a:t>
            </a:r>
            <a:endParaRPr lang="en-US" sz="1150" dirty="0"/>
          </a:p>
        </p:txBody>
      </p:sp>
      <p:sp>
        <p:nvSpPr>
          <p:cNvPr id="14" name="Shape 11"/>
          <p:cNvSpPr/>
          <p:nvPr/>
        </p:nvSpPr>
        <p:spPr>
          <a:xfrm>
            <a:off x="777240" y="4087368"/>
            <a:ext cx="310896" cy="310896"/>
          </a:xfrm>
          <a:prstGeom prst="roundRect">
            <a:avLst>
              <a:gd name="adj" fmla="val 14706"/>
            </a:avLst>
          </a:prstGeom>
          <a:solidFill>
            <a:srgbClr val="EEB08A"/>
          </a:solidFill>
          <a:ln/>
        </p:spPr>
        <p:txBody>
          <a:bodyPr/>
          <a:lstStyle/>
          <a:p>
            <a:endParaRPr lang="en-US"/>
          </a:p>
        </p:txBody>
      </p:sp>
      <p:sp>
        <p:nvSpPr>
          <p:cNvPr id="15" name="Text 12"/>
          <p:cNvSpPr txBox="1"/>
          <p:nvPr/>
        </p:nvSpPr>
        <p:spPr>
          <a:xfrm>
            <a:off x="777240" y="4087368"/>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Cloud unit-economics reporting design</a:t>
            </a:r>
            <a:endParaRPr lang="en-US" sz="1150" dirty="0"/>
          </a:p>
        </p:txBody>
      </p:sp>
      <p:sp>
        <p:nvSpPr>
          <p:cNvPr id="17" name="Shape 14"/>
          <p:cNvSpPr/>
          <p:nvPr/>
        </p:nvSpPr>
        <p:spPr>
          <a:xfrm>
            <a:off x="777240" y="4690872"/>
            <a:ext cx="310896" cy="310896"/>
          </a:xfrm>
          <a:prstGeom prst="roundRect">
            <a:avLst>
              <a:gd name="adj" fmla="val 14706"/>
            </a:avLst>
          </a:prstGeom>
          <a:solidFill>
            <a:srgbClr val="EEB08A"/>
          </a:solidFill>
          <a:ln/>
        </p:spPr>
        <p:txBody>
          <a:bodyPr/>
          <a:lstStyle/>
          <a:p>
            <a:endParaRPr lang="en-US"/>
          </a:p>
        </p:txBody>
      </p:sp>
      <p:sp>
        <p:nvSpPr>
          <p:cNvPr id="18" name="Text 15"/>
          <p:cNvSpPr txBox="1"/>
          <p:nvPr/>
        </p:nvSpPr>
        <p:spPr>
          <a:xfrm>
            <a:off x="777240" y="4690872"/>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Cost-aware architecture and guardrail patterns</a:t>
            </a:r>
            <a:endParaRPr lang="en-US" sz="1150" dirty="0"/>
          </a:p>
        </p:txBody>
      </p:sp>
      <p:sp>
        <p:nvSpPr>
          <p:cNvPr id="20" name="Shape 17"/>
          <p:cNvSpPr/>
          <p:nvPr/>
        </p:nvSpPr>
        <p:spPr>
          <a:xfrm>
            <a:off x="777240" y="5294376"/>
            <a:ext cx="310896" cy="310896"/>
          </a:xfrm>
          <a:prstGeom prst="roundRect">
            <a:avLst>
              <a:gd name="adj" fmla="val 14706"/>
            </a:avLst>
          </a:prstGeom>
          <a:solidFill>
            <a:srgbClr val="EEB08A"/>
          </a:solidFill>
          <a:ln/>
        </p:spPr>
        <p:txBody>
          <a:bodyPr/>
          <a:lstStyle/>
          <a:p>
            <a:endParaRPr lang="en-US"/>
          </a:p>
        </p:txBody>
      </p:sp>
      <p:sp>
        <p:nvSpPr>
          <p:cNvPr id="21" name="Text 18"/>
          <p:cNvSpPr txBox="1"/>
          <p:nvPr/>
        </p:nvSpPr>
        <p:spPr>
          <a:xfrm>
            <a:off x="777240" y="5294376"/>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Board-ready FinOps roadmap with committed savings targets</a:t>
            </a:r>
            <a:endParaRPr lang="en-US" sz="1150" dirty="0"/>
          </a:p>
        </p:txBody>
      </p:sp>
      <p:sp>
        <p:nvSpPr>
          <p:cNvPr id="23" name="Shape 20"/>
          <p:cNvSpPr/>
          <p:nvPr/>
        </p:nvSpPr>
        <p:spPr>
          <a:xfrm>
            <a:off x="6263640" y="1600200"/>
            <a:ext cx="5394960" cy="2286000"/>
          </a:xfrm>
          <a:prstGeom prst="roundRect">
            <a:avLst>
              <a:gd name="adj" fmla="val 2800"/>
            </a:avLst>
          </a:prstGeom>
          <a:solidFill>
            <a:srgbClr val="EEF6F0"/>
          </a:solidFill>
          <a:ln w="9525">
            <a:solidFill>
              <a:srgbClr val="BFE3D2"/>
            </a:solidFill>
            <a:prstDash val="solid"/>
          </a:ln>
        </p:spPr>
        <p:txBody>
          <a:bodyPr/>
          <a:lstStyle/>
          <a:p>
            <a:endParaRPr lang="en-US"/>
          </a:p>
        </p:txBody>
      </p:sp>
      <p:pic>
        <p:nvPicPr>
          <p:cNvPr id="24" name="Image 1" descr="/home/claude/x_chk_in.png"/>
          <p:cNvPicPr>
            <a:picLocks noChangeAspect="1"/>
          </p:cNvPicPr>
          <p:nvPr/>
        </p:nvPicPr>
        <p:blipFill>
          <a:blip r:embed="rId4"/>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marL="0" indent="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FinOps maturity assessment and savings identification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Bill / usage analytics and waste-concentration analysis</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FinOps operating-model and showback/chargeback design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Cloud unit-economics reporting</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Cost-aware architecture and guardrail design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AI / GPU cost-governance framing</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1EE"/>
          </a:solidFill>
          <a:ln w="9525">
            <a:solidFill>
              <a:srgbClr val="ECCFC4"/>
            </a:solidFill>
            <a:prstDash val="solid"/>
          </a:ln>
        </p:spPr>
        <p:txBody>
          <a:bodyPr/>
          <a:lstStyle/>
          <a:p>
            <a:endParaRPr lang="en-US"/>
          </a:p>
        </p:txBody>
      </p:sp>
      <p:pic>
        <p:nvPicPr>
          <p:cNvPr id="28" name="Image 2" descr="/home/claude/x_chk_out.png"/>
          <p:cNvPicPr>
            <a:picLocks noChangeAspect="1"/>
          </p:cNvPicPr>
          <p:nvPr/>
        </p:nvPicPr>
        <p:blipFill>
          <a:blip r:embed="rId5"/>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marL="0" indent="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Non-cloud IT cost and TBM</a:t>
            </a:r>
            <a:r>
              <a:rPr lang="en-US" sz="900" i="1" dirty="0">
                <a:solidFill>
                  <a:srgbClr val="9A5541"/>
                </a:solidFill>
                <a:latin typeface="Calibri" pitchFamily="34" charset="0"/>
                <a:ea typeface="Calibri" pitchFamily="34" charset="-122"/>
                <a:cs typeface="Calibri" pitchFamily="34" charset="-120"/>
              </a:rPr>
              <a:t>   → Pillar 01</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AI token economics deep-dive</a:t>
            </a:r>
            <a:r>
              <a:rPr lang="en-US" sz="900" i="1" dirty="0">
                <a:solidFill>
                  <a:srgbClr val="9A5541"/>
                </a:solidFill>
                <a:latin typeface="Calibri" pitchFamily="34" charset="0"/>
                <a:ea typeface="Calibri" pitchFamily="34" charset="-122"/>
                <a:cs typeface="Calibri" pitchFamily="34" charset="-120"/>
              </a:rPr>
              <a:t>   → Pillar 04</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Managed FinOps run service</a:t>
            </a:r>
            <a:r>
              <a:rPr lang="en-US" sz="900" i="1" dirty="0">
                <a:solidFill>
                  <a:srgbClr val="9A5541"/>
                </a:solidFill>
                <a:latin typeface="Calibri" pitchFamily="34" charset="0"/>
                <a:ea typeface="Calibri" pitchFamily="34" charset="-122"/>
                <a:cs typeface="Calibri" pitchFamily="34" charset="-120"/>
              </a:rPr>
              <a:t>   → Separate delivery</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Architecture remediation build</a:t>
            </a:r>
            <a:r>
              <a:rPr lang="en-US" sz="900" i="1" dirty="0">
                <a:solidFill>
                  <a:srgbClr val="9A5541"/>
                </a:solidFill>
                <a:latin typeface="Calibri" pitchFamily="34" charset="0"/>
                <a:ea typeface="Calibri" pitchFamily="34" charset="-122"/>
                <a:cs typeface="Calibri" pitchFamily="34" charset="-120"/>
              </a:rPr>
              <a:t>   → Separate delivery</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Workload placement strategy</a:t>
            </a:r>
            <a:r>
              <a:rPr lang="en-US" sz="900" i="1" dirty="0">
                <a:solidFill>
                  <a:srgbClr val="9A5541"/>
                </a:solidFill>
                <a:latin typeface="Calibri" pitchFamily="34" charset="0"/>
                <a:ea typeface="Calibri" pitchFamily="34" charset="-122"/>
                <a:cs typeface="Calibri" pitchFamily="34" charset="-120"/>
              </a:rPr>
              <a:t>   → 03.1 Right Cloud</a:t>
            </a:r>
            <a:endParaRPr lang="en-US" sz="970" dirty="0"/>
          </a:p>
        </p:txBody>
      </p:sp>
      <p:sp>
        <p:nvSpPr>
          <p:cNvPr id="35" name="Text 30"/>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B0A39B"/>
                </a:solidFill>
                <a:latin typeface="Calibri" pitchFamily="34" charset="0"/>
                <a:ea typeface="Calibri" pitchFamily="34" charset="-122"/>
                <a:cs typeface="Calibri" pitchFamily="34" charset="-120"/>
              </a:rPr>
              <a:t>LTM  ·  Infra Tech Advisory  ·  Public Cloud &amp; Modernization</a:t>
            </a:r>
            <a:endParaRPr lang="en-US" sz="950" dirty="0"/>
          </a:p>
        </p:txBody>
      </p:sp>
      <p:sp>
        <p:nvSpPr>
          <p:cNvPr id="36" name="Text 31"/>
          <p:cNvSpPr txBox="1"/>
          <p:nvPr/>
        </p:nvSpPr>
        <p:spPr>
          <a:xfrm>
            <a:off x="8961120" y="6473952"/>
            <a:ext cx="2724912" cy="274320"/>
          </a:xfrm>
          <a:prstGeom prst="rect">
            <a:avLst/>
          </a:prstGeom>
          <a:noFill/>
          <a:ln/>
        </p:spPr>
        <p:txBody>
          <a:bodyPr wrap="square" lIns="0" tIns="0" rIns="0" bIns="0" rtlCol="0" anchor="ctr"/>
          <a:lstStyle/>
          <a:p>
            <a:pPr marL="0" indent="0" algn="r">
              <a:buNone/>
            </a:pPr>
            <a:r>
              <a:rPr lang="en-US" sz="950" dirty="0">
                <a:solidFill>
                  <a:srgbClr val="B0A39B"/>
                </a:solidFill>
                <a:latin typeface="Calibri" pitchFamily="34" charset="0"/>
                <a:ea typeface="Calibri" pitchFamily="34" charset="-122"/>
                <a:cs typeface="Calibri" pitchFamily="34" charset="-120"/>
              </a:rPr>
              <a:t>03.3  ·  Deliverables &amp; scope</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marL="0" indent="0">
              <a:buNone/>
            </a:pPr>
            <a:r>
              <a:rPr lang="en-US" sz="1100" b="1" kern="0" spc="200" dirty="0">
                <a:solidFill>
                  <a:srgbClr val="B0481E"/>
                </a:solidFill>
                <a:latin typeface="Calibri" pitchFamily="34" charset="0"/>
                <a:ea typeface="Calibri" pitchFamily="34" charset="-122"/>
                <a:cs typeface="Calibri" pitchFamily="34" charset="-120"/>
              </a:rPr>
              <a:t>OFFERING  ·  OUT-MODERNIZE THE DRAG.   ·   SHARED · A + B</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EEB08A"/>
                </a:solidFill>
                <a:latin typeface="Cambria" pitchFamily="34" charset="0"/>
                <a:ea typeface="Cambria" pitchFamily="34" charset="-122"/>
                <a:cs typeface="Cambria" pitchFamily="34" charset="-120"/>
              </a:rPr>
              <a:t>03.4   </a:t>
            </a:r>
            <a:r>
              <a:rPr lang="en-US" sz="2400" b="1" dirty="0">
                <a:solidFill>
                  <a:srgbClr val="1B1F23"/>
                </a:solidFill>
                <a:latin typeface="Cambria" pitchFamily="34" charset="0"/>
                <a:ea typeface="Cambria" pitchFamily="34" charset="-122"/>
                <a:cs typeface="Cambria" pitchFamily="34" charset="-120"/>
              </a:rPr>
              <a:t>Application Modernization</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marL="0" indent="0">
              <a:buNone/>
            </a:pPr>
            <a:r>
              <a:rPr lang="en-US" sz="900" b="1" kern="0" spc="100" dirty="0">
                <a:solidFill>
                  <a:srgbClr val="EEB08A"/>
                </a:solidFill>
                <a:latin typeface="Calibri" pitchFamily="34" charset="0"/>
                <a:ea typeface="Calibri" pitchFamily="34" charset="-122"/>
                <a:cs typeface="Calibri" pitchFamily="34" charset="-120"/>
              </a:rPr>
              <a:t>STARTS FROM  </a:t>
            </a:r>
            <a:r>
              <a:rPr lang="en-US" sz="1050" dirty="0">
                <a:solidFill>
                  <a:srgbClr val="5A4A42"/>
                </a:solidFill>
                <a:latin typeface="Calibri" pitchFamily="34" charset="0"/>
                <a:ea typeface="Calibri" pitchFamily="34" charset="-122"/>
                <a:cs typeface="Calibri" pitchFamily="34" charset="-120"/>
              </a:rPr>
              <a:t>Cloud IQ → Modernization IQ (or from 03.1 Right Cloud Strategy)      </a:t>
            </a:r>
            <a:r>
              <a:rPr lang="en-US" sz="900" b="1" kern="0" spc="100" dirty="0">
                <a:solidFill>
                  <a:srgbClr val="EEB08A"/>
                </a:solidFill>
                <a:latin typeface="Calibri" pitchFamily="34" charset="0"/>
                <a:ea typeface="Calibri" pitchFamily="34" charset="-122"/>
                <a:cs typeface="Calibri" pitchFamily="34" charset="-120"/>
              </a:rPr>
              <a:t>LEADS TO  </a:t>
            </a:r>
            <a:r>
              <a:rPr lang="en-US" sz="1050" dirty="0">
                <a:solidFill>
                  <a:srgbClr val="5A4A42"/>
                </a:solidFill>
                <a:latin typeface="Calibri" pitchFamily="34" charset="0"/>
                <a:ea typeface="Calibri" pitchFamily="34" charset="-122"/>
                <a:cs typeface="Calibri" pitchFamily="34" charset="-120"/>
              </a:rPr>
              <a:t>Modernization factory delivery · post-modernization managed services</a:t>
            </a:r>
            <a:endParaRPr lang="en-US" sz="900" dirty="0"/>
          </a:p>
        </p:txBody>
      </p:sp>
      <p:sp>
        <p:nvSpPr>
          <p:cNvPr id="5" name="Shape 3"/>
          <p:cNvSpPr/>
          <p:nvPr/>
        </p:nvSpPr>
        <p:spPr>
          <a:xfrm>
            <a:off x="502920" y="1737360"/>
            <a:ext cx="5394960" cy="2395728"/>
          </a:xfrm>
          <a:prstGeom prst="roundRect">
            <a:avLst>
              <a:gd name="adj" fmla="val 2290"/>
            </a:avLst>
          </a:prstGeom>
          <a:solidFill>
            <a:srgbClr val="FAF4F1"/>
          </a:solidFill>
          <a:ln w="9525">
            <a:solidFill>
              <a:srgbClr val="EAD9CF"/>
            </a:solidFill>
            <a:prstDash val="solid"/>
          </a:ln>
        </p:spPr>
        <p:txBody>
          <a:bodyPr/>
          <a:lstStyle/>
          <a:p>
            <a:endParaRPr lang="en-US"/>
          </a:p>
        </p:txBody>
      </p:sp>
      <p:sp>
        <p:nvSpPr>
          <p:cNvPr id="6" name="Text 4"/>
          <p:cNvSpPr txBox="1"/>
          <p:nvPr/>
        </p:nvSpPr>
        <p:spPr>
          <a:xfrm>
            <a:off x="731520" y="1901952"/>
            <a:ext cx="4937760" cy="256032"/>
          </a:xfrm>
          <a:prstGeom prst="rect">
            <a:avLst/>
          </a:prstGeom>
          <a:noFill/>
          <a:ln/>
        </p:spPr>
        <p:txBody>
          <a:bodyPr wrap="square" lIns="0" tIns="0" rIns="0" bIns="0" rtlCol="0" anchor="ctr"/>
          <a:lstStyle/>
          <a:p>
            <a:pPr marL="0" indent="0">
              <a:buNone/>
            </a:pPr>
            <a:r>
              <a:rPr lang="en-US" sz="1100" b="1" kern="0" spc="150" dirty="0">
                <a:solidFill>
                  <a:srgbClr val="B0481E"/>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marL="0" indent="0">
              <a:lnSpc>
                <a:spcPct val="104000"/>
              </a:lnSpc>
              <a:buNone/>
            </a:pPr>
            <a:r>
              <a:rPr lang="en-US" sz="1150" dirty="0">
                <a:solidFill>
                  <a:srgbClr val="3A2E28"/>
                </a:solidFill>
                <a:latin typeface="Calibri" pitchFamily="34" charset="0"/>
                <a:ea typeface="Calibri" pitchFamily="34" charset="-122"/>
                <a:cs typeface="Calibri" pitchFamily="34" charset="-120"/>
              </a:rPr>
              <a:t>Rationalizes the application portfolio and sequences a modernization plan that lands business value early. It decides — per application — retain, refactor, rehost, replatform, replace or retire, on cost, business value and complexity; engineers workload performance; and removes the technical debt modernization exposes, so run-cost falls durably rather than temporarily.</a:t>
            </a:r>
            <a:endParaRPr lang="en-US" sz="1150" dirty="0"/>
          </a:p>
        </p:txBody>
      </p:sp>
      <p:sp>
        <p:nvSpPr>
          <p:cNvPr id="8" name="Shape 6"/>
          <p:cNvSpPr/>
          <p:nvPr/>
        </p:nvSpPr>
        <p:spPr>
          <a:xfrm>
            <a:off x="502920" y="4279392"/>
            <a:ext cx="5394960" cy="1627632"/>
          </a:xfrm>
          <a:prstGeom prst="roundRect">
            <a:avLst>
              <a:gd name="adj" fmla="val 3371"/>
            </a:avLst>
          </a:prstGeom>
          <a:solidFill>
            <a:srgbClr val="B0481E"/>
          </a:solidFill>
          <a:ln w="9525">
            <a:solidFill>
              <a:srgbClr val="B0481E"/>
            </a:solidFill>
            <a:prstDash val="solid"/>
          </a:ln>
        </p:spPr>
        <p:txBody>
          <a:bodyPr/>
          <a:lstStyle/>
          <a:p>
            <a:endParaRPr lang="en-US"/>
          </a:p>
        </p:txBody>
      </p:sp>
      <p:sp>
        <p:nvSpPr>
          <p:cNvPr id="9" name="Text 7"/>
          <p:cNvSpPr txBox="1"/>
          <p:nvPr/>
        </p:nvSpPr>
        <p:spPr>
          <a:xfrm>
            <a:off x="731520" y="4425696"/>
            <a:ext cx="4937760" cy="256032"/>
          </a:xfrm>
          <a:prstGeom prst="rect">
            <a:avLst/>
          </a:prstGeom>
          <a:noFill/>
          <a:ln/>
        </p:spPr>
        <p:txBody>
          <a:bodyPr wrap="square" lIns="0" tIns="0" rIns="0" bIns="0" rtlCol="0" anchor="ctr"/>
          <a:lstStyle/>
          <a:p>
            <a:pPr marL="0" indent="0">
              <a:buNone/>
            </a:pPr>
            <a:r>
              <a:rPr lang="en-US" sz="1100" b="1" kern="0" spc="150" dirty="0">
                <a:solidFill>
                  <a:srgbClr val="F4D3BF"/>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marL="0" indent="0">
              <a:lnSpc>
                <a:spcPct val="103000"/>
              </a:lnSpc>
              <a:buNone/>
            </a:pPr>
            <a:r>
              <a:rPr lang="en-US" sz="1100" dirty="0">
                <a:solidFill>
                  <a:srgbClr val="FBEDE6"/>
                </a:solidFill>
                <a:latin typeface="Calibri" pitchFamily="34" charset="0"/>
                <a:ea typeface="Calibri" pitchFamily="34" charset="-122"/>
                <a:cs typeface="Calibri" pitchFamily="34" charset="-120"/>
              </a:rPr>
              <a:t>AI is raising the bar on every application while legacy drag holds enterprises back; data-centre and modernization spend is climbing as estates rebuild their foundations. Modernizing the portfolio deliberately — value-first, debt-aware — is what frees capacity and capital for the AI agenda.</a:t>
            </a:r>
            <a:endParaRPr lang="en-US" sz="110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marL="0" indent="0">
              <a:buNone/>
            </a:pPr>
            <a:r>
              <a:rPr lang="en-US" sz="850" i="1" dirty="0">
                <a:solidFill>
                  <a:srgbClr val="E0A583"/>
                </a:solidFill>
                <a:latin typeface="Calibri" pitchFamily="34" charset="0"/>
                <a:ea typeface="Calibri" pitchFamily="34" charset="-122"/>
                <a:cs typeface="Calibri" pitchFamily="34" charset="-120"/>
              </a:rPr>
              <a:t>Source: Gartner / Flexera / FinOps Foundation, 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EAD9CF"/>
            </a:solidFill>
            <a:prstDash val="solid"/>
          </a:ln>
        </p:spPr>
        <p:txBody>
          <a:bodyPr/>
          <a:lstStyle/>
          <a:p>
            <a:endParaRPr lang="en-US"/>
          </a:p>
        </p:txBody>
      </p:sp>
      <p:sp>
        <p:nvSpPr>
          <p:cNvPr id="13" name="Text 11"/>
          <p:cNvSpPr txBox="1"/>
          <p:nvPr/>
        </p:nvSpPr>
        <p:spPr>
          <a:xfrm>
            <a:off x="6492240" y="1901952"/>
            <a:ext cx="4937760" cy="256032"/>
          </a:xfrm>
          <a:prstGeom prst="rect">
            <a:avLst/>
          </a:prstGeom>
          <a:noFill/>
          <a:ln/>
        </p:spPr>
        <p:txBody>
          <a:bodyPr wrap="square" lIns="0" tIns="0" rIns="0" bIns="0" rtlCol="0" anchor="ctr"/>
          <a:lstStyle/>
          <a:p>
            <a:pPr marL="0" indent="0">
              <a:buNone/>
            </a:pPr>
            <a:r>
              <a:rPr lang="en-US" sz="1100" b="1" kern="0" spc="120" dirty="0">
                <a:solidFill>
                  <a:srgbClr val="B0481E"/>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157984"/>
            <a:ext cx="4937760" cy="457200"/>
          </a:xfrm>
          <a:prstGeom prst="rect">
            <a:avLst/>
          </a:prstGeom>
          <a:noFill/>
          <a:ln/>
        </p:spPr>
        <p:txBody>
          <a:bodyPr wrap="square" lIns="0" tIns="0" rIns="0" bIns="0" rtlCol="0" anchor="ctr"/>
          <a:lstStyle/>
          <a:p>
            <a:pPr marL="0" indent="0">
              <a:lnSpc>
                <a:spcPct val="95000"/>
              </a:lnSpc>
              <a:buNone/>
            </a:pPr>
            <a:r>
              <a:rPr lang="en-US" sz="1150" i="1" dirty="0">
                <a:solidFill>
                  <a:srgbClr val="8F3A17"/>
                </a:solidFill>
                <a:latin typeface="Cambria" pitchFamily="34" charset="0"/>
                <a:ea typeface="Cambria" pitchFamily="34" charset="-122"/>
                <a:cs typeface="Cambria" pitchFamily="34" charset="-120"/>
              </a:rPr>
              <a:t>Legacy applications are the drag on every new initiative — but there’s no evidenced plan to modernize them without breaking the business.</a:t>
            </a:r>
            <a:endParaRPr lang="en-US" sz="1150" dirty="0"/>
          </a:p>
        </p:txBody>
      </p:sp>
      <p:sp>
        <p:nvSpPr>
          <p:cNvPr id="15" name="Text 13"/>
          <p:cNvSpPr txBox="1"/>
          <p:nvPr/>
        </p:nvSpPr>
        <p:spPr>
          <a:xfrm>
            <a:off x="6492240" y="2697480"/>
            <a:ext cx="4937760" cy="1325880"/>
          </a:xfrm>
          <a:prstGeom prst="rect">
            <a:avLst/>
          </a:prstGeom>
          <a:noFill/>
          <a:ln/>
        </p:spPr>
        <p:txBody>
          <a:bodyPr wrap="square" lIns="0" tIns="0" rIns="0" bIns="0" rtlCol="0" anchor="ctr"/>
          <a:lstStyle/>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The portfolio is undocumented and un-rationalized — no consistent view of value, cost and modernization complexity.</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Modernization decisions are made app-by-app on instinct, not a consistent 6R/7R disposition.</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Technical debt inflates run-cost and slows delivery, but paydown isn’t prioritized by ROI.</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Big-bang modernization is too risky to fund; value lands (if ever) only at program end.</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Performance and cost outcomes aren’t measured — success is counted in migrations, not business results.</a:t>
            </a:r>
            <a:endParaRPr lang="en-US" sz="1000" dirty="0"/>
          </a:p>
        </p:txBody>
      </p:sp>
      <p:sp>
        <p:nvSpPr>
          <p:cNvPr id="16" name="Shape 14"/>
          <p:cNvSpPr/>
          <p:nvPr/>
        </p:nvSpPr>
        <p:spPr>
          <a:xfrm>
            <a:off x="6263640" y="4279392"/>
            <a:ext cx="5394960" cy="1627632"/>
          </a:xfrm>
          <a:prstGeom prst="roundRect">
            <a:avLst>
              <a:gd name="adj" fmla="val 3371"/>
            </a:avLst>
          </a:prstGeom>
          <a:solidFill>
            <a:srgbClr val="FAF4F1"/>
          </a:solidFill>
          <a:ln w="9525">
            <a:solidFill>
              <a:srgbClr val="EAD9CF"/>
            </a:solidFill>
            <a:prstDash val="solid"/>
          </a:ln>
        </p:spPr>
        <p:txBody>
          <a:bodyPr/>
          <a:lstStyle/>
          <a:p>
            <a:endParaRPr lang="en-US"/>
          </a:p>
        </p:txBody>
      </p:sp>
      <p:sp>
        <p:nvSpPr>
          <p:cNvPr id="17" name="Text 15"/>
          <p:cNvSpPr txBox="1"/>
          <p:nvPr/>
        </p:nvSpPr>
        <p:spPr>
          <a:xfrm>
            <a:off x="6492240" y="4407408"/>
            <a:ext cx="4937760" cy="256032"/>
          </a:xfrm>
          <a:prstGeom prst="rect">
            <a:avLst/>
          </a:prstGeom>
          <a:noFill/>
          <a:ln/>
        </p:spPr>
        <p:txBody>
          <a:bodyPr wrap="square" lIns="0" tIns="0" rIns="0" bIns="0" rtlCol="0" anchor="ctr"/>
          <a:lstStyle/>
          <a:p>
            <a:pPr marL="0" indent="0">
              <a:buNone/>
            </a:pPr>
            <a:r>
              <a:rPr lang="en-US" sz="1100" b="1" kern="0" spc="120" dirty="0">
                <a:solidFill>
                  <a:srgbClr val="B0481E"/>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81728"/>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A rationalized portfolio  </a:t>
            </a:r>
            <a:r>
              <a:rPr lang="en-US" sz="900" dirty="0">
                <a:solidFill>
                  <a:srgbClr val="5A4A42"/>
                </a:solidFill>
                <a:latin typeface="Calibri" pitchFamily="34" charset="0"/>
                <a:ea typeface="Calibri" pitchFamily="34" charset="-122"/>
                <a:cs typeface="Calibri" pitchFamily="34" charset="-120"/>
              </a:rPr>
              <a:t>— Every app dispositioned (retain / refactor / rehost / replatform / replace / retire) on consistent criteria.</a:t>
            </a:r>
            <a:endParaRPr lang="en-US" sz="950" dirty="0"/>
          </a:p>
        </p:txBody>
      </p:sp>
      <p:sp>
        <p:nvSpPr>
          <p:cNvPr id="19" name="Text 17"/>
          <p:cNvSpPr txBox="1"/>
          <p:nvPr/>
        </p:nvSpPr>
        <p:spPr>
          <a:xfrm>
            <a:off x="6492240" y="491581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Value early, not at program end  </a:t>
            </a:r>
            <a:r>
              <a:rPr lang="en-US" sz="900" dirty="0">
                <a:solidFill>
                  <a:srgbClr val="5A4A42"/>
                </a:solidFill>
                <a:latin typeface="Calibri" pitchFamily="34" charset="0"/>
                <a:ea typeface="Calibri" pitchFamily="34" charset="-122"/>
                <a:cs typeface="Calibri" pitchFamily="34" charset="-120"/>
              </a:rPr>
              <a:t>— Wave-sequenced so business-critical workloads modernize first.</a:t>
            </a:r>
            <a:endParaRPr lang="en-US" sz="950" dirty="0"/>
          </a:p>
        </p:txBody>
      </p:sp>
      <p:sp>
        <p:nvSpPr>
          <p:cNvPr id="20" name="Text 18"/>
          <p:cNvSpPr txBox="1"/>
          <p:nvPr/>
        </p:nvSpPr>
        <p:spPr>
          <a:xfrm>
            <a:off x="6492240" y="5149901"/>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Durable run-cost reduction  </a:t>
            </a:r>
            <a:r>
              <a:rPr lang="en-US" sz="900" dirty="0">
                <a:solidFill>
                  <a:srgbClr val="5A4A42"/>
                </a:solidFill>
                <a:latin typeface="Calibri" pitchFamily="34" charset="0"/>
                <a:ea typeface="Calibri" pitchFamily="34" charset="-122"/>
                <a:cs typeface="Calibri" pitchFamily="34" charset="-120"/>
              </a:rPr>
              <a:t>— Technical debt removed as modernization exposes it, not left to regrow.</a:t>
            </a:r>
            <a:endParaRPr lang="en-US" sz="950" dirty="0"/>
          </a:p>
        </p:txBody>
      </p:sp>
      <p:sp>
        <p:nvSpPr>
          <p:cNvPr id="21" name="Text 19"/>
          <p:cNvSpPr txBox="1"/>
          <p:nvPr/>
        </p:nvSpPr>
        <p:spPr>
          <a:xfrm>
            <a:off x="6492240" y="5383987"/>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Performance engineered in  </a:t>
            </a:r>
            <a:r>
              <a:rPr lang="en-US" sz="900" dirty="0">
                <a:solidFill>
                  <a:srgbClr val="5A4A42"/>
                </a:solidFill>
                <a:latin typeface="Calibri" pitchFamily="34" charset="0"/>
                <a:ea typeface="Calibri" pitchFamily="34" charset="-122"/>
                <a:cs typeface="Calibri" pitchFamily="34" charset="-120"/>
              </a:rPr>
              <a:t>— Throughput up, latency and run-cost per transaction down.</a:t>
            </a:r>
            <a:endParaRPr lang="en-US" sz="950" dirty="0"/>
          </a:p>
        </p:txBody>
      </p:sp>
      <p:sp>
        <p:nvSpPr>
          <p:cNvPr id="22" name="Text 20"/>
          <p:cNvSpPr txBox="1"/>
          <p:nvPr/>
        </p:nvSpPr>
        <p:spPr>
          <a:xfrm>
            <a:off x="6492240" y="561807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Outcomes measured  </a:t>
            </a:r>
            <a:r>
              <a:rPr lang="en-US" sz="900" dirty="0">
                <a:solidFill>
                  <a:srgbClr val="5A4A42"/>
                </a:solidFill>
                <a:latin typeface="Calibri" pitchFamily="34" charset="0"/>
                <a:ea typeface="Calibri" pitchFamily="34" charset="-122"/>
                <a:cs typeface="Calibri" pitchFamily="34" charset="-120"/>
              </a:rPr>
              <a:t>— Release frequency, latency, unit run-cost — not migration counts.</a:t>
            </a:r>
            <a:endParaRPr lang="en-US" sz="950" dirty="0"/>
          </a:p>
        </p:txBody>
      </p:sp>
      <p:sp>
        <p:nvSpPr>
          <p:cNvPr id="23" name="Text 21"/>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B0A39B"/>
                </a:solidFill>
                <a:latin typeface="Calibri" pitchFamily="34" charset="0"/>
                <a:ea typeface="Calibri" pitchFamily="34" charset="-122"/>
                <a:cs typeface="Calibri" pitchFamily="34" charset="-120"/>
              </a:rPr>
              <a:t>LTM  ·  Infra Tech Advisory  ·  Public Cloud &amp; Modernization</a:t>
            </a:r>
            <a:endParaRPr lang="en-US" sz="950" dirty="0"/>
          </a:p>
        </p:txBody>
      </p:sp>
      <p:sp>
        <p:nvSpPr>
          <p:cNvPr id="24" name="Text 22"/>
          <p:cNvSpPr txBox="1"/>
          <p:nvPr/>
        </p:nvSpPr>
        <p:spPr>
          <a:xfrm>
            <a:off x="8961120" y="6473952"/>
            <a:ext cx="2724912" cy="274320"/>
          </a:xfrm>
          <a:prstGeom prst="rect">
            <a:avLst/>
          </a:prstGeom>
          <a:noFill/>
          <a:ln/>
        </p:spPr>
        <p:txBody>
          <a:bodyPr wrap="square" lIns="0" tIns="0" rIns="0" bIns="0" rtlCol="0" anchor="ctr"/>
          <a:lstStyle/>
          <a:p>
            <a:pPr marL="0" indent="0" algn="r">
              <a:buNone/>
            </a:pPr>
            <a:r>
              <a:rPr lang="en-US" sz="950" dirty="0">
                <a:solidFill>
                  <a:srgbClr val="B0A39B"/>
                </a:solidFill>
                <a:latin typeface="Calibri" pitchFamily="34" charset="0"/>
                <a:ea typeface="Calibri" pitchFamily="34" charset="-122"/>
                <a:cs typeface="Calibri" pitchFamily="34" charset="-120"/>
              </a:rPr>
              <a:t>03.4  ·  Overview</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marL="0" indent="0">
              <a:buNone/>
            </a:pPr>
            <a:r>
              <a:rPr lang="en-US" sz="1100" b="1" kern="0" spc="200" dirty="0">
                <a:solidFill>
                  <a:srgbClr val="B0481E"/>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EEB08A"/>
                </a:solidFill>
                <a:latin typeface="Cambria" pitchFamily="34" charset="0"/>
                <a:ea typeface="Cambria" pitchFamily="34" charset="-122"/>
                <a:cs typeface="Cambria" pitchFamily="34" charset="-120"/>
              </a:rPr>
              <a:t>03.4   </a:t>
            </a:r>
            <a:r>
              <a:rPr lang="en-US" sz="2400" b="1" dirty="0">
                <a:solidFill>
                  <a:srgbClr val="1B1F23"/>
                </a:solidFill>
                <a:latin typeface="Cambria" pitchFamily="34" charset="0"/>
                <a:ea typeface="Cambria" pitchFamily="34" charset="-122"/>
                <a:cs typeface="Cambria" pitchFamily="34" charset="-120"/>
              </a:rPr>
              <a:t>Application Modernization</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marL="0" indent="0">
              <a:buNone/>
            </a:pPr>
            <a:r>
              <a:rPr lang="en-US" sz="1200" i="1" dirty="0">
                <a:solidFill>
                  <a:srgbClr val="6B5A52"/>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AF4F1"/>
          </a:solidFill>
          <a:ln w="9525">
            <a:solidFill>
              <a:srgbClr val="EAD9CF"/>
            </a:solidFill>
            <a:prstDash val="solid"/>
          </a:ln>
        </p:spPr>
        <p:txBody>
          <a:bodyPr/>
          <a:lstStyle/>
          <a:p>
            <a:endParaRPr lang="en-US"/>
          </a:p>
        </p:txBody>
      </p:sp>
      <p:sp>
        <p:nvSpPr>
          <p:cNvPr id="6" name="Shape 4"/>
          <p:cNvSpPr/>
          <p:nvPr/>
        </p:nvSpPr>
        <p:spPr>
          <a:xfrm>
            <a:off x="502920" y="1783080"/>
            <a:ext cx="3602736" cy="868680"/>
          </a:xfrm>
          <a:prstGeom prst="roundRect">
            <a:avLst>
              <a:gd name="adj" fmla="val 7368"/>
            </a:avLst>
          </a:prstGeom>
          <a:solidFill>
            <a:srgbClr val="B0481E"/>
          </a:solidFill>
          <a:ln/>
        </p:spPr>
        <p:txBody>
          <a:bodyPr/>
          <a:lstStyle/>
          <a:p>
            <a:endParaRPr lang="en-US"/>
          </a:p>
        </p:txBody>
      </p:sp>
      <p:sp>
        <p:nvSpPr>
          <p:cNvPr id="7" name="Shape 5"/>
          <p:cNvSpPr/>
          <p:nvPr/>
        </p:nvSpPr>
        <p:spPr>
          <a:xfrm>
            <a:off x="502920" y="2194560"/>
            <a:ext cx="3602736" cy="457200"/>
          </a:xfrm>
          <a:prstGeom prst="rect">
            <a:avLst/>
          </a:prstGeom>
          <a:solidFill>
            <a:srgbClr val="B0481E"/>
          </a:solidFill>
          <a:ln/>
        </p:spPr>
        <p:txBody>
          <a:bodyPr/>
          <a:lstStyle/>
          <a:p>
            <a:endParaRPr lang="en-US"/>
          </a:p>
        </p:txBody>
      </p:sp>
      <p:pic>
        <p:nvPicPr>
          <p:cNvPr id="8" name="Image 0" descr="/home/claude/p3_pe_understand.png"/>
          <p:cNvPicPr>
            <a:picLocks noChangeAspect="1"/>
          </p:cNvPicPr>
          <p:nvPr/>
        </p:nvPicPr>
        <p:blipFill>
          <a:blip r:embed="rId3"/>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marL="0" indent="0">
              <a:buNone/>
            </a:pPr>
            <a:r>
              <a:rPr lang="en-US" sz="1000" b="1" kern="0" spc="100" dirty="0">
                <a:solidFill>
                  <a:srgbClr val="F4D3BF"/>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Inventory and profile the application portfolio (value, cost, complexity, dependencies)</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Assess technical debt and performance constraints</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Capture business priorities and modernization drivers</a:t>
            </a:r>
            <a:endParaRPr lang="en-US" sz="1000" dirty="0"/>
          </a:p>
        </p:txBody>
      </p:sp>
      <p:sp>
        <p:nvSpPr>
          <p:cNvPr id="12" name="Shape 9"/>
          <p:cNvSpPr/>
          <p:nvPr/>
        </p:nvSpPr>
        <p:spPr>
          <a:xfrm>
            <a:off x="740664" y="4983480"/>
            <a:ext cx="3127248" cy="0"/>
          </a:xfrm>
          <a:prstGeom prst="line">
            <a:avLst/>
          </a:prstGeom>
          <a:noFill/>
          <a:ln w="12700">
            <a:solidFill>
              <a:srgbClr val="EAD9CF"/>
            </a:solidFill>
            <a:prstDash val="solid"/>
          </a:ln>
        </p:spPr>
        <p:txBody>
          <a:bodyPr/>
          <a:lstStyle/>
          <a:p>
            <a:endParaRPr lang="en-US"/>
          </a:p>
        </p:txBody>
      </p:sp>
      <p:sp>
        <p:nvSpPr>
          <p:cNvPr id="13" name="Text 10"/>
          <p:cNvSpPr txBox="1"/>
          <p:nvPr/>
        </p:nvSpPr>
        <p:spPr>
          <a:xfrm>
            <a:off x="740664" y="5056632"/>
            <a:ext cx="3127248" cy="219456"/>
          </a:xfrm>
          <a:prstGeom prst="rect">
            <a:avLst/>
          </a:prstGeom>
          <a:noFill/>
          <a:ln/>
        </p:spPr>
        <p:txBody>
          <a:bodyPr wrap="square" lIns="0" tIns="0" rIns="0" bIns="0" rtlCol="0" anchor="ctr"/>
          <a:lstStyle/>
          <a:p>
            <a:pPr marL="0" indent="0">
              <a:buNone/>
            </a:pPr>
            <a:r>
              <a:rPr lang="en-US" sz="900" b="1" kern="0" spc="100" dirty="0">
                <a:solidFill>
                  <a:srgbClr val="B0481E"/>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8F3A17"/>
                </a:solidFill>
                <a:latin typeface="Calibri" pitchFamily="34" charset="0"/>
                <a:ea typeface="Calibri" pitchFamily="34" charset="-122"/>
                <a:cs typeface="Calibri" pitchFamily="34" charset="-120"/>
              </a:rPr>
              <a:t>Portfolio inventory · tech-debt &amp; performance assessment · driver map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marL="0" indent="0" algn="ctr">
              <a:buNone/>
            </a:pPr>
            <a:r>
              <a:rPr lang="en-US" sz="2000" dirty="0">
                <a:solidFill>
                  <a:srgbClr val="6B5A52"/>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AF4F1"/>
          </a:solidFill>
          <a:ln w="9525">
            <a:solidFill>
              <a:srgbClr val="EAD9CF"/>
            </a:solidFill>
            <a:prstDash val="solid"/>
          </a:ln>
        </p:spPr>
        <p:txBody>
          <a:bodyPr/>
          <a:lstStyle/>
          <a:p>
            <a:endParaRPr lang="en-US"/>
          </a:p>
        </p:txBody>
      </p:sp>
      <p:sp>
        <p:nvSpPr>
          <p:cNvPr id="17" name="Shape 14"/>
          <p:cNvSpPr/>
          <p:nvPr/>
        </p:nvSpPr>
        <p:spPr>
          <a:xfrm>
            <a:off x="4343400" y="1783080"/>
            <a:ext cx="3602736" cy="868680"/>
          </a:xfrm>
          <a:prstGeom prst="roundRect">
            <a:avLst>
              <a:gd name="adj" fmla="val 7368"/>
            </a:avLst>
          </a:prstGeom>
          <a:solidFill>
            <a:srgbClr val="8F3A17"/>
          </a:solidFill>
          <a:ln/>
        </p:spPr>
        <p:txBody>
          <a:bodyPr/>
          <a:lstStyle/>
          <a:p>
            <a:endParaRPr lang="en-US"/>
          </a:p>
        </p:txBody>
      </p:sp>
      <p:sp>
        <p:nvSpPr>
          <p:cNvPr id="18" name="Shape 15"/>
          <p:cNvSpPr/>
          <p:nvPr/>
        </p:nvSpPr>
        <p:spPr>
          <a:xfrm>
            <a:off x="4343400" y="2194560"/>
            <a:ext cx="3602736" cy="457200"/>
          </a:xfrm>
          <a:prstGeom prst="rect">
            <a:avLst/>
          </a:prstGeom>
          <a:solidFill>
            <a:srgbClr val="8F3A17"/>
          </a:solidFill>
          <a:ln/>
        </p:spPr>
        <p:txBody>
          <a:bodyPr/>
          <a:lstStyle/>
          <a:p>
            <a:endParaRPr lang="en-US"/>
          </a:p>
        </p:txBody>
      </p:sp>
      <p:pic>
        <p:nvPicPr>
          <p:cNvPr id="19" name="Image 1" descr="/home/claude/p3_pe_ideate.png"/>
          <p:cNvPicPr>
            <a:picLocks noChangeAspect="1"/>
          </p:cNvPicPr>
          <p:nvPr/>
        </p:nvPicPr>
        <p:blipFill>
          <a:blip r:embed="rId4"/>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marL="0" indent="0">
              <a:buNone/>
            </a:pPr>
            <a:r>
              <a:rPr lang="en-US" sz="1000" b="1" kern="0" spc="100" dirty="0">
                <a:solidFill>
                  <a:srgbClr val="F4D3BF"/>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Assign 6R/7R disposition per application on consistent criteria</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Define workload performance-engineering and debt-paydown approach</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Sequence the modernization wave-plan, value-first</a:t>
            </a:r>
            <a:endParaRPr lang="en-US" sz="1000" dirty="0"/>
          </a:p>
        </p:txBody>
      </p:sp>
      <p:sp>
        <p:nvSpPr>
          <p:cNvPr id="23" name="Shape 19"/>
          <p:cNvSpPr/>
          <p:nvPr/>
        </p:nvSpPr>
        <p:spPr>
          <a:xfrm>
            <a:off x="4581144" y="4983480"/>
            <a:ext cx="3127248" cy="0"/>
          </a:xfrm>
          <a:prstGeom prst="line">
            <a:avLst/>
          </a:prstGeom>
          <a:noFill/>
          <a:ln w="12700">
            <a:solidFill>
              <a:srgbClr val="EAD9CF"/>
            </a:solidFill>
            <a:prstDash val="solid"/>
          </a:ln>
        </p:spPr>
        <p:txBody>
          <a:bodyPr/>
          <a:lstStyle/>
          <a:p>
            <a:endParaRPr lang="en-US"/>
          </a:p>
        </p:txBody>
      </p:sp>
      <p:sp>
        <p:nvSpPr>
          <p:cNvPr id="24" name="Text 20"/>
          <p:cNvSpPr txBox="1"/>
          <p:nvPr/>
        </p:nvSpPr>
        <p:spPr>
          <a:xfrm>
            <a:off x="4581144" y="5056632"/>
            <a:ext cx="3127248" cy="219456"/>
          </a:xfrm>
          <a:prstGeom prst="rect">
            <a:avLst/>
          </a:prstGeom>
          <a:noFill/>
          <a:ln/>
        </p:spPr>
        <p:txBody>
          <a:bodyPr wrap="square" lIns="0" tIns="0" rIns="0" bIns="0" rtlCol="0" anchor="ctr"/>
          <a:lstStyle/>
          <a:p>
            <a:pPr marL="0" indent="0">
              <a:buNone/>
            </a:pPr>
            <a:r>
              <a:rPr lang="en-US" sz="900" b="1" kern="0" spc="100" dirty="0">
                <a:solidFill>
                  <a:srgbClr val="B0481E"/>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8F3A17"/>
                </a:solidFill>
                <a:latin typeface="Calibri" pitchFamily="34" charset="0"/>
                <a:ea typeface="Calibri" pitchFamily="34" charset="-122"/>
                <a:cs typeface="Calibri" pitchFamily="34" charset="-120"/>
              </a:rPr>
              <a:t>Disposition model · performance &amp; debt plan · modernization wave-plan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marL="0" indent="0" algn="ctr">
              <a:buNone/>
            </a:pPr>
            <a:r>
              <a:rPr lang="en-US" sz="2000" dirty="0">
                <a:solidFill>
                  <a:srgbClr val="6B5A52"/>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AF4F1"/>
          </a:solidFill>
          <a:ln w="9525">
            <a:solidFill>
              <a:srgbClr val="EAD9CF"/>
            </a:solidFill>
            <a:prstDash val="solid"/>
          </a:ln>
        </p:spPr>
        <p:txBody>
          <a:bodyPr/>
          <a:lstStyle/>
          <a:p>
            <a:endParaRPr lang="en-US"/>
          </a:p>
        </p:txBody>
      </p:sp>
      <p:sp>
        <p:nvSpPr>
          <p:cNvPr id="28" name="Shape 24"/>
          <p:cNvSpPr/>
          <p:nvPr/>
        </p:nvSpPr>
        <p:spPr>
          <a:xfrm>
            <a:off x="8183880" y="1783080"/>
            <a:ext cx="3602736" cy="868680"/>
          </a:xfrm>
          <a:prstGeom prst="roundRect">
            <a:avLst>
              <a:gd name="adj" fmla="val 7368"/>
            </a:avLst>
          </a:prstGeom>
          <a:solidFill>
            <a:srgbClr val="6E2C11"/>
          </a:solidFill>
          <a:ln/>
        </p:spPr>
        <p:txBody>
          <a:bodyPr/>
          <a:lstStyle/>
          <a:p>
            <a:endParaRPr lang="en-US"/>
          </a:p>
        </p:txBody>
      </p:sp>
      <p:sp>
        <p:nvSpPr>
          <p:cNvPr id="29" name="Shape 25"/>
          <p:cNvSpPr/>
          <p:nvPr/>
        </p:nvSpPr>
        <p:spPr>
          <a:xfrm>
            <a:off x="8183880" y="2194560"/>
            <a:ext cx="3602736" cy="457200"/>
          </a:xfrm>
          <a:prstGeom prst="rect">
            <a:avLst/>
          </a:prstGeom>
          <a:solidFill>
            <a:srgbClr val="6E2C11"/>
          </a:solidFill>
          <a:ln/>
        </p:spPr>
        <p:txBody>
          <a:bodyPr/>
          <a:lstStyle/>
          <a:p>
            <a:endParaRPr lang="en-US"/>
          </a:p>
        </p:txBody>
      </p:sp>
      <p:pic>
        <p:nvPicPr>
          <p:cNvPr id="30" name="Image 2" descr="/home/claude/p3_pe_outcreate.png"/>
          <p:cNvPicPr>
            <a:picLocks noChangeAspect="1"/>
          </p:cNvPicPr>
          <p:nvPr/>
        </p:nvPicPr>
        <p:blipFill>
          <a:blip r:embed="rId5"/>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marL="0" indent="0">
              <a:buNone/>
            </a:pPr>
            <a:r>
              <a:rPr lang="en-US" sz="1000" b="1" kern="0" spc="100" dirty="0">
                <a:solidFill>
                  <a:srgbClr val="F4D3BF"/>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Consolidate into an executive-ready modernization roadmap tied to measurable outcomes</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Confirm wave business cases and success metrics</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Executive playback, decision sign-off, first-wave mobilization</a:t>
            </a:r>
            <a:endParaRPr lang="en-US" sz="1000" dirty="0"/>
          </a:p>
        </p:txBody>
      </p:sp>
      <p:sp>
        <p:nvSpPr>
          <p:cNvPr id="34" name="Shape 29"/>
          <p:cNvSpPr/>
          <p:nvPr/>
        </p:nvSpPr>
        <p:spPr>
          <a:xfrm>
            <a:off x="8421624" y="4983480"/>
            <a:ext cx="3127248" cy="0"/>
          </a:xfrm>
          <a:prstGeom prst="line">
            <a:avLst/>
          </a:prstGeom>
          <a:noFill/>
          <a:ln w="12700">
            <a:solidFill>
              <a:srgbClr val="EAD9CF"/>
            </a:solidFill>
            <a:prstDash val="solid"/>
          </a:ln>
        </p:spPr>
        <p:txBody>
          <a:bodyPr/>
          <a:lstStyle/>
          <a:p>
            <a:endParaRPr lang="en-US"/>
          </a:p>
        </p:txBody>
      </p:sp>
      <p:sp>
        <p:nvSpPr>
          <p:cNvPr id="35" name="Text 30"/>
          <p:cNvSpPr txBox="1"/>
          <p:nvPr/>
        </p:nvSpPr>
        <p:spPr>
          <a:xfrm>
            <a:off x="8421624" y="5056632"/>
            <a:ext cx="3127248" cy="219456"/>
          </a:xfrm>
          <a:prstGeom prst="rect">
            <a:avLst/>
          </a:prstGeom>
          <a:noFill/>
          <a:ln/>
        </p:spPr>
        <p:txBody>
          <a:bodyPr wrap="square" lIns="0" tIns="0" rIns="0" bIns="0" rtlCol="0" anchor="ctr"/>
          <a:lstStyle/>
          <a:p>
            <a:pPr marL="0" indent="0">
              <a:buNone/>
            </a:pPr>
            <a:r>
              <a:rPr lang="en-US" sz="900" b="1" kern="0" spc="100" dirty="0">
                <a:solidFill>
                  <a:srgbClr val="B0481E"/>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8F3A17"/>
                </a:solidFill>
                <a:latin typeface="Calibri" pitchFamily="34" charset="0"/>
                <a:ea typeface="Calibri" pitchFamily="34" charset="-122"/>
                <a:cs typeface="Calibri" pitchFamily="34" charset="-120"/>
              </a:rPr>
              <a:t>Board-ready modernization roadmap · outcome metrics · mobilization plan · Executive Playback · Closure Pack</a:t>
            </a:r>
            <a:endParaRPr lang="en-US" sz="950" dirty="0"/>
          </a:p>
        </p:txBody>
      </p:sp>
      <p:sp>
        <p:nvSpPr>
          <p:cNvPr id="37" name="Text 32"/>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B0A39B"/>
                </a:solidFill>
                <a:latin typeface="Calibri" pitchFamily="34" charset="0"/>
                <a:ea typeface="Calibri" pitchFamily="34" charset="-122"/>
                <a:cs typeface="Calibri" pitchFamily="34" charset="-120"/>
              </a:rPr>
              <a:t>LTM  ·  Infra Tech Advisory  ·  Public Cloud &amp; Modernization</a:t>
            </a:r>
            <a:endParaRPr lang="en-US" sz="950" dirty="0"/>
          </a:p>
        </p:txBody>
      </p:sp>
      <p:sp>
        <p:nvSpPr>
          <p:cNvPr id="38" name="Text 33"/>
          <p:cNvSpPr txBox="1"/>
          <p:nvPr/>
        </p:nvSpPr>
        <p:spPr>
          <a:xfrm>
            <a:off x="8961120" y="6473952"/>
            <a:ext cx="2724912" cy="274320"/>
          </a:xfrm>
          <a:prstGeom prst="rect">
            <a:avLst/>
          </a:prstGeom>
          <a:noFill/>
          <a:ln/>
        </p:spPr>
        <p:txBody>
          <a:bodyPr wrap="square" lIns="0" tIns="0" rIns="0" bIns="0" rtlCol="0" anchor="ctr"/>
          <a:lstStyle/>
          <a:p>
            <a:pPr marL="0" indent="0" algn="r">
              <a:buNone/>
            </a:pPr>
            <a:r>
              <a:rPr lang="en-US" sz="950" dirty="0">
                <a:solidFill>
                  <a:srgbClr val="B0A39B"/>
                </a:solidFill>
                <a:latin typeface="Calibri" pitchFamily="34" charset="0"/>
                <a:ea typeface="Calibri" pitchFamily="34" charset="-122"/>
                <a:cs typeface="Calibri" pitchFamily="34" charset="-120"/>
              </a:rPr>
              <a:t>03.4  ·  Solution</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marL="0" indent="0">
              <a:buNone/>
            </a:pPr>
            <a:r>
              <a:rPr lang="en-US" sz="1100" b="1" kern="0" spc="200" dirty="0">
                <a:solidFill>
                  <a:srgbClr val="B0481E"/>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EEB08A"/>
                </a:solidFill>
                <a:latin typeface="Cambria" pitchFamily="34" charset="0"/>
                <a:ea typeface="Cambria" pitchFamily="34" charset="-122"/>
                <a:cs typeface="Cambria" pitchFamily="34" charset="-120"/>
              </a:rPr>
              <a:t>03.4   </a:t>
            </a:r>
            <a:r>
              <a:rPr lang="en-US" sz="2400" b="1" dirty="0">
                <a:solidFill>
                  <a:srgbClr val="1B1F23"/>
                </a:solidFill>
                <a:latin typeface="Cambria" pitchFamily="34" charset="0"/>
                <a:ea typeface="Cambria" pitchFamily="34" charset="-122"/>
                <a:cs typeface="Cambria" pitchFamily="34" charset="-120"/>
              </a:rPr>
              <a:t>Application Modernization</a:t>
            </a:r>
            <a:endParaRPr lang="en-US" sz="2400" dirty="0"/>
          </a:p>
        </p:txBody>
      </p:sp>
      <p:sp>
        <p:nvSpPr>
          <p:cNvPr id="4" name="Shape 2"/>
          <p:cNvSpPr/>
          <p:nvPr/>
        </p:nvSpPr>
        <p:spPr>
          <a:xfrm>
            <a:off x="502920" y="1600200"/>
            <a:ext cx="5394960" cy="4480560"/>
          </a:xfrm>
          <a:prstGeom prst="roundRect">
            <a:avLst>
              <a:gd name="adj" fmla="val 1429"/>
            </a:avLst>
          </a:prstGeom>
          <a:solidFill>
            <a:srgbClr val="B0481E"/>
          </a:solidFill>
          <a:ln/>
        </p:spPr>
        <p:txBody>
          <a:bodyPr/>
          <a:lstStyle/>
          <a:p>
            <a:endParaRPr lang="en-US"/>
          </a:p>
        </p:txBody>
      </p:sp>
      <p:pic>
        <p:nvPicPr>
          <p:cNvPr id="5" name="Image 0" descr="/home/claude/p3_pe_deliver.png"/>
          <p:cNvPicPr>
            <a:picLocks noChangeAspect="1"/>
          </p:cNvPicPr>
          <p:nvPr/>
        </p:nvPicPr>
        <p:blipFill>
          <a:blip r:embed="rId3"/>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marL="0" indent="0">
              <a:buNone/>
            </a:pPr>
            <a:r>
              <a:rPr lang="en-US" sz="1050" i="1" dirty="0">
                <a:solidFill>
                  <a:srgbClr val="F4D3BF"/>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EEB08A"/>
          </a:solidFill>
          <a:ln/>
        </p:spPr>
        <p:txBody>
          <a:bodyPr/>
          <a:lstStyle/>
          <a:p>
            <a:endParaRPr lang="en-US"/>
          </a:p>
        </p:txBody>
      </p:sp>
      <p:sp>
        <p:nvSpPr>
          <p:cNvPr id="9" name="Text 6"/>
          <p:cNvSpPr txBox="1"/>
          <p:nvPr/>
        </p:nvSpPr>
        <p:spPr>
          <a:xfrm>
            <a:off x="777240" y="2880360"/>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Application portfolio inventory and profiling</a:t>
            </a:r>
            <a:endParaRPr lang="en-US" sz="1150" dirty="0"/>
          </a:p>
        </p:txBody>
      </p:sp>
      <p:sp>
        <p:nvSpPr>
          <p:cNvPr id="11" name="Shape 8"/>
          <p:cNvSpPr/>
          <p:nvPr/>
        </p:nvSpPr>
        <p:spPr>
          <a:xfrm>
            <a:off x="777240" y="3483864"/>
            <a:ext cx="310896" cy="310896"/>
          </a:xfrm>
          <a:prstGeom prst="roundRect">
            <a:avLst>
              <a:gd name="adj" fmla="val 14706"/>
            </a:avLst>
          </a:prstGeom>
          <a:solidFill>
            <a:srgbClr val="EEB08A"/>
          </a:solidFill>
          <a:ln/>
        </p:spPr>
        <p:txBody>
          <a:bodyPr/>
          <a:lstStyle/>
          <a:p>
            <a:endParaRPr lang="en-US"/>
          </a:p>
        </p:txBody>
      </p:sp>
      <p:sp>
        <p:nvSpPr>
          <p:cNvPr id="12" name="Text 9"/>
          <p:cNvSpPr txBox="1"/>
          <p:nvPr/>
        </p:nvSpPr>
        <p:spPr>
          <a:xfrm>
            <a:off x="777240" y="3483864"/>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Technical-debt and performance assessment</a:t>
            </a:r>
            <a:endParaRPr lang="en-US" sz="1150" dirty="0"/>
          </a:p>
        </p:txBody>
      </p:sp>
      <p:sp>
        <p:nvSpPr>
          <p:cNvPr id="14" name="Shape 11"/>
          <p:cNvSpPr/>
          <p:nvPr/>
        </p:nvSpPr>
        <p:spPr>
          <a:xfrm>
            <a:off x="777240" y="4087368"/>
            <a:ext cx="310896" cy="310896"/>
          </a:xfrm>
          <a:prstGeom prst="roundRect">
            <a:avLst>
              <a:gd name="adj" fmla="val 14706"/>
            </a:avLst>
          </a:prstGeom>
          <a:solidFill>
            <a:srgbClr val="EEB08A"/>
          </a:solidFill>
          <a:ln/>
        </p:spPr>
        <p:txBody>
          <a:bodyPr/>
          <a:lstStyle/>
          <a:p>
            <a:endParaRPr lang="en-US"/>
          </a:p>
        </p:txBody>
      </p:sp>
      <p:sp>
        <p:nvSpPr>
          <p:cNvPr id="15" name="Text 12"/>
          <p:cNvSpPr txBox="1"/>
          <p:nvPr/>
        </p:nvSpPr>
        <p:spPr>
          <a:xfrm>
            <a:off x="777240" y="4087368"/>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Per-application 6R/7R disposition model</a:t>
            </a:r>
            <a:endParaRPr lang="en-US" sz="1150" dirty="0"/>
          </a:p>
        </p:txBody>
      </p:sp>
      <p:sp>
        <p:nvSpPr>
          <p:cNvPr id="17" name="Shape 14"/>
          <p:cNvSpPr/>
          <p:nvPr/>
        </p:nvSpPr>
        <p:spPr>
          <a:xfrm>
            <a:off x="777240" y="4690872"/>
            <a:ext cx="310896" cy="310896"/>
          </a:xfrm>
          <a:prstGeom prst="roundRect">
            <a:avLst>
              <a:gd name="adj" fmla="val 14706"/>
            </a:avLst>
          </a:prstGeom>
          <a:solidFill>
            <a:srgbClr val="EEB08A"/>
          </a:solidFill>
          <a:ln/>
        </p:spPr>
        <p:txBody>
          <a:bodyPr/>
          <a:lstStyle/>
          <a:p>
            <a:endParaRPr lang="en-US"/>
          </a:p>
        </p:txBody>
      </p:sp>
      <p:sp>
        <p:nvSpPr>
          <p:cNvPr id="18" name="Text 15"/>
          <p:cNvSpPr txBox="1"/>
          <p:nvPr/>
        </p:nvSpPr>
        <p:spPr>
          <a:xfrm>
            <a:off x="777240" y="4690872"/>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Value-first modernization wave-plan with outcome metrics</a:t>
            </a:r>
            <a:endParaRPr lang="en-US" sz="1150" dirty="0"/>
          </a:p>
        </p:txBody>
      </p:sp>
      <p:sp>
        <p:nvSpPr>
          <p:cNvPr id="20" name="Shape 17"/>
          <p:cNvSpPr/>
          <p:nvPr/>
        </p:nvSpPr>
        <p:spPr>
          <a:xfrm>
            <a:off x="777240" y="5294376"/>
            <a:ext cx="310896" cy="310896"/>
          </a:xfrm>
          <a:prstGeom prst="roundRect">
            <a:avLst>
              <a:gd name="adj" fmla="val 14706"/>
            </a:avLst>
          </a:prstGeom>
          <a:solidFill>
            <a:srgbClr val="EEB08A"/>
          </a:solidFill>
          <a:ln/>
        </p:spPr>
        <p:txBody>
          <a:bodyPr/>
          <a:lstStyle/>
          <a:p>
            <a:endParaRPr lang="en-US"/>
          </a:p>
        </p:txBody>
      </p:sp>
      <p:sp>
        <p:nvSpPr>
          <p:cNvPr id="21" name="Text 18"/>
          <p:cNvSpPr txBox="1"/>
          <p:nvPr/>
        </p:nvSpPr>
        <p:spPr>
          <a:xfrm>
            <a:off x="777240" y="5294376"/>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Board-ready modernization roadmap</a:t>
            </a:r>
            <a:endParaRPr lang="en-US" sz="1150" dirty="0"/>
          </a:p>
        </p:txBody>
      </p:sp>
      <p:sp>
        <p:nvSpPr>
          <p:cNvPr id="23" name="Shape 20"/>
          <p:cNvSpPr/>
          <p:nvPr/>
        </p:nvSpPr>
        <p:spPr>
          <a:xfrm>
            <a:off x="6263640" y="1600200"/>
            <a:ext cx="5394960" cy="2286000"/>
          </a:xfrm>
          <a:prstGeom prst="roundRect">
            <a:avLst>
              <a:gd name="adj" fmla="val 2800"/>
            </a:avLst>
          </a:prstGeom>
          <a:solidFill>
            <a:srgbClr val="EEF6F0"/>
          </a:solidFill>
          <a:ln w="9525">
            <a:solidFill>
              <a:srgbClr val="BFE3D2"/>
            </a:solidFill>
            <a:prstDash val="solid"/>
          </a:ln>
        </p:spPr>
        <p:txBody>
          <a:bodyPr/>
          <a:lstStyle/>
          <a:p>
            <a:endParaRPr lang="en-US"/>
          </a:p>
        </p:txBody>
      </p:sp>
      <p:pic>
        <p:nvPicPr>
          <p:cNvPr id="24" name="Image 1" descr="/home/claude/x_chk_in.png"/>
          <p:cNvPicPr>
            <a:picLocks noChangeAspect="1"/>
          </p:cNvPicPr>
          <p:nvPr/>
        </p:nvPicPr>
        <p:blipFill>
          <a:blip r:embed="rId4"/>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marL="0" indent="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Application portfolio rationalization (6R/7R)</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Technical-debt and performance assessment</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Workload performance-engineering approach</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Mainframe modernization strategy (modernize / encapsulate / migrate / sustain)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Value-first wave sequencing and outcome definition</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1EE"/>
          </a:solidFill>
          <a:ln w="9525">
            <a:solidFill>
              <a:srgbClr val="ECCFC4"/>
            </a:solidFill>
            <a:prstDash val="solid"/>
          </a:ln>
        </p:spPr>
        <p:txBody>
          <a:bodyPr/>
          <a:lstStyle/>
          <a:p>
            <a:endParaRPr lang="en-US"/>
          </a:p>
        </p:txBody>
      </p:sp>
      <p:pic>
        <p:nvPicPr>
          <p:cNvPr id="28" name="Image 2" descr="/home/claude/x_chk_out.png"/>
          <p:cNvPicPr>
            <a:picLocks noChangeAspect="1"/>
          </p:cNvPicPr>
          <p:nvPr/>
        </p:nvPicPr>
        <p:blipFill>
          <a:blip r:embed="rId5"/>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marL="0" indent="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Application re-engineering / modernization build</a:t>
            </a:r>
            <a:r>
              <a:rPr lang="en-US" sz="900" i="1" dirty="0">
                <a:solidFill>
                  <a:srgbClr val="9A5541"/>
                </a:solidFill>
                <a:latin typeface="Calibri" pitchFamily="34" charset="0"/>
                <a:ea typeface="Calibri" pitchFamily="34" charset="-122"/>
                <a:cs typeface="Calibri" pitchFamily="34" charset="-120"/>
              </a:rPr>
              <a:t>   → Separate delivery</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Sovereignty-driven application disposition</a:t>
            </a:r>
            <a:r>
              <a:rPr lang="en-US" sz="900" i="1" dirty="0">
                <a:solidFill>
                  <a:srgbClr val="9A5541"/>
                </a:solidFill>
                <a:latin typeface="Calibri" pitchFamily="34" charset="0"/>
                <a:ea typeface="Calibri" pitchFamily="34" charset="-122"/>
                <a:cs typeface="Calibri" pitchFamily="34" charset="-120"/>
              </a:rPr>
              <a:t>   → 02.4 (Pillar 02)</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Data platform and data quality</a:t>
            </a:r>
            <a:r>
              <a:rPr lang="en-US" sz="900" i="1" dirty="0">
                <a:solidFill>
                  <a:srgbClr val="9A5541"/>
                </a:solidFill>
                <a:latin typeface="Calibri" pitchFamily="34" charset="0"/>
                <a:ea typeface="Calibri" pitchFamily="34" charset="-122"/>
                <a:cs typeface="Calibri" pitchFamily="34" charset="-120"/>
              </a:rPr>
              <a:t>   → LTM Data</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Cloud placement strategy</a:t>
            </a:r>
            <a:r>
              <a:rPr lang="en-US" sz="900" i="1" dirty="0">
                <a:solidFill>
                  <a:srgbClr val="9A5541"/>
                </a:solidFill>
                <a:latin typeface="Calibri" pitchFamily="34" charset="0"/>
                <a:ea typeface="Calibri" pitchFamily="34" charset="-122"/>
                <a:cs typeface="Calibri" pitchFamily="34" charset="-120"/>
              </a:rPr>
              <a:t>   → 03.1 Right Cloud</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Cost-optimization program</a:t>
            </a:r>
            <a:r>
              <a:rPr lang="en-US" sz="900" i="1" dirty="0">
                <a:solidFill>
                  <a:srgbClr val="9A5541"/>
                </a:solidFill>
                <a:latin typeface="Calibri" pitchFamily="34" charset="0"/>
                <a:ea typeface="Calibri" pitchFamily="34" charset="-122"/>
                <a:cs typeface="Calibri" pitchFamily="34" charset="-120"/>
              </a:rPr>
              <a:t>   → 03.3 FinOps</a:t>
            </a:r>
            <a:endParaRPr lang="en-US" sz="970" dirty="0"/>
          </a:p>
        </p:txBody>
      </p:sp>
      <p:sp>
        <p:nvSpPr>
          <p:cNvPr id="35" name="Text 30"/>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B0A39B"/>
                </a:solidFill>
                <a:latin typeface="Calibri" pitchFamily="34" charset="0"/>
                <a:ea typeface="Calibri" pitchFamily="34" charset="-122"/>
                <a:cs typeface="Calibri" pitchFamily="34" charset="-120"/>
              </a:rPr>
              <a:t>LTM  ·  Infra Tech Advisory  ·  Public Cloud &amp; Modernization</a:t>
            </a:r>
            <a:endParaRPr lang="en-US" sz="950" dirty="0"/>
          </a:p>
        </p:txBody>
      </p:sp>
      <p:sp>
        <p:nvSpPr>
          <p:cNvPr id="36" name="Text 31"/>
          <p:cNvSpPr txBox="1"/>
          <p:nvPr/>
        </p:nvSpPr>
        <p:spPr>
          <a:xfrm>
            <a:off x="8961120" y="6473952"/>
            <a:ext cx="2724912" cy="274320"/>
          </a:xfrm>
          <a:prstGeom prst="rect">
            <a:avLst/>
          </a:prstGeom>
          <a:noFill/>
          <a:ln/>
        </p:spPr>
        <p:txBody>
          <a:bodyPr wrap="square" lIns="0" tIns="0" rIns="0" bIns="0" rtlCol="0" anchor="ctr"/>
          <a:lstStyle/>
          <a:p>
            <a:pPr marL="0" indent="0" algn="r">
              <a:buNone/>
            </a:pPr>
            <a:r>
              <a:rPr lang="en-US" sz="950" dirty="0">
                <a:solidFill>
                  <a:srgbClr val="B0A39B"/>
                </a:solidFill>
                <a:latin typeface="Calibri" pitchFamily="34" charset="0"/>
                <a:ea typeface="Calibri" pitchFamily="34" charset="-122"/>
                <a:cs typeface="Calibri" pitchFamily="34" charset="-120"/>
              </a:rPr>
              <a:t>03.4  ·  Deliverables &amp; scope</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marL="0" indent="0">
              <a:buNone/>
            </a:pPr>
            <a:r>
              <a:rPr lang="en-US" sz="1100" b="1" kern="0" spc="200" dirty="0">
                <a:solidFill>
                  <a:srgbClr val="B0481E"/>
                </a:solidFill>
                <a:latin typeface="Calibri" pitchFamily="34" charset="0"/>
                <a:ea typeface="Calibri" pitchFamily="34" charset="-122"/>
                <a:cs typeface="Calibri" pitchFamily="34" charset="-120"/>
              </a:rPr>
              <a:t>OFFERING  ·  OUT-SITE THE COMPUTE.   ·   JOURNEY B</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EEB08A"/>
                </a:solidFill>
                <a:latin typeface="Cambria" pitchFamily="34" charset="0"/>
                <a:ea typeface="Cambria" pitchFamily="34" charset="-122"/>
                <a:cs typeface="Cambria" pitchFamily="34" charset="-120"/>
              </a:rPr>
              <a:t>03.5   </a:t>
            </a:r>
            <a:r>
              <a:rPr lang="en-US" sz="2400" b="1" dirty="0">
                <a:solidFill>
                  <a:srgbClr val="1B1F23"/>
                </a:solidFill>
                <a:latin typeface="Cambria" pitchFamily="34" charset="0"/>
                <a:ea typeface="Cambria" pitchFamily="34" charset="-122"/>
                <a:cs typeface="Cambria" pitchFamily="34" charset="-120"/>
              </a:rPr>
              <a:t>Data Centre &amp; Compute Capacity Strategy</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marL="0" indent="0">
              <a:buNone/>
            </a:pPr>
            <a:r>
              <a:rPr lang="en-US" sz="900" b="1" kern="0" spc="100" dirty="0">
                <a:solidFill>
                  <a:srgbClr val="EEB08A"/>
                </a:solidFill>
                <a:latin typeface="Calibri" pitchFamily="34" charset="0"/>
                <a:ea typeface="Calibri" pitchFamily="34" charset="-122"/>
                <a:cs typeface="Calibri" pitchFamily="34" charset="-120"/>
              </a:rPr>
              <a:t>STARTS FROM  </a:t>
            </a:r>
            <a:r>
              <a:rPr lang="en-US" sz="1050" dirty="0">
                <a:solidFill>
                  <a:srgbClr val="5A4A42"/>
                </a:solidFill>
                <a:latin typeface="Calibri" pitchFamily="34" charset="0"/>
                <a:ea typeface="Calibri" pitchFamily="34" charset="-122"/>
                <a:cs typeface="Calibri" pitchFamily="34" charset="-120"/>
              </a:rPr>
              <a:t>Cloud IQ → Modernization IQ      </a:t>
            </a:r>
            <a:r>
              <a:rPr lang="en-US" sz="900" b="1" kern="0" spc="100" dirty="0">
                <a:solidFill>
                  <a:srgbClr val="EEB08A"/>
                </a:solidFill>
                <a:latin typeface="Calibri" pitchFamily="34" charset="0"/>
                <a:ea typeface="Calibri" pitchFamily="34" charset="-122"/>
                <a:cs typeface="Calibri" pitchFamily="34" charset="-120"/>
              </a:rPr>
              <a:t>LEADS TO  </a:t>
            </a:r>
            <a:r>
              <a:rPr lang="en-US" sz="1050" dirty="0">
                <a:solidFill>
                  <a:srgbClr val="5A4A42"/>
                </a:solidFill>
                <a:latin typeface="Calibri" pitchFamily="34" charset="0"/>
                <a:ea typeface="Calibri" pitchFamily="34" charset="-122"/>
                <a:cs typeface="Calibri" pitchFamily="34" charset="-120"/>
              </a:rPr>
              <a:t>DC migration &amp; decommissioning · AI infrastructure build · hosting managed services</a:t>
            </a:r>
            <a:endParaRPr lang="en-US" sz="900" dirty="0"/>
          </a:p>
        </p:txBody>
      </p:sp>
      <p:sp>
        <p:nvSpPr>
          <p:cNvPr id="5" name="Shape 3"/>
          <p:cNvSpPr/>
          <p:nvPr/>
        </p:nvSpPr>
        <p:spPr>
          <a:xfrm>
            <a:off x="502920" y="1737360"/>
            <a:ext cx="5394960" cy="2395728"/>
          </a:xfrm>
          <a:prstGeom prst="roundRect">
            <a:avLst>
              <a:gd name="adj" fmla="val 2290"/>
            </a:avLst>
          </a:prstGeom>
          <a:solidFill>
            <a:srgbClr val="FAF4F1"/>
          </a:solidFill>
          <a:ln w="9525">
            <a:solidFill>
              <a:srgbClr val="EAD9CF"/>
            </a:solidFill>
            <a:prstDash val="solid"/>
          </a:ln>
        </p:spPr>
        <p:txBody>
          <a:bodyPr/>
          <a:lstStyle/>
          <a:p>
            <a:endParaRPr lang="en-US"/>
          </a:p>
        </p:txBody>
      </p:sp>
      <p:sp>
        <p:nvSpPr>
          <p:cNvPr id="6" name="Text 4"/>
          <p:cNvSpPr txBox="1"/>
          <p:nvPr/>
        </p:nvSpPr>
        <p:spPr>
          <a:xfrm>
            <a:off x="731520" y="1901952"/>
            <a:ext cx="4937760" cy="256032"/>
          </a:xfrm>
          <a:prstGeom prst="rect">
            <a:avLst/>
          </a:prstGeom>
          <a:noFill/>
          <a:ln/>
        </p:spPr>
        <p:txBody>
          <a:bodyPr wrap="square" lIns="0" tIns="0" rIns="0" bIns="0" rtlCol="0" anchor="ctr"/>
          <a:lstStyle/>
          <a:p>
            <a:pPr marL="0" indent="0">
              <a:buNone/>
            </a:pPr>
            <a:r>
              <a:rPr lang="en-US" sz="1100" b="1" kern="0" spc="150" dirty="0">
                <a:solidFill>
                  <a:srgbClr val="B0481E"/>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marL="0" indent="0">
              <a:lnSpc>
                <a:spcPct val="104000"/>
              </a:lnSpc>
              <a:buNone/>
            </a:pPr>
            <a:r>
              <a:rPr lang="en-US" sz="1150" dirty="0">
                <a:solidFill>
                  <a:srgbClr val="3A2E28"/>
                </a:solidFill>
                <a:latin typeface="Calibri" pitchFamily="34" charset="0"/>
                <a:ea typeface="Calibri" pitchFamily="34" charset="-122"/>
                <a:cs typeface="Calibri" pitchFamily="34" charset="-120"/>
              </a:rPr>
              <a:t>Answers the live 2026 question: where does compute — including AI compute — physically go, and is there power for it? It assesses the data-centre estate, decides disposition per facility (exit, consolidate, colocate, relocate, retain-and-invest), and plans AI/GPU capacity against the real constraints of power, cost, latency and sovereignty.</a:t>
            </a:r>
            <a:endParaRPr lang="en-US" sz="1150" dirty="0"/>
          </a:p>
        </p:txBody>
      </p:sp>
      <p:sp>
        <p:nvSpPr>
          <p:cNvPr id="8" name="Shape 6"/>
          <p:cNvSpPr/>
          <p:nvPr/>
        </p:nvSpPr>
        <p:spPr>
          <a:xfrm>
            <a:off x="502920" y="4279392"/>
            <a:ext cx="5394960" cy="1627632"/>
          </a:xfrm>
          <a:prstGeom prst="roundRect">
            <a:avLst>
              <a:gd name="adj" fmla="val 3371"/>
            </a:avLst>
          </a:prstGeom>
          <a:solidFill>
            <a:srgbClr val="B0481E"/>
          </a:solidFill>
          <a:ln w="9525">
            <a:solidFill>
              <a:srgbClr val="B0481E"/>
            </a:solidFill>
            <a:prstDash val="solid"/>
          </a:ln>
        </p:spPr>
        <p:txBody>
          <a:bodyPr/>
          <a:lstStyle/>
          <a:p>
            <a:endParaRPr lang="en-US"/>
          </a:p>
        </p:txBody>
      </p:sp>
      <p:sp>
        <p:nvSpPr>
          <p:cNvPr id="9" name="Text 7"/>
          <p:cNvSpPr txBox="1"/>
          <p:nvPr/>
        </p:nvSpPr>
        <p:spPr>
          <a:xfrm>
            <a:off x="731520" y="4425696"/>
            <a:ext cx="4937760" cy="256032"/>
          </a:xfrm>
          <a:prstGeom prst="rect">
            <a:avLst/>
          </a:prstGeom>
          <a:noFill/>
          <a:ln/>
        </p:spPr>
        <p:txBody>
          <a:bodyPr wrap="square" lIns="0" tIns="0" rIns="0" bIns="0" rtlCol="0" anchor="ctr"/>
          <a:lstStyle/>
          <a:p>
            <a:pPr marL="0" indent="0">
              <a:buNone/>
            </a:pPr>
            <a:r>
              <a:rPr lang="en-US" sz="1100" b="1" kern="0" spc="150" dirty="0">
                <a:solidFill>
                  <a:srgbClr val="F4D3BF"/>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marL="0" indent="0">
              <a:lnSpc>
                <a:spcPct val="103000"/>
              </a:lnSpc>
              <a:buNone/>
            </a:pPr>
            <a:r>
              <a:rPr lang="en-US" sz="1100" dirty="0">
                <a:solidFill>
                  <a:srgbClr val="FBEDE6"/>
                </a:solidFill>
                <a:latin typeface="Calibri" pitchFamily="34" charset="0"/>
                <a:ea typeface="Calibri" pitchFamily="34" charset="-122"/>
                <a:cs typeface="Calibri" pitchFamily="34" charset="-120"/>
              </a:rPr>
              <a:t>Data-centre systems spending is set to grow 55.8% in 2026, surpassing $788B, as AI compute demand explodes — Gartner calls building AI compute capacity “the largest infrastructure project ever attempted.” The live question is siting and powering that compute, not just exiting legacy DC.</a:t>
            </a:r>
            <a:endParaRPr lang="en-US" sz="110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marL="0" indent="0">
              <a:buNone/>
            </a:pPr>
            <a:r>
              <a:rPr lang="en-US" sz="850" i="1" dirty="0">
                <a:solidFill>
                  <a:srgbClr val="E0A583"/>
                </a:solidFill>
                <a:latin typeface="Calibri" pitchFamily="34" charset="0"/>
                <a:ea typeface="Calibri" pitchFamily="34" charset="-122"/>
                <a:cs typeface="Calibri" pitchFamily="34" charset="-120"/>
              </a:rPr>
              <a:t>Source: Gartner / Flexera / FinOps Foundation, 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EAD9CF"/>
            </a:solidFill>
            <a:prstDash val="solid"/>
          </a:ln>
        </p:spPr>
        <p:txBody>
          <a:bodyPr/>
          <a:lstStyle/>
          <a:p>
            <a:endParaRPr lang="en-US"/>
          </a:p>
        </p:txBody>
      </p:sp>
      <p:sp>
        <p:nvSpPr>
          <p:cNvPr id="13" name="Text 11"/>
          <p:cNvSpPr txBox="1"/>
          <p:nvPr/>
        </p:nvSpPr>
        <p:spPr>
          <a:xfrm>
            <a:off x="6492240" y="1901952"/>
            <a:ext cx="4937760" cy="256032"/>
          </a:xfrm>
          <a:prstGeom prst="rect">
            <a:avLst/>
          </a:prstGeom>
          <a:noFill/>
          <a:ln/>
        </p:spPr>
        <p:txBody>
          <a:bodyPr wrap="square" lIns="0" tIns="0" rIns="0" bIns="0" rtlCol="0" anchor="ctr"/>
          <a:lstStyle/>
          <a:p>
            <a:pPr marL="0" indent="0">
              <a:buNone/>
            </a:pPr>
            <a:r>
              <a:rPr lang="en-US" sz="1100" b="1" kern="0" spc="120" dirty="0">
                <a:solidFill>
                  <a:srgbClr val="B0481E"/>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157984"/>
            <a:ext cx="4937760" cy="457200"/>
          </a:xfrm>
          <a:prstGeom prst="rect">
            <a:avLst/>
          </a:prstGeom>
          <a:noFill/>
          <a:ln/>
        </p:spPr>
        <p:txBody>
          <a:bodyPr wrap="square" lIns="0" tIns="0" rIns="0" bIns="0" rtlCol="0" anchor="ctr"/>
          <a:lstStyle/>
          <a:p>
            <a:pPr marL="0" indent="0">
              <a:lnSpc>
                <a:spcPct val="95000"/>
              </a:lnSpc>
              <a:buNone/>
            </a:pPr>
            <a:r>
              <a:rPr lang="en-US" sz="1150" i="1" dirty="0">
                <a:solidFill>
                  <a:srgbClr val="8F3A17"/>
                </a:solidFill>
                <a:latin typeface="Cambria" pitchFamily="34" charset="0"/>
                <a:ea typeface="Cambria" pitchFamily="34" charset="-122"/>
                <a:cs typeface="Cambria" pitchFamily="34" charset="-120"/>
              </a:rPr>
              <a:t>The data-centre question has flipped from “how do we exit?” to “where does AI compute go, and can the estate power it?”</a:t>
            </a:r>
            <a:endParaRPr lang="en-US" sz="1150" dirty="0"/>
          </a:p>
        </p:txBody>
      </p:sp>
      <p:sp>
        <p:nvSpPr>
          <p:cNvPr id="15" name="Text 13"/>
          <p:cNvSpPr txBox="1"/>
          <p:nvPr/>
        </p:nvSpPr>
        <p:spPr>
          <a:xfrm>
            <a:off x="6492240" y="2697480"/>
            <a:ext cx="4937760" cy="1325880"/>
          </a:xfrm>
          <a:prstGeom prst="rect">
            <a:avLst/>
          </a:prstGeom>
          <a:noFill/>
          <a:ln/>
        </p:spPr>
        <p:txBody>
          <a:bodyPr wrap="square" lIns="0" tIns="0" rIns="0" bIns="0" rtlCol="0" anchor="ctr"/>
          <a:lstStyle/>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The DC estate is poorly understood — assets, contracts, power envelope, dependencies and residual value are unclear.</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AI / GPU capacity demand is arriving faster than the estate or the grid can support it.</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Power and cooling are now the binding constraint, not floor space — and it’s rarely modeled honestly.</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Disposition decisions (exit / consolidate / colocate / retain) are made per contract, not per strategy.</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Exit-only thinking is backward-looking in a year when data-centre systems spend is growing 55.8%.</a:t>
            </a:r>
            <a:endParaRPr lang="en-US" sz="1000" dirty="0"/>
          </a:p>
        </p:txBody>
      </p:sp>
      <p:sp>
        <p:nvSpPr>
          <p:cNvPr id="16" name="Shape 14"/>
          <p:cNvSpPr/>
          <p:nvPr/>
        </p:nvSpPr>
        <p:spPr>
          <a:xfrm>
            <a:off x="6263640" y="4279392"/>
            <a:ext cx="5394960" cy="1627632"/>
          </a:xfrm>
          <a:prstGeom prst="roundRect">
            <a:avLst>
              <a:gd name="adj" fmla="val 3371"/>
            </a:avLst>
          </a:prstGeom>
          <a:solidFill>
            <a:srgbClr val="FAF4F1"/>
          </a:solidFill>
          <a:ln w="9525">
            <a:solidFill>
              <a:srgbClr val="EAD9CF"/>
            </a:solidFill>
            <a:prstDash val="solid"/>
          </a:ln>
        </p:spPr>
        <p:txBody>
          <a:bodyPr/>
          <a:lstStyle/>
          <a:p>
            <a:endParaRPr lang="en-US"/>
          </a:p>
        </p:txBody>
      </p:sp>
      <p:sp>
        <p:nvSpPr>
          <p:cNvPr id="17" name="Text 15"/>
          <p:cNvSpPr txBox="1"/>
          <p:nvPr/>
        </p:nvSpPr>
        <p:spPr>
          <a:xfrm>
            <a:off x="6492240" y="4407408"/>
            <a:ext cx="4937760" cy="256032"/>
          </a:xfrm>
          <a:prstGeom prst="rect">
            <a:avLst/>
          </a:prstGeom>
          <a:noFill/>
          <a:ln/>
        </p:spPr>
        <p:txBody>
          <a:bodyPr wrap="square" lIns="0" tIns="0" rIns="0" bIns="0" rtlCol="0" anchor="ctr"/>
          <a:lstStyle/>
          <a:p>
            <a:pPr marL="0" indent="0">
              <a:buNone/>
            </a:pPr>
            <a:r>
              <a:rPr lang="en-US" sz="1100" b="1" kern="0" spc="120" dirty="0">
                <a:solidFill>
                  <a:srgbClr val="B0481E"/>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81728"/>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A disposition decision per facility  </a:t>
            </a:r>
            <a:r>
              <a:rPr lang="en-US" sz="900" dirty="0">
                <a:solidFill>
                  <a:srgbClr val="5A4A42"/>
                </a:solidFill>
                <a:latin typeface="Calibri" pitchFamily="34" charset="0"/>
                <a:ea typeface="Calibri" pitchFamily="34" charset="-122"/>
                <a:cs typeface="Calibri" pitchFamily="34" charset="-120"/>
              </a:rPr>
              <a:t>— Exit, consolidate, colocate, relocate or retain — on evidence.</a:t>
            </a:r>
            <a:endParaRPr lang="en-US" sz="950" dirty="0"/>
          </a:p>
        </p:txBody>
      </p:sp>
      <p:sp>
        <p:nvSpPr>
          <p:cNvPr id="19" name="Text 17"/>
          <p:cNvSpPr txBox="1"/>
          <p:nvPr/>
        </p:nvSpPr>
        <p:spPr>
          <a:xfrm>
            <a:off x="6492240" y="491581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AI compute sited correctly  </a:t>
            </a:r>
            <a:r>
              <a:rPr lang="en-US" sz="900" dirty="0">
                <a:solidFill>
                  <a:srgbClr val="5A4A42"/>
                </a:solidFill>
                <a:latin typeface="Calibri" pitchFamily="34" charset="0"/>
                <a:ea typeface="Calibri" pitchFamily="34" charset="-122"/>
                <a:cs typeface="Calibri" pitchFamily="34" charset="-120"/>
              </a:rPr>
              <a:t>— GPU and accelerated capacity placed against power, cost, latency and sovereignty.</a:t>
            </a:r>
            <a:endParaRPr lang="en-US" sz="950" dirty="0"/>
          </a:p>
        </p:txBody>
      </p:sp>
      <p:sp>
        <p:nvSpPr>
          <p:cNvPr id="20" name="Text 18"/>
          <p:cNvSpPr txBox="1"/>
          <p:nvPr/>
        </p:nvSpPr>
        <p:spPr>
          <a:xfrm>
            <a:off x="6492240" y="5149901"/>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The power constraint modeled honestly  </a:t>
            </a:r>
            <a:r>
              <a:rPr lang="en-US" sz="900" dirty="0">
                <a:solidFill>
                  <a:srgbClr val="5A4A42"/>
                </a:solidFill>
                <a:latin typeface="Calibri" pitchFamily="34" charset="0"/>
                <a:ea typeface="Calibri" pitchFamily="34" charset="-122"/>
                <a:cs typeface="Calibri" pitchFamily="34" charset="-120"/>
              </a:rPr>
              <a:t>— Including where ambition exceeds what the estate or grid can support.</a:t>
            </a:r>
            <a:endParaRPr lang="en-US" sz="950" dirty="0"/>
          </a:p>
        </p:txBody>
      </p:sp>
      <p:sp>
        <p:nvSpPr>
          <p:cNvPr id="21" name="Text 19"/>
          <p:cNvSpPr txBox="1"/>
          <p:nvPr/>
        </p:nvSpPr>
        <p:spPr>
          <a:xfrm>
            <a:off x="6492240" y="5383987"/>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Savings locked, sprawl prevented  </a:t>
            </a:r>
            <a:r>
              <a:rPr lang="en-US" sz="900" dirty="0">
                <a:solidFill>
                  <a:srgbClr val="5A4A42"/>
                </a:solidFill>
                <a:latin typeface="Calibri" pitchFamily="34" charset="0"/>
                <a:ea typeface="Calibri" pitchFamily="34" charset="-122"/>
                <a:cs typeface="Calibri" pitchFamily="34" charset="-120"/>
              </a:rPr>
              <a:t>— Architecture principles and governance that stop shadow-DC re-emergence.</a:t>
            </a:r>
            <a:endParaRPr lang="en-US" sz="950" dirty="0"/>
          </a:p>
        </p:txBody>
      </p:sp>
      <p:sp>
        <p:nvSpPr>
          <p:cNvPr id="22" name="Text 20"/>
          <p:cNvSpPr txBox="1"/>
          <p:nvPr/>
        </p:nvSpPr>
        <p:spPr>
          <a:xfrm>
            <a:off x="6492240" y="561807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The current question, asked  </a:t>
            </a:r>
            <a:r>
              <a:rPr lang="en-US" sz="900" dirty="0">
                <a:solidFill>
                  <a:srgbClr val="5A4A42"/>
                </a:solidFill>
                <a:latin typeface="Calibri" pitchFamily="34" charset="0"/>
                <a:ea typeface="Calibri" pitchFamily="34" charset="-122"/>
                <a:cs typeface="Calibri" pitchFamily="34" charset="-120"/>
              </a:rPr>
              <a:t>— Siting AI compute, not the backward-looking “DC exit” framing.</a:t>
            </a:r>
            <a:endParaRPr lang="en-US" sz="950" dirty="0"/>
          </a:p>
        </p:txBody>
      </p:sp>
      <p:sp>
        <p:nvSpPr>
          <p:cNvPr id="23" name="Text 21"/>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B0A39B"/>
                </a:solidFill>
                <a:latin typeface="Calibri" pitchFamily="34" charset="0"/>
                <a:ea typeface="Calibri" pitchFamily="34" charset="-122"/>
                <a:cs typeface="Calibri" pitchFamily="34" charset="-120"/>
              </a:rPr>
              <a:t>LTM  ·  Infra Tech Advisory  ·  Public Cloud &amp; Modernization</a:t>
            </a:r>
            <a:endParaRPr lang="en-US" sz="950" dirty="0"/>
          </a:p>
        </p:txBody>
      </p:sp>
      <p:sp>
        <p:nvSpPr>
          <p:cNvPr id="24" name="Text 22"/>
          <p:cNvSpPr txBox="1"/>
          <p:nvPr/>
        </p:nvSpPr>
        <p:spPr>
          <a:xfrm>
            <a:off x="8961120" y="6473952"/>
            <a:ext cx="2724912" cy="274320"/>
          </a:xfrm>
          <a:prstGeom prst="rect">
            <a:avLst/>
          </a:prstGeom>
          <a:noFill/>
          <a:ln/>
        </p:spPr>
        <p:txBody>
          <a:bodyPr wrap="square" lIns="0" tIns="0" rIns="0" bIns="0" rtlCol="0" anchor="ctr"/>
          <a:lstStyle/>
          <a:p>
            <a:pPr marL="0" indent="0" algn="r">
              <a:buNone/>
            </a:pPr>
            <a:r>
              <a:rPr lang="en-US" sz="950" dirty="0">
                <a:solidFill>
                  <a:srgbClr val="B0A39B"/>
                </a:solidFill>
                <a:latin typeface="Calibri" pitchFamily="34" charset="0"/>
                <a:ea typeface="Calibri" pitchFamily="34" charset="-122"/>
                <a:cs typeface="Calibri" pitchFamily="34" charset="-120"/>
              </a:rPr>
              <a:t>03.5  ·  Overview</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marL="0" indent="0">
              <a:buNone/>
            </a:pPr>
            <a:r>
              <a:rPr lang="en-US" sz="1100" b="1" kern="0" spc="200" dirty="0">
                <a:solidFill>
                  <a:srgbClr val="B0481E"/>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EEB08A"/>
                </a:solidFill>
                <a:latin typeface="Cambria" pitchFamily="34" charset="0"/>
                <a:ea typeface="Cambria" pitchFamily="34" charset="-122"/>
                <a:cs typeface="Cambria" pitchFamily="34" charset="-120"/>
              </a:rPr>
              <a:t>03.5   </a:t>
            </a:r>
            <a:r>
              <a:rPr lang="en-US" sz="2400" b="1" dirty="0">
                <a:solidFill>
                  <a:srgbClr val="1B1F23"/>
                </a:solidFill>
                <a:latin typeface="Cambria" pitchFamily="34" charset="0"/>
                <a:ea typeface="Cambria" pitchFamily="34" charset="-122"/>
                <a:cs typeface="Cambria" pitchFamily="34" charset="-120"/>
              </a:rPr>
              <a:t>Data Centre &amp; Compute Capacity Strategy</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marL="0" indent="0">
              <a:buNone/>
            </a:pPr>
            <a:r>
              <a:rPr lang="en-US" sz="1200" i="1" dirty="0">
                <a:solidFill>
                  <a:srgbClr val="6B5A52"/>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AF4F1"/>
          </a:solidFill>
          <a:ln w="9525">
            <a:solidFill>
              <a:srgbClr val="EAD9CF"/>
            </a:solidFill>
            <a:prstDash val="solid"/>
          </a:ln>
        </p:spPr>
        <p:txBody>
          <a:bodyPr/>
          <a:lstStyle/>
          <a:p>
            <a:endParaRPr lang="en-US"/>
          </a:p>
        </p:txBody>
      </p:sp>
      <p:sp>
        <p:nvSpPr>
          <p:cNvPr id="6" name="Shape 4"/>
          <p:cNvSpPr/>
          <p:nvPr/>
        </p:nvSpPr>
        <p:spPr>
          <a:xfrm>
            <a:off x="502920" y="1783080"/>
            <a:ext cx="3602736" cy="868680"/>
          </a:xfrm>
          <a:prstGeom prst="roundRect">
            <a:avLst>
              <a:gd name="adj" fmla="val 7368"/>
            </a:avLst>
          </a:prstGeom>
          <a:solidFill>
            <a:srgbClr val="B0481E"/>
          </a:solidFill>
          <a:ln/>
        </p:spPr>
        <p:txBody>
          <a:bodyPr/>
          <a:lstStyle/>
          <a:p>
            <a:endParaRPr lang="en-US"/>
          </a:p>
        </p:txBody>
      </p:sp>
      <p:sp>
        <p:nvSpPr>
          <p:cNvPr id="7" name="Shape 5"/>
          <p:cNvSpPr/>
          <p:nvPr/>
        </p:nvSpPr>
        <p:spPr>
          <a:xfrm>
            <a:off x="502920" y="2194560"/>
            <a:ext cx="3602736" cy="457200"/>
          </a:xfrm>
          <a:prstGeom prst="rect">
            <a:avLst/>
          </a:prstGeom>
          <a:solidFill>
            <a:srgbClr val="B0481E"/>
          </a:solidFill>
          <a:ln/>
        </p:spPr>
        <p:txBody>
          <a:bodyPr/>
          <a:lstStyle/>
          <a:p>
            <a:endParaRPr lang="en-US"/>
          </a:p>
        </p:txBody>
      </p:sp>
      <p:pic>
        <p:nvPicPr>
          <p:cNvPr id="8" name="Image 0" descr="/home/claude/p3_pe_understand.png"/>
          <p:cNvPicPr>
            <a:picLocks noChangeAspect="1"/>
          </p:cNvPicPr>
          <p:nvPr/>
        </p:nvPicPr>
        <p:blipFill>
          <a:blip r:embed="rId3"/>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marL="0" indent="0">
              <a:buNone/>
            </a:pPr>
            <a:r>
              <a:rPr lang="en-US" sz="1000" b="1" kern="0" spc="100" dirty="0">
                <a:solidFill>
                  <a:srgbClr val="F4D3BF"/>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Assess the DC estate — assets, workloads, contracts, power envelope, residual value</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Baseline AI / GPU capacity demand from the use-case pipeline</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Model the power and cooling constraint honestly</a:t>
            </a:r>
            <a:endParaRPr lang="en-US" sz="1000" dirty="0"/>
          </a:p>
        </p:txBody>
      </p:sp>
      <p:sp>
        <p:nvSpPr>
          <p:cNvPr id="12" name="Shape 9"/>
          <p:cNvSpPr/>
          <p:nvPr/>
        </p:nvSpPr>
        <p:spPr>
          <a:xfrm>
            <a:off x="740664" y="4983480"/>
            <a:ext cx="3127248" cy="0"/>
          </a:xfrm>
          <a:prstGeom prst="line">
            <a:avLst/>
          </a:prstGeom>
          <a:noFill/>
          <a:ln w="12700">
            <a:solidFill>
              <a:srgbClr val="EAD9CF"/>
            </a:solidFill>
            <a:prstDash val="solid"/>
          </a:ln>
        </p:spPr>
        <p:txBody>
          <a:bodyPr/>
          <a:lstStyle/>
          <a:p>
            <a:endParaRPr lang="en-US"/>
          </a:p>
        </p:txBody>
      </p:sp>
      <p:sp>
        <p:nvSpPr>
          <p:cNvPr id="13" name="Text 10"/>
          <p:cNvSpPr txBox="1"/>
          <p:nvPr/>
        </p:nvSpPr>
        <p:spPr>
          <a:xfrm>
            <a:off x="740664" y="5056632"/>
            <a:ext cx="3127248" cy="219456"/>
          </a:xfrm>
          <a:prstGeom prst="rect">
            <a:avLst/>
          </a:prstGeom>
          <a:noFill/>
          <a:ln/>
        </p:spPr>
        <p:txBody>
          <a:bodyPr wrap="square" lIns="0" tIns="0" rIns="0" bIns="0" rtlCol="0" anchor="ctr"/>
          <a:lstStyle/>
          <a:p>
            <a:pPr marL="0" indent="0">
              <a:buNone/>
            </a:pPr>
            <a:r>
              <a:rPr lang="en-US" sz="900" b="1" kern="0" spc="100" dirty="0">
                <a:solidFill>
                  <a:srgbClr val="B0481E"/>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8F3A17"/>
                </a:solidFill>
                <a:latin typeface="Calibri" pitchFamily="34" charset="0"/>
                <a:ea typeface="Calibri" pitchFamily="34" charset="-122"/>
                <a:cs typeface="Calibri" pitchFamily="34" charset="-120"/>
              </a:rPr>
              <a:t>DC estate assessment · AI-capacity demand baseline · power-constraint model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marL="0" indent="0" algn="ctr">
              <a:buNone/>
            </a:pPr>
            <a:r>
              <a:rPr lang="en-US" sz="2000" dirty="0">
                <a:solidFill>
                  <a:srgbClr val="6B5A52"/>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AF4F1"/>
          </a:solidFill>
          <a:ln w="9525">
            <a:solidFill>
              <a:srgbClr val="EAD9CF"/>
            </a:solidFill>
            <a:prstDash val="solid"/>
          </a:ln>
        </p:spPr>
        <p:txBody>
          <a:bodyPr/>
          <a:lstStyle/>
          <a:p>
            <a:endParaRPr lang="en-US"/>
          </a:p>
        </p:txBody>
      </p:sp>
      <p:sp>
        <p:nvSpPr>
          <p:cNvPr id="17" name="Shape 14"/>
          <p:cNvSpPr/>
          <p:nvPr/>
        </p:nvSpPr>
        <p:spPr>
          <a:xfrm>
            <a:off x="4343400" y="1783080"/>
            <a:ext cx="3602736" cy="868680"/>
          </a:xfrm>
          <a:prstGeom prst="roundRect">
            <a:avLst>
              <a:gd name="adj" fmla="val 7368"/>
            </a:avLst>
          </a:prstGeom>
          <a:solidFill>
            <a:srgbClr val="8F3A17"/>
          </a:solidFill>
          <a:ln/>
        </p:spPr>
        <p:txBody>
          <a:bodyPr/>
          <a:lstStyle/>
          <a:p>
            <a:endParaRPr lang="en-US"/>
          </a:p>
        </p:txBody>
      </p:sp>
      <p:sp>
        <p:nvSpPr>
          <p:cNvPr id="18" name="Shape 15"/>
          <p:cNvSpPr/>
          <p:nvPr/>
        </p:nvSpPr>
        <p:spPr>
          <a:xfrm>
            <a:off x="4343400" y="2194560"/>
            <a:ext cx="3602736" cy="457200"/>
          </a:xfrm>
          <a:prstGeom prst="rect">
            <a:avLst/>
          </a:prstGeom>
          <a:solidFill>
            <a:srgbClr val="8F3A17"/>
          </a:solidFill>
          <a:ln/>
        </p:spPr>
        <p:txBody>
          <a:bodyPr/>
          <a:lstStyle/>
          <a:p>
            <a:endParaRPr lang="en-US"/>
          </a:p>
        </p:txBody>
      </p:sp>
      <p:pic>
        <p:nvPicPr>
          <p:cNvPr id="19" name="Image 1" descr="/home/claude/p3_pe_ideate.png"/>
          <p:cNvPicPr>
            <a:picLocks noChangeAspect="1"/>
          </p:cNvPicPr>
          <p:nvPr/>
        </p:nvPicPr>
        <p:blipFill>
          <a:blip r:embed="rId4"/>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marL="0" indent="0">
              <a:buNone/>
            </a:pPr>
            <a:r>
              <a:rPr lang="en-US" sz="1000" b="1" kern="0" spc="100" dirty="0">
                <a:solidFill>
                  <a:srgbClr val="F4D3BF"/>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Design per-facility disposition (exit / consolidate / colocate / relocate / retain)</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Plan AI compute siting against power, cost, latency, sovereignty</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Define transition, exit and asset-disposition approach</a:t>
            </a:r>
            <a:endParaRPr lang="en-US" sz="1000" dirty="0"/>
          </a:p>
        </p:txBody>
      </p:sp>
      <p:sp>
        <p:nvSpPr>
          <p:cNvPr id="23" name="Shape 19"/>
          <p:cNvSpPr/>
          <p:nvPr/>
        </p:nvSpPr>
        <p:spPr>
          <a:xfrm>
            <a:off x="4581144" y="4983480"/>
            <a:ext cx="3127248" cy="0"/>
          </a:xfrm>
          <a:prstGeom prst="line">
            <a:avLst/>
          </a:prstGeom>
          <a:noFill/>
          <a:ln w="12700">
            <a:solidFill>
              <a:srgbClr val="EAD9CF"/>
            </a:solidFill>
            <a:prstDash val="solid"/>
          </a:ln>
        </p:spPr>
        <p:txBody>
          <a:bodyPr/>
          <a:lstStyle/>
          <a:p>
            <a:endParaRPr lang="en-US"/>
          </a:p>
        </p:txBody>
      </p:sp>
      <p:sp>
        <p:nvSpPr>
          <p:cNvPr id="24" name="Text 20"/>
          <p:cNvSpPr txBox="1"/>
          <p:nvPr/>
        </p:nvSpPr>
        <p:spPr>
          <a:xfrm>
            <a:off x="4581144" y="5056632"/>
            <a:ext cx="3127248" cy="219456"/>
          </a:xfrm>
          <a:prstGeom prst="rect">
            <a:avLst/>
          </a:prstGeom>
          <a:noFill/>
          <a:ln/>
        </p:spPr>
        <p:txBody>
          <a:bodyPr wrap="square" lIns="0" tIns="0" rIns="0" bIns="0" rtlCol="0" anchor="ctr"/>
          <a:lstStyle/>
          <a:p>
            <a:pPr marL="0" indent="0">
              <a:buNone/>
            </a:pPr>
            <a:r>
              <a:rPr lang="en-US" sz="900" b="1" kern="0" spc="100" dirty="0">
                <a:solidFill>
                  <a:srgbClr val="B0481E"/>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8F3A17"/>
                </a:solidFill>
                <a:latin typeface="Calibri" pitchFamily="34" charset="0"/>
                <a:ea typeface="Calibri" pitchFamily="34" charset="-122"/>
                <a:cs typeface="Calibri" pitchFamily="34" charset="-120"/>
              </a:rPr>
              <a:t>Disposition strategy · AI-compute siting plan · transition approach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marL="0" indent="0" algn="ctr">
              <a:buNone/>
            </a:pPr>
            <a:r>
              <a:rPr lang="en-US" sz="2000" dirty="0">
                <a:solidFill>
                  <a:srgbClr val="6B5A52"/>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AF4F1"/>
          </a:solidFill>
          <a:ln w="9525">
            <a:solidFill>
              <a:srgbClr val="EAD9CF"/>
            </a:solidFill>
            <a:prstDash val="solid"/>
          </a:ln>
        </p:spPr>
        <p:txBody>
          <a:bodyPr/>
          <a:lstStyle/>
          <a:p>
            <a:endParaRPr lang="en-US"/>
          </a:p>
        </p:txBody>
      </p:sp>
      <p:sp>
        <p:nvSpPr>
          <p:cNvPr id="28" name="Shape 24"/>
          <p:cNvSpPr/>
          <p:nvPr/>
        </p:nvSpPr>
        <p:spPr>
          <a:xfrm>
            <a:off x="8183880" y="1783080"/>
            <a:ext cx="3602736" cy="868680"/>
          </a:xfrm>
          <a:prstGeom prst="roundRect">
            <a:avLst>
              <a:gd name="adj" fmla="val 7368"/>
            </a:avLst>
          </a:prstGeom>
          <a:solidFill>
            <a:srgbClr val="6E2C11"/>
          </a:solidFill>
          <a:ln/>
        </p:spPr>
        <p:txBody>
          <a:bodyPr/>
          <a:lstStyle/>
          <a:p>
            <a:endParaRPr lang="en-US"/>
          </a:p>
        </p:txBody>
      </p:sp>
      <p:sp>
        <p:nvSpPr>
          <p:cNvPr id="29" name="Shape 25"/>
          <p:cNvSpPr/>
          <p:nvPr/>
        </p:nvSpPr>
        <p:spPr>
          <a:xfrm>
            <a:off x="8183880" y="2194560"/>
            <a:ext cx="3602736" cy="457200"/>
          </a:xfrm>
          <a:prstGeom prst="rect">
            <a:avLst/>
          </a:prstGeom>
          <a:solidFill>
            <a:srgbClr val="6E2C11"/>
          </a:solidFill>
          <a:ln/>
        </p:spPr>
        <p:txBody>
          <a:bodyPr/>
          <a:lstStyle/>
          <a:p>
            <a:endParaRPr lang="en-US"/>
          </a:p>
        </p:txBody>
      </p:sp>
      <p:pic>
        <p:nvPicPr>
          <p:cNvPr id="30" name="Image 2" descr="/home/claude/p3_pe_outcreate.png"/>
          <p:cNvPicPr>
            <a:picLocks noChangeAspect="1"/>
          </p:cNvPicPr>
          <p:nvPr/>
        </p:nvPicPr>
        <p:blipFill>
          <a:blip r:embed="rId5"/>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marL="0" indent="0">
              <a:buNone/>
            </a:pPr>
            <a:r>
              <a:rPr lang="en-US" sz="1000" b="1" kern="0" spc="100" dirty="0">
                <a:solidFill>
                  <a:srgbClr val="F4D3BF"/>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Consolidate into an executive-ready capacity strategy</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Define governance to lock savings and prevent shadow-DC re-emergence</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Executive playback, decision sign-off, first-move mobilization</a:t>
            </a:r>
            <a:endParaRPr lang="en-US" sz="1000" dirty="0"/>
          </a:p>
        </p:txBody>
      </p:sp>
      <p:sp>
        <p:nvSpPr>
          <p:cNvPr id="34" name="Shape 29"/>
          <p:cNvSpPr/>
          <p:nvPr/>
        </p:nvSpPr>
        <p:spPr>
          <a:xfrm>
            <a:off x="8421624" y="4983480"/>
            <a:ext cx="3127248" cy="0"/>
          </a:xfrm>
          <a:prstGeom prst="line">
            <a:avLst/>
          </a:prstGeom>
          <a:noFill/>
          <a:ln w="12700">
            <a:solidFill>
              <a:srgbClr val="EAD9CF"/>
            </a:solidFill>
            <a:prstDash val="solid"/>
          </a:ln>
        </p:spPr>
        <p:txBody>
          <a:bodyPr/>
          <a:lstStyle/>
          <a:p>
            <a:endParaRPr lang="en-US"/>
          </a:p>
        </p:txBody>
      </p:sp>
      <p:sp>
        <p:nvSpPr>
          <p:cNvPr id="35" name="Text 30"/>
          <p:cNvSpPr txBox="1"/>
          <p:nvPr/>
        </p:nvSpPr>
        <p:spPr>
          <a:xfrm>
            <a:off x="8421624" y="5056632"/>
            <a:ext cx="3127248" cy="219456"/>
          </a:xfrm>
          <a:prstGeom prst="rect">
            <a:avLst/>
          </a:prstGeom>
          <a:noFill/>
          <a:ln/>
        </p:spPr>
        <p:txBody>
          <a:bodyPr wrap="square" lIns="0" tIns="0" rIns="0" bIns="0" rtlCol="0" anchor="ctr"/>
          <a:lstStyle/>
          <a:p>
            <a:pPr marL="0" indent="0">
              <a:buNone/>
            </a:pPr>
            <a:r>
              <a:rPr lang="en-US" sz="900" b="1" kern="0" spc="100" dirty="0">
                <a:solidFill>
                  <a:srgbClr val="B0481E"/>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8F3A17"/>
                </a:solidFill>
                <a:latin typeface="Calibri" pitchFamily="34" charset="0"/>
                <a:ea typeface="Calibri" pitchFamily="34" charset="-122"/>
                <a:cs typeface="Calibri" pitchFamily="34" charset="-120"/>
              </a:rPr>
              <a:t>Board-ready capacity strategy · governance model · mobilization plan · Executive Playback · Closure Pack</a:t>
            </a:r>
            <a:endParaRPr lang="en-US" sz="950" dirty="0"/>
          </a:p>
        </p:txBody>
      </p:sp>
      <p:sp>
        <p:nvSpPr>
          <p:cNvPr id="37" name="Text 32"/>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B0A39B"/>
                </a:solidFill>
                <a:latin typeface="Calibri" pitchFamily="34" charset="0"/>
                <a:ea typeface="Calibri" pitchFamily="34" charset="-122"/>
                <a:cs typeface="Calibri" pitchFamily="34" charset="-120"/>
              </a:rPr>
              <a:t>LTM  ·  Infra Tech Advisory  ·  Public Cloud &amp; Modernization</a:t>
            </a:r>
            <a:endParaRPr lang="en-US" sz="950" dirty="0"/>
          </a:p>
        </p:txBody>
      </p:sp>
      <p:sp>
        <p:nvSpPr>
          <p:cNvPr id="38" name="Text 33"/>
          <p:cNvSpPr txBox="1"/>
          <p:nvPr/>
        </p:nvSpPr>
        <p:spPr>
          <a:xfrm>
            <a:off x="8961120" y="6473952"/>
            <a:ext cx="2724912" cy="274320"/>
          </a:xfrm>
          <a:prstGeom prst="rect">
            <a:avLst/>
          </a:prstGeom>
          <a:noFill/>
          <a:ln/>
        </p:spPr>
        <p:txBody>
          <a:bodyPr wrap="square" lIns="0" tIns="0" rIns="0" bIns="0" rtlCol="0" anchor="ctr"/>
          <a:lstStyle/>
          <a:p>
            <a:pPr marL="0" indent="0" algn="r">
              <a:buNone/>
            </a:pPr>
            <a:r>
              <a:rPr lang="en-US" sz="950" dirty="0">
                <a:solidFill>
                  <a:srgbClr val="B0A39B"/>
                </a:solidFill>
                <a:latin typeface="Calibri" pitchFamily="34" charset="0"/>
                <a:ea typeface="Calibri" pitchFamily="34" charset="-122"/>
                <a:cs typeface="Calibri" pitchFamily="34" charset="-120"/>
              </a:rPr>
              <a:t>03.5  ·  Solution</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marL="0" indent="0">
              <a:buNone/>
            </a:pPr>
            <a:r>
              <a:rPr lang="en-US" sz="1100" b="1" kern="0" spc="200" dirty="0">
                <a:solidFill>
                  <a:srgbClr val="B0481E"/>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EEB08A"/>
                </a:solidFill>
                <a:latin typeface="Cambria" pitchFamily="34" charset="0"/>
                <a:ea typeface="Cambria" pitchFamily="34" charset="-122"/>
                <a:cs typeface="Cambria" pitchFamily="34" charset="-120"/>
              </a:rPr>
              <a:t>03.5   </a:t>
            </a:r>
            <a:r>
              <a:rPr lang="en-US" sz="2400" b="1" dirty="0">
                <a:solidFill>
                  <a:srgbClr val="1B1F23"/>
                </a:solidFill>
                <a:latin typeface="Cambria" pitchFamily="34" charset="0"/>
                <a:ea typeface="Cambria" pitchFamily="34" charset="-122"/>
                <a:cs typeface="Cambria" pitchFamily="34" charset="-120"/>
              </a:rPr>
              <a:t>Data Centre &amp; Compute Capacity Strategy</a:t>
            </a:r>
            <a:endParaRPr lang="en-US" sz="2400" dirty="0"/>
          </a:p>
        </p:txBody>
      </p:sp>
      <p:sp>
        <p:nvSpPr>
          <p:cNvPr id="4" name="Shape 2"/>
          <p:cNvSpPr/>
          <p:nvPr/>
        </p:nvSpPr>
        <p:spPr>
          <a:xfrm>
            <a:off x="502920" y="1600200"/>
            <a:ext cx="5394960" cy="4480560"/>
          </a:xfrm>
          <a:prstGeom prst="roundRect">
            <a:avLst>
              <a:gd name="adj" fmla="val 1429"/>
            </a:avLst>
          </a:prstGeom>
          <a:solidFill>
            <a:srgbClr val="B0481E"/>
          </a:solidFill>
          <a:ln/>
        </p:spPr>
        <p:txBody>
          <a:bodyPr/>
          <a:lstStyle/>
          <a:p>
            <a:endParaRPr lang="en-US"/>
          </a:p>
        </p:txBody>
      </p:sp>
      <p:pic>
        <p:nvPicPr>
          <p:cNvPr id="5" name="Image 0" descr="/home/claude/p3_pe_deliver.png"/>
          <p:cNvPicPr>
            <a:picLocks noChangeAspect="1"/>
          </p:cNvPicPr>
          <p:nvPr/>
        </p:nvPicPr>
        <p:blipFill>
          <a:blip r:embed="rId3"/>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marL="0" indent="0">
              <a:buNone/>
            </a:pPr>
            <a:r>
              <a:rPr lang="en-US" sz="1050" i="1" dirty="0">
                <a:solidFill>
                  <a:srgbClr val="F4D3BF"/>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EEB08A"/>
          </a:solidFill>
          <a:ln/>
        </p:spPr>
        <p:txBody>
          <a:bodyPr/>
          <a:lstStyle/>
          <a:p>
            <a:endParaRPr lang="en-US"/>
          </a:p>
        </p:txBody>
      </p:sp>
      <p:sp>
        <p:nvSpPr>
          <p:cNvPr id="9" name="Text 6"/>
          <p:cNvSpPr txBox="1"/>
          <p:nvPr/>
        </p:nvSpPr>
        <p:spPr>
          <a:xfrm>
            <a:off x="777240" y="2880360"/>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DC estate assessment and power-constraint model</a:t>
            </a:r>
            <a:endParaRPr lang="en-US" sz="1150" dirty="0"/>
          </a:p>
        </p:txBody>
      </p:sp>
      <p:sp>
        <p:nvSpPr>
          <p:cNvPr id="11" name="Shape 8"/>
          <p:cNvSpPr/>
          <p:nvPr/>
        </p:nvSpPr>
        <p:spPr>
          <a:xfrm>
            <a:off x="777240" y="3483864"/>
            <a:ext cx="310896" cy="310896"/>
          </a:xfrm>
          <a:prstGeom prst="roundRect">
            <a:avLst>
              <a:gd name="adj" fmla="val 14706"/>
            </a:avLst>
          </a:prstGeom>
          <a:solidFill>
            <a:srgbClr val="EEB08A"/>
          </a:solidFill>
          <a:ln/>
        </p:spPr>
        <p:txBody>
          <a:bodyPr/>
          <a:lstStyle/>
          <a:p>
            <a:endParaRPr lang="en-US"/>
          </a:p>
        </p:txBody>
      </p:sp>
      <p:sp>
        <p:nvSpPr>
          <p:cNvPr id="12" name="Text 9"/>
          <p:cNvSpPr txBox="1"/>
          <p:nvPr/>
        </p:nvSpPr>
        <p:spPr>
          <a:xfrm>
            <a:off x="777240" y="3483864"/>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AI / GPU capacity demand baseline</a:t>
            </a:r>
            <a:endParaRPr lang="en-US" sz="1150" dirty="0"/>
          </a:p>
        </p:txBody>
      </p:sp>
      <p:sp>
        <p:nvSpPr>
          <p:cNvPr id="14" name="Shape 11"/>
          <p:cNvSpPr/>
          <p:nvPr/>
        </p:nvSpPr>
        <p:spPr>
          <a:xfrm>
            <a:off x="777240" y="4087368"/>
            <a:ext cx="310896" cy="310896"/>
          </a:xfrm>
          <a:prstGeom prst="roundRect">
            <a:avLst>
              <a:gd name="adj" fmla="val 14706"/>
            </a:avLst>
          </a:prstGeom>
          <a:solidFill>
            <a:srgbClr val="EEB08A"/>
          </a:solidFill>
          <a:ln/>
        </p:spPr>
        <p:txBody>
          <a:bodyPr/>
          <a:lstStyle/>
          <a:p>
            <a:endParaRPr lang="en-US"/>
          </a:p>
        </p:txBody>
      </p:sp>
      <p:sp>
        <p:nvSpPr>
          <p:cNvPr id="15" name="Text 12"/>
          <p:cNvSpPr txBox="1"/>
          <p:nvPr/>
        </p:nvSpPr>
        <p:spPr>
          <a:xfrm>
            <a:off x="777240" y="4087368"/>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Per-facility disposition strategy</a:t>
            </a:r>
            <a:endParaRPr lang="en-US" sz="1150" dirty="0"/>
          </a:p>
        </p:txBody>
      </p:sp>
      <p:sp>
        <p:nvSpPr>
          <p:cNvPr id="17" name="Shape 14"/>
          <p:cNvSpPr/>
          <p:nvPr/>
        </p:nvSpPr>
        <p:spPr>
          <a:xfrm>
            <a:off x="777240" y="4690872"/>
            <a:ext cx="310896" cy="310896"/>
          </a:xfrm>
          <a:prstGeom prst="roundRect">
            <a:avLst>
              <a:gd name="adj" fmla="val 14706"/>
            </a:avLst>
          </a:prstGeom>
          <a:solidFill>
            <a:srgbClr val="EEB08A"/>
          </a:solidFill>
          <a:ln/>
        </p:spPr>
        <p:txBody>
          <a:bodyPr/>
          <a:lstStyle/>
          <a:p>
            <a:endParaRPr lang="en-US"/>
          </a:p>
        </p:txBody>
      </p:sp>
      <p:sp>
        <p:nvSpPr>
          <p:cNvPr id="18" name="Text 15"/>
          <p:cNvSpPr txBox="1"/>
          <p:nvPr/>
        </p:nvSpPr>
        <p:spPr>
          <a:xfrm>
            <a:off x="777240" y="4690872"/>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AI-compute siting plan</a:t>
            </a:r>
            <a:endParaRPr lang="en-US" sz="1150" dirty="0"/>
          </a:p>
        </p:txBody>
      </p:sp>
      <p:sp>
        <p:nvSpPr>
          <p:cNvPr id="20" name="Shape 17"/>
          <p:cNvSpPr/>
          <p:nvPr/>
        </p:nvSpPr>
        <p:spPr>
          <a:xfrm>
            <a:off x="777240" y="5294376"/>
            <a:ext cx="310896" cy="310896"/>
          </a:xfrm>
          <a:prstGeom prst="roundRect">
            <a:avLst>
              <a:gd name="adj" fmla="val 14706"/>
            </a:avLst>
          </a:prstGeom>
          <a:solidFill>
            <a:srgbClr val="EEB08A"/>
          </a:solidFill>
          <a:ln/>
        </p:spPr>
        <p:txBody>
          <a:bodyPr/>
          <a:lstStyle/>
          <a:p>
            <a:endParaRPr lang="en-US"/>
          </a:p>
        </p:txBody>
      </p:sp>
      <p:sp>
        <p:nvSpPr>
          <p:cNvPr id="21" name="Text 18"/>
          <p:cNvSpPr txBox="1"/>
          <p:nvPr/>
        </p:nvSpPr>
        <p:spPr>
          <a:xfrm>
            <a:off x="777240" y="5294376"/>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Board-ready capacity strategy and transition approach</a:t>
            </a:r>
            <a:endParaRPr lang="en-US" sz="1150" dirty="0"/>
          </a:p>
        </p:txBody>
      </p:sp>
      <p:sp>
        <p:nvSpPr>
          <p:cNvPr id="23" name="Shape 20"/>
          <p:cNvSpPr/>
          <p:nvPr/>
        </p:nvSpPr>
        <p:spPr>
          <a:xfrm>
            <a:off x="6263640" y="1600200"/>
            <a:ext cx="5394960" cy="2286000"/>
          </a:xfrm>
          <a:prstGeom prst="roundRect">
            <a:avLst>
              <a:gd name="adj" fmla="val 2800"/>
            </a:avLst>
          </a:prstGeom>
          <a:solidFill>
            <a:srgbClr val="EEF6F0"/>
          </a:solidFill>
          <a:ln w="9525">
            <a:solidFill>
              <a:srgbClr val="BFE3D2"/>
            </a:solidFill>
            <a:prstDash val="solid"/>
          </a:ln>
        </p:spPr>
        <p:txBody>
          <a:bodyPr/>
          <a:lstStyle/>
          <a:p>
            <a:endParaRPr lang="en-US"/>
          </a:p>
        </p:txBody>
      </p:sp>
      <p:pic>
        <p:nvPicPr>
          <p:cNvPr id="24" name="Image 1" descr="/home/claude/x_chk_in.png"/>
          <p:cNvPicPr>
            <a:picLocks noChangeAspect="1"/>
          </p:cNvPicPr>
          <p:nvPr/>
        </p:nvPicPr>
        <p:blipFill>
          <a:blip r:embed="rId4"/>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marL="0" indent="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DC estate assessment (assets, contracts, power, residual value)</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Per-facility disposition strategy</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AI / GPU capacity planning and siting</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Power and cooling constraint modeling</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Transition, exit and asset-disposition planning</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Sustaining governance to prevent shadow-DC</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1EE"/>
          </a:solidFill>
          <a:ln w="9525">
            <a:solidFill>
              <a:srgbClr val="ECCFC4"/>
            </a:solidFill>
            <a:prstDash val="solid"/>
          </a:ln>
        </p:spPr>
        <p:txBody>
          <a:bodyPr/>
          <a:lstStyle/>
          <a:p>
            <a:endParaRPr lang="en-US"/>
          </a:p>
        </p:txBody>
      </p:sp>
      <p:pic>
        <p:nvPicPr>
          <p:cNvPr id="28" name="Image 2" descr="/home/claude/x_chk_out.png"/>
          <p:cNvPicPr>
            <a:picLocks noChangeAspect="1"/>
          </p:cNvPicPr>
          <p:nvPr/>
        </p:nvPicPr>
        <p:blipFill>
          <a:blip r:embed="rId5"/>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marL="0" indent="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DC migration / decommissioning execution</a:t>
            </a:r>
            <a:r>
              <a:rPr lang="en-US" sz="900" i="1" dirty="0">
                <a:solidFill>
                  <a:srgbClr val="9A5541"/>
                </a:solidFill>
                <a:latin typeface="Calibri" pitchFamily="34" charset="0"/>
                <a:ea typeface="Calibri" pitchFamily="34" charset="-122"/>
                <a:cs typeface="Calibri" pitchFamily="34" charset="-120"/>
              </a:rPr>
              <a:t>   → Separate delivery</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AI infrastructure build and GPU operations</a:t>
            </a:r>
            <a:r>
              <a:rPr lang="en-US" sz="900" i="1" dirty="0">
                <a:solidFill>
                  <a:srgbClr val="9A5541"/>
                </a:solidFill>
                <a:latin typeface="Calibri" pitchFamily="34" charset="0"/>
                <a:ea typeface="Calibri" pitchFamily="34" charset="-122"/>
                <a:cs typeface="Calibri" pitchFamily="34" charset="-120"/>
              </a:rPr>
              <a:t>   → Pillar 04</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Sovereign facility relocation strategy</a:t>
            </a:r>
            <a:r>
              <a:rPr lang="en-US" sz="900" i="1" dirty="0">
                <a:solidFill>
                  <a:srgbClr val="9A5541"/>
                </a:solidFill>
                <a:latin typeface="Calibri" pitchFamily="34" charset="0"/>
                <a:ea typeface="Calibri" pitchFamily="34" charset="-122"/>
                <a:cs typeface="Calibri" pitchFamily="34" charset="-120"/>
              </a:rPr>
              <a:t>   → Pillar 02</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Application disposition</a:t>
            </a:r>
            <a:r>
              <a:rPr lang="en-US" sz="900" i="1" dirty="0">
                <a:solidFill>
                  <a:srgbClr val="9A5541"/>
                </a:solidFill>
                <a:latin typeface="Calibri" pitchFamily="34" charset="0"/>
                <a:ea typeface="Calibri" pitchFamily="34" charset="-122"/>
                <a:cs typeface="Calibri" pitchFamily="34" charset="-120"/>
              </a:rPr>
              <a:t>   → 03.4 App Mod</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Energy / carbon reporting</a:t>
            </a:r>
            <a:r>
              <a:rPr lang="en-US" sz="900" i="1" dirty="0">
                <a:solidFill>
                  <a:srgbClr val="9A5541"/>
                </a:solidFill>
                <a:latin typeface="Calibri" pitchFamily="34" charset="0"/>
                <a:ea typeface="Calibri" pitchFamily="34" charset="-122"/>
                <a:cs typeface="Calibri" pitchFamily="34" charset="-120"/>
              </a:rPr>
              <a:t>   → Pillar 01</a:t>
            </a:r>
            <a:endParaRPr lang="en-US" sz="970" dirty="0"/>
          </a:p>
        </p:txBody>
      </p:sp>
      <p:sp>
        <p:nvSpPr>
          <p:cNvPr id="35" name="Text 30"/>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B0A39B"/>
                </a:solidFill>
                <a:latin typeface="Calibri" pitchFamily="34" charset="0"/>
                <a:ea typeface="Calibri" pitchFamily="34" charset="-122"/>
                <a:cs typeface="Calibri" pitchFamily="34" charset="-120"/>
              </a:rPr>
              <a:t>LTM  ·  Infra Tech Advisory  ·  Public Cloud &amp; Modernization</a:t>
            </a:r>
            <a:endParaRPr lang="en-US" sz="950" dirty="0"/>
          </a:p>
        </p:txBody>
      </p:sp>
      <p:sp>
        <p:nvSpPr>
          <p:cNvPr id="36" name="Text 31"/>
          <p:cNvSpPr txBox="1"/>
          <p:nvPr/>
        </p:nvSpPr>
        <p:spPr>
          <a:xfrm>
            <a:off x="8961120" y="6473952"/>
            <a:ext cx="2724912" cy="274320"/>
          </a:xfrm>
          <a:prstGeom prst="rect">
            <a:avLst/>
          </a:prstGeom>
          <a:noFill/>
          <a:ln/>
        </p:spPr>
        <p:txBody>
          <a:bodyPr wrap="square" lIns="0" tIns="0" rIns="0" bIns="0" rtlCol="0" anchor="ctr"/>
          <a:lstStyle/>
          <a:p>
            <a:pPr marL="0" indent="0" algn="r">
              <a:buNone/>
            </a:pPr>
            <a:r>
              <a:rPr lang="en-US" sz="950" dirty="0">
                <a:solidFill>
                  <a:srgbClr val="B0A39B"/>
                </a:solidFill>
                <a:latin typeface="Calibri" pitchFamily="34" charset="0"/>
                <a:ea typeface="Calibri" pitchFamily="34" charset="-122"/>
                <a:cs typeface="Calibri" pitchFamily="34" charset="-120"/>
              </a:rPr>
              <a:t>03.5  ·  Deliverables &amp; scope</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marL="0" indent="0">
              <a:buNone/>
            </a:pPr>
            <a:r>
              <a:rPr lang="en-US" sz="1100" b="1" kern="0" spc="200" dirty="0">
                <a:solidFill>
                  <a:srgbClr val="B0481E"/>
                </a:solidFill>
                <a:latin typeface="Calibri" pitchFamily="34" charset="0"/>
                <a:ea typeface="Calibri" pitchFamily="34" charset="-122"/>
                <a:cs typeface="Calibri" pitchFamily="34" charset="-120"/>
              </a:rPr>
              <a:t>OFFERING  ·  OUT-PACE THE DELIVERY.   ·   SHARED · A + B</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EEB08A"/>
                </a:solidFill>
                <a:latin typeface="Cambria" pitchFamily="34" charset="0"/>
                <a:ea typeface="Cambria" pitchFamily="34" charset="-122"/>
                <a:cs typeface="Cambria" pitchFamily="34" charset="-120"/>
              </a:rPr>
              <a:t>03.6   </a:t>
            </a:r>
            <a:r>
              <a:rPr lang="en-US" sz="2400" b="1" dirty="0">
                <a:solidFill>
                  <a:srgbClr val="1B1F23"/>
                </a:solidFill>
                <a:latin typeface="Cambria" pitchFamily="34" charset="0"/>
                <a:ea typeface="Cambria" pitchFamily="34" charset="-122"/>
                <a:cs typeface="Cambria" pitchFamily="34" charset="-120"/>
              </a:rPr>
              <a:t>Platform Engineering &amp; Developer Experience</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marL="0" indent="0">
              <a:buNone/>
            </a:pPr>
            <a:r>
              <a:rPr lang="en-US" sz="900" b="1" kern="0" spc="100" dirty="0">
                <a:solidFill>
                  <a:srgbClr val="EEB08A"/>
                </a:solidFill>
                <a:latin typeface="Calibri" pitchFamily="34" charset="0"/>
                <a:ea typeface="Calibri" pitchFamily="34" charset="-122"/>
                <a:cs typeface="Calibri" pitchFamily="34" charset="-120"/>
              </a:rPr>
              <a:t>STARTS FROM  </a:t>
            </a:r>
            <a:r>
              <a:rPr lang="en-US" sz="1050" dirty="0">
                <a:solidFill>
                  <a:srgbClr val="5A4A42"/>
                </a:solidFill>
                <a:latin typeface="Calibri" pitchFamily="34" charset="0"/>
                <a:ea typeface="Calibri" pitchFamily="34" charset="-122"/>
                <a:cs typeface="Calibri" pitchFamily="34" charset="-120"/>
              </a:rPr>
              <a:t>Cloud IQ → FinOps IQ (or from 03.2 Multi-Cloud Management)      </a:t>
            </a:r>
            <a:r>
              <a:rPr lang="en-US" sz="900" b="1" kern="0" spc="100" dirty="0">
                <a:solidFill>
                  <a:srgbClr val="EEB08A"/>
                </a:solidFill>
                <a:latin typeface="Calibri" pitchFamily="34" charset="0"/>
                <a:ea typeface="Calibri" pitchFamily="34" charset="-122"/>
                <a:cs typeface="Calibri" pitchFamily="34" charset="-120"/>
              </a:rPr>
              <a:t>LEADS TO  </a:t>
            </a:r>
            <a:r>
              <a:rPr lang="en-US" sz="1050" dirty="0">
                <a:solidFill>
                  <a:srgbClr val="5A4A42"/>
                </a:solidFill>
                <a:latin typeface="Calibri" pitchFamily="34" charset="0"/>
                <a:ea typeface="Calibri" pitchFamily="34" charset="-122"/>
                <a:cs typeface="Calibri" pitchFamily="34" charset="-120"/>
              </a:rPr>
              <a:t>IDP build &amp; rollout · platform-engineering managed services</a:t>
            </a:r>
            <a:endParaRPr lang="en-US" sz="900" dirty="0"/>
          </a:p>
        </p:txBody>
      </p:sp>
      <p:sp>
        <p:nvSpPr>
          <p:cNvPr id="5" name="Shape 3"/>
          <p:cNvSpPr/>
          <p:nvPr/>
        </p:nvSpPr>
        <p:spPr>
          <a:xfrm>
            <a:off x="502920" y="1737360"/>
            <a:ext cx="5394960" cy="2395728"/>
          </a:xfrm>
          <a:prstGeom prst="roundRect">
            <a:avLst>
              <a:gd name="adj" fmla="val 2290"/>
            </a:avLst>
          </a:prstGeom>
          <a:solidFill>
            <a:srgbClr val="FAF4F1"/>
          </a:solidFill>
          <a:ln w="9525">
            <a:solidFill>
              <a:srgbClr val="EAD9CF"/>
            </a:solidFill>
            <a:prstDash val="solid"/>
          </a:ln>
        </p:spPr>
        <p:txBody>
          <a:bodyPr/>
          <a:lstStyle/>
          <a:p>
            <a:endParaRPr lang="en-US"/>
          </a:p>
        </p:txBody>
      </p:sp>
      <p:sp>
        <p:nvSpPr>
          <p:cNvPr id="6" name="Text 4"/>
          <p:cNvSpPr txBox="1"/>
          <p:nvPr/>
        </p:nvSpPr>
        <p:spPr>
          <a:xfrm>
            <a:off x="731520" y="1901952"/>
            <a:ext cx="4937760" cy="256032"/>
          </a:xfrm>
          <a:prstGeom prst="rect">
            <a:avLst/>
          </a:prstGeom>
          <a:noFill/>
          <a:ln/>
        </p:spPr>
        <p:txBody>
          <a:bodyPr wrap="square" lIns="0" tIns="0" rIns="0" bIns="0" rtlCol="0" anchor="ctr"/>
          <a:lstStyle/>
          <a:p>
            <a:pPr marL="0" indent="0">
              <a:buNone/>
            </a:pPr>
            <a:r>
              <a:rPr lang="en-US" sz="1100" b="1" kern="0" spc="150" dirty="0">
                <a:solidFill>
                  <a:srgbClr val="B0481E"/>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marL="0" indent="0">
              <a:lnSpc>
                <a:spcPct val="104000"/>
              </a:lnSpc>
              <a:buNone/>
            </a:pPr>
            <a:r>
              <a:rPr lang="en-US" sz="1150" dirty="0">
                <a:solidFill>
                  <a:srgbClr val="3A2E28"/>
                </a:solidFill>
                <a:latin typeface="Calibri" pitchFamily="34" charset="0"/>
                <a:ea typeface="Calibri" pitchFamily="34" charset="-122"/>
                <a:cs typeface="Calibri" pitchFamily="34" charset="-120"/>
              </a:rPr>
              <a:t>Designs the internal developer platform that lets the estate change at business pace. It diagnoses developer experience on evidence, designs the golden paths and self-service that reduce cognitive load, and establishes a platform-as-a-product operating model — with security, compliance and observability inherited by default rather than bolted on.</a:t>
            </a:r>
            <a:endParaRPr lang="en-US" sz="1150" dirty="0"/>
          </a:p>
        </p:txBody>
      </p:sp>
      <p:sp>
        <p:nvSpPr>
          <p:cNvPr id="8" name="Shape 6"/>
          <p:cNvSpPr/>
          <p:nvPr/>
        </p:nvSpPr>
        <p:spPr>
          <a:xfrm>
            <a:off x="502920" y="4279392"/>
            <a:ext cx="5394960" cy="1627632"/>
          </a:xfrm>
          <a:prstGeom prst="roundRect">
            <a:avLst>
              <a:gd name="adj" fmla="val 3371"/>
            </a:avLst>
          </a:prstGeom>
          <a:solidFill>
            <a:srgbClr val="B0481E"/>
          </a:solidFill>
          <a:ln w="9525">
            <a:solidFill>
              <a:srgbClr val="B0481E"/>
            </a:solidFill>
            <a:prstDash val="solid"/>
          </a:ln>
        </p:spPr>
        <p:txBody>
          <a:bodyPr/>
          <a:lstStyle/>
          <a:p>
            <a:endParaRPr lang="en-US"/>
          </a:p>
        </p:txBody>
      </p:sp>
      <p:sp>
        <p:nvSpPr>
          <p:cNvPr id="9" name="Text 7"/>
          <p:cNvSpPr txBox="1"/>
          <p:nvPr/>
        </p:nvSpPr>
        <p:spPr>
          <a:xfrm>
            <a:off x="731520" y="4425696"/>
            <a:ext cx="4937760" cy="256032"/>
          </a:xfrm>
          <a:prstGeom prst="rect">
            <a:avLst/>
          </a:prstGeom>
          <a:noFill/>
          <a:ln/>
        </p:spPr>
        <p:txBody>
          <a:bodyPr wrap="square" lIns="0" tIns="0" rIns="0" bIns="0" rtlCol="0" anchor="ctr"/>
          <a:lstStyle/>
          <a:p>
            <a:pPr marL="0" indent="0">
              <a:buNone/>
            </a:pPr>
            <a:r>
              <a:rPr lang="en-US" sz="1100" b="1" kern="0" spc="150" dirty="0">
                <a:solidFill>
                  <a:srgbClr val="F4D3BF"/>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marL="0" indent="0">
              <a:lnSpc>
                <a:spcPct val="103000"/>
              </a:lnSpc>
              <a:buNone/>
            </a:pPr>
            <a:r>
              <a:rPr lang="en-US" sz="1100" dirty="0">
                <a:solidFill>
                  <a:srgbClr val="FBEDE6"/>
                </a:solidFill>
                <a:latin typeface="Calibri" pitchFamily="34" charset="0"/>
                <a:ea typeface="Calibri" pitchFamily="34" charset="-122"/>
                <a:cs typeface="Calibri" pitchFamily="34" charset="-120"/>
              </a:rPr>
              <a:t>Gartner projects 80% of large software organizations will run platform teams by end-2026 (up from 45% in 2022), and internal developer platform usage is near-universal. But adoption failure is rampant — one $4.2M IDP saw 64% of engineers bypass it. Getting platform-as-a-product right is now the differentiator between speed and wasted spend.</a:t>
            </a:r>
            <a:endParaRPr lang="en-US" sz="110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marL="0" indent="0">
              <a:buNone/>
            </a:pPr>
            <a:r>
              <a:rPr lang="en-US" sz="850" i="1" dirty="0">
                <a:solidFill>
                  <a:srgbClr val="E0A583"/>
                </a:solidFill>
                <a:latin typeface="Calibri" pitchFamily="34" charset="0"/>
                <a:ea typeface="Calibri" pitchFamily="34" charset="-122"/>
                <a:cs typeface="Calibri" pitchFamily="34" charset="-120"/>
              </a:rPr>
              <a:t>Source: Gartner / Flexera / FinOps Foundation, 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EAD9CF"/>
            </a:solidFill>
            <a:prstDash val="solid"/>
          </a:ln>
        </p:spPr>
        <p:txBody>
          <a:bodyPr/>
          <a:lstStyle/>
          <a:p>
            <a:endParaRPr lang="en-US"/>
          </a:p>
        </p:txBody>
      </p:sp>
      <p:sp>
        <p:nvSpPr>
          <p:cNvPr id="13" name="Text 11"/>
          <p:cNvSpPr txBox="1"/>
          <p:nvPr/>
        </p:nvSpPr>
        <p:spPr>
          <a:xfrm>
            <a:off x="6492240" y="1901952"/>
            <a:ext cx="4937760" cy="256032"/>
          </a:xfrm>
          <a:prstGeom prst="rect">
            <a:avLst/>
          </a:prstGeom>
          <a:noFill/>
          <a:ln/>
        </p:spPr>
        <p:txBody>
          <a:bodyPr wrap="square" lIns="0" tIns="0" rIns="0" bIns="0" rtlCol="0" anchor="ctr"/>
          <a:lstStyle/>
          <a:p>
            <a:pPr marL="0" indent="0">
              <a:buNone/>
            </a:pPr>
            <a:r>
              <a:rPr lang="en-US" sz="1100" b="1" kern="0" spc="120" dirty="0">
                <a:solidFill>
                  <a:srgbClr val="B0481E"/>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157984"/>
            <a:ext cx="4937760" cy="457200"/>
          </a:xfrm>
          <a:prstGeom prst="rect">
            <a:avLst/>
          </a:prstGeom>
          <a:noFill/>
          <a:ln/>
        </p:spPr>
        <p:txBody>
          <a:bodyPr wrap="square" lIns="0" tIns="0" rIns="0" bIns="0" rtlCol="0" anchor="ctr"/>
          <a:lstStyle/>
          <a:p>
            <a:pPr marL="0" indent="0">
              <a:lnSpc>
                <a:spcPct val="95000"/>
              </a:lnSpc>
              <a:buNone/>
            </a:pPr>
            <a:r>
              <a:rPr lang="en-US" sz="1150" i="1" dirty="0">
                <a:solidFill>
                  <a:srgbClr val="8F3A17"/>
                </a:solidFill>
                <a:latin typeface="Cambria" pitchFamily="34" charset="0"/>
                <a:ea typeface="Cambria" pitchFamily="34" charset="-122"/>
                <a:cs typeface="Cambria" pitchFamily="34" charset="-120"/>
              </a:rPr>
              <a:t>Developer productivity is throttled by infrastructure complexity — and most platform efforts fail silently on adoption.</a:t>
            </a:r>
            <a:endParaRPr lang="en-US" sz="1150" dirty="0"/>
          </a:p>
        </p:txBody>
      </p:sp>
      <p:sp>
        <p:nvSpPr>
          <p:cNvPr id="15" name="Text 13"/>
          <p:cNvSpPr txBox="1"/>
          <p:nvPr/>
        </p:nvSpPr>
        <p:spPr>
          <a:xfrm>
            <a:off x="6492240" y="2697480"/>
            <a:ext cx="4937760" cy="1325880"/>
          </a:xfrm>
          <a:prstGeom prst="rect">
            <a:avLst/>
          </a:prstGeom>
          <a:noFill/>
          <a:ln/>
        </p:spPr>
        <p:txBody>
          <a:bodyPr wrap="square" lIns="0" tIns="0" rIns="0" bIns="0" rtlCol="0" anchor="ctr"/>
          <a:lstStyle/>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Developers spend more time fighting infrastructure than shipping — Kubernetes, CI/CD, IaC, observability, all self-assembled.</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Platform efforts are infrastructure-led, not product-led — bypass rates as high as 64% where developers route around the platform.</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No golden paths or paved roads — every team reinvents the same setup, multiplying toil.</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Security and compliance are bolted on per stream, not inherited from the platform.</a:t>
            </a:r>
            <a:endParaRPr lang="en-US" sz="1000" dirty="0"/>
          </a:p>
          <a:p>
            <a:pPr marL="152400" indent="-152400">
              <a:lnSpc>
                <a:spcPct val="95000"/>
              </a:lnSpc>
              <a:spcAft>
                <a:spcPts val="400"/>
              </a:spcAft>
              <a:buSzPct val="100000"/>
              <a:buChar char="•"/>
            </a:pPr>
            <a:r>
              <a:rPr lang="en-US" sz="1000" dirty="0">
                <a:solidFill>
                  <a:srgbClr val="3A2E28"/>
                </a:solidFill>
                <a:latin typeface="Calibri" pitchFamily="34" charset="0"/>
                <a:ea typeface="Calibri" pitchFamily="34" charset="-122"/>
                <a:cs typeface="Calibri" pitchFamily="34" charset="-120"/>
              </a:rPr>
              <a:t>Success isn’t measured — ~30% of platform teams track no metrics, so ROI can’t be shown.</a:t>
            </a:r>
            <a:endParaRPr lang="en-US" sz="1000" dirty="0"/>
          </a:p>
        </p:txBody>
      </p:sp>
      <p:sp>
        <p:nvSpPr>
          <p:cNvPr id="16" name="Shape 14"/>
          <p:cNvSpPr/>
          <p:nvPr/>
        </p:nvSpPr>
        <p:spPr>
          <a:xfrm>
            <a:off x="6263640" y="4279392"/>
            <a:ext cx="5394960" cy="1627632"/>
          </a:xfrm>
          <a:prstGeom prst="roundRect">
            <a:avLst>
              <a:gd name="adj" fmla="val 3371"/>
            </a:avLst>
          </a:prstGeom>
          <a:solidFill>
            <a:srgbClr val="FAF4F1"/>
          </a:solidFill>
          <a:ln w="9525">
            <a:solidFill>
              <a:srgbClr val="EAD9CF"/>
            </a:solidFill>
            <a:prstDash val="solid"/>
          </a:ln>
        </p:spPr>
        <p:txBody>
          <a:bodyPr/>
          <a:lstStyle/>
          <a:p>
            <a:endParaRPr lang="en-US"/>
          </a:p>
        </p:txBody>
      </p:sp>
      <p:sp>
        <p:nvSpPr>
          <p:cNvPr id="17" name="Text 15"/>
          <p:cNvSpPr txBox="1"/>
          <p:nvPr/>
        </p:nvSpPr>
        <p:spPr>
          <a:xfrm>
            <a:off x="6492240" y="4407408"/>
            <a:ext cx="4937760" cy="256032"/>
          </a:xfrm>
          <a:prstGeom prst="rect">
            <a:avLst/>
          </a:prstGeom>
          <a:noFill/>
          <a:ln/>
        </p:spPr>
        <p:txBody>
          <a:bodyPr wrap="square" lIns="0" tIns="0" rIns="0" bIns="0" rtlCol="0" anchor="ctr"/>
          <a:lstStyle/>
          <a:p>
            <a:pPr marL="0" indent="0">
              <a:buNone/>
            </a:pPr>
            <a:r>
              <a:rPr lang="en-US" sz="1100" b="1" kern="0" spc="120" dirty="0">
                <a:solidFill>
                  <a:srgbClr val="B0481E"/>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81728"/>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Faster delivery, measured  </a:t>
            </a:r>
            <a:r>
              <a:rPr lang="en-US" sz="900" dirty="0">
                <a:solidFill>
                  <a:srgbClr val="5A4A42"/>
                </a:solidFill>
                <a:latin typeface="Calibri" pitchFamily="34" charset="0"/>
                <a:ea typeface="Calibri" pitchFamily="34" charset="-122"/>
                <a:cs typeface="Calibri" pitchFamily="34" charset="-120"/>
              </a:rPr>
              <a:t>— Golden paths and self-service that cut lead time and time-to-first-deploy.</a:t>
            </a:r>
            <a:endParaRPr lang="en-US" sz="950" dirty="0"/>
          </a:p>
        </p:txBody>
      </p:sp>
      <p:sp>
        <p:nvSpPr>
          <p:cNvPr id="19" name="Text 17"/>
          <p:cNvSpPr txBox="1"/>
          <p:nvPr/>
        </p:nvSpPr>
        <p:spPr>
          <a:xfrm>
            <a:off x="6492240" y="491581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Adoption that sticks  </a:t>
            </a:r>
            <a:r>
              <a:rPr lang="en-US" sz="900" dirty="0">
                <a:solidFill>
                  <a:srgbClr val="5A4A42"/>
                </a:solidFill>
                <a:latin typeface="Calibri" pitchFamily="34" charset="0"/>
                <a:ea typeface="Calibri" pitchFamily="34" charset="-122"/>
                <a:cs typeface="Calibri" pitchFamily="34" charset="-120"/>
              </a:rPr>
              <a:t>— A product-led platform developers choose, not one they route around.</a:t>
            </a:r>
            <a:endParaRPr lang="en-US" sz="950" dirty="0"/>
          </a:p>
        </p:txBody>
      </p:sp>
      <p:sp>
        <p:nvSpPr>
          <p:cNvPr id="20" name="Text 18"/>
          <p:cNvSpPr txBox="1"/>
          <p:nvPr/>
        </p:nvSpPr>
        <p:spPr>
          <a:xfrm>
            <a:off x="6492240" y="5149901"/>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Cognitive load reduced  </a:t>
            </a:r>
            <a:r>
              <a:rPr lang="en-US" sz="900" dirty="0">
                <a:solidFill>
                  <a:srgbClr val="5A4A42"/>
                </a:solidFill>
                <a:latin typeface="Calibri" pitchFamily="34" charset="0"/>
                <a:ea typeface="Calibri" pitchFamily="34" charset="-122"/>
                <a:cs typeface="Calibri" pitchFamily="34" charset="-120"/>
              </a:rPr>
              <a:t>— Developers ship features, not infrastructure.</a:t>
            </a:r>
            <a:endParaRPr lang="en-US" sz="950" dirty="0"/>
          </a:p>
        </p:txBody>
      </p:sp>
      <p:sp>
        <p:nvSpPr>
          <p:cNvPr id="21" name="Text 19"/>
          <p:cNvSpPr txBox="1"/>
          <p:nvPr/>
        </p:nvSpPr>
        <p:spPr>
          <a:xfrm>
            <a:off x="6492240" y="5383987"/>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Security &amp; compliance by default  </a:t>
            </a:r>
            <a:r>
              <a:rPr lang="en-US" sz="900" dirty="0">
                <a:solidFill>
                  <a:srgbClr val="5A4A42"/>
                </a:solidFill>
                <a:latin typeface="Calibri" pitchFamily="34" charset="0"/>
                <a:ea typeface="Calibri" pitchFamily="34" charset="-122"/>
                <a:cs typeface="Calibri" pitchFamily="34" charset="-120"/>
              </a:rPr>
              <a:t>— Inherited from the platform, not bolted onto every stream.</a:t>
            </a:r>
            <a:endParaRPr lang="en-US" sz="950" dirty="0"/>
          </a:p>
        </p:txBody>
      </p:sp>
      <p:sp>
        <p:nvSpPr>
          <p:cNvPr id="22" name="Text 20"/>
          <p:cNvSpPr txBox="1"/>
          <p:nvPr/>
        </p:nvSpPr>
        <p:spPr>
          <a:xfrm>
            <a:off x="6492240" y="561807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B0481E"/>
                </a:solidFill>
                <a:latin typeface="Calibri" pitchFamily="34" charset="0"/>
                <a:ea typeface="Calibri" pitchFamily="34" charset="-122"/>
                <a:cs typeface="Calibri" pitchFamily="34" charset="-120"/>
              </a:rPr>
              <a:t>ROI you can show  </a:t>
            </a:r>
            <a:r>
              <a:rPr lang="en-US" sz="900" dirty="0">
                <a:solidFill>
                  <a:srgbClr val="5A4A42"/>
                </a:solidFill>
                <a:latin typeface="Calibri" pitchFamily="34" charset="0"/>
                <a:ea typeface="Calibri" pitchFamily="34" charset="-122"/>
                <a:cs typeface="Calibri" pitchFamily="34" charset="-120"/>
              </a:rPr>
              <a:t>— Flow metrics and adoption tracked, so the investment is defensible.</a:t>
            </a:r>
            <a:endParaRPr lang="en-US" sz="950" dirty="0"/>
          </a:p>
        </p:txBody>
      </p:sp>
      <p:sp>
        <p:nvSpPr>
          <p:cNvPr id="23" name="Text 21"/>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B0A39B"/>
                </a:solidFill>
                <a:latin typeface="Calibri" pitchFamily="34" charset="0"/>
                <a:ea typeface="Calibri" pitchFamily="34" charset="-122"/>
                <a:cs typeface="Calibri" pitchFamily="34" charset="-120"/>
              </a:rPr>
              <a:t>LTM  ·  Infra Tech Advisory  ·  Public Cloud &amp; Modernization</a:t>
            </a:r>
            <a:endParaRPr lang="en-US" sz="950" dirty="0"/>
          </a:p>
        </p:txBody>
      </p:sp>
      <p:sp>
        <p:nvSpPr>
          <p:cNvPr id="24" name="Text 22"/>
          <p:cNvSpPr txBox="1"/>
          <p:nvPr/>
        </p:nvSpPr>
        <p:spPr>
          <a:xfrm>
            <a:off x="8961120" y="6473952"/>
            <a:ext cx="2724912" cy="274320"/>
          </a:xfrm>
          <a:prstGeom prst="rect">
            <a:avLst/>
          </a:prstGeom>
          <a:noFill/>
          <a:ln/>
        </p:spPr>
        <p:txBody>
          <a:bodyPr wrap="square" lIns="0" tIns="0" rIns="0" bIns="0" rtlCol="0" anchor="ctr"/>
          <a:lstStyle/>
          <a:p>
            <a:pPr marL="0" indent="0" algn="r">
              <a:buNone/>
            </a:pPr>
            <a:r>
              <a:rPr lang="en-US" sz="950" dirty="0">
                <a:solidFill>
                  <a:srgbClr val="B0A39B"/>
                </a:solidFill>
                <a:latin typeface="Calibri" pitchFamily="34" charset="0"/>
                <a:ea typeface="Calibri" pitchFamily="34" charset="-122"/>
                <a:cs typeface="Calibri" pitchFamily="34" charset="-120"/>
              </a:rPr>
              <a:t>03.6  ·  Overview</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marL="0" indent="0">
              <a:buNone/>
            </a:pPr>
            <a:r>
              <a:rPr lang="en-US" sz="1100" b="1" kern="0" spc="200" dirty="0">
                <a:solidFill>
                  <a:srgbClr val="B0481E"/>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EEB08A"/>
                </a:solidFill>
                <a:latin typeface="Cambria" pitchFamily="34" charset="0"/>
                <a:ea typeface="Cambria" pitchFamily="34" charset="-122"/>
                <a:cs typeface="Cambria" pitchFamily="34" charset="-120"/>
              </a:rPr>
              <a:t>03.6   </a:t>
            </a:r>
            <a:r>
              <a:rPr lang="en-US" sz="2400" b="1" dirty="0">
                <a:solidFill>
                  <a:srgbClr val="1B1F23"/>
                </a:solidFill>
                <a:latin typeface="Cambria" pitchFamily="34" charset="0"/>
                <a:ea typeface="Cambria" pitchFamily="34" charset="-122"/>
                <a:cs typeface="Cambria" pitchFamily="34" charset="-120"/>
              </a:rPr>
              <a:t>Platform Engineering &amp; Developer Experience</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marL="0" indent="0">
              <a:buNone/>
            </a:pPr>
            <a:r>
              <a:rPr lang="en-US" sz="1200" i="1" dirty="0">
                <a:solidFill>
                  <a:srgbClr val="6B5A52"/>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AF4F1"/>
          </a:solidFill>
          <a:ln w="9525">
            <a:solidFill>
              <a:srgbClr val="EAD9CF"/>
            </a:solidFill>
            <a:prstDash val="solid"/>
          </a:ln>
        </p:spPr>
        <p:txBody>
          <a:bodyPr/>
          <a:lstStyle/>
          <a:p>
            <a:endParaRPr lang="en-US"/>
          </a:p>
        </p:txBody>
      </p:sp>
      <p:sp>
        <p:nvSpPr>
          <p:cNvPr id="6" name="Shape 4"/>
          <p:cNvSpPr/>
          <p:nvPr/>
        </p:nvSpPr>
        <p:spPr>
          <a:xfrm>
            <a:off x="502920" y="1783080"/>
            <a:ext cx="3602736" cy="868680"/>
          </a:xfrm>
          <a:prstGeom prst="roundRect">
            <a:avLst>
              <a:gd name="adj" fmla="val 7368"/>
            </a:avLst>
          </a:prstGeom>
          <a:solidFill>
            <a:srgbClr val="B0481E"/>
          </a:solidFill>
          <a:ln/>
        </p:spPr>
        <p:txBody>
          <a:bodyPr/>
          <a:lstStyle/>
          <a:p>
            <a:endParaRPr lang="en-US"/>
          </a:p>
        </p:txBody>
      </p:sp>
      <p:sp>
        <p:nvSpPr>
          <p:cNvPr id="7" name="Shape 5"/>
          <p:cNvSpPr/>
          <p:nvPr/>
        </p:nvSpPr>
        <p:spPr>
          <a:xfrm>
            <a:off x="502920" y="2194560"/>
            <a:ext cx="3602736" cy="457200"/>
          </a:xfrm>
          <a:prstGeom prst="rect">
            <a:avLst/>
          </a:prstGeom>
          <a:solidFill>
            <a:srgbClr val="B0481E"/>
          </a:solidFill>
          <a:ln/>
        </p:spPr>
        <p:txBody>
          <a:bodyPr/>
          <a:lstStyle/>
          <a:p>
            <a:endParaRPr lang="en-US"/>
          </a:p>
        </p:txBody>
      </p:sp>
      <p:pic>
        <p:nvPicPr>
          <p:cNvPr id="8" name="Image 0" descr="/home/claude/p3_pe_understand.png"/>
          <p:cNvPicPr>
            <a:picLocks noChangeAspect="1"/>
          </p:cNvPicPr>
          <p:nvPr/>
        </p:nvPicPr>
        <p:blipFill>
          <a:blip r:embed="rId3"/>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marL="0" indent="0">
              <a:buNone/>
            </a:pPr>
            <a:r>
              <a:rPr lang="en-US" sz="1000" b="1" kern="0" spc="100" dirty="0">
                <a:solidFill>
                  <a:srgbClr val="F4D3BF"/>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Diagnose developer experience — flow metrics, toil sources, cognitive load, lead-time drivers</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Assess current tooling, golden-path maturity and bypass behavior</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Capture the platform’s target internal customers and their needs</a:t>
            </a:r>
            <a:endParaRPr lang="en-US" sz="1000" dirty="0"/>
          </a:p>
        </p:txBody>
      </p:sp>
      <p:sp>
        <p:nvSpPr>
          <p:cNvPr id="12" name="Shape 9"/>
          <p:cNvSpPr/>
          <p:nvPr/>
        </p:nvSpPr>
        <p:spPr>
          <a:xfrm>
            <a:off x="740664" y="4983480"/>
            <a:ext cx="3127248" cy="0"/>
          </a:xfrm>
          <a:prstGeom prst="line">
            <a:avLst/>
          </a:prstGeom>
          <a:noFill/>
          <a:ln w="12700">
            <a:solidFill>
              <a:srgbClr val="EAD9CF"/>
            </a:solidFill>
            <a:prstDash val="solid"/>
          </a:ln>
        </p:spPr>
        <p:txBody>
          <a:bodyPr/>
          <a:lstStyle/>
          <a:p>
            <a:endParaRPr lang="en-US"/>
          </a:p>
        </p:txBody>
      </p:sp>
      <p:sp>
        <p:nvSpPr>
          <p:cNvPr id="13" name="Text 10"/>
          <p:cNvSpPr txBox="1"/>
          <p:nvPr/>
        </p:nvSpPr>
        <p:spPr>
          <a:xfrm>
            <a:off x="740664" y="5056632"/>
            <a:ext cx="3127248" cy="219456"/>
          </a:xfrm>
          <a:prstGeom prst="rect">
            <a:avLst/>
          </a:prstGeom>
          <a:noFill/>
          <a:ln/>
        </p:spPr>
        <p:txBody>
          <a:bodyPr wrap="square" lIns="0" tIns="0" rIns="0" bIns="0" rtlCol="0" anchor="ctr"/>
          <a:lstStyle/>
          <a:p>
            <a:pPr marL="0" indent="0">
              <a:buNone/>
            </a:pPr>
            <a:r>
              <a:rPr lang="en-US" sz="900" b="1" kern="0" spc="100" dirty="0">
                <a:solidFill>
                  <a:srgbClr val="B0481E"/>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8F3A17"/>
                </a:solidFill>
                <a:latin typeface="Calibri" pitchFamily="34" charset="0"/>
                <a:ea typeface="Calibri" pitchFamily="34" charset="-122"/>
                <a:cs typeface="Calibri" pitchFamily="34" charset="-120"/>
              </a:rPr>
              <a:t>DevEx diagnostic · toil &amp; bypass assessment · needs map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marL="0" indent="0" algn="ctr">
              <a:buNone/>
            </a:pPr>
            <a:r>
              <a:rPr lang="en-US" sz="2000" dirty="0">
                <a:solidFill>
                  <a:srgbClr val="6B5A52"/>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AF4F1"/>
          </a:solidFill>
          <a:ln w="9525">
            <a:solidFill>
              <a:srgbClr val="EAD9CF"/>
            </a:solidFill>
            <a:prstDash val="solid"/>
          </a:ln>
        </p:spPr>
        <p:txBody>
          <a:bodyPr/>
          <a:lstStyle/>
          <a:p>
            <a:endParaRPr lang="en-US"/>
          </a:p>
        </p:txBody>
      </p:sp>
      <p:sp>
        <p:nvSpPr>
          <p:cNvPr id="17" name="Shape 14"/>
          <p:cNvSpPr/>
          <p:nvPr/>
        </p:nvSpPr>
        <p:spPr>
          <a:xfrm>
            <a:off x="4343400" y="1783080"/>
            <a:ext cx="3602736" cy="868680"/>
          </a:xfrm>
          <a:prstGeom prst="roundRect">
            <a:avLst>
              <a:gd name="adj" fmla="val 7368"/>
            </a:avLst>
          </a:prstGeom>
          <a:solidFill>
            <a:srgbClr val="8F3A17"/>
          </a:solidFill>
          <a:ln/>
        </p:spPr>
        <p:txBody>
          <a:bodyPr/>
          <a:lstStyle/>
          <a:p>
            <a:endParaRPr lang="en-US"/>
          </a:p>
        </p:txBody>
      </p:sp>
      <p:sp>
        <p:nvSpPr>
          <p:cNvPr id="18" name="Shape 15"/>
          <p:cNvSpPr/>
          <p:nvPr/>
        </p:nvSpPr>
        <p:spPr>
          <a:xfrm>
            <a:off x="4343400" y="2194560"/>
            <a:ext cx="3602736" cy="457200"/>
          </a:xfrm>
          <a:prstGeom prst="rect">
            <a:avLst/>
          </a:prstGeom>
          <a:solidFill>
            <a:srgbClr val="8F3A17"/>
          </a:solidFill>
          <a:ln/>
        </p:spPr>
        <p:txBody>
          <a:bodyPr/>
          <a:lstStyle/>
          <a:p>
            <a:endParaRPr lang="en-US"/>
          </a:p>
        </p:txBody>
      </p:sp>
      <p:pic>
        <p:nvPicPr>
          <p:cNvPr id="19" name="Image 1" descr="/home/claude/p3_pe_ideate.png"/>
          <p:cNvPicPr>
            <a:picLocks noChangeAspect="1"/>
          </p:cNvPicPr>
          <p:nvPr/>
        </p:nvPicPr>
        <p:blipFill>
          <a:blip r:embed="rId4"/>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marL="0" indent="0">
              <a:buNone/>
            </a:pPr>
            <a:r>
              <a:rPr lang="en-US" sz="1000" b="1" kern="0" spc="100" dirty="0">
                <a:solidFill>
                  <a:srgbClr val="F4D3BF"/>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Design the internal developer platform — golden paths, self-service, paved roads</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Define the platform-as-a-product operating model (ownership, SLOs, roadmap)</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Embed security, compliance and observability as platform defaults</a:t>
            </a:r>
            <a:endParaRPr lang="en-US" sz="1000" dirty="0"/>
          </a:p>
        </p:txBody>
      </p:sp>
      <p:sp>
        <p:nvSpPr>
          <p:cNvPr id="23" name="Shape 19"/>
          <p:cNvSpPr/>
          <p:nvPr/>
        </p:nvSpPr>
        <p:spPr>
          <a:xfrm>
            <a:off x="4581144" y="4983480"/>
            <a:ext cx="3127248" cy="0"/>
          </a:xfrm>
          <a:prstGeom prst="line">
            <a:avLst/>
          </a:prstGeom>
          <a:noFill/>
          <a:ln w="12700">
            <a:solidFill>
              <a:srgbClr val="EAD9CF"/>
            </a:solidFill>
            <a:prstDash val="solid"/>
          </a:ln>
        </p:spPr>
        <p:txBody>
          <a:bodyPr/>
          <a:lstStyle/>
          <a:p>
            <a:endParaRPr lang="en-US"/>
          </a:p>
        </p:txBody>
      </p:sp>
      <p:sp>
        <p:nvSpPr>
          <p:cNvPr id="24" name="Text 20"/>
          <p:cNvSpPr txBox="1"/>
          <p:nvPr/>
        </p:nvSpPr>
        <p:spPr>
          <a:xfrm>
            <a:off x="4581144" y="5056632"/>
            <a:ext cx="3127248" cy="219456"/>
          </a:xfrm>
          <a:prstGeom prst="rect">
            <a:avLst/>
          </a:prstGeom>
          <a:noFill/>
          <a:ln/>
        </p:spPr>
        <p:txBody>
          <a:bodyPr wrap="square" lIns="0" tIns="0" rIns="0" bIns="0" rtlCol="0" anchor="ctr"/>
          <a:lstStyle/>
          <a:p>
            <a:pPr marL="0" indent="0">
              <a:buNone/>
            </a:pPr>
            <a:r>
              <a:rPr lang="en-US" sz="900" b="1" kern="0" spc="100" dirty="0">
                <a:solidFill>
                  <a:srgbClr val="B0481E"/>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8F3A17"/>
                </a:solidFill>
                <a:latin typeface="Calibri" pitchFamily="34" charset="0"/>
                <a:ea typeface="Calibri" pitchFamily="34" charset="-122"/>
                <a:cs typeface="Calibri" pitchFamily="34" charset="-120"/>
              </a:rPr>
              <a:t>IDP design · platform-as-a-product operating model · embedded-controls design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marL="0" indent="0" algn="ctr">
              <a:buNone/>
            </a:pPr>
            <a:r>
              <a:rPr lang="en-US" sz="2000" dirty="0">
                <a:solidFill>
                  <a:srgbClr val="6B5A52"/>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AF4F1"/>
          </a:solidFill>
          <a:ln w="9525">
            <a:solidFill>
              <a:srgbClr val="EAD9CF"/>
            </a:solidFill>
            <a:prstDash val="solid"/>
          </a:ln>
        </p:spPr>
        <p:txBody>
          <a:bodyPr/>
          <a:lstStyle/>
          <a:p>
            <a:endParaRPr lang="en-US"/>
          </a:p>
        </p:txBody>
      </p:sp>
      <p:sp>
        <p:nvSpPr>
          <p:cNvPr id="28" name="Shape 24"/>
          <p:cNvSpPr/>
          <p:nvPr/>
        </p:nvSpPr>
        <p:spPr>
          <a:xfrm>
            <a:off x="8183880" y="1783080"/>
            <a:ext cx="3602736" cy="868680"/>
          </a:xfrm>
          <a:prstGeom prst="roundRect">
            <a:avLst>
              <a:gd name="adj" fmla="val 7368"/>
            </a:avLst>
          </a:prstGeom>
          <a:solidFill>
            <a:srgbClr val="6E2C11"/>
          </a:solidFill>
          <a:ln/>
        </p:spPr>
        <p:txBody>
          <a:bodyPr/>
          <a:lstStyle/>
          <a:p>
            <a:endParaRPr lang="en-US"/>
          </a:p>
        </p:txBody>
      </p:sp>
      <p:sp>
        <p:nvSpPr>
          <p:cNvPr id="29" name="Shape 25"/>
          <p:cNvSpPr/>
          <p:nvPr/>
        </p:nvSpPr>
        <p:spPr>
          <a:xfrm>
            <a:off x="8183880" y="2194560"/>
            <a:ext cx="3602736" cy="457200"/>
          </a:xfrm>
          <a:prstGeom prst="rect">
            <a:avLst/>
          </a:prstGeom>
          <a:solidFill>
            <a:srgbClr val="6E2C11"/>
          </a:solidFill>
          <a:ln/>
        </p:spPr>
        <p:txBody>
          <a:bodyPr/>
          <a:lstStyle/>
          <a:p>
            <a:endParaRPr lang="en-US"/>
          </a:p>
        </p:txBody>
      </p:sp>
      <p:pic>
        <p:nvPicPr>
          <p:cNvPr id="30" name="Image 2" descr="/home/claude/p3_pe_outcreate.png"/>
          <p:cNvPicPr>
            <a:picLocks noChangeAspect="1"/>
          </p:cNvPicPr>
          <p:nvPr/>
        </p:nvPicPr>
        <p:blipFill>
          <a:blip r:embed="rId5"/>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marL="0" indent="0">
              <a:buNone/>
            </a:pPr>
            <a:r>
              <a:rPr lang="en-US" sz="1000" b="1" kern="0" spc="100" dirty="0">
                <a:solidFill>
                  <a:srgbClr val="F4D3BF"/>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Consolidate into an executive-ready platform roadmap with adoption metrics</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Define rollout, enablement and the funding model</a:t>
            </a:r>
            <a:endParaRPr lang="en-US" sz="1000" dirty="0"/>
          </a:p>
          <a:p>
            <a:pPr marL="152400" indent="-152400">
              <a:lnSpc>
                <a:spcPct val="98000"/>
              </a:lnSpc>
              <a:spcAft>
                <a:spcPts val="700"/>
              </a:spcAft>
              <a:buSzPct val="100000"/>
              <a:buChar char="•"/>
            </a:pPr>
            <a:r>
              <a:rPr lang="en-US" sz="1000" dirty="0">
                <a:solidFill>
                  <a:srgbClr val="3A2E28"/>
                </a:solidFill>
                <a:latin typeface="Calibri" pitchFamily="34" charset="0"/>
                <a:ea typeface="Calibri" pitchFamily="34" charset="-122"/>
                <a:cs typeface="Calibri" pitchFamily="34" charset="-120"/>
              </a:rPr>
              <a:t>Executive playback, decision sign-off, first-capability mobilization</a:t>
            </a:r>
            <a:endParaRPr lang="en-US" sz="1000" dirty="0"/>
          </a:p>
        </p:txBody>
      </p:sp>
      <p:sp>
        <p:nvSpPr>
          <p:cNvPr id="34" name="Shape 29"/>
          <p:cNvSpPr/>
          <p:nvPr/>
        </p:nvSpPr>
        <p:spPr>
          <a:xfrm>
            <a:off x="8421624" y="4983480"/>
            <a:ext cx="3127248" cy="0"/>
          </a:xfrm>
          <a:prstGeom prst="line">
            <a:avLst/>
          </a:prstGeom>
          <a:noFill/>
          <a:ln w="12700">
            <a:solidFill>
              <a:srgbClr val="EAD9CF"/>
            </a:solidFill>
            <a:prstDash val="solid"/>
          </a:ln>
        </p:spPr>
        <p:txBody>
          <a:bodyPr/>
          <a:lstStyle/>
          <a:p>
            <a:endParaRPr lang="en-US"/>
          </a:p>
        </p:txBody>
      </p:sp>
      <p:sp>
        <p:nvSpPr>
          <p:cNvPr id="35" name="Text 30"/>
          <p:cNvSpPr txBox="1"/>
          <p:nvPr/>
        </p:nvSpPr>
        <p:spPr>
          <a:xfrm>
            <a:off x="8421624" y="5056632"/>
            <a:ext cx="3127248" cy="219456"/>
          </a:xfrm>
          <a:prstGeom prst="rect">
            <a:avLst/>
          </a:prstGeom>
          <a:noFill/>
          <a:ln/>
        </p:spPr>
        <p:txBody>
          <a:bodyPr wrap="square" lIns="0" tIns="0" rIns="0" bIns="0" rtlCol="0" anchor="ctr"/>
          <a:lstStyle/>
          <a:p>
            <a:pPr marL="0" indent="0">
              <a:buNone/>
            </a:pPr>
            <a:r>
              <a:rPr lang="en-US" sz="900" b="1" kern="0" spc="100" dirty="0">
                <a:solidFill>
                  <a:srgbClr val="B0481E"/>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8F3A17"/>
                </a:solidFill>
                <a:latin typeface="Calibri" pitchFamily="34" charset="0"/>
                <a:ea typeface="Calibri" pitchFamily="34" charset="-122"/>
                <a:cs typeface="Calibri" pitchFamily="34" charset="-120"/>
              </a:rPr>
              <a:t>Board-ready platform roadmap · adoption-metric framework · mobilization plan · Executive Playback · Closure Pack</a:t>
            </a:r>
            <a:endParaRPr lang="en-US" sz="950" dirty="0"/>
          </a:p>
        </p:txBody>
      </p:sp>
      <p:sp>
        <p:nvSpPr>
          <p:cNvPr id="37" name="Text 32"/>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B0A39B"/>
                </a:solidFill>
                <a:latin typeface="Calibri" pitchFamily="34" charset="0"/>
                <a:ea typeface="Calibri" pitchFamily="34" charset="-122"/>
                <a:cs typeface="Calibri" pitchFamily="34" charset="-120"/>
              </a:rPr>
              <a:t>LTM  ·  Infra Tech Advisory  ·  Public Cloud &amp; Modernization</a:t>
            </a:r>
            <a:endParaRPr lang="en-US" sz="950" dirty="0"/>
          </a:p>
        </p:txBody>
      </p:sp>
      <p:sp>
        <p:nvSpPr>
          <p:cNvPr id="38" name="Text 33"/>
          <p:cNvSpPr txBox="1"/>
          <p:nvPr/>
        </p:nvSpPr>
        <p:spPr>
          <a:xfrm>
            <a:off x="8961120" y="6473952"/>
            <a:ext cx="2724912" cy="274320"/>
          </a:xfrm>
          <a:prstGeom prst="rect">
            <a:avLst/>
          </a:prstGeom>
          <a:noFill/>
          <a:ln/>
        </p:spPr>
        <p:txBody>
          <a:bodyPr wrap="square" lIns="0" tIns="0" rIns="0" bIns="0" rtlCol="0" anchor="ctr"/>
          <a:lstStyle/>
          <a:p>
            <a:pPr marL="0" indent="0" algn="r">
              <a:buNone/>
            </a:pPr>
            <a:r>
              <a:rPr lang="en-US" sz="950" dirty="0">
                <a:solidFill>
                  <a:srgbClr val="B0A39B"/>
                </a:solidFill>
                <a:latin typeface="Calibri" pitchFamily="34" charset="0"/>
                <a:ea typeface="Calibri" pitchFamily="34" charset="-122"/>
                <a:cs typeface="Calibri" pitchFamily="34" charset="-120"/>
              </a:rPr>
              <a:t>03.6  ·  Solution</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marL="0" indent="0">
              <a:buNone/>
            </a:pPr>
            <a:r>
              <a:rPr lang="en-US" sz="1100" b="1" kern="0" spc="200" dirty="0">
                <a:solidFill>
                  <a:srgbClr val="B0481E"/>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EEB08A"/>
                </a:solidFill>
                <a:latin typeface="Cambria" pitchFamily="34" charset="0"/>
                <a:ea typeface="Cambria" pitchFamily="34" charset="-122"/>
                <a:cs typeface="Cambria" pitchFamily="34" charset="-120"/>
              </a:rPr>
              <a:t>03.6   </a:t>
            </a:r>
            <a:r>
              <a:rPr lang="en-US" sz="2400" b="1" dirty="0">
                <a:solidFill>
                  <a:srgbClr val="1B1F23"/>
                </a:solidFill>
                <a:latin typeface="Cambria" pitchFamily="34" charset="0"/>
                <a:ea typeface="Cambria" pitchFamily="34" charset="-122"/>
                <a:cs typeface="Cambria" pitchFamily="34" charset="-120"/>
              </a:rPr>
              <a:t>Platform Engineering &amp; Developer Experience</a:t>
            </a:r>
            <a:endParaRPr lang="en-US" sz="2400" dirty="0"/>
          </a:p>
        </p:txBody>
      </p:sp>
      <p:sp>
        <p:nvSpPr>
          <p:cNvPr id="4" name="Shape 2"/>
          <p:cNvSpPr/>
          <p:nvPr/>
        </p:nvSpPr>
        <p:spPr>
          <a:xfrm>
            <a:off x="502920" y="1600200"/>
            <a:ext cx="5394960" cy="4480560"/>
          </a:xfrm>
          <a:prstGeom prst="roundRect">
            <a:avLst>
              <a:gd name="adj" fmla="val 1429"/>
            </a:avLst>
          </a:prstGeom>
          <a:solidFill>
            <a:srgbClr val="B0481E"/>
          </a:solidFill>
          <a:ln/>
        </p:spPr>
        <p:txBody>
          <a:bodyPr/>
          <a:lstStyle/>
          <a:p>
            <a:endParaRPr lang="en-US"/>
          </a:p>
        </p:txBody>
      </p:sp>
      <p:pic>
        <p:nvPicPr>
          <p:cNvPr id="5" name="Image 0" descr="/home/claude/p3_pe_deliver.png"/>
          <p:cNvPicPr>
            <a:picLocks noChangeAspect="1"/>
          </p:cNvPicPr>
          <p:nvPr/>
        </p:nvPicPr>
        <p:blipFill>
          <a:blip r:embed="rId3"/>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marL="0" indent="0">
              <a:buNone/>
            </a:pPr>
            <a:r>
              <a:rPr lang="en-US" sz="1050" i="1" dirty="0">
                <a:solidFill>
                  <a:srgbClr val="F4D3BF"/>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EEB08A"/>
          </a:solidFill>
          <a:ln/>
        </p:spPr>
        <p:txBody>
          <a:bodyPr/>
          <a:lstStyle/>
          <a:p>
            <a:endParaRPr lang="en-US"/>
          </a:p>
        </p:txBody>
      </p:sp>
      <p:sp>
        <p:nvSpPr>
          <p:cNvPr id="9" name="Text 6"/>
          <p:cNvSpPr txBox="1"/>
          <p:nvPr/>
        </p:nvSpPr>
        <p:spPr>
          <a:xfrm>
            <a:off x="777240" y="2880360"/>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Developer-experience diagnostic (flow metrics, toil, bypass)</a:t>
            </a:r>
            <a:endParaRPr lang="en-US" sz="1150" dirty="0"/>
          </a:p>
        </p:txBody>
      </p:sp>
      <p:sp>
        <p:nvSpPr>
          <p:cNvPr id="11" name="Shape 8"/>
          <p:cNvSpPr/>
          <p:nvPr/>
        </p:nvSpPr>
        <p:spPr>
          <a:xfrm>
            <a:off x="777240" y="3483864"/>
            <a:ext cx="310896" cy="310896"/>
          </a:xfrm>
          <a:prstGeom prst="roundRect">
            <a:avLst>
              <a:gd name="adj" fmla="val 14706"/>
            </a:avLst>
          </a:prstGeom>
          <a:solidFill>
            <a:srgbClr val="EEB08A"/>
          </a:solidFill>
          <a:ln/>
        </p:spPr>
        <p:txBody>
          <a:bodyPr/>
          <a:lstStyle/>
          <a:p>
            <a:endParaRPr lang="en-US"/>
          </a:p>
        </p:txBody>
      </p:sp>
      <p:sp>
        <p:nvSpPr>
          <p:cNvPr id="12" name="Text 9"/>
          <p:cNvSpPr txBox="1"/>
          <p:nvPr/>
        </p:nvSpPr>
        <p:spPr>
          <a:xfrm>
            <a:off x="777240" y="3483864"/>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Internal developer platform design (golden paths, self-service)</a:t>
            </a:r>
            <a:endParaRPr lang="en-US" sz="1150" dirty="0"/>
          </a:p>
        </p:txBody>
      </p:sp>
      <p:sp>
        <p:nvSpPr>
          <p:cNvPr id="14" name="Shape 11"/>
          <p:cNvSpPr/>
          <p:nvPr/>
        </p:nvSpPr>
        <p:spPr>
          <a:xfrm>
            <a:off x="777240" y="4087368"/>
            <a:ext cx="310896" cy="310896"/>
          </a:xfrm>
          <a:prstGeom prst="roundRect">
            <a:avLst>
              <a:gd name="adj" fmla="val 14706"/>
            </a:avLst>
          </a:prstGeom>
          <a:solidFill>
            <a:srgbClr val="EEB08A"/>
          </a:solidFill>
          <a:ln/>
        </p:spPr>
        <p:txBody>
          <a:bodyPr/>
          <a:lstStyle/>
          <a:p>
            <a:endParaRPr lang="en-US"/>
          </a:p>
        </p:txBody>
      </p:sp>
      <p:sp>
        <p:nvSpPr>
          <p:cNvPr id="15" name="Text 12"/>
          <p:cNvSpPr txBox="1"/>
          <p:nvPr/>
        </p:nvSpPr>
        <p:spPr>
          <a:xfrm>
            <a:off x="777240" y="4087368"/>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Platform-as-a-product operating model</a:t>
            </a:r>
            <a:endParaRPr lang="en-US" sz="1150" dirty="0"/>
          </a:p>
        </p:txBody>
      </p:sp>
      <p:sp>
        <p:nvSpPr>
          <p:cNvPr id="17" name="Shape 14"/>
          <p:cNvSpPr/>
          <p:nvPr/>
        </p:nvSpPr>
        <p:spPr>
          <a:xfrm>
            <a:off x="777240" y="4690872"/>
            <a:ext cx="310896" cy="310896"/>
          </a:xfrm>
          <a:prstGeom prst="roundRect">
            <a:avLst>
              <a:gd name="adj" fmla="val 14706"/>
            </a:avLst>
          </a:prstGeom>
          <a:solidFill>
            <a:srgbClr val="EEB08A"/>
          </a:solidFill>
          <a:ln/>
        </p:spPr>
        <p:txBody>
          <a:bodyPr/>
          <a:lstStyle/>
          <a:p>
            <a:endParaRPr lang="en-US"/>
          </a:p>
        </p:txBody>
      </p:sp>
      <p:sp>
        <p:nvSpPr>
          <p:cNvPr id="18" name="Text 15"/>
          <p:cNvSpPr txBox="1"/>
          <p:nvPr/>
        </p:nvSpPr>
        <p:spPr>
          <a:xfrm>
            <a:off x="777240" y="4690872"/>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Embedded security / compliance / observability design</a:t>
            </a:r>
            <a:endParaRPr lang="en-US" sz="1150" dirty="0"/>
          </a:p>
        </p:txBody>
      </p:sp>
      <p:sp>
        <p:nvSpPr>
          <p:cNvPr id="20" name="Shape 17"/>
          <p:cNvSpPr/>
          <p:nvPr/>
        </p:nvSpPr>
        <p:spPr>
          <a:xfrm>
            <a:off x="777240" y="5294376"/>
            <a:ext cx="310896" cy="310896"/>
          </a:xfrm>
          <a:prstGeom prst="roundRect">
            <a:avLst>
              <a:gd name="adj" fmla="val 14706"/>
            </a:avLst>
          </a:prstGeom>
          <a:solidFill>
            <a:srgbClr val="EEB08A"/>
          </a:solidFill>
          <a:ln/>
        </p:spPr>
        <p:txBody>
          <a:bodyPr/>
          <a:lstStyle/>
          <a:p>
            <a:endParaRPr lang="en-US"/>
          </a:p>
        </p:txBody>
      </p:sp>
      <p:sp>
        <p:nvSpPr>
          <p:cNvPr id="21" name="Text 18"/>
          <p:cNvSpPr txBox="1"/>
          <p:nvPr/>
        </p:nvSpPr>
        <p:spPr>
          <a:xfrm>
            <a:off x="777240" y="5294376"/>
            <a:ext cx="310896" cy="310896"/>
          </a:xfrm>
          <a:prstGeom prst="rect">
            <a:avLst/>
          </a:prstGeom>
          <a:noFill/>
          <a:ln/>
        </p:spPr>
        <p:txBody>
          <a:bodyPr wrap="square" lIns="0" tIns="0" rIns="0" bIns="0" rtlCol="0" anchor="ctr"/>
          <a:lstStyle/>
          <a:p>
            <a:pPr marL="0" indent="0" algn="ctr">
              <a:buNone/>
            </a:pPr>
            <a:r>
              <a:rPr lang="en-US" sz="1300" b="1" dirty="0">
                <a:solidFill>
                  <a:srgbClr val="8F3A17"/>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FBEDE6"/>
                </a:solidFill>
                <a:latin typeface="Calibri" pitchFamily="34" charset="0"/>
                <a:ea typeface="Calibri" pitchFamily="34" charset="-122"/>
                <a:cs typeface="Calibri" pitchFamily="34" charset="-120"/>
              </a:rPr>
              <a:t>Board-ready platform roadmap with adoption metrics</a:t>
            </a:r>
            <a:endParaRPr lang="en-US" sz="1150" dirty="0"/>
          </a:p>
        </p:txBody>
      </p:sp>
      <p:sp>
        <p:nvSpPr>
          <p:cNvPr id="23" name="Shape 20"/>
          <p:cNvSpPr/>
          <p:nvPr/>
        </p:nvSpPr>
        <p:spPr>
          <a:xfrm>
            <a:off x="6263640" y="1600200"/>
            <a:ext cx="5394960" cy="2286000"/>
          </a:xfrm>
          <a:prstGeom prst="roundRect">
            <a:avLst>
              <a:gd name="adj" fmla="val 2800"/>
            </a:avLst>
          </a:prstGeom>
          <a:solidFill>
            <a:srgbClr val="EEF6F0"/>
          </a:solidFill>
          <a:ln w="9525">
            <a:solidFill>
              <a:srgbClr val="BFE3D2"/>
            </a:solidFill>
            <a:prstDash val="solid"/>
          </a:ln>
        </p:spPr>
        <p:txBody>
          <a:bodyPr/>
          <a:lstStyle/>
          <a:p>
            <a:endParaRPr lang="en-US"/>
          </a:p>
        </p:txBody>
      </p:sp>
      <p:pic>
        <p:nvPicPr>
          <p:cNvPr id="24" name="Image 1" descr="/home/claude/x_chk_in.png"/>
          <p:cNvPicPr>
            <a:picLocks noChangeAspect="1"/>
          </p:cNvPicPr>
          <p:nvPr/>
        </p:nvPicPr>
        <p:blipFill>
          <a:blip r:embed="rId4"/>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marL="0" indent="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Developer-experience diagnosis (evidence-based)</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Internal developer platform design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Platform-as-a-product operating-model design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Golden paths, self-service and paved-road definition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Embedded security / compliance / observability design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Adoption-metric and funding-model framing</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1EE"/>
          </a:solidFill>
          <a:ln w="9525">
            <a:solidFill>
              <a:srgbClr val="ECCFC4"/>
            </a:solidFill>
            <a:prstDash val="solid"/>
          </a:ln>
        </p:spPr>
        <p:txBody>
          <a:bodyPr/>
          <a:lstStyle/>
          <a:p>
            <a:endParaRPr lang="en-US"/>
          </a:p>
        </p:txBody>
      </p:sp>
      <p:pic>
        <p:nvPicPr>
          <p:cNvPr id="28" name="Image 2" descr="/home/claude/x_chk_out.png"/>
          <p:cNvPicPr>
            <a:picLocks noChangeAspect="1"/>
          </p:cNvPicPr>
          <p:nvPr/>
        </p:nvPicPr>
        <p:blipFill>
          <a:blip r:embed="rId5"/>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marL="0" indent="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IDP build, rollout and platform operation</a:t>
            </a:r>
            <a:r>
              <a:rPr lang="en-US" sz="900" i="1" dirty="0">
                <a:solidFill>
                  <a:srgbClr val="9A5541"/>
                </a:solidFill>
                <a:latin typeface="Calibri" pitchFamily="34" charset="0"/>
                <a:ea typeface="Calibri" pitchFamily="34" charset="-122"/>
                <a:cs typeface="Calibri" pitchFamily="34" charset="-120"/>
              </a:rPr>
              <a:t>   → Separate delivery</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Multi-cloud control-plane architecture</a:t>
            </a:r>
            <a:r>
              <a:rPr lang="en-US" sz="900" i="1" dirty="0">
                <a:solidFill>
                  <a:srgbClr val="9A5541"/>
                </a:solidFill>
                <a:latin typeface="Calibri" pitchFamily="34" charset="0"/>
                <a:ea typeface="Calibri" pitchFamily="34" charset="-122"/>
                <a:cs typeface="Calibri" pitchFamily="34" charset="-120"/>
              </a:rPr>
              <a:t>   → 03.2 Multi-Cloud</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Application modernization disposition</a:t>
            </a:r>
            <a:r>
              <a:rPr lang="en-US" sz="900" i="1" dirty="0">
                <a:solidFill>
                  <a:srgbClr val="9A5541"/>
                </a:solidFill>
                <a:latin typeface="Calibri" pitchFamily="34" charset="0"/>
                <a:ea typeface="Calibri" pitchFamily="34" charset="-122"/>
                <a:cs typeface="Calibri" pitchFamily="34" charset="-120"/>
              </a:rPr>
              <a:t>   → 03.4 App Mod</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Security tooling and SOC</a:t>
            </a:r>
            <a:r>
              <a:rPr lang="en-US" sz="900" i="1" dirty="0">
                <a:solidFill>
                  <a:srgbClr val="9A5541"/>
                </a:solidFill>
                <a:latin typeface="Calibri" pitchFamily="34" charset="0"/>
                <a:ea typeface="Calibri" pitchFamily="34" charset="-122"/>
                <a:cs typeface="Calibri" pitchFamily="34" charset="-120"/>
              </a:rPr>
              <a:t>   → LTM Security</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Agentic-ops / AIOps</a:t>
            </a:r>
            <a:r>
              <a:rPr lang="en-US" sz="900" i="1" dirty="0">
                <a:solidFill>
                  <a:srgbClr val="9A5541"/>
                </a:solidFill>
                <a:latin typeface="Calibri" pitchFamily="34" charset="0"/>
                <a:ea typeface="Calibri" pitchFamily="34" charset="-122"/>
                <a:cs typeface="Calibri" pitchFamily="34" charset="-120"/>
              </a:rPr>
              <a:t>   → Pillar 04</a:t>
            </a:r>
            <a:endParaRPr lang="en-US" sz="970" dirty="0"/>
          </a:p>
        </p:txBody>
      </p:sp>
      <p:sp>
        <p:nvSpPr>
          <p:cNvPr id="35" name="Text 30"/>
          <p:cNvSpPr txBox="1"/>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B0A39B"/>
                </a:solidFill>
                <a:latin typeface="Calibri" pitchFamily="34" charset="0"/>
                <a:ea typeface="Calibri" pitchFamily="34" charset="-122"/>
                <a:cs typeface="Calibri" pitchFamily="34" charset="-120"/>
              </a:rPr>
              <a:t>LTM  ·  Infra Tech Advisory  ·  Public Cloud &amp; Modernization</a:t>
            </a:r>
            <a:endParaRPr lang="en-US" sz="950" dirty="0"/>
          </a:p>
        </p:txBody>
      </p:sp>
      <p:sp>
        <p:nvSpPr>
          <p:cNvPr id="36" name="Text 31"/>
          <p:cNvSpPr txBox="1"/>
          <p:nvPr/>
        </p:nvSpPr>
        <p:spPr>
          <a:xfrm>
            <a:off x="8961120" y="6473952"/>
            <a:ext cx="2724912" cy="274320"/>
          </a:xfrm>
          <a:prstGeom prst="rect">
            <a:avLst/>
          </a:prstGeom>
          <a:noFill/>
          <a:ln/>
        </p:spPr>
        <p:txBody>
          <a:bodyPr wrap="square" lIns="0" tIns="0" rIns="0" bIns="0" rtlCol="0" anchor="ctr"/>
          <a:lstStyle/>
          <a:p>
            <a:pPr marL="0" indent="0" algn="r">
              <a:buNone/>
            </a:pPr>
            <a:r>
              <a:rPr lang="en-US" sz="950" dirty="0">
                <a:solidFill>
                  <a:srgbClr val="B0A39B"/>
                </a:solidFill>
                <a:latin typeface="Calibri" pitchFamily="34" charset="0"/>
                <a:ea typeface="Calibri" pitchFamily="34" charset="-122"/>
                <a:cs typeface="Calibri" pitchFamily="34" charset="-120"/>
              </a:rPr>
              <a:t>03.6  ·  Deliverables &amp; scope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1274</TotalTime>
  <Words>10707</Words>
  <Application>Microsoft Macintosh PowerPoint</Application>
  <PresentationFormat>Widescreen</PresentationFormat>
  <Paragraphs>1246</Paragraphs>
  <Slides>45</Slides>
  <Notes>45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Ashutosh Dixit</cp:lastModifiedBy>
  <cp:revision>1</cp:revision>
  <dcterms:created xsi:type="dcterms:W3CDTF">2026-09-09T11:23:09Z</dcterms:created>
  <dcterms:modified xsi:type="dcterms:W3CDTF">2026-09-10T08:38:09Z</dcterms:modified>
</cp:coreProperties>
</file>
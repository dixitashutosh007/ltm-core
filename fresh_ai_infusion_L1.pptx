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B3A8C"/>
        </a:solidFill>
      </p:bgPr>
    </p:bg>
    <p:spTree>
      <p:nvGrpSpPr>
        <p:cNvPr id="1" name=""/>
        <p:cNvGrpSpPr/>
        <p:nvPr/>
      </p:nvGrpSpPr>
      <p:grpSpPr>
        <a:xfrm>
          <a:off x="0" y="0"/>
          <a:ext cx="0" cy="0"/>
          <a:chOff x="0" y="0"/>
          <a:chExt cx="0" cy="0"/>
        </a:xfrm>
      </p:grpSpPr>
      <p:sp>
        <p:nvSpPr>
          <p:cNvPr id="2" name="Shape 0"/>
          <p:cNvSpPr/>
          <p:nvPr/>
        </p:nvSpPr>
        <p:spPr>
          <a:xfrm>
            <a:off x="0" y="5074920"/>
            <a:ext cx="12191695" cy="1783080"/>
          </a:xfrm>
          <a:prstGeom prst="rect">
            <a:avLst/>
          </a:prstGeom>
          <a:solidFill>
            <a:srgbClr val="472D6E"/>
          </a:solidFill>
          <a:ln/>
        </p:spPr>
      </p:sp>
      <p:sp>
        <p:nvSpPr>
          <p:cNvPr id="3" name="Text 1"/>
          <p:cNvSpPr txBox="1"/>
          <p:nvPr/>
        </p:nvSpPr>
        <p:spPr>
          <a:xfrm>
            <a:off x="685800" y="640080"/>
            <a:ext cx="7315200" cy="274320"/>
          </a:xfrm>
          <a:prstGeom prst="rect">
            <a:avLst/>
          </a:prstGeom>
          <a:noFill/>
          <a:ln/>
        </p:spPr>
        <p:txBody>
          <a:bodyPr wrap="square" lIns="0" tIns="0" rIns="0" bIns="0" rtlCol="0" anchor="ctr"/>
          <a:lstStyle/>
          <a:p>
            <a:pPr indent="0" marL="0">
              <a:buNone/>
            </a:pPr>
            <a:r>
              <a:rPr lang="en-US" sz="1200" b="1" spc="250" kern="0" dirty="0">
                <a:solidFill>
                  <a:srgbClr val="B99FDB"/>
                </a:solidFill>
                <a:latin typeface="Calibri" pitchFamily="34" charset="0"/>
                <a:ea typeface="Calibri" pitchFamily="34" charset="-122"/>
                <a:cs typeface="Calibri" pitchFamily="34" charset="-120"/>
              </a:rPr>
              <a:t>PILLAR 04  ·  INFRA TECH ADVISORY</a:t>
            </a:r>
            <a:endParaRPr lang="en-US" sz="1200" dirty="0"/>
          </a:p>
        </p:txBody>
      </p:sp>
      <p:sp>
        <p:nvSpPr>
          <p:cNvPr id="4" name="Text 2"/>
          <p:cNvSpPr txBox="1"/>
          <p:nvPr/>
        </p:nvSpPr>
        <p:spPr>
          <a:xfrm>
            <a:off x="658368" y="1024128"/>
            <a:ext cx="10972800" cy="105156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AI Infusion</a:t>
            </a:r>
            <a:endParaRPr lang="en-US" sz="5200" dirty="0"/>
          </a:p>
        </p:txBody>
      </p:sp>
      <p:sp>
        <p:nvSpPr>
          <p:cNvPr id="5" name="Text 3"/>
          <p:cNvSpPr txBox="1"/>
          <p:nvPr/>
        </p:nvSpPr>
        <p:spPr>
          <a:xfrm>
            <a:off x="685800" y="2148840"/>
            <a:ext cx="9875520" cy="502920"/>
          </a:xfrm>
          <a:prstGeom prst="rect">
            <a:avLst/>
          </a:prstGeom>
          <a:noFill/>
          <a:ln/>
        </p:spPr>
        <p:txBody>
          <a:bodyPr wrap="square" lIns="0" tIns="0" rIns="0" bIns="0" rtlCol="0" anchor="ctr"/>
          <a:lstStyle/>
          <a:p>
            <a:pPr indent="0" marL="0">
              <a:buNone/>
            </a:pPr>
            <a:r>
              <a:rPr lang="en-US" sz="2000" i="1" dirty="0">
                <a:solidFill>
                  <a:srgbClr val="D6C2EC"/>
                </a:solidFill>
                <a:latin typeface="Cambria" pitchFamily="34" charset="0"/>
                <a:ea typeface="Cambria" pitchFamily="34" charset="-122"/>
                <a:cs typeface="Cambria" pitchFamily="34" charset="-120"/>
              </a:rPr>
              <a:t>Is my estate ready to run enterprise AI safely, at scale, at a defensible cost?</a:t>
            </a:r>
            <a:endParaRPr lang="en-US" sz="2000" dirty="0"/>
          </a:p>
        </p:txBody>
      </p:sp>
      <p:sp>
        <p:nvSpPr>
          <p:cNvPr id="6" name="Text 4"/>
          <p:cNvSpPr txBox="1"/>
          <p:nvPr/>
        </p:nvSpPr>
        <p:spPr>
          <a:xfrm>
            <a:off x="685800" y="2852928"/>
            <a:ext cx="7406640" cy="1828800"/>
          </a:xfrm>
          <a:prstGeom prst="rect">
            <a:avLst/>
          </a:prstGeom>
          <a:noFill/>
          <a:ln/>
        </p:spPr>
        <p:txBody>
          <a:bodyPr wrap="square" lIns="0" tIns="0" rIns="0" bIns="0" rtlCol="0" anchor="ctr"/>
          <a:lstStyle/>
          <a:p>
            <a:pPr indent="0" marL="0">
              <a:lnSpc>
                <a:spcPct val="112000"/>
              </a:lnSpc>
              <a:buNone/>
            </a:pPr>
            <a:r>
              <a:rPr lang="en-US" sz="1350" dirty="0">
                <a:solidFill>
                  <a:srgbClr val="F2ECFA"/>
                </a:solidFill>
                <a:latin typeface="Calibri" pitchFamily="34" charset="0"/>
                <a:ea typeface="Calibri" pitchFamily="34" charset="-122"/>
                <a:cs typeface="Calibri" pitchFamily="34" charset="-120"/>
              </a:rPr>
              <a:t>AI Infusion makes enterprise AI credible, governable and economical. The CIO’s problem has shifted from whether to adopt AI to whether it can be run safely, at scale, at a cost that can be defended — and enterprise AI stalls at predictable gates. This pillar clears them in order: should we, can we run it, will it pass, can we afford it, can it act alone.</a:t>
            </a:r>
            <a:endParaRPr lang="en-US" sz="1350" dirty="0"/>
          </a:p>
        </p:txBody>
      </p:sp>
      <p:sp>
        <p:nvSpPr>
          <p:cNvPr id="7" name="Text 5"/>
          <p:cNvSpPr txBox="1"/>
          <p:nvPr/>
        </p:nvSpPr>
        <p:spPr>
          <a:xfrm>
            <a:off x="8366760" y="2724912"/>
            <a:ext cx="3108960" cy="420624"/>
          </a:xfrm>
          <a:prstGeom prst="rect">
            <a:avLst/>
          </a:prstGeom>
          <a:noFill/>
          <a:ln/>
        </p:spPr>
        <p:txBody>
          <a:bodyPr wrap="square" lIns="0" tIns="0" rIns="0" bIns="0" rtlCol="0" anchor="ctr"/>
          <a:lstStyle/>
          <a:p>
            <a:pPr indent="0" marL="0">
              <a:buNone/>
            </a:pPr>
            <a:r>
              <a:rPr lang="en-US" sz="2600" b="1" dirty="0">
                <a:solidFill>
                  <a:srgbClr val="B99FDB"/>
                </a:solidFill>
                <a:latin typeface="Cambria" pitchFamily="34" charset="0"/>
                <a:ea typeface="Cambria" pitchFamily="34" charset="-122"/>
                <a:cs typeface="Cambria" pitchFamily="34" charset="-120"/>
              </a:rPr>
              <a:t>95%</a:t>
            </a:r>
            <a:endParaRPr lang="en-US" sz="2600" dirty="0"/>
          </a:p>
        </p:txBody>
      </p:sp>
      <p:sp>
        <p:nvSpPr>
          <p:cNvPr id="8" name="Text 6"/>
          <p:cNvSpPr txBox="1"/>
          <p:nvPr/>
        </p:nvSpPr>
        <p:spPr>
          <a:xfrm>
            <a:off x="8394192" y="3127248"/>
            <a:ext cx="3063240" cy="384048"/>
          </a:xfrm>
          <a:prstGeom prst="rect">
            <a:avLst/>
          </a:prstGeom>
          <a:noFill/>
          <a:ln/>
        </p:spPr>
        <p:txBody>
          <a:bodyPr wrap="square" lIns="0" tIns="0" rIns="0" bIns="0" rtlCol="0" anchor="ctr"/>
          <a:lstStyle/>
          <a:p>
            <a:pPr indent="0" marL="0">
              <a:lnSpc>
                <a:spcPct val="95000"/>
              </a:lnSpc>
              <a:buNone/>
            </a:pPr>
            <a:r>
              <a:rPr lang="en-US" sz="1050" dirty="0">
                <a:solidFill>
                  <a:srgbClr val="E4D8F4"/>
                </a:solidFill>
                <a:latin typeface="Calibri" pitchFamily="34" charset="0"/>
                <a:ea typeface="Calibri" pitchFamily="34" charset="-122"/>
                <a:cs typeface="Calibri" pitchFamily="34" charset="-120"/>
              </a:rPr>
              <a:t>of GenAI pilots deliver zero measurable return (MIT NANDA)</a:t>
            </a:r>
            <a:endParaRPr lang="en-US" sz="1050" dirty="0"/>
          </a:p>
        </p:txBody>
      </p:sp>
      <p:sp>
        <p:nvSpPr>
          <p:cNvPr id="9" name="Text 7"/>
          <p:cNvSpPr txBox="1"/>
          <p:nvPr/>
        </p:nvSpPr>
        <p:spPr>
          <a:xfrm>
            <a:off x="8366760" y="3511296"/>
            <a:ext cx="3108960" cy="420624"/>
          </a:xfrm>
          <a:prstGeom prst="rect">
            <a:avLst/>
          </a:prstGeom>
          <a:noFill/>
          <a:ln/>
        </p:spPr>
        <p:txBody>
          <a:bodyPr wrap="square" lIns="0" tIns="0" rIns="0" bIns="0" rtlCol="0" anchor="ctr"/>
          <a:lstStyle/>
          <a:p>
            <a:pPr indent="0" marL="0">
              <a:buNone/>
            </a:pPr>
            <a:r>
              <a:rPr lang="en-US" sz="2600" b="1" dirty="0">
                <a:solidFill>
                  <a:srgbClr val="B99FDB"/>
                </a:solidFill>
                <a:latin typeface="Cambria" pitchFamily="34" charset="0"/>
                <a:ea typeface="Cambria" pitchFamily="34" charset="-122"/>
                <a:cs typeface="Cambria" pitchFamily="34" charset="-120"/>
              </a:rPr>
              <a:t>89%</a:t>
            </a:r>
            <a:endParaRPr lang="en-US" sz="2600" dirty="0"/>
          </a:p>
        </p:txBody>
      </p:sp>
      <p:sp>
        <p:nvSpPr>
          <p:cNvPr id="10" name="Text 8"/>
          <p:cNvSpPr txBox="1"/>
          <p:nvPr/>
        </p:nvSpPr>
        <p:spPr>
          <a:xfrm>
            <a:off x="8394192" y="3913632"/>
            <a:ext cx="3063240" cy="384048"/>
          </a:xfrm>
          <a:prstGeom prst="rect">
            <a:avLst/>
          </a:prstGeom>
          <a:noFill/>
          <a:ln/>
        </p:spPr>
        <p:txBody>
          <a:bodyPr wrap="square" lIns="0" tIns="0" rIns="0" bIns="0" rtlCol="0" anchor="ctr"/>
          <a:lstStyle/>
          <a:p>
            <a:pPr indent="0" marL="0">
              <a:lnSpc>
                <a:spcPct val="95000"/>
              </a:lnSpc>
              <a:buNone/>
            </a:pPr>
            <a:r>
              <a:rPr lang="en-US" sz="1050" dirty="0">
                <a:solidFill>
                  <a:srgbClr val="E4D8F4"/>
                </a:solidFill>
                <a:latin typeface="Calibri" pitchFamily="34" charset="0"/>
                <a:ea typeface="Calibri" pitchFamily="34" charset="-122"/>
                <a:cs typeface="Calibri" pitchFamily="34" charset="-120"/>
              </a:rPr>
              <a:t>of AI agent pilots never scale — the 11% that do return 171% ROI</a:t>
            </a:r>
            <a:endParaRPr lang="en-US" sz="1050" dirty="0"/>
          </a:p>
        </p:txBody>
      </p:sp>
      <p:sp>
        <p:nvSpPr>
          <p:cNvPr id="11" name="Text 9"/>
          <p:cNvSpPr txBox="1"/>
          <p:nvPr/>
        </p:nvSpPr>
        <p:spPr>
          <a:xfrm>
            <a:off x="8366760" y="4297680"/>
            <a:ext cx="3108960" cy="420624"/>
          </a:xfrm>
          <a:prstGeom prst="rect">
            <a:avLst/>
          </a:prstGeom>
          <a:noFill/>
          <a:ln/>
        </p:spPr>
        <p:txBody>
          <a:bodyPr wrap="square" lIns="0" tIns="0" rIns="0" bIns="0" rtlCol="0" anchor="ctr"/>
          <a:lstStyle/>
          <a:p>
            <a:pPr indent="0" marL="0">
              <a:buNone/>
            </a:pPr>
            <a:r>
              <a:rPr lang="en-US" sz="2600" b="1" dirty="0">
                <a:solidFill>
                  <a:srgbClr val="B99FDB"/>
                </a:solidFill>
                <a:latin typeface="Cambria" pitchFamily="34" charset="0"/>
                <a:ea typeface="Cambria" pitchFamily="34" charset="-122"/>
                <a:cs typeface="Cambria" pitchFamily="34" charset="-120"/>
              </a:rPr>
              <a:t>€35M / 7%</a:t>
            </a:r>
            <a:endParaRPr lang="en-US" sz="2600" dirty="0"/>
          </a:p>
        </p:txBody>
      </p:sp>
      <p:sp>
        <p:nvSpPr>
          <p:cNvPr id="12" name="Text 10"/>
          <p:cNvSpPr txBox="1"/>
          <p:nvPr/>
        </p:nvSpPr>
        <p:spPr>
          <a:xfrm>
            <a:off x="8394192" y="4700016"/>
            <a:ext cx="3063240" cy="384048"/>
          </a:xfrm>
          <a:prstGeom prst="rect">
            <a:avLst/>
          </a:prstGeom>
          <a:noFill/>
          <a:ln/>
        </p:spPr>
        <p:txBody>
          <a:bodyPr wrap="square" lIns="0" tIns="0" rIns="0" bIns="0" rtlCol="0" anchor="ctr"/>
          <a:lstStyle/>
          <a:p>
            <a:pPr indent="0" marL="0">
              <a:lnSpc>
                <a:spcPct val="95000"/>
              </a:lnSpc>
              <a:buNone/>
            </a:pPr>
            <a:r>
              <a:rPr lang="en-US" sz="1050" dirty="0">
                <a:solidFill>
                  <a:srgbClr val="E4D8F4"/>
                </a:solidFill>
                <a:latin typeface="Calibri" pitchFamily="34" charset="0"/>
                <a:ea typeface="Calibri" pitchFamily="34" charset="-122"/>
                <a:cs typeface="Calibri" pitchFamily="34" charset="-120"/>
              </a:rPr>
              <a:t>EU AI Act fines, enforceable from August 2026</a:t>
            </a:r>
            <a:endParaRPr lang="en-US" sz="1050" dirty="0"/>
          </a:p>
        </p:txBody>
      </p:sp>
      <p:sp>
        <p:nvSpPr>
          <p:cNvPr id="13" name="Text 11"/>
          <p:cNvSpPr txBox="1"/>
          <p:nvPr/>
        </p:nvSpPr>
        <p:spPr>
          <a:xfrm>
            <a:off x="685800" y="5285232"/>
            <a:ext cx="6400800" cy="274320"/>
          </a:xfrm>
          <a:prstGeom prst="rect">
            <a:avLst/>
          </a:prstGeom>
          <a:noFill/>
          <a:ln/>
        </p:spPr>
        <p:txBody>
          <a:bodyPr wrap="square" lIns="0" tIns="0" rIns="0" bIns="0" rtlCol="0" anchor="ctr"/>
          <a:lstStyle/>
          <a:p>
            <a:pPr indent="0" marL="0">
              <a:buNone/>
            </a:pPr>
            <a:r>
              <a:rPr lang="en-US" sz="1050" b="1" spc="200" kern="0" dirty="0">
                <a:solidFill>
                  <a:srgbClr val="B99FDB"/>
                </a:solidFill>
                <a:latin typeface="Calibri" pitchFamily="34" charset="0"/>
                <a:ea typeface="Calibri" pitchFamily="34" charset="-122"/>
                <a:cs typeface="Calibri" pitchFamily="34" charset="-120"/>
              </a:rPr>
              <a:t>THE AI VALUE LADDER</a:t>
            </a:r>
            <a:endParaRPr lang="en-US" sz="1050" dirty="0"/>
          </a:p>
        </p:txBody>
      </p:sp>
      <p:sp>
        <p:nvSpPr>
          <p:cNvPr id="14" name="Text 12"/>
          <p:cNvSpPr txBox="1"/>
          <p:nvPr/>
        </p:nvSpPr>
        <p:spPr>
          <a:xfrm>
            <a:off x="685800" y="5596128"/>
            <a:ext cx="10789920" cy="457200"/>
          </a:xfrm>
          <a:prstGeom prst="rect">
            <a:avLst/>
          </a:prstGeom>
          <a:noFill/>
          <a:ln/>
        </p:spPr>
        <p:txBody>
          <a:bodyPr wrap="square" lIns="0" tIns="0" rIns="0" bIns="0" rtlCol="0" anchor="ctr"/>
          <a:lstStyle/>
          <a:p>
            <a:pPr indent="0" marL="0">
              <a:buNone/>
            </a:pPr>
            <a:r>
              <a:rPr lang="en-US" sz="1650" i="1" dirty="0">
                <a:solidFill>
                  <a:srgbClr val="FFFFFF"/>
                </a:solidFill>
                <a:latin typeface="Cambria" pitchFamily="34" charset="0"/>
                <a:ea typeface="Cambria" pitchFamily="34" charset="-122"/>
                <a:cs typeface="Cambria" pitchFamily="34" charset="-120"/>
              </a:rPr>
              <a:t>Enterprise AI fails at predictable gates. The entry diagnostic finds which gate is blocking you — then routes to the offering that clears it.</a:t>
            </a:r>
            <a:endParaRPr lang="en-US" sz="1650" dirty="0"/>
          </a:p>
        </p:txBody>
      </p:sp>
      <p:sp>
        <p:nvSpPr>
          <p:cNvPr id="15" name="Text 13"/>
          <p:cNvSpPr txBox="1"/>
          <p:nvPr/>
        </p:nvSpPr>
        <p:spPr>
          <a:xfrm>
            <a:off x="685800" y="6108192"/>
            <a:ext cx="7680960" cy="320040"/>
          </a:xfrm>
          <a:prstGeom prst="rect">
            <a:avLst/>
          </a:prstGeom>
          <a:noFill/>
          <a:ln/>
        </p:spPr>
        <p:txBody>
          <a:bodyPr wrap="square" lIns="0" tIns="0" rIns="0" bIns="0" rtlCol="0" anchor="ctr"/>
          <a:lstStyle/>
          <a:p>
            <a:pPr indent="0" marL="0">
              <a:buNone/>
            </a:pPr>
            <a:r>
              <a:rPr lang="en-US" sz="1150" dirty="0">
                <a:solidFill>
                  <a:srgbClr val="C9B4E6"/>
                </a:solidFill>
                <a:latin typeface="Calibri" pitchFamily="34" charset="0"/>
                <a:ea typeface="Calibri" pitchFamily="34" charset="-122"/>
                <a:cs typeface="Calibri" pitchFamily="34" charset="-120"/>
              </a:rPr>
              <a:t>Should we?  ›  Can we run it?  ›  Will it pass?  ›  Can we afford it?  ›  Can it act alone?</a:t>
            </a:r>
            <a:endParaRPr lang="en-US" sz="1150" dirty="0"/>
          </a:p>
        </p:txBody>
      </p:sp>
      <p:sp>
        <p:nvSpPr>
          <p:cNvPr id="16" name="Text 14"/>
          <p:cNvSpPr txBox="1"/>
          <p:nvPr/>
        </p:nvSpPr>
        <p:spPr>
          <a:xfrm>
            <a:off x="8549640" y="6108192"/>
            <a:ext cx="2926080" cy="274320"/>
          </a:xfrm>
          <a:prstGeom prst="rect">
            <a:avLst/>
          </a:prstGeom>
          <a:noFill/>
          <a:ln/>
        </p:spPr>
        <p:txBody>
          <a:bodyPr wrap="square" lIns="0" tIns="0" rIns="0" bIns="0" rtlCol="0" anchor="ctr"/>
          <a:lstStyle/>
          <a:p>
            <a:pPr algn="r" indent="0" marL="0">
              <a:buNone/>
            </a:pPr>
            <a:r>
              <a:rPr lang="en-US" sz="900" i="1" dirty="0">
                <a:solidFill>
                  <a:srgbClr val="9B87BC"/>
                </a:solidFill>
                <a:latin typeface="Calibri" pitchFamily="34" charset="0"/>
                <a:ea typeface="Calibri" pitchFamily="34" charset="-122"/>
                <a:cs typeface="Calibri" pitchFamily="34" charset="-120"/>
              </a:rPr>
              <a:t>Source: MIT / Gartner / EU AI Act,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HOW EVERY ENGAGEMENT FINDS ITS PATH</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indent="0" marL="0">
              <a:buNone/>
            </a:pPr>
            <a:r>
              <a:rPr lang="en-US" sz="2500" b="1" dirty="0">
                <a:solidFill>
                  <a:srgbClr val="1B1F23"/>
                </a:solidFill>
                <a:latin typeface="Cambria" pitchFamily="34" charset="0"/>
                <a:ea typeface="Cambria" pitchFamily="34" charset="-122"/>
                <a:cs typeface="Cambria" pitchFamily="34" charset="-120"/>
              </a:rPr>
              <a:t>The AI value ladder — five gates</a:t>
            </a:r>
            <a:endParaRPr lang="en-US" sz="2500" dirty="0"/>
          </a:p>
        </p:txBody>
      </p:sp>
      <p:sp>
        <p:nvSpPr>
          <p:cNvPr id="4" name="Text 2"/>
          <p:cNvSpPr txBox="1"/>
          <p:nvPr/>
        </p:nvSpPr>
        <p:spPr>
          <a:xfrm>
            <a:off x="502920" y="1188720"/>
            <a:ext cx="11247120" cy="274320"/>
          </a:xfrm>
          <a:prstGeom prst="rect">
            <a:avLst/>
          </a:prstGeom>
          <a:noFill/>
          <a:ln/>
        </p:spPr>
        <p:txBody>
          <a:bodyPr wrap="square" lIns="0" tIns="0" rIns="0" bIns="0" rtlCol="0" anchor="ctr"/>
          <a:lstStyle/>
          <a:p>
            <a:pPr indent="0" marL="0">
              <a:buNone/>
            </a:pPr>
            <a:r>
              <a:rPr lang="en-US" sz="1200" dirty="0">
                <a:solidFill>
                  <a:srgbClr val="5A5266"/>
                </a:solidFill>
                <a:latin typeface="Calibri" pitchFamily="34" charset="0"/>
                <a:ea typeface="Calibri" pitchFamily="34" charset="-122"/>
                <a:cs typeface="Calibri" pitchFamily="34" charset="-120"/>
              </a:rPr>
              <a:t>AI Readiness IQ scores the client across the five gates and finds the one that’s blocking them — then routes to the offering that clears it.</a:t>
            </a:r>
            <a:endParaRPr lang="en-US" sz="1200" dirty="0"/>
          </a:p>
        </p:txBody>
      </p:sp>
      <p:sp>
        <p:nvSpPr>
          <p:cNvPr id="5" name="Shape 3"/>
          <p:cNvSpPr/>
          <p:nvPr/>
        </p:nvSpPr>
        <p:spPr>
          <a:xfrm>
            <a:off x="502920" y="1691640"/>
            <a:ext cx="2468880" cy="3977640"/>
          </a:xfrm>
          <a:prstGeom prst="roundRect">
            <a:avLst>
              <a:gd name="adj" fmla="val 2593"/>
            </a:avLst>
          </a:prstGeom>
          <a:solidFill>
            <a:srgbClr val="5B3A8C"/>
          </a:solidFill>
          <a:ln/>
        </p:spPr>
      </p:sp>
      <p:pic>
        <p:nvPicPr>
          <p:cNvPr id="6" name="Image 0" descr="/home/claude/p4_a_aiiq.png">    </p:cNvPr>
          <p:cNvPicPr>
            <a:picLocks noChangeAspect="1"/>
          </p:cNvPicPr>
          <p:nvPr/>
        </p:nvPicPr>
        <p:blipFill>
          <a:blip r:embed="rId1"/>
          <a:stretch>
            <a:fillRect/>
          </a:stretch>
        </p:blipFill>
        <p:spPr>
          <a:xfrm>
            <a:off x="1463040" y="1965960"/>
            <a:ext cx="548640" cy="548640"/>
          </a:xfrm>
          <a:prstGeom prst="rect">
            <a:avLst/>
          </a:prstGeom>
        </p:spPr>
      </p:pic>
      <p:sp>
        <p:nvSpPr>
          <p:cNvPr id="7" name="Text 4"/>
          <p:cNvSpPr txBox="1"/>
          <p:nvPr/>
        </p:nvSpPr>
        <p:spPr>
          <a:xfrm>
            <a:off x="621792" y="2606040"/>
            <a:ext cx="2231136" cy="457200"/>
          </a:xfrm>
          <a:prstGeom prst="rect">
            <a:avLst/>
          </a:prstGeom>
          <a:noFill/>
          <a:ln/>
        </p:spPr>
        <p:txBody>
          <a:bodyPr wrap="square" lIns="0" tIns="0" rIns="0" bIns="0" rtlCol="0" anchor="ctr"/>
          <a:lstStyle/>
          <a:p>
            <a:pPr algn="ctr" indent="0" marL="0">
              <a:lnSpc>
                <a:spcPct val="90000"/>
              </a:lnSpc>
              <a:buNone/>
            </a:pPr>
            <a:r>
              <a:rPr lang="en-US" sz="1600" b="1" dirty="0">
                <a:solidFill>
                  <a:srgbClr val="FFFFFF"/>
                </a:solidFill>
                <a:latin typeface="Cambria" pitchFamily="34" charset="0"/>
                <a:ea typeface="Cambria" pitchFamily="34" charset="-122"/>
                <a:cs typeface="Cambria" pitchFamily="34" charset="-120"/>
              </a:rPr>
              <a:t>AI Readiness IQ</a:t>
            </a:r>
            <a:endParaRPr lang="en-US" sz="1600" dirty="0"/>
          </a:p>
        </p:txBody>
      </p:sp>
      <p:sp>
        <p:nvSpPr>
          <p:cNvPr id="8" name="Text 5"/>
          <p:cNvSpPr txBox="1"/>
          <p:nvPr/>
        </p:nvSpPr>
        <p:spPr>
          <a:xfrm>
            <a:off x="621792" y="3063240"/>
            <a:ext cx="2231136" cy="237744"/>
          </a:xfrm>
          <a:prstGeom prst="rect">
            <a:avLst/>
          </a:prstGeom>
          <a:noFill/>
          <a:ln/>
        </p:spPr>
        <p:txBody>
          <a:bodyPr wrap="square" lIns="0" tIns="0" rIns="0" bIns="0" rtlCol="0" anchor="ctr"/>
          <a:lstStyle/>
          <a:p>
            <a:pPr algn="ctr" indent="0" marL="0">
              <a:buNone/>
            </a:pPr>
            <a:r>
              <a:rPr lang="en-US" sz="950" i="1" dirty="0">
                <a:solidFill>
                  <a:srgbClr val="D6C2EC"/>
                </a:solidFill>
                <a:latin typeface="Calibri" pitchFamily="34" charset="0"/>
                <a:ea typeface="Calibri" pitchFamily="34" charset="-122"/>
                <a:cs typeface="Calibri" pitchFamily="34" charset="-120"/>
              </a:rPr>
              <a:t>free self-assessment</a:t>
            </a:r>
            <a:endParaRPr lang="en-US" sz="950" dirty="0"/>
          </a:p>
        </p:txBody>
      </p:sp>
      <p:sp>
        <p:nvSpPr>
          <p:cNvPr id="9" name="Text 6"/>
          <p:cNvSpPr txBox="1"/>
          <p:nvPr/>
        </p:nvSpPr>
        <p:spPr>
          <a:xfrm>
            <a:off x="621792" y="3429000"/>
            <a:ext cx="2231136" cy="457200"/>
          </a:xfrm>
          <a:prstGeom prst="rect">
            <a:avLst/>
          </a:prstGeom>
          <a:noFill/>
          <a:ln/>
        </p:spPr>
        <p:txBody>
          <a:bodyPr wrap="square" lIns="0" tIns="0" rIns="0" bIns="0" rtlCol="0" anchor="ctr"/>
          <a:lstStyle/>
          <a:p>
            <a:pPr algn="ctr" indent="0" marL="0">
              <a:lnSpc>
                <a:spcPct val="100000"/>
              </a:lnSpc>
              <a:buNone/>
            </a:pPr>
            <a:r>
              <a:rPr lang="en-US" sz="1200" i="1" dirty="0">
                <a:solidFill>
                  <a:srgbClr val="E4D8F4"/>
                </a:solidFill>
                <a:latin typeface="Cambria" pitchFamily="34" charset="0"/>
                <a:ea typeface="Cambria" pitchFamily="34" charset="-122"/>
                <a:cs typeface="Cambria" pitchFamily="34" charset="-120"/>
              </a:rPr>
              <a:t>“Where does my AI program break?”</a:t>
            </a:r>
            <a:endParaRPr lang="en-US" sz="1200" dirty="0"/>
          </a:p>
        </p:txBody>
      </p:sp>
      <p:sp>
        <p:nvSpPr>
          <p:cNvPr id="10" name="Text 7"/>
          <p:cNvSpPr txBox="1"/>
          <p:nvPr/>
        </p:nvSpPr>
        <p:spPr>
          <a:xfrm>
            <a:off x="621792" y="4069080"/>
            <a:ext cx="2231136" cy="640080"/>
          </a:xfrm>
          <a:prstGeom prst="rect">
            <a:avLst/>
          </a:prstGeom>
          <a:noFill/>
          <a:ln/>
        </p:spPr>
        <p:txBody>
          <a:bodyPr wrap="square" lIns="0" tIns="0" rIns="0" bIns="0" rtlCol="0" anchor="ctr"/>
          <a:lstStyle/>
          <a:p>
            <a:pPr algn="ctr" indent="0" marL="0">
              <a:lnSpc>
                <a:spcPct val="102000"/>
              </a:lnSpc>
              <a:buNone/>
            </a:pPr>
            <a:r>
              <a:rPr lang="en-US" sz="1000" dirty="0">
                <a:solidFill>
                  <a:srgbClr val="D6C2EC"/>
                </a:solidFill>
                <a:latin typeface="Calibri" pitchFamily="34" charset="0"/>
                <a:ea typeface="Calibri" pitchFamily="34" charset="-122"/>
                <a:cs typeface="Calibri" pitchFamily="34" charset="-120"/>
              </a:rPr>
              <a:t>Scores all five gates — routes to the one that’s blocking you →</a:t>
            </a:r>
            <a:endParaRPr lang="en-US" sz="1000" dirty="0"/>
          </a:p>
        </p:txBody>
      </p:sp>
      <p:sp>
        <p:nvSpPr>
          <p:cNvPr id="11" name="Text 8"/>
          <p:cNvSpPr txBox="1"/>
          <p:nvPr/>
        </p:nvSpPr>
        <p:spPr>
          <a:xfrm>
            <a:off x="621792" y="5212080"/>
            <a:ext cx="2231136" cy="274320"/>
          </a:xfrm>
          <a:prstGeom prst="rect">
            <a:avLst/>
          </a:prstGeom>
          <a:noFill/>
          <a:ln/>
        </p:spPr>
        <p:txBody>
          <a:bodyPr wrap="square" lIns="0" tIns="0" rIns="0" bIns="0" rtlCol="0" anchor="ctr"/>
          <a:lstStyle/>
          <a:p>
            <a:pPr algn="ctr" indent="0" marL="0">
              <a:buNone/>
            </a:pPr>
            <a:r>
              <a:rPr lang="en-US" sz="900" b="1" spc="150" kern="0" dirty="0">
                <a:solidFill>
                  <a:srgbClr val="B99FDB"/>
                </a:solidFill>
                <a:latin typeface="Calibri" pitchFamily="34" charset="0"/>
                <a:ea typeface="Calibri" pitchFamily="34" charset="-122"/>
                <a:cs typeface="Calibri" pitchFamily="34" charset="-120"/>
              </a:rPr>
              <a:t>IN BUILD</a:t>
            </a:r>
            <a:endParaRPr lang="en-US" sz="900" dirty="0"/>
          </a:p>
        </p:txBody>
      </p:sp>
      <p:sp>
        <p:nvSpPr>
          <p:cNvPr id="12" name="Shape 9"/>
          <p:cNvSpPr/>
          <p:nvPr/>
        </p:nvSpPr>
        <p:spPr>
          <a:xfrm>
            <a:off x="3337560" y="1737360"/>
            <a:ext cx="8321040" cy="658368"/>
          </a:xfrm>
          <a:prstGeom prst="roundRect">
            <a:avLst>
              <a:gd name="adj" fmla="val 8333"/>
            </a:avLst>
          </a:prstGeom>
          <a:solidFill>
            <a:srgbClr val="F0EAF7"/>
          </a:solidFill>
          <a:ln w="9525">
            <a:solidFill>
              <a:srgbClr val="B99FDB"/>
            </a:solidFill>
            <a:prstDash val="solid"/>
          </a:ln>
        </p:spPr>
      </p:sp>
      <p:sp>
        <p:nvSpPr>
          <p:cNvPr id="13" name="Shape 10"/>
          <p:cNvSpPr/>
          <p:nvPr/>
        </p:nvSpPr>
        <p:spPr>
          <a:xfrm>
            <a:off x="3474720" y="1856232"/>
            <a:ext cx="1234440" cy="420624"/>
          </a:xfrm>
          <a:prstGeom prst="roundRect">
            <a:avLst>
              <a:gd name="adj" fmla="val 10870"/>
            </a:avLst>
          </a:prstGeom>
          <a:solidFill>
            <a:srgbClr val="5B3A8C"/>
          </a:solidFill>
          <a:ln/>
        </p:spPr>
      </p:sp>
      <p:sp>
        <p:nvSpPr>
          <p:cNvPr id="14" name="Text 11"/>
          <p:cNvSpPr txBox="1"/>
          <p:nvPr/>
        </p:nvSpPr>
        <p:spPr>
          <a:xfrm>
            <a:off x="3474720" y="1856232"/>
            <a:ext cx="123444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GATE 1</a:t>
            </a:r>
            <a:endParaRPr lang="en-US" sz="1100" dirty="0"/>
          </a:p>
        </p:txBody>
      </p:sp>
      <p:sp>
        <p:nvSpPr>
          <p:cNvPr id="15" name="Text 12"/>
          <p:cNvSpPr txBox="1"/>
          <p:nvPr/>
        </p:nvSpPr>
        <p:spPr>
          <a:xfrm>
            <a:off x="4846320" y="1737360"/>
            <a:ext cx="2286000" cy="658368"/>
          </a:xfrm>
          <a:prstGeom prst="rect">
            <a:avLst/>
          </a:prstGeom>
          <a:noFill/>
          <a:ln/>
        </p:spPr>
        <p:txBody>
          <a:bodyPr wrap="square" lIns="0" tIns="0" rIns="0" bIns="0" rtlCol="0" anchor="ctr"/>
          <a:lstStyle/>
          <a:p>
            <a:pPr indent="0" marL="0">
              <a:buNone/>
            </a:pPr>
            <a:r>
              <a:rPr lang="en-US" sz="1300" b="1" i="1" dirty="0">
                <a:solidFill>
                  <a:srgbClr val="472D6E"/>
                </a:solidFill>
                <a:latin typeface="Cambria" pitchFamily="34" charset="0"/>
                <a:ea typeface="Cambria" pitchFamily="34" charset="-122"/>
                <a:cs typeface="Cambria" pitchFamily="34" charset="-120"/>
              </a:rPr>
              <a:t>“Should we?”</a:t>
            </a:r>
            <a:endParaRPr lang="en-US" sz="1300" dirty="0"/>
          </a:p>
        </p:txBody>
      </p:sp>
      <p:sp>
        <p:nvSpPr>
          <p:cNvPr id="16" name="Text 13"/>
          <p:cNvSpPr txBox="1"/>
          <p:nvPr/>
        </p:nvSpPr>
        <p:spPr>
          <a:xfrm>
            <a:off x="7178040" y="1737360"/>
            <a:ext cx="274320" cy="658368"/>
          </a:xfrm>
          <a:prstGeom prst="rect">
            <a:avLst/>
          </a:prstGeom>
          <a:noFill/>
          <a:ln/>
        </p:spPr>
        <p:txBody>
          <a:bodyPr wrap="square" lIns="0" tIns="0" rIns="0" bIns="0" rtlCol="0" anchor="ctr"/>
          <a:lstStyle/>
          <a:p>
            <a:pPr algn="ctr" indent="0" marL="0">
              <a:buNone/>
            </a:pPr>
            <a:r>
              <a:rPr lang="en-US" sz="1500" dirty="0">
                <a:solidFill>
                  <a:srgbClr val="B99FDB"/>
                </a:solidFill>
                <a:latin typeface="Calibri" pitchFamily="34" charset="0"/>
                <a:ea typeface="Calibri" pitchFamily="34" charset="-122"/>
                <a:cs typeface="Calibri" pitchFamily="34" charset="-120"/>
              </a:rPr>
              <a:t>→</a:t>
            </a:r>
            <a:endParaRPr lang="en-US" sz="1500" dirty="0"/>
          </a:p>
        </p:txBody>
      </p:sp>
      <p:sp>
        <p:nvSpPr>
          <p:cNvPr id="17" name="Text 14"/>
          <p:cNvSpPr txBox="1"/>
          <p:nvPr/>
        </p:nvSpPr>
        <p:spPr>
          <a:xfrm>
            <a:off x="7498080" y="1737360"/>
            <a:ext cx="4023360" cy="658368"/>
          </a:xfrm>
          <a:prstGeom prst="rect">
            <a:avLst/>
          </a:prstGeom>
          <a:noFill/>
          <a:ln/>
        </p:spPr>
        <p:txBody>
          <a:bodyPr wrap="square" lIns="0" tIns="0" rIns="0" bIns="0" rtlCol="0" anchor="ctr"/>
          <a:lstStyle/>
          <a:p>
            <a:pPr indent="0" marL="0">
              <a:lnSpc>
                <a:spcPct val="90000"/>
              </a:lnSpc>
              <a:buNone/>
            </a:pPr>
            <a:r>
              <a:rPr lang="en-US" sz="1150" b="1" dirty="0">
                <a:solidFill>
                  <a:srgbClr val="5B3A8C"/>
                </a:solidFill>
                <a:latin typeface="Cambria" pitchFamily="34" charset="0"/>
                <a:ea typeface="Cambria" pitchFamily="34" charset="-122"/>
                <a:cs typeface="Cambria" pitchFamily="34" charset="-120"/>
              </a:rPr>
              <a:t>04.1 AI Readiness, Opportunity</a:t>
            </a:r>
            <a:endParaRPr lang="en-US" sz="1150" dirty="0"/>
          </a:p>
          <a:p>
            <a:pPr indent="0" marL="0">
              <a:lnSpc>
                <a:spcPct val="90000"/>
              </a:lnSpc>
              <a:buNone/>
            </a:pPr>
            <a:r>
              <a:rPr lang="en-US" sz="1150" b="1" dirty="0">
                <a:solidFill>
                  <a:srgbClr val="5B3A8C"/>
                </a:solidFill>
                <a:latin typeface="Cambria" pitchFamily="34" charset="0"/>
                <a:ea typeface="Cambria" pitchFamily="34" charset="-122"/>
                <a:cs typeface="Cambria" pitchFamily="34" charset="-120"/>
              </a:rPr>
              <a:t>&amp; Operating Model</a:t>
            </a:r>
            <a:endParaRPr lang="en-US" sz="1150" dirty="0"/>
          </a:p>
        </p:txBody>
      </p:sp>
      <p:sp>
        <p:nvSpPr>
          <p:cNvPr id="18" name="Shape 15"/>
          <p:cNvSpPr/>
          <p:nvPr/>
        </p:nvSpPr>
        <p:spPr>
          <a:xfrm>
            <a:off x="3337560" y="2537460"/>
            <a:ext cx="8321040" cy="658368"/>
          </a:xfrm>
          <a:prstGeom prst="roundRect">
            <a:avLst>
              <a:gd name="adj" fmla="val 8333"/>
            </a:avLst>
          </a:prstGeom>
          <a:solidFill>
            <a:srgbClr val="E7DDF3"/>
          </a:solidFill>
          <a:ln w="9525">
            <a:solidFill>
              <a:srgbClr val="B99FDB"/>
            </a:solidFill>
            <a:prstDash val="solid"/>
          </a:ln>
        </p:spPr>
      </p:sp>
      <p:sp>
        <p:nvSpPr>
          <p:cNvPr id="19" name="Shape 16"/>
          <p:cNvSpPr/>
          <p:nvPr/>
        </p:nvSpPr>
        <p:spPr>
          <a:xfrm>
            <a:off x="3474720" y="2656332"/>
            <a:ext cx="1234440" cy="420624"/>
          </a:xfrm>
          <a:prstGeom prst="roundRect">
            <a:avLst>
              <a:gd name="adj" fmla="val 10870"/>
            </a:avLst>
          </a:prstGeom>
          <a:solidFill>
            <a:srgbClr val="5B3A8C"/>
          </a:solidFill>
          <a:ln/>
        </p:spPr>
      </p:sp>
      <p:sp>
        <p:nvSpPr>
          <p:cNvPr id="20" name="Text 17"/>
          <p:cNvSpPr txBox="1"/>
          <p:nvPr/>
        </p:nvSpPr>
        <p:spPr>
          <a:xfrm>
            <a:off x="3474720" y="2656332"/>
            <a:ext cx="123444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GATE 2</a:t>
            </a:r>
            <a:endParaRPr lang="en-US" sz="1100" dirty="0"/>
          </a:p>
        </p:txBody>
      </p:sp>
      <p:sp>
        <p:nvSpPr>
          <p:cNvPr id="21" name="Text 18"/>
          <p:cNvSpPr txBox="1"/>
          <p:nvPr/>
        </p:nvSpPr>
        <p:spPr>
          <a:xfrm>
            <a:off x="4846320" y="2537460"/>
            <a:ext cx="2286000" cy="658368"/>
          </a:xfrm>
          <a:prstGeom prst="rect">
            <a:avLst/>
          </a:prstGeom>
          <a:noFill/>
          <a:ln/>
        </p:spPr>
        <p:txBody>
          <a:bodyPr wrap="square" lIns="0" tIns="0" rIns="0" bIns="0" rtlCol="0" anchor="ctr"/>
          <a:lstStyle/>
          <a:p>
            <a:pPr indent="0" marL="0">
              <a:buNone/>
            </a:pPr>
            <a:r>
              <a:rPr lang="en-US" sz="1300" b="1" i="1" dirty="0">
                <a:solidFill>
                  <a:srgbClr val="472D6E"/>
                </a:solidFill>
                <a:latin typeface="Cambria" pitchFamily="34" charset="0"/>
                <a:ea typeface="Cambria" pitchFamily="34" charset="-122"/>
                <a:cs typeface="Cambria" pitchFamily="34" charset="-120"/>
              </a:rPr>
              <a:t>“Can we run it?”</a:t>
            </a:r>
            <a:endParaRPr lang="en-US" sz="1300" dirty="0"/>
          </a:p>
        </p:txBody>
      </p:sp>
      <p:sp>
        <p:nvSpPr>
          <p:cNvPr id="22" name="Text 19"/>
          <p:cNvSpPr txBox="1"/>
          <p:nvPr/>
        </p:nvSpPr>
        <p:spPr>
          <a:xfrm>
            <a:off x="7178040" y="2537460"/>
            <a:ext cx="274320" cy="658368"/>
          </a:xfrm>
          <a:prstGeom prst="rect">
            <a:avLst/>
          </a:prstGeom>
          <a:noFill/>
          <a:ln/>
        </p:spPr>
        <p:txBody>
          <a:bodyPr wrap="square" lIns="0" tIns="0" rIns="0" bIns="0" rtlCol="0" anchor="ctr"/>
          <a:lstStyle/>
          <a:p>
            <a:pPr algn="ctr" indent="0" marL="0">
              <a:buNone/>
            </a:pPr>
            <a:r>
              <a:rPr lang="en-US" sz="1500" dirty="0">
                <a:solidFill>
                  <a:srgbClr val="B99FDB"/>
                </a:solidFill>
                <a:latin typeface="Calibri" pitchFamily="34" charset="0"/>
                <a:ea typeface="Calibri" pitchFamily="34" charset="-122"/>
                <a:cs typeface="Calibri" pitchFamily="34" charset="-120"/>
              </a:rPr>
              <a:t>→</a:t>
            </a:r>
            <a:endParaRPr lang="en-US" sz="1500" dirty="0"/>
          </a:p>
        </p:txBody>
      </p:sp>
      <p:sp>
        <p:nvSpPr>
          <p:cNvPr id="23" name="Text 20"/>
          <p:cNvSpPr txBox="1"/>
          <p:nvPr/>
        </p:nvSpPr>
        <p:spPr>
          <a:xfrm>
            <a:off x="7498080" y="2537460"/>
            <a:ext cx="4023360" cy="658368"/>
          </a:xfrm>
          <a:prstGeom prst="rect">
            <a:avLst/>
          </a:prstGeom>
          <a:noFill/>
          <a:ln/>
        </p:spPr>
        <p:txBody>
          <a:bodyPr wrap="square" lIns="0" tIns="0" rIns="0" bIns="0" rtlCol="0" anchor="ctr"/>
          <a:lstStyle/>
          <a:p>
            <a:pPr indent="0" marL="0">
              <a:lnSpc>
                <a:spcPct val="90000"/>
              </a:lnSpc>
              <a:buNone/>
            </a:pPr>
            <a:r>
              <a:rPr lang="en-US" sz="1150" b="1" dirty="0">
                <a:solidFill>
                  <a:srgbClr val="5B3A8C"/>
                </a:solidFill>
                <a:latin typeface="Cambria" pitchFamily="34" charset="0"/>
                <a:ea typeface="Cambria" pitchFamily="34" charset="-122"/>
                <a:cs typeface="Cambria" pitchFamily="34" charset="-120"/>
              </a:rPr>
              <a:t>04.2 AI Infrastructure</a:t>
            </a:r>
            <a:endParaRPr lang="en-US" sz="1150" dirty="0"/>
          </a:p>
        </p:txBody>
      </p:sp>
      <p:sp>
        <p:nvSpPr>
          <p:cNvPr id="24" name="Shape 21"/>
          <p:cNvSpPr/>
          <p:nvPr/>
        </p:nvSpPr>
        <p:spPr>
          <a:xfrm>
            <a:off x="3337560" y="3337560"/>
            <a:ext cx="8321040" cy="658368"/>
          </a:xfrm>
          <a:prstGeom prst="roundRect">
            <a:avLst>
              <a:gd name="adj" fmla="val 8333"/>
            </a:avLst>
          </a:prstGeom>
          <a:solidFill>
            <a:srgbClr val="DECFED"/>
          </a:solidFill>
          <a:ln w="9525">
            <a:solidFill>
              <a:srgbClr val="B99FDB"/>
            </a:solidFill>
            <a:prstDash val="solid"/>
          </a:ln>
        </p:spPr>
      </p:sp>
      <p:sp>
        <p:nvSpPr>
          <p:cNvPr id="25" name="Shape 22"/>
          <p:cNvSpPr/>
          <p:nvPr/>
        </p:nvSpPr>
        <p:spPr>
          <a:xfrm>
            <a:off x="3474720" y="3456432"/>
            <a:ext cx="1234440" cy="420624"/>
          </a:xfrm>
          <a:prstGeom prst="roundRect">
            <a:avLst>
              <a:gd name="adj" fmla="val 10870"/>
            </a:avLst>
          </a:prstGeom>
          <a:solidFill>
            <a:srgbClr val="5B3A8C"/>
          </a:solidFill>
          <a:ln/>
        </p:spPr>
      </p:sp>
      <p:sp>
        <p:nvSpPr>
          <p:cNvPr id="26" name="Text 23"/>
          <p:cNvSpPr txBox="1"/>
          <p:nvPr/>
        </p:nvSpPr>
        <p:spPr>
          <a:xfrm>
            <a:off x="3474720" y="3456432"/>
            <a:ext cx="123444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GATE 3</a:t>
            </a:r>
            <a:endParaRPr lang="en-US" sz="1100" dirty="0"/>
          </a:p>
        </p:txBody>
      </p:sp>
      <p:sp>
        <p:nvSpPr>
          <p:cNvPr id="27" name="Text 24"/>
          <p:cNvSpPr txBox="1"/>
          <p:nvPr/>
        </p:nvSpPr>
        <p:spPr>
          <a:xfrm>
            <a:off x="4846320" y="3337560"/>
            <a:ext cx="2286000" cy="658368"/>
          </a:xfrm>
          <a:prstGeom prst="rect">
            <a:avLst/>
          </a:prstGeom>
          <a:noFill/>
          <a:ln/>
        </p:spPr>
        <p:txBody>
          <a:bodyPr wrap="square" lIns="0" tIns="0" rIns="0" bIns="0" rtlCol="0" anchor="ctr"/>
          <a:lstStyle/>
          <a:p>
            <a:pPr indent="0" marL="0">
              <a:buNone/>
            </a:pPr>
            <a:r>
              <a:rPr lang="en-US" sz="1300" b="1" i="1" dirty="0">
                <a:solidFill>
                  <a:srgbClr val="472D6E"/>
                </a:solidFill>
                <a:latin typeface="Cambria" pitchFamily="34" charset="0"/>
                <a:ea typeface="Cambria" pitchFamily="34" charset="-122"/>
                <a:cs typeface="Cambria" pitchFamily="34" charset="-120"/>
              </a:rPr>
              <a:t>“Will it pass?”</a:t>
            </a:r>
            <a:endParaRPr lang="en-US" sz="1300" dirty="0"/>
          </a:p>
        </p:txBody>
      </p:sp>
      <p:sp>
        <p:nvSpPr>
          <p:cNvPr id="28" name="Text 25"/>
          <p:cNvSpPr txBox="1"/>
          <p:nvPr/>
        </p:nvSpPr>
        <p:spPr>
          <a:xfrm>
            <a:off x="7178040" y="3337560"/>
            <a:ext cx="274320" cy="658368"/>
          </a:xfrm>
          <a:prstGeom prst="rect">
            <a:avLst/>
          </a:prstGeom>
          <a:noFill/>
          <a:ln/>
        </p:spPr>
        <p:txBody>
          <a:bodyPr wrap="square" lIns="0" tIns="0" rIns="0" bIns="0" rtlCol="0" anchor="ctr"/>
          <a:lstStyle/>
          <a:p>
            <a:pPr algn="ctr" indent="0" marL="0">
              <a:buNone/>
            </a:pPr>
            <a:r>
              <a:rPr lang="en-US" sz="1500" dirty="0">
                <a:solidFill>
                  <a:srgbClr val="B99FDB"/>
                </a:solidFill>
                <a:latin typeface="Calibri" pitchFamily="34" charset="0"/>
                <a:ea typeface="Calibri" pitchFamily="34" charset="-122"/>
                <a:cs typeface="Calibri" pitchFamily="34" charset="-120"/>
              </a:rPr>
              <a:t>→</a:t>
            </a:r>
            <a:endParaRPr lang="en-US" sz="1500" dirty="0"/>
          </a:p>
        </p:txBody>
      </p:sp>
      <p:sp>
        <p:nvSpPr>
          <p:cNvPr id="29" name="Text 26"/>
          <p:cNvSpPr txBox="1"/>
          <p:nvPr/>
        </p:nvSpPr>
        <p:spPr>
          <a:xfrm>
            <a:off x="7498080" y="3337560"/>
            <a:ext cx="4023360" cy="658368"/>
          </a:xfrm>
          <a:prstGeom prst="rect">
            <a:avLst/>
          </a:prstGeom>
          <a:noFill/>
          <a:ln/>
        </p:spPr>
        <p:txBody>
          <a:bodyPr wrap="square" lIns="0" tIns="0" rIns="0" bIns="0" rtlCol="0" anchor="ctr"/>
          <a:lstStyle/>
          <a:p>
            <a:pPr indent="0" marL="0">
              <a:lnSpc>
                <a:spcPct val="90000"/>
              </a:lnSpc>
              <a:buNone/>
            </a:pPr>
            <a:r>
              <a:rPr lang="en-US" sz="1150" b="1" dirty="0">
                <a:solidFill>
                  <a:srgbClr val="5B3A8C"/>
                </a:solidFill>
                <a:latin typeface="Cambria" pitchFamily="34" charset="0"/>
                <a:ea typeface="Cambria" pitchFamily="34" charset="-122"/>
                <a:cs typeface="Cambria" pitchFamily="34" charset="-120"/>
              </a:rPr>
              <a:t>04.3 Responsible AI &amp; Governance</a:t>
            </a:r>
            <a:endParaRPr lang="en-US" sz="1150" dirty="0"/>
          </a:p>
        </p:txBody>
      </p:sp>
      <p:sp>
        <p:nvSpPr>
          <p:cNvPr id="30" name="Shape 27"/>
          <p:cNvSpPr/>
          <p:nvPr/>
        </p:nvSpPr>
        <p:spPr>
          <a:xfrm>
            <a:off x="3337560" y="4137660"/>
            <a:ext cx="8321040" cy="658368"/>
          </a:xfrm>
          <a:prstGeom prst="roundRect">
            <a:avLst>
              <a:gd name="adj" fmla="val 8333"/>
            </a:avLst>
          </a:prstGeom>
          <a:solidFill>
            <a:srgbClr val="D3C0E6"/>
          </a:solidFill>
          <a:ln w="9525">
            <a:solidFill>
              <a:srgbClr val="B99FDB"/>
            </a:solidFill>
            <a:prstDash val="solid"/>
          </a:ln>
        </p:spPr>
      </p:sp>
      <p:sp>
        <p:nvSpPr>
          <p:cNvPr id="31" name="Shape 28"/>
          <p:cNvSpPr/>
          <p:nvPr/>
        </p:nvSpPr>
        <p:spPr>
          <a:xfrm>
            <a:off x="3474720" y="4256532"/>
            <a:ext cx="1234440" cy="420624"/>
          </a:xfrm>
          <a:prstGeom prst="roundRect">
            <a:avLst>
              <a:gd name="adj" fmla="val 10870"/>
            </a:avLst>
          </a:prstGeom>
          <a:solidFill>
            <a:srgbClr val="5B3A8C"/>
          </a:solidFill>
          <a:ln/>
        </p:spPr>
      </p:sp>
      <p:sp>
        <p:nvSpPr>
          <p:cNvPr id="32" name="Text 29"/>
          <p:cNvSpPr txBox="1"/>
          <p:nvPr/>
        </p:nvSpPr>
        <p:spPr>
          <a:xfrm>
            <a:off x="3474720" y="4256532"/>
            <a:ext cx="123444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GATE 4</a:t>
            </a:r>
            <a:endParaRPr lang="en-US" sz="1100" dirty="0"/>
          </a:p>
        </p:txBody>
      </p:sp>
      <p:sp>
        <p:nvSpPr>
          <p:cNvPr id="33" name="Text 30"/>
          <p:cNvSpPr txBox="1"/>
          <p:nvPr/>
        </p:nvSpPr>
        <p:spPr>
          <a:xfrm>
            <a:off x="4846320" y="4137660"/>
            <a:ext cx="2286000" cy="658368"/>
          </a:xfrm>
          <a:prstGeom prst="rect">
            <a:avLst/>
          </a:prstGeom>
          <a:noFill/>
          <a:ln/>
        </p:spPr>
        <p:txBody>
          <a:bodyPr wrap="square" lIns="0" tIns="0" rIns="0" bIns="0" rtlCol="0" anchor="ctr"/>
          <a:lstStyle/>
          <a:p>
            <a:pPr indent="0" marL="0">
              <a:buNone/>
            </a:pPr>
            <a:r>
              <a:rPr lang="en-US" sz="1300" b="1" i="1" dirty="0">
                <a:solidFill>
                  <a:srgbClr val="472D6E"/>
                </a:solidFill>
                <a:latin typeface="Cambria" pitchFamily="34" charset="0"/>
                <a:ea typeface="Cambria" pitchFamily="34" charset="-122"/>
                <a:cs typeface="Cambria" pitchFamily="34" charset="-120"/>
              </a:rPr>
              <a:t>“Can we afford it?”</a:t>
            </a:r>
            <a:endParaRPr lang="en-US" sz="1300" dirty="0"/>
          </a:p>
        </p:txBody>
      </p:sp>
      <p:sp>
        <p:nvSpPr>
          <p:cNvPr id="34" name="Text 31"/>
          <p:cNvSpPr txBox="1"/>
          <p:nvPr/>
        </p:nvSpPr>
        <p:spPr>
          <a:xfrm>
            <a:off x="7178040" y="4137660"/>
            <a:ext cx="274320" cy="658368"/>
          </a:xfrm>
          <a:prstGeom prst="rect">
            <a:avLst/>
          </a:prstGeom>
          <a:noFill/>
          <a:ln/>
        </p:spPr>
        <p:txBody>
          <a:bodyPr wrap="square" lIns="0" tIns="0" rIns="0" bIns="0" rtlCol="0" anchor="ctr"/>
          <a:lstStyle/>
          <a:p>
            <a:pPr algn="ctr" indent="0" marL="0">
              <a:buNone/>
            </a:pPr>
            <a:r>
              <a:rPr lang="en-US" sz="1500" dirty="0">
                <a:solidFill>
                  <a:srgbClr val="B99FDB"/>
                </a:solidFill>
                <a:latin typeface="Calibri" pitchFamily="34" charset="0"/>
                <a:ea typeface="Calibri" pitchFamily="34" charset="-122"/>
                <a:cs typeface="Calibri" pitchFamily="34" charset="-120"/>
              </a:rPr>
              <a:t>→</a:t>
            </a:r>
            <a:endParaRPr lang="en-US" sz="1500" dirty="0"/>
          </a:p>
        </p:txBody>
      </p:sp>
      <p:sp>
        <p:nvSpPr>
          <p:cNvPr id="35" name="Text 32"/>
          <p:cNvSpPr txBox="1"/>
          <p:nvPr/>
        </p:nvSpPr>
        <p:spPr>
          <a:xfrm>
            <a:off x="7498080" y="4137660"/>
            <a:ext cx="4023360" cy="658368"/>
          </a:xfrm>
          <a:prstGeom prst="rect">
            <a:avLst/>
          </a:prstGeom>
          <a:noFill/>
          <a:ln/>
        </p:spPr>
        <p:txBody>
          <a:bodyPr wrap="square" lIns="0" tIns="0" rIns="0" bIns="0" rtlCol="0" anchor="ctr"/>
          <a:lstStyle/>
          <a:p>
            <a:pPr indent="0" marL="0">
              <a:lnSpc>
                <a:spcPct val="90000"/>
              </a:lnSpc>
              <a:buNone/>
            </a:pPr>
            <a:r>
              <a:rPr lang="en-US" sz="1150" b="1" dirty="0">
                <a:solidFill>
                  <a:srgbClr val="5B3A8C"/>
                </a:solidFill>
                <a:latin typeface="Cambria" pitchFamily="34" charset="0"/>
                <a:ea typeface="Cambria" pitchFamily="34" charset="-122"/>
                <a:cs typeface="Cambria" pitchFamily="34" charset="-120"/>
              </a:rPr>
              <a:t>04.4 AI Cost, FinOps for AI</a:t>
            </a:r>
            <a:endParaRPr lang="en-US" sz="1150" dirty="0"/>
          </a:p>
          <a:p>
            <a:pPr indent="0" marL="0">
              <a:lnSpc>
                <a:spcPct val="90000"/>
              </a:lnSpc>
              <a:buNone/>
            </a:pPr>
            <a:r>
              <a:rPr lang="en-US" sz="1150" b="1" dirty="0">
                <a:solidFill>
                  <a:srgbClr val="5B3A8C"/>
                </a:solidFill>
                <a:latin typeface="Cambria" pitchFamily="34" charset="0"/>
                <a:ea typeface="Cambria" pitchFamily="34" charset="-122"/>
                <a:cs typeface="Cambria" pitchFamily="34" charset="-120"/>
              </a:rPr>
              <a:t>&amp; Tokenomics</a:t>
            </a:r>
            <a:endParaRPr lang="en-US" sz="1150" dirty="0"/>
          </a:p>
        </p:txBody>
      </p:sp>
      <p:sp>
        <p:nvSpPr>
          <p:cNvPr id="36" name="Shape 33"/>
          <p:cNvSpPr/>
          <p:nvPr/>
        </p:nvSpPr>
        <p:spPr>
          <a:xfrm>
            <a:off x="3337560" y="4937760"/>
            <a:ext cx="8321040" cy="658368"/>
          </a:xfrm>
          <a:prstGeom prst="roundRect">
            <a:avLst>
              <a:gd name="adj" fmla="val 8333"/>
            </a:avLst>
          </a:prstGeom>
          <a:solidFill>
            <a:srgbClr val="C9B2E0"/>
          </a:solidFill>
          <a:ln w="9525">
            <a:solidFill>
              <a:srgbClr val="B99FDB"/>
            </a:solidFill>
            <a:prstDash val="solid"/>
          </a:ln>
        </p:spPr>
      </p:sp>
      <p:sp>
        <p:nvSpPr>
          <p:cNvPr id="37" name="Shape 34"/>
          <p:cNvSpPr/>
          <p:nvPr/>
        </p:nvSpPr>
        <p:spPr>
          <a:xfrm>
            <a:off x="3474720" y="5056632"/>
            <a:ext cx="1234440" cy="420624"/>
          </a:xfrm>
          <a:prstGeom prst="roundRect">
            <a:avLst>
              <a:gd name="adj" fmla="val 10870"/>
            </a:avLst>
          </a:prstGeom>
          <a:solidFill>
            <a:srgbClr val="5B3A8C"/>
          </a:solidFill>
          <a:ln/>
        </p:spPr>
      </p:sp>
      <p:sp>
        <p:nvSpPr>
          <p:cNvPr id="38" name="Text 35"/>
          <p:cNvSpPr txBox="1"/>
          <p:nvPr/>
        </p:nvSpPr>
        <p:spPr>
          <a:xfrm>
            <a:off x="3474720" y="5056632"/>
            <a:ext cx="123444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GATE 5</a:t>
            </a:r>
            <a:endParaRPr lang="en-US" sz="1100" dirty="0"/>
          </a:p>
        </p:txBody>
      </p:sp>
      <p:sp>
        <p:nvSpPr>
          <p:cNvPr id="39" name="Text 36"/>
          <p:cNvSpPr txBox="1"/>
          <p:nvPr/>
        </p:nvSpPr>
        <p:spPr>
          <a:xfrm>
            <a:off x="4846320" y="4937760"/>
            <a:ext cx="2286000" cy="658368"/>
          </a:xfrm>
          <a:prstGeom prst="rect">
            <a:avLst/>
          </a:prstGeom>
          <a:noFill/>
          <a:ln/>
        </p:spPr>
        <p:txBody>
          <a:bodyPr wrap="square" lIns="0" tIns="0" rIns="0" bIns="0" rtlCol="0" anchor="ctr"/>
          <a:lstStyle/>
          <a:p>
            <a:pPr indent="0" marL="0">
              <a:buNone/>
            </a:pPr>
            <a:r>
              <a:rPr lang="en-US" sz="1300" b="1" i="1" dirty="0">
                <a:solidFill>
                  <a:srgbClr val="472D6E"/>
                </a:solidFill>
                <a:latin typeface="Cambria" pitchFamily="34" charset="0"/>
                <a:ea typeface="Cambria" pitchFamily="34" charset="-122"/>
                <a:cs typeface="Cambria" pitchFamily="34" charset="-120"/>
              </a:rPr>
              <a:t>“Can it act alone?”</a:t>
            </a:r>
            <a:endParaRPr lang="en-US" sz="1300" dirty="0"/>
          </a:p>
        </p:txBody>
      </p:sp>
      <p:sp>
        <p:nvSpPr>
          <p:cNvPr id="40" name="Text 37"/>
          <p:cNvSpPr txBox="1"/>
          <p:nvPr/>
        </p:nvSpPr>
        <p:spPr>
          <a:xfrm>
            <a:off x="7178040" y="4937760"/>
            <a:ext cx="274320" cy="658368"/>
          </a:xfrm>
          <a:prstGeom prst="rect">
            <a:avLst/>
          </a:prstGeom>
          <a:noFill/>
          <a:ln/>
        </p:spPr>
        <p:txBody>
          <a:bodyPr wrap="square" lIns="0" tIns="0" rIns="0" bIns="0" rtlCol="0" anchor="ctr"/>
          <a:lstStyle/>
          <a:p>
            <a:pPr algn="ctr" indent="0" marL="0">
              <a:buNone/>
            </a:pPr>
            <a:r>
              <a:rPr lang="en-US" sz="1500" dirty="0">
                <a:solidFill>
                  <a:srgbClr val="B99FDB"/>
                </a:solidFill>
                <a:latin typeface="Calibri" pitchFamily="34" charset="0"/>
                <a:ea typeface="Calibri" pitchFamily="34" charset="-122"/>
                <a:cs typeface="Calibri" pitchFamily="34" charset="-120"/>
              </a:rPr>
              <a:t>→</a:t>
            </a:r>
            <a:endParaRPr lang="en-US" sz="1500" dirty="0"/>
          </a:p>
        </p:txBody>
      </p:sp>
      <p:sp>
        <p:nvSpPr>
          <p:cNvPr id="41" name="Text 38"/>
          <p:cNvSpPr txBox="1"/>
          <p:nvPr/>
        </p:nvSpPr>
        <p:spPr>
          <a:xfrm>
            <a:off x="7498080" y="4937760"/>
            <a:ext cx="4023360" cy="658368"/>
          </a:xfrm>
          <a:prstGeom prst="rect">
            <a:avLst/>
          </a:prstGeom>
          <a:noFill/>
          <a:ln/>
        </p:spPr>
        <p:txBody>
          <a:bodyPr wrap="square" lIns="0" tIns="0" rIns="0" bIns="0" rtlCol="0" anchor="ctr"/>
          <a:lstStyle/>
          <a:p>
            <a:pPr indent="0" marL="0">
              <a:lnSpc>
                <a:spcPct val="90000"/>
              </a:lnSpc>
              <a:buNone/>
            </a:pPr>
            <a:r>
              <a:rPr lang="en-US" sz="1150" b="1" dirty="0">
                <a:solidFill>
                  <a:srgbClr val="5B3A8C"/>
                </a:solidFill>
                <a:latin typeface="Cambria" pitchFamily="34" charset="0"/>
                <a:ea typeface="Cambria" pitchFamily="34" charset="-122"/>
                <a:cs typeface="Cambria" pitchFamily="34" charset="-120"/>
              </a:rPr>
              <a:t>04.5 Agentic-Ops</a:t>
            </a:r>
            <a:endParaRPr lang="en-US" sz="1150" dirty="0"/>
          </a:p>
        </p:txBody>
      </p:sp>
      <p:sp>
        <p:nvSpPr>
          <p:cNvPr id="42" name="Text 39"/>
          <p:cNvSpPr txBox="1"/>
          <p:nvPr/>
        </p:nvSpPr>
        <p:spPr>
          <a:xfrm>
            <a:off x="3337560" y="5852160"/>
            <a:ext cx="8321040" cy="274320"/>
          </a:xfrm>
          <a:prstGeom prst="rect">
            <a:avLst/>
          </a:prstGeom>
          <a:noFill/>
          <a:ln/>
        </p:spPr>
        <p:txBody>
          <a:bodyPr wrap="square" lIns="0" tIns="0" rIns="0" bIns="0" rtlCol="0" anchor="ctr"/>
          <a:lstStyle/>
          <a:p>
            <a:pPr indent="0" marL="0">
              <a:buNone/>
            </a:pPr>
            <a:r>
              <a:rPr lang="en-US" sz="1100" i="1" dirty="0">
                <a:solidFill>
                  <a:srgbClr val="5B3A8C"/>
                </a:solidFill>
                <a:latin typeface="Cambria" pitchFamily="34" charset="0"/>
                <a:ea typeface="Cambria" pitchFamily="34" charset="-122"/>
                <a:cs typeface="Cambria" pitchFamily="34" charset="-120"/>
              </a:rPr>
              <a:t>Each offering is standalone-sellable — a client blocked at governance can enter directly at Gate 3. The ladder is the default path, not the only one.</a:t>
            </a:r>
            <a:endParaRPr lang="en-US" sz="1100" dirty="0"/>
          </a:p>
        </p:txBody>
      </p:sp>
      <p:sp>
        <p:nvSpPr>
          <p:cNvPr id="43" name="Text 40"/>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44" name="Text 41"/>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Routing map · the ladder</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WHY THE LADDER</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indent="0" marL="0">
              <a:buNone/>
            </a:pPr>
            <a:r>
              <a:rPr lang="en-US" sz="2500" b="1" dirty="0">
                <a:solidFill>
                  <a:srgbClr val="1B1F23"/>
                </a:solidFill>
                <a:latin typeface="Cambria" pitchFamily="34" charset="0"/>
                <a:ea typeface="Cambria" pitchFamily="34" charset="-122"/>
                <a:cs typeface="Cambria" pitchFamily="34" charset="-120"/>
              </a:rPr>
              <a:t>Enterprise AI fails at predictable gates</a:t>
            </a:r>
            <a:endParaRPr lang="en-US" sz="2500" dirty="0"/>
          </a:p>
        </p:txBody>
      </p:sp>
      <p:sp>
        <p:nvSpPr>
          <p:cNvPr id="4" name="Text 2"/>
          <p:cNvSpPr txBox="1"/>
          <p:nvPr/>
        </p:nvSpPr>
        <p:spPr>
          <a:xfrm>
            <a:off x="502920" y="1188720"/>
            <a:ext cx="11247120" cy="274320"/>
          </a:xfrm>
          <a:prstGeom prst="rect">
            <a:avLst/>
          </a:prstGeom>
          <a:noFill/>
          <a:ln/>
        </p:spPr>
        <p:txBody>
          <a:bodyPr wrap="square" lIns="0" tIns="0" rIns="0" bIns="0" rtlCol="0" anchor="ctr"/>
          <a:lstStyle/>
          <a:p>
            <a:pPr indent="0" marL="0">
              <a:buNone/>
            </a:pPr>
            <a:r>
              <a:rPr lang="en-US" sz="1200" dirty="0">
                <a:solidFill>
                  <a:srgbClr val="5A5266"/>
                </a:solidFill>
                <a:latin typeface="Calibri" pitchFamily="34" charset="0"/>
                <a:ea typeface="Calibri" pitchFamily="34" charset="-122"/>
                <a:cs typeface="Calibri" pitchFamily="34" charset="-120"/>
              </a:rPr>
              <a:t>Each gate has a documented failure rate. The pillar is built to clear them in the order they actually stop programs.</a:t>
            </a:r>
            <a:endParaRPr lang="en-US" sz="1200" dirty="0"/>
          </a:p>
        </p:txBody>
      </p:sp>
      <p:sp>
        <p:nvSpPr>
          <p:cNvPr id="5" name="Shape 3"/>
          <p:cNvSpPr/>
          <p:nvPr/>
        </p:nvSpPr>
        <p:spPr>
          <a:xfrm>
            <a:off x="502920" y="1783080"/>
            <a:ext cx="11183112" cy="749808"/>
          </a:xfrm>
          <a:prstGeom prst="roundRect">
            <a:avLst>
              <a:gd name="adj" fmla="val 6098"/>
            </a:avLst>
          </a:prstGeom>
          <a:solidFill>
            <a:srgbClr val="F7F4FB"/>
          </a:solidFill>
          <a:ln w="6350">
            <a:solidFill>
              <a:srgbClr val="E2D9EE"/>
            </a:solidFill>
            <a:prstDash val="solid"/>
          </a:ln>
        </p:spPr>
      </p:sp>
      <p:sp>
        <p:nvSpPr>
          <p:cNvPr id="6" name="Shape 4"/>
          <p:cNvSpPr/>
          <p:nvPr/>
        </p:nvSpPr>
        <p:spPr>
          <a:xfrm>
            <a:off x="502920" y="1783080"/>
            <a:ext cx="82296" cy="749808"/>
          </a:xfrm>
          <a:prstGeom prst="rect">
            <a:avLst/>
          </a:prstGeom>
          <a:solidFill>
            <a:srgbClr val="5B3A8C"/>
          </a:solidFill>
          <a:ln/>
        </p:spPr>
      </p:sp>
      <p:sp>
        <p:nvSpPr>
          <p:cNvPr id="7" name="Shape 5"/>
          <p:cNvSpPr/>
          <p:nvPr/>
        </p:nvSpPr>
        <p:spPr>
          <a:xfrm>
            <a:off x="685800" y="1956816"/>
            <a:ext cx="1188720" cy="402336"/>
          </a:xfrm>
          <a:prstGeom prst="roundRect">
            <a:avLst>
              <a:gd name="adj" fmla="val 11364"/>
            </a:avLst>
          </a:prstGeom>
          <a:solidFill>
            <a:srgbClr val="5B3A8C"/>
          </a:solidFill>
          <a:ln/>
        </p:spPr>
      </p:sp>
      <p:sp>
        <p:nvSpPr>
          <p:cNvPr id="8" name="Text 6"/>
          <p:cNvSpPr txBox="1"/>
          <p:nvPr/>
        </p:nvSpPr>
        <p:spPr>
          <a:xfrm>
            <a:off x="685800" y="1956816"/>
            <a:ext cx="118872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GATE 1</a:t>
            </a:r>
            <a:endParaRPr lang="en-US" sz="1100" dirty="0"/>
          </a:p>
        </p:txBody>
      </p:sp>
      <p:sp>
        <p:nvSpPr>
          <p:cNvPr id="9" name="Text 7"/>
          <p:cNvSpPr txBox="1"/>
          <p:nvPr/>
        </p:nvSpPr>
        <p:spPr>
          <a:xfrm>
            <a:off x="2011680" y="1783080"/>
            <a:ext cx="1828800" cy="749808"/>
          </a:xfrm>
          <a:prstGeom prst="rect">
            <a:avLst/>
          </a:prstGeom>
          <a:noFill/>
          <a:ln/>
        </p:spPr>
        <p:txBody>
          <a:bodyPr wrap="square" lIns="0" tIns="0" rIns="0" bIns="0" rtlCol="0" anchor="ctr"/>
          <a:lstStyle/>
          <a:p>
            <a:pPr indent="0" marL="0">
              <a:buNone/>
            </a:pPr>
            <a:r>
              <a:rPr lang="en-US" sz="1300" b="1" i="1" dirty="0">
                <a:solidFill>
                  <a:srgbClr val="472D6E"/>
                </a:solidFill>
                <a:latin typeface="Cambria" pitchFamily="34" charset="0"/>
                <a:ea typeface="Cambria" pitchFamily="34" charset="-122"/>
                <a:cs typeface="Cambria" pitchFamily="34" charset="-120"/>
              </a:rPr>
              <a:t>“Should we?”</a:t>
            </a:r>
            <a:endParaRPr lang="en-US" sz="1300" dirty="0"/>
          </a:p>
        </p:txBody>
      </p:sp>
      <p:sp>
        <p:nvSpPr>
          <p:cNvPr id="10" name="Text 8"/>
          <p:cNvSpPr txBox="1"/>
          <p:nvPr/>
        </p:nvSpPr>
        <p:spPr>
          <a:xfrm>
            <a:off x="3931920" y="1856232"/>
            <a:ext cx="4526280" cy="603504"/>
          </a:xfrm>
          <a:prstGeom prst="rect">
            <a:avLst/>
          </a:prstGeom>
          <a:noFill/>
          <a:ln/>
        </p:spPr>
        <p:txBody>
          <a:bodyPr wrap="square" lIns="0" tIns="0" rIns="0" bIns="0" rtlCol="0" anchor="ctr"/>
          <a:lstStyle/>
          <a:p>
            <a:pPr indent="0" marL="0">
              <a:lnSpc>
                <a:spcPct val="95000"/>
              </a:lnSpc>
              <a:buNone/>
            </a:pPr>
            <a:r>
              <a:rPr lang="en-US" sz="1000" dirty="0">
                <a:solidFill>
                  <a:srgbClr val="44405A"/>
                </a:solidFill>
                <a:latin typeface="Calibri" pitchFamily="34" charset="0"/>
                <a:ea typeface="Calibri" pitchFamily="34" charset="-122"/>
                <a:cs typeface="Calibri" pitchFamily="34" charset="-120"/>
              </a:rPr>
              <a:t>95% of GenAI pilots deliver zero measurable return; $7.2M sunk per abandoned initiative.</a:t>
            </a:r>
            <a:endParaRPr lang="en-US" sz="1000" dirty="0"/>
          </a:p>
        </p:txBody>
      </p:sp>
      <p:sp>
        <p:nvSpPr>
          <p:cNvPr id="11" name="Text 9"/>
          <p:cNvSpPr txBox="1"/>
          <p:nvPr/>
        </p:nvSpPr>
        <p:spPr>
          <a:xfrm>
            <a:off x="8503920" y="1783080"/>
            <a:ext cx="201168" cy="749808"/>
          </a:xfrm>
          <a:prstGeom prst="rect">
            <a:avLst/>
          </a:prstGeom>
          <a:noFill/>
          <a:ln/>
        </p:spPr>
        <p:txBody>
          <a:bodyPr wrap="square" lIns="0" tIns="0" rIns="0" bIns="0" rtlCol="0" anchor="ctr"/>
          <a:lstStyle/>
          <a:p>
            <a:pPr algn="ctr" indent="0" marL="0">
              <a:buNone/>
            </a:pPr>
            <a:r>
              <a:rPr lang="en-US" sz="1400" dirty="0">
                <a:solidFill>
                  <a:srgbClr val="B99FDB"/>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8732520" y="1783080"/>
            <a:ext cx="2880360" cy="749808"/>
          </a:xfrm>
          <a:prstGeom prst="rect">
            <a:avLst/>
          </a:prstGeom>
          <a:noFill/>
          <a:ln/>
        </p:spPr>
        <p:txBody>
          <a:bodyPr wrap="square" lIns="0" tIns="0" rIns="0" bIns="0" rtlCol="0" anchor="ctr"/>
          <a:lstStyle/>
          <a:p>
            <a:pPr indent="0" marL="0">
              <a:lnSpc>
                <a:spcPct val="92000"/>
              </a:lnSpc>
              <a:buNone/>
            </a:pPr>
            <a:r>
              <a:rPr lang="en-US" sz="1050" b="1" dirty="0">
                <a:solidFill>
                  <a:srgbClr val="5B3A8C"/>
                </a:solidFill>
                <a:latin typeface="Cambria" pitchFamily="34" charset="0"/>
                <a:ea typeface="Cambria" pitchFamily="34" charset="-122"/>
                <a:cs typeface="Cambria" pitchFamily="34" charset="-120"/>
              </a:rPr>
              <a:t>AI Readiness, Opportunity &amp; Operating Model</a:t>
            </a:r>
            <a:endParaRPr lang="en-US" sz="1050" dirty="0"/>
          </a:p>
        </p:txBody>
      </p:sp>
      <p:sp>
        <p:nvSpPr>
          <p:cNvPr id="13" name="Shape 11"/>
          <p:cNvSpPr/>
          <p:nvPr/>
        </p:nvSpPr>
        <p:spPr>
          <a:xfrm>
            <a:off x="502920" y="2633472"/>
            <a:ext cx="11183112" cy="749808"/>
          </a:xfrm>
          <a:prstGeom prst="roundRect">
            <a:avLst>
              <a:gd name="adj" fmla="val 6098"/>
            </a:avLst>
          </a:prstGeom>
          <a:solidFill>
            <a:srgbClr val="F7F4FB"/>
          </a:solidFill>
          <a:ln w="6350">
            <a:solidFill>
              <a:srgbClr val="E2D9EE"/>
            </a:solidFill>
            <a:prstDash val="solid"/>
          </a:ln>
        </p:spPr>
      </p:sp>
      <p:sp>
        <p:nvSpPr>
          <p:cNvPr id="14" name="Shape 12"/>
          <p:cNvSpPr/>
          <p:nvPr/>
        </p:nvSpPr>
        <p:spPr>
          <a:xfrm>
            <a:off x="502920" y="2633472"/>
            <a:ext cx="82296" cy="749808"/>
          </a:xfrm>
          <a:prstGeom prst="rect">
            <a:avLst/>
          </a:prstGeom>
          <a:solidFill>
            <a:srgbClr val="5B3A8C"/>
          </a:solidFill>
          <a:ln/>
        </p:spPr>
      </p:sp>
      <p:sp>
        <p:nvSpPr>
          <p:cNvPr id="15" name="Shape 13"/>
          <p:cNvSpPr/>
          <p:nvPr/>
        </p:nvSpPr>
        <p:spPr>
          <a:xfrm>
            <a:off x="685800" y="2807208"/>
            <a:ext cx="1188720" cy="402336"/>
          </a:xfrm>
          <a:prstGeom prst="roundRect">
            <a:avLst>
              <a:gd name="adj" fmla="val 11364"/>
            </a:avLst>
          </a:prstGeom>
          <a:solidFill>
            <a:srgbClr val="5B3A8C"/>
          </a:solidFill>
          <a:ln/>
        </p:spPr>
      </p:sp>
      <p:sp>
        <p:nvSpPr>
          <p:cNvPr id="16" name="Text 14"/>
          <p:cNvSpPr txBox="1"/>
          <p:nvPr/>
        </p:nvSpPr>
        <p:spPr>
          <a:xfrm>
            <a:off x="685800" y="2807208"/>
            <a:ext cx="118872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GATE 2</a:t>
            </a:r>
            <a:endParaRPr lang="en-US" sz="1100" dirty="0"/>
          </a:p>
        </p:txBody>
      </p:sp>
      <p:sp>
        <p:nvSpPr>
          <p:cNvPr id="17" name="Text 15"/>
          <p:cNvSpPr txBox="1"/>
          <p:nvPr/>
        </p:nvSpPr>
        <p:spPr>
          <a:xfrm>
            <a:off x="2011680" y="2633472"/>
            <a:ext cx="1828800" cy="749808"/>
          </a:xfrm>
          <a:prstGeom prst="rect">
            <a:avLst/>
          </a:prstGeom>
          <a:noFill/>
          <a:ln/>
        </p:spPr>
        <p:txBody>
          <a:bodyPr wrap="square" lIns="0" tIns="0" rIns="0" bIns="0" rtlCol="0" anchor="ctr"/>
          <a:lstStyle/>
          <a:p>
            <a:pPr indent="0" marL="0">
              <a:buNone/>
            </a:pPr>
            <a:r>
              <a:rPr lang="en-US" sz="1300" b="1" i="1" dirty="0">
                <a:solidFill>
                  <a:srgbClr val="472D6E"/>
                </a:solidFill>
                <a:latin typeface="Cambria" pitchFamily="34" charset="0"/>
                <a:ea typeface="Cambria" pitchFamily="34" charset="-122"/>
                <a:cs typeface="Cambria" pitchFamily="34" charset="-120"/>
              </a:rPr>
              <a:t>“Can we run it?”</a:t>
            </a:r>
            <a:endParaRPr lang="en-US" sz="1300" dirty="0"/>
          </a:p>
        </p:txBody>
      </p:sp>
      <p:sp>
        <p:nvSpPr>
          <p:cNvPr id="18" name="Text 16"/>
          <p:cNvSpPr txBox="1"/>
          <p:nvPr/>
        </p:nvSpPr>
        <p:spPr>
          <a:xfrm>
            <a:off x="3931920" y="2706624"/>
            <a:ext cx="4526280" cy="603504"/>
          </a:xfrm>
          <a:prstGeom prst="rect">
            <a:avLst/>
          </a:prstGeom>
          <a:noFill/>
          <a:ln/>
        </p:spPr>
        <p:txBody>
          <a:bodyPr wrap="square" lIns="0" tIns="0" rIns="0" bIns="0" rtlCol="0" anchor="ctr"/>
          <a:lstStyle/>
          <a:p>
            <a:pPr indent="0" marL="0">
              <a:lnSpc>
                <a:spcPct val="95000"/>
              </a:lnSpc>
              <a:buNone/>
            </a:pPr>
            <a:r>
              <a:rPr lang="en-US" sz="1000" dirty="0">
                <a:solidFill>
                  <a:srgbClr val="44405A"/>
                </a:solidFill>
                <a:latin typeface="Calibri" pitchFamily="34" charset="0"/>
                <a:ea typeface="Calibri" pitchFamily="34" charset="-122"/>
                <a:cs typeface="Calibri" pitchFamily="34" charset="-120"/>
              </a:rPr>
              <a:t>Only 28% of AI infrastructure projects deliver the promised return; 1 in 5 fails outright.</a:t>
            </a:r>
            <a:endParaRPr lang="en-US" sz="1000" dirty="0"/>
          </a:p>
        </p:txBody>
      </p:sp>
      <p:sp>
        <p:nvSpPr>
          <p:cNvPr id="19" name="Text 17"/>
          <p:cNvSpPr txBox="1"/>
          <p:nvPr/>
        </p:nvSpPr>
        <p:spPr>
          <a:xfrm>
            <a:off x="8503920" y="2633472"/>
            <a:ext cx="201168" cy="749808"/>
          </a:xfrm>
          <a:prstGeom prst="rect">
            <a:avLst/>
          </a:prstGeom>
          <a:noFill/>
          <a:ln/>
        </p:spPr>
        <p:txBody>
          <a:bodyPr wrap="square" lIns="0" tIns="0" rIns="0" bIns="0" rtlCol="0" anchor="ctr"/>
          <a:lstStyle/>
          <a:p>
            <a:pPr algn="ctr" indent="0" marL="0">
              <a:buNone/>
            </a:pPr>
            <a:r>
              <a:rPr lang="en-US" sz="1400" dirty="0">
                <a:solidFill>
                  <a:srgbClr val="B99FDB"/>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8732520" y="2633472"/>
            <a:ext cx="2880360" cy="749808"/>
          </a:xfrm>
          <a:prstGeom prst="rect">
            <a:avLst/>
          </a:prstGeom>
          <a:noFill/>
          <a:ln/>
        </p:spPr>
        <p:txBody>
          <a:bodyPr wrap="square" lIns="0" tIns="0" rIns="0" bIns="0" rtlCol="0" anchor="ctr"/>
          <a:lstStyle/>
          <a:p>
            <a:pPr indent="0" marL="0">
              <a:lnSpc>
                <a:spcPct val="92000"/>
              </a:lnSpc>
              <a:buNone/>
            </a:pPr>
            <a:r>
              <a:rPr lang="en-US" sz="1050" b="1" dirty="0">
                <a:solidFill>
                  <a:srgbClr val="5B3A8C"/>
                </a:solidFill>
                <a:latin typeface="Cambria" pitchFamily="34" charset="0"/>
                <a:ea typeface="Cambria" pitchFamily="34" charset="-122"/>
                <a:cs typeface="Cambria" pitchFamily="34" charset="-120"/>
              </a:rPr>
              <a:t>AI Infrastructure</a:t>
            </a:r>
            <a:endParaRPr lang="en-US" sz="1050" dirty="0"/>
          </a:p>
        </p:txBody>
      </p:sp>
      <p:sp>
        <p:nvSpPr>
          <p:cNvPr id="21" name="Shape 19"/>
          <p:cNvSpPr/>
          <p:nvPr/>
        </p:nvSpPr>
        <p:spPr>
          <a:xfrm>
            <a:off x="502920" y="3483864"/>
            <a:ext cx="11183112" cy="749808"/>
          </a:xfrm>
          <a:prstGeom prst="roundRect">
            <a:avLst>
              <a:gd name="adj" fmla="val 6098"/>
            </a:avLst>
          </a:prstGeom>
          <a:solidFill>
            <a:srgbClr val="F7F4FB"/>
          </a:solidFill>
          <a:ln w="6350">
            <a:solidFill>
              <a:srgbClr val="E2D9EE"/>
            </a:solidFill>
            <a:prstDash val="solid"/>
          </a:ln>
        </p:spPr>
      </p:sp>
      <p:sp>
        <p:nvSpPr>
          <p:cNvPr id="22" name="Shape 20"/>
          <p:cNvSpPr/>
          <p:nvPr/>
        </p:nvSpPr>
        <p:spPr>
          <a:xfrm>
            <a:off x="502920" y="3483864"/>
            <a:ext cx="82296" cy="749808"/>
          </a:xfrm>
          <a:prstGeom prst="rect">
            <a:avLst/>
          </a:prstGeom>
          <a:solidFill>
            <a:srgbClr val="5B3A8C"/>
          </a:solidFill>
          <a:ln/>
        </p:spPr>
      </p:sp>
      <p:sp>
        <p:nvSpPr>
          <p:cNvPr id="23" name="Shape 21"/>
          <p:cNvSpPr/>
          <p:nvPr/>
        </p:nvSpPr>
        <p:spPr>
          <a:xfrm>
            <a:off x="685800" y="3657600"/>
            <a:ext cx="1188720" cy="402336"/>
          </a:xfrm>
          <a:prstGeom prst="roundRect">
            <a:avLst>
              <a:gd name="adj" fmla="val 11364"/>
            </a:avLst>
          </a:prstGeom>
          <a:solidFill>
            <a:srgbClr val="5B3A8C"/>
          </a:solidFill>
          <a:ln/>
        </p:spPr>
      </p:sp>
      <p:sp>
        <p:nvSpPr>
          <p:cNvPr id="24" name="Text 22"/>
          <p:cNvSpPr txBox="1"/>
          <p:nvPr/>
        </p:nvSpPr>
        <p:spPr>
          <a:xfrm>
            <a:off x="685800" y="3657600"/>
            <a:ext cx="118872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GATE 3</a:t>
            </a:r>
            <a:endParaRPr lang="en-US" sz="1100" dirty="0"/>
          </a:p>
        </p:txBody>
      </p:sp>
      <p:sp>
        <p:nvSpPr>
          <p:cNvPr id="25" name="Text 23"/>
          <p:cNvSpPr txBox="1"/>
          <p:nvPr/>
        </p:nvSpPr>
        <p:spPr>
          <a:xfrm>
            <a:off x="2011680" y="3483864"/>
            <a:ext cx="1828800" cy="749808"/>
          </a:xfrm>
          <a:prstGeom prst="rect">
            <a:avLst/>
          </a:prstGeom>
          <a:noFill/>
          <a:ln/>
        </p:spPr>
        <p:txBody>
          <a:bodyPr wrap="square" lIns="0" tIns="0" rIns="0" bIns="0" rtlCol="0" anchor="ctr"/>
          <a:lstStyle/>
          <a:p>
            <a:pPr indent="0" marL="0">
              <a:buNone/>
            </a:pPr>
            <a:r>
              <a:rPr lang="en-US" sz="1300" b="1" i="1" dirty="0">
                <a:solidFill>
                  <a:srgbClr val="472D6E"/>
                </a:solidFill>
                <a:latin typeface="Cambria" pitchFamily="34" charset="0"/>
                <a:ea typeface="Cambria" pitchFamily="34" charset="-122"/>
                <a:cs typeface="Cambria" pitchFamily="34" charset="-120"/>
              </a:rPr>
              <a:t>“Will it pass?”</a:t>
            </a:r>
            <a:endParaRPr lang="en-US" sz="1300" dirty="0"/>
          </a:p>
        </p:txBody>
      </p:sp>
      <p:sp>
        <p:nvSpPr>
          <p:cNvPr id="26" name="Text 24"/>
          <p:cNvSpPr txBox="1"/>
          <p:nvPr/>
        </p:nvSpPr>
        <p:spPr>
          <a:xfrm>
            <a:off x="3931920" y="3557016"/>
            <a:ext cx="4526280" cy="603504"/>
          </a:xfrm>
          <a:prstGeom prst="rect">
            <a:avLst/>
          </a:prstGeom>
          <a:noFill/>
          <a:ln/>
        </p:spPr>
        <p:txBody>
          <a:bodyPr wrap="square" lIns="0" tIns="0" rIns="0" bIns="0" rtlCol="0" anchor="ctr"/>
          <a:lstStyle/>
          <a:p>
            <a:pPr indent="0" marL="0">
              <a:lnSpc>
                <a:spcPct val="95000"/>
              </a:lnSpc>
              <a:buNone/>
            </a:pPr>
            <a:r>
              <a:rPr lang="en-US" sz="1000" dirty="0">
                <a:solidFill>
                  <a:srgbClr val="44405A"/>
                </a:solidFill>
                <a:latin typeface="Calibri" pitchFamily="34" charset="0"/>
                <a:ea typeface="Calibri" pitchFamily="34" charset="-122"/>
                <a:cs typeface="Calibri" pitchFamily="34" charset="-120"/>
              </a:rPr>
              <a:t>67% of European enterprises lack a formal AI governance framework; EU AI Act now enforceable.</a:t>
            </a:r>
            <a:endParaRPr lang="en-US" sz="1000" dirty="0"/>
          </a:p>
        </p:txBody>
      </p:sp>
      <p:sp>
        <p:nvSpPr>
          <p:cNvPr id="27" name="Text 25"/>
          <p:cNvSpPr txBox="1"/>
          <p:nvPr/>
        </p:nvSpPr>
        <p:spPr>
          <a:xfrm>
            <a:off x="8503920" y="3483864"/>
            <a:ext cx="201168" cy="749808"/>
          </a:xfrm>
          <a:prstGeom prst="rect">
            <a:avLst/>
          </a:prstGeom>
          <a:noFill/>
          <a:ln/>
        </p:spPr>
        <p:txBody>
          <a:bodyPr wrap="square" lIns="0" tIns="0" rIns="0" bIns="0" rtlCol="0" anchor="ctr"/>
          <a:lstStyle/>
          <a:p>
            <a:pPr algn="ctr" indent="0" marL="0">
              <a:buNone/>
            </a:pPr>
            <a:r>
              <a:rPr lang="en-US" sz="1400" dirty="0">
                <a:solidFill>
                  <a:srgbClr val="B99FDB"/>
                </a:solidFill>
                <a:latin typeface="Calibri" pitchFamily="34" charset="0"/>
                <a:ea typeface="Calibri" pitchFamily="34" charset="-122"/>
                <a:cs typeface="Calibri" pitchFamily="34" charset="-120"/>
              </a:rPr>
              <a:t>›</a:t>
            </a:r>
            <a:endParaRPr lang="en-US" sz="1400" dirty="0"/>
          </a:p>
        </p:txBody>
      </p:sp>
      <p:sp>
        <p:nvSpPr>
          <p:cNvPr id="28" name="Text 26"/>
          <p:cNvSpPr txBox="1"/>
          <p:nvPr/>
        </p:nvSpPr>
        <p:spPr>
          <a:xfrm>
            <a:off x="8732520" y="3483864"/>
            <a:ext cx="2880360" cy="749808"/>
          </a:xfrm>
          <a:prstGeom prst="rect">
            <a:avLst/>
          </a:prstGeom>
          <a:noFill/>
          <a:ln/>
        </p:spPr>
        <p:txBody>
          <a:bodyPr wrap="square" lIns="0" tIns="0" rIns="0" bIns="0" rtlCol="0" anchor="ctr"/>
          <a:lstStyle/>
          <a:p>
            <a:pPr indent="0" marL="0">
              <a:lnSpc>
                <a:spcPct val="92000"/>
              </a:lnSpc>
              <a:buNone/>
            </a:pPr>
            <a:r>
              <a:rPr lang="en-US" sz="1050" b="1" dirty="0">
                <a:solidFill>
                  <a:srgbClr val="5B3A8C"/>
                </a:solidFill>
                <a:latin typeface="Cambria" pitchFamily="34" charset="0"/>
                <a:ea typeface="Cambria" pitchFamily="34" charset="-122"/>
                <a:cs typeface="Cambria" pitchFamily="34" charset="-120"/>
              </a:rPr>
              <a:t>Responsible AI &amp; Governance</a:t>
            </a:r>
            <a:endParaRPr lang="en-US" sz="1050" dirty="0"/>
          </a:p>
        </p:txBody>
      </p:sp>
      <p:sp>
        <p:nvSpPr>
          <p:cNvPr id="29" name="Shape 27"/>
          <p:cNvSpPr/>
          <p:nvPr/>
        </p:nvSpPr>
        <p:spPr>
          <a:xfrm>
            <a:off x="502920" y="4334256"/>
            <a:ext cx="11183112" cy="749808"/>
          </a:xfrm>
          <a:prstGeom prst="roundRect">
            <a:avLst>
              <a:gd name="adj" fmla="val 6098"/>
            </a:avLst>
          </a:prstGeom>
          <a:solidFill>
            <a:srgbClr val="F7F4FB"/>
          </a:solidFill>
          <a:ln w="6350">
            <a:solidFill>
              <a:srgbClr val="E2D9EE"/>
            </a:solidFill>
            <a:prstDash val="solid"/>
          </a:ln>
        </p:spPr>
      </p:sp>
      <p:sp>
        <p:nvSpPr>
          <p:cNvPr id="30" name="Shape 28"/>
          <p:cNvSpPr/>
          <p:nvPr/>
        </p:nvSpPr>
        <p:spPr>
          <a:xfrm>
            <a:off x="502920" y="4334256"/>
            <a:ext cx="82296" cy="749808"/>
          </a:xfrm>
          <a:prstGeom prst="rect">
            <a:avLst/>
          </a:prstGeom>
          <a:solidFill>
            <a:srgbClr val="5B3A8C"/>
          </a:solidFill>
          <a:ln/>
        </p:spPr>
      </p:sp>
      <p:sp>
        <p:nvSpPr>
          <p:cNvPr id="31" name="Shape 29"/>
          <p:cNvSpPr/>
          <p:nvPr/>
        </p:nvSpPr>
        <p:spPr>
          <a:xfrm>
            <a:off x="685800" y="4507992"/>
            <a:ext cx="1188720" cy="402336"/>
          </a:xfrm>
          <a:prstGeom prst="roundRect">
            <a:avLst>
              <a:gd name="adj" fmla="val 11364"/>
            </a:avLst>
          </a:prstGeom>
          <a:solidFill>
            <a:srgbClr val="5B3A8C"/>
          </a:solidFill>
          <a:ln/>
        </p:spPr>
      </p:sp>
      <p:sp>
        <p:nvSpPr>
          <p:cNvPr id="32" name="Text 30"/>
          <p:cNvSpPr txBox="1"/>
          <p:nvPr/>
        </p:nvSpPr>
        <p:spPr>
          <a:xfrm>
            <a:off x="685800" y="4507992"/>
            <a:ext cx="118872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GATE 4</a:t>
            </a:r>
            <a:endParaRPr lang="en-US" sz="1100" dirty="0"/>
          </a:p>
        </p:txBody>
      </p:sp>
      <p:sp>
        <p:nvSpPr>
          <p:cNvPr id="33" name="Text 31"/>
          <p:cNvSpPr txBox="1"/>
          <p:nvPr/>
        </p:nvSpPr>
        <p:spPr>
          <a:xfrm>
            <a:off x="2011680" y="4334256"/>
            <a:ext cx="1828800" cy="749808"/>
          </a:xfrm>
          <a:prstGeom prst="rect">
            <a:avLst/>
          </a:prstGeom>
          <a:noFill/>
          <a:ln/>
        </p:spPr>
        <p:txBody>
          <a:bodyPr wrap="square" lIns="0" tIns="0" rIns="0" bIns="0" rtlCol="0" anchor="ctr"/>
          <a:lstStyle/>
          <a:p>
            <a:pPr indent="0" marL="0">
              <a:buNone/>
            </a:pPr>
            <a:r>
              <a:rPr lang="en-US" sz="1300" b="1" i="1" dirty="0">
                <a:solidFill>
                  <a:srgbClr val="472D6E"/>
                </a:solidFill>
                <a:latin typeface="Cambria" pitchFamily="34" charset="0"/>
                <a:ea typeface="Cambria" pitchFamily="34" charset="-122"/>
                <a:cs typeface="Cambria" pitchFamily="34" charset="-120"/>
              </a:rPr>
              <a:t>“Can we afford it?”</a:t>
            </a:r>
            <a:endParaRPr lang="en-US" sz="1300" dirty="0"/>
          </a:p>
        </p:txBody>
      </p:sp>
      <p:sp>
        <p:nvSpPr>
          <p:cNvPr id="34" name="Text 32"/>
          <p:cNvSpPr txBox="1"/>
          <p:nvPr/>
        </p:nvSpPr>
        <p:spPr>
          <a:xfrm>
            <a:off x="3931920" y="4407408"/>
            <a:ext cx="4526280" cy="603504"/>
          </a:xfrm>
          <a:prstGeom prst="rect">
            <a:avLst/>
          </a:prstGeom>
          <a:noFill/>
          <a:ln/>
        </p:spPr>
        <p:txBody>
          <a:bodyPr wrap="square" lIns="0" tIns="0" rIns="0" bIns="0" rtlCol="0" anchor="ctr"/>
          <a:lstStyle/>
          <a:p>
            <a:pPr indent="0" marL="0">
              <a:lnSpc>
                <a:spcPct val="95000"/>
              </a:lnSpc>
              <a:buNone/>
            </a:pPr>
            <a:r>
              <a:rPr lang="en-US" sz="1000" dirty="0">
                <a:solidFill>
                  <a:srgbClr val="44405A"/>
                </a:solidFill>
                <a:latin typeface="Calibri" pitchFamily="34" charset="0"/>
                <a:ea typeface="Calibri" pitchFamily="34" charset="-122"/>
                <a:cs typeface="Calibri" pitchFamily="34" charset="-120"/>
              </a:rPr>
              <a:t>18% of AI projects run but never recoup cost; premium-model default inflates spend ~10×.</a:t>
            </a:r>
            <a:endParaRPr lang="en-US" sz="1000" dirty="0"/>
          </a:p>
        </p:txBody>
      </p:sp>
      <p:sp>
        <p:nvSpPr>
          <p:cNvPr id="35" name="Text 33"/>
          <p:cNvSpPr txBox="1"/>
          <p:nvPr/>
        </p:nvSpPr>
        <p:spPr>
          <a:xfrm>
            <a:off x="8503920" y="4334256"/>
            <a:ext cx="201168" cy="749808"/>
          </a:xfrm>
          <a:prstGeom prst="rect">
            <a:avLst/>
          </a:prstGeom>
          <a:noFill/>
          <a:ln/>
        </p:spPr>
        <p:txBody>
          <a:bodyPr wrap="square" lIns="0" tIns="0" rIns="0" bIns="0" rtlCol="0" anchor="ctr"/>
          <a:lstStyle/>
          <a:p>
            <a:pPr algn="ctr" indent="0" marL="0">
              <a:buNone/>
            </a:pPr>
            <a:r>
              <a:rPr lang="en-US" sz="1400" dirty="0">
                <a:solidFill>
                  <a:srgbClr val="B99FDB"/>
                </a:solidFill>
                <a:latin typeface="Calibri" pitchFamily="34" charset="0"/>
                <a:ea typeface="Calibri" pitchFamily="34" charset="-122"/>
                <a:cs typeface="Calibri" pitchFamily="34" charset="-120"/>
              </a:rPr>
              <a:t>›</a:t>
            </a:r>
            <a:endParaRPr lang="en-US" sz="1400" dirty="0"/>
          </a:p>
        </p:txBody>
      </p:sp>
      <p:sp>
        <p:nvSpPr>
          <p:cNvPr id="36" name="Text 34"/>
          <p:cNvSpPr txBox="1"/>
          <p:nvPr/>
        </p:nvSpPr>
        <p:spPr>
          <a:xfrm>
            <a:off x="8732520" y="4334256"/>
            <a:ext cx="2880360" cy="749808"/>
          </a:xfrm>
          <a:prstGeom prst="rect">
            <a:avLst/>
          </a:prstGeom>
          <a:noFill/>
          <a:ln/>
        </p:spPr>
        <p:txBody>
          <a:bodyPr wrap="square" lIns="0" tIns="0" rIns="0" bIns="0" rtlCol="0" anchor="ctr"/>
          <a:lstStyle/>
          <a:p>
            <a:pPr indent="0" marL="0">
              <a:lnSpc>
                <a:spcPct val="92000"/>
              </a:lnSpc>
              <a:buNone/>
            </a:pPr>
            <a:r>
              <a:rPr lang="en-US" sz="1050" b="1" dirty="0">
                <a:solidFill>
                  <a:srgbClr val="5B3A8C"/>
                </a:solidFill>
                <a:latin typeface="Cambria" pitchFamily="34" charset="0"/>
                <a:ea typeface="Cambria" pitchFamily="34" charset="-122"/>
                <a:cs typeface="Cambria" pitchFamily="34" charset="-120"/>
              </a:rPr>
              <a:t>AI Cost, FinOps for AI &amp; Tokenomics</a:t>
            </a:r>
            <a:endParaRPr lang="en-US" sz="1050" dirty="0"/>
          </a:p>
        </p:txBody>
      </p:sp>
      <p:sp>
        <p:nvSpPr>
          <p:cNvPr id="37" name="Shape 35"/>
          <p:cNvSpPr/>
          <p:nvPr/>
        </p:nvSpPr>
        <p:spPr>
          <a:xfrm>
            <a:off x="502920" y="5184648"/>
            <a:ext cx="11183112" cy="749808"/>
          </a:xfrm>
          <a:prstGeom prst="roundRect">
            <a:avLst>
              <a:gd name="adj" fmla="val 6098"/>
            </a:avLst>
          </a:prstGeom>
          <a:solidFill>
            <a:srgbClr val="F7F4FB"/>
          </a:solidFill>
          <a:ln w="6350">
            <a:solidFill>
              <a:srgbClr val="E2D9EE"/>
            </a:solidFill>
            <a:prstDash val="solid"/>
          </a:ln>
        </p:spPr>
      </p:sp>
      <p:sp>
        <p:nvSpPr>
          <p:cNvPr id="38" name="Shape 36"/>
          <p:cNvSpPr/>
          <p:nvPr/>
        </p:nvSpPr>
        <p:spPr>
          <a:xfrm>
            <a:off x="502920" y="5184648"/>
            <a:ext cx="82296" cy="749808"/>
          </a:xfrm>
          <a:prstGeom prst="rect">
            <a:avLst/>
          </a:prstGeom>
          <a:solidFill>
            <a:srgbClr val="5B3A8C"/>
          </a:solidFill>
          <a:ln/>
        </p:spPr>
      </p:sp>
      <p:sp>
        <p:nvSpPr>
          <p:cNvPr id="39" name="Shape 37"/>
          <p:cNvSpPr/>
          <p:nvPr/>
        </p:nvSpPr>
        <p:spPr>
          <a:xfrm>
            <a:off x="685800" y="5358384"/>
            <a:ext cx="1188720" cy="402336"/>
          </a:xfrm>
          <a:prstGeom prst="roundRect">
            <a:avLst>
              <a:gd name="adj" fmla="val 11364"/>
            </a:avLst>
          </a:prstGeom>
          <a:solidFill>
            <a:srgbClr val="5B3A8C"/>
          </a:solidFill>
          <a:ln/>
        </p:spPr>
      </p:sp>
      <p:sp>
        <p:nvSpPr>
          <p:cNvPr id="40" name="Text 38"/>
          <p:cNvSpPr txBox="1"/>
          <p:nvPr/>
        </p:nvSpPr>
        <p:spPr>
          <a:xfrm>
            <a:off x="685800" y="5358384"/>
            <a:ext cx="118872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GATE 5</a:t>
            </a:r>
            <a:endParaRPr lang="en-US" sz="1100" dirty="0"/>
          </a:p>
        </p:txBody>
      </p:sp>
      <p:sp>
        <p:nvSpPr>
          <p:cNvPr id="41" name="Text 39"/>
          <p:cNvSpPr txBox="1"/>
          <p:nvPr/>
        </p:nvSpPr>
        <p:spPr>
          <a:xfrm>
            <a:off x="2011680" y="5184648"/>
            <a:ext cx="1828800" cy="749808"/>
          </a:xfrm>
          <a:prstGeom prst="rect">
            <a:avLst/>
          </a:prstGeom>
          <a:noFill/>
          <a:ln/>
        </p:spPr>
        <p:txBody>
          <a:bodyPr wrap="square" lIns="0" tIns="0" rIns="0" bIns="0" rtlCol="0" anchor="ctr"/>
          <a:lstStyle/>
          <a:p>
            <a:pPr indent="0" marL="0">
              <a:buNone/>
            </a:pPr>
            <a:r>
              <a:rPr lang="en-US" sz="1300" b="1" i="1" dirty="0">
                <a:solidFill>
                  <a:srgbClr val="472D6E"/>
                </a:solidFill>
                <a:latin typeface="Cambria" pitchFamily="34" charset="0"/>
                <a:ea typeface="Cambria" pitchFamily="34" charset="-122"/>
                <a:cs typeface="Cambria" pitchFamily="34" charset="-120"/>
              </a:rPr>
              <a:t>“Can it act alone?”</a:t>
            </a:r>
            <a:endParaRPr lang="en-US" sz="1300" dirty="0"/>
          </a:p>
        </p:txBody>
      </p:sp>
      <p:sp>
        <p:nvSpPr>
          <p:cNvPr id="42" name="Text 40"/>
          <p:cNvSpPr txBox="1"/>
          <p:nvPr/>
        </p:nvSpPr>
        <p:spPr>
          <a:xfrm>
            <a:off x="3931920" y="5257800"/>
            <a:ext cx="4526280" cy="603504"/>
          </a:xfrm>
          <a:prstGeom prst="rect">
            <a:avLst/>
          </a:prstGeom>
          <a:noFill/>
          <a:ln/>
        </p:spPr>
        <p:txBody>
          <a:bodyPr wrap="square" lIns="0" tIns="0" rIns="0" bIns="0" rtlCol="0" anchor="ctr"/>
          <a:lstStyle/>
          <a:p>
            <a:pPr indent="0" marL="0">
              <a:lnSpc>
                <a:spcPct val="95000"/>
              </a:lnSpc>
              <a:buNone/>
            </a:pPr>
            <a:r>
              <a:rPr lang="en-US" sz="1000" dirty="0">
                <a:solidFill>
                  <a:srgbClr val="44405A"/>
                </a:solidFill>
                <a:latin typeface="Calibri" pitchFamily="34" charset="0"/>
                <a:ea typeface="Calibri" pitchFamily="34" charset="-122"/>
                <a:cs typeface="Calibri" pitchFamily="34" charset="-120"/>
              </a:rPr>
              <a:t>89% of agent pilots never scale — but the 11% that do return 171% ROI.</a:t>
            </a:r>
            <a:endParaRPr lang="en-US" sz="1000" dirty="0"/>
          </a:p>
        </p:txBody>
      </p:sp>
      <p:sp>
        <p:nvSpPr>
          <p:cNvPr id="43" name="Text 41"/>
          <p:cNvSpPr txBox="1"/>
          <p:nvPr/>
        </p:nvSpPr>
        <p:spPr>
          <a:xfrm>
            <a:off x="8503920" y="5184648"/>
            <a:ext cx="201168" cy="749808"/>
          </a:xfrm>
          <a:prstGeom prst="rect">
            <a:avLst/>
          </a:prstGeom>
          <a:noFill/>
          <a:ln/>
        </p:spPr>
        <p:txBody>
          <a:bodyPr wrap="square" lIns="0" tIns="0" rIns="0" bIns="0" rtlCol="0" anchor="ctr"/>
          <a:lstStyle/>
          <a:p>
            <a:pPr algn="ctr" indent="0" marL="0">
              <a:buNone/>
            </a:pPr>
            <a:r>
              <a:rPr lang="en-US" sz="1400" dirty="0">
                <a:solidFill>
                  <a:srgbClr val="B99FDB"/>
                </a:solidFill>
                <a:latin typeface="Calibri" pitchFamily="34" charset="0"/>
                <a:ea typeface="Calibri" pitchFamily="34" charset="-122"/>
                <a:cs typeface="Calibri" pitchFamily="34" charset="-120"/>
              </a:rPr>
              <a:t>›</a:t>
            </a:r>
            <a:endParaRPr lang="en-US" sz="1400" dirty="0"/>
          </a:p>
        </p:txBody>
      </p:sp>
      <p:sp>
        <p:nvSpPr>
          <p:cNvPr id="44" name="Text 42"/>
          <p:cNvSpPr txBox="1"/>
          <p:nvPr/>
        </p:nvSpPr>
        <p:spPr>
          <a:xfrm>
            <a:off x="8732520" y="5184648"/>
            <a:ext cx="2880360" cy="749808"/>
          </a:xfrm>
          <a:prstGeom prst="rect">
            <a:avLst/>
          </a:prstGeom>
          <a:noFill/>
          <a:ln/>
        </p:spPr>
        <p:txBody>
          <a:bodyPr wrap="square" lIns="0" tIns="0" rIns="0" bIns="0" rtlCol="0" anchor="ctr"/>
          <a:lstStyle/>
          <a:p>
            <a:pPr indent="0" marL="0">
              <a:lnSpc>
                <a:spcPct val="92000"/>
              </a:lnSpc>
              <a:buNone/>
            </a:pPr>
            <a:r>
              <a:rPr lang="en-US" sz="1050" b="1" dirty="0">
                <a:solidFill>
                  <a:srgbClr val="5B3A8C"/>
                </a:solidFill>
                <a:latin typeface="Cambria" pitchFamily="34" charset="0"/>
                <a:ea typeface="Cambria" pitchFamily="34" charset="-122"/>
                <a:cs typeface="Cambria" pitchFamily="34" charset="-120"/>
              </a:rPr>
              <a:t>Agentic-Ops</a:t>
            </a:r>
            <a:endParaRPr lang="en-US" sz="1050" dirty="0"/>
          </a:p>
        </p:txBody>
      </p:sp>
      <p:sp>
        <p:nvSpPr>
          <p:cNvPr id="45" name="Text 43"/>
          <p:cNvSpPr txBox="1"/>
          <p:nvPr/>
        </p:nvSpPr>
        <p:spPr>
          <a:xfrm>
            <a:off x="502920" y="5989320"/>
            <a:ext cx="7315200" cy="228600"/>
          </a:xfrm>
          <a:prstGeom prst="rect">
            <a:avLst/>
          </a:prstGeom>
          <a:noFill/>
          <a:ln/>
        </p:spPr>
        <p:txBody>
          <a:bodyPr wrap="square" lIns="0" tIns="0" rIns="0" bIns="0" rtlCol="0" anchor="ctr"/>
          <a:lstStyle/>
          <a:p>
            <a:pPr indent="0" marL="0">
              <a:buNone/>
            </a:pPr>
            <a:r>
              <a:rPr lang="en-US" sz="900" i="1" dirty="0">
                <a:solidFill>
                  <a:srgbClr val="5A5266"/>
                </a:solidFill>
                <a:latin typeface="Calibri" pitchFamily="34" charset="0"/>
                <a:ea typeface="Calibri" pitchFamily="34" charset="-122"/>
                <a:cs typeface="Calibri" pitchFamily="34" charset="-120"/>
              </a:rPr>
              <a:t>Source: MIT NANDA · Gartner (2026) · S&amp;P Global · EU AI Act.</a:t>
            </a:r>
            <a:endParaRPr lang="en-US" sz="900" dirty="0"/>
          </a:p>
        </p:txBody>
      </p:sp>
      <p:sp>
        <p:nvSpPr>
          <p:cNvPr id="46" name="Text 44"/>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47" name="Text 45"/>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Why the ladder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HOW EVERY ENGAGEMENT BEGINS</a:t>
            </a:r>
            <a:endParaRPr lang="en-US" sz="1100" dirty="0"/>
          </a:p>
        </p:txBody>
      </p:sp>
      <p:sp>
        <p:nvSpPr>
          <p:cNvPr id="3" name="Text 1"/>
          <p:cNvSpPr txBox="1"/>
          <p:nvPr/>
        </p:nvSpPr>
        <p:spPr>
          <a:xfrm>
            <a:off x="484632" y="676656"/>
            <a:ext cx="10058400" cy="457200"/>
          </a:xfrm>
          <a:prstGeom prst="rect">
            <a:avLst/>
          </a:prstGeom>
          <a:noFill/>
          <a:ln/>
        </p:spPr>
        <p:txBody>
          <a:bodyPr wrap="square" lIns="0" tIns="0" rIns="0" bIns="0" rtlCol="0" anchor="ctr"/>
          <a:lstStyle/>
          <a:p>
            <a:pPr indent="0" marL="0">
              <a:buNone/>
            </a:pPr>
            <a:r>
              <a:rPr lang="en-US" sz="2500" b="1" dirty="0">
                <a:solidFill>
                  <a:srgbClr val="1B1F23"/>
                </a:solidFill>
                <a:latin typeface="Cambria" pitchFamily="34" charset="0"/>
                <a:ea typeface="Cambria" pitchFamily="34" charset="-122"/>
                <a:cs typeface="Cambria" pitchFamily="34" charset="-120"/>
              </a:rPr>
              <a:t>One diagnostic finds the blocking gate</a:t>
            </a:r>
            <a:endParaRPr lang="en-US" sz="2500" dirty="0"/>
          </a:p>
        </p:txBody>
      </p:sp>
      <p:sp>
        <p:nvSpPr>
          <p:cNvPr id="4" name="Text 2"/>
          <p:cNvSpPr txBox="1"/>
          <p:nvPr/>
        </p:nvSpPr>
        <p:spPr>
          <a:xfrm>
            <a:off x="502920" y="1188720"/>
            <a:ext cx="11247120" cy="274320"/>
          </a:xfrm>
          <a:prstGeom prst="rect">
            <a:avLst/>
          </a:prstGeom>
          <a:noFill/>
          <a:ln/>
        </p:spPr>
        <p:txBody>
          <a:bodyPr wrap="square" lIns="0" tIns="0" rIns="0" bIns="0" rtlCol="0" anchor="ctr"/>
          <a:lstStyle/>
          <a:p>
            <a:pPr indent="0" marL="0">
              <a:buNone/>
            </a:pPr>
            <a:r>
              <a:rPr lang="en-US" sz="1200" dirty="0">
                <a:solidFill>
                  <a:srgbClr val="5A5266"/>
                </a:solidFill>
                <a:latin typeface="Calibri" pitchFamily="34" charset="0"/>
                <a:ea typeface="Calibri" pitchFamily="34" charset="-122"/>
                <a:cs typeface="Calibri" pitchFamily="34" charset="-120"/>
              </a:rPr>
              <a:t>AI Readiness IQ is the front door. Specialist depth reads per gate follow as the portfolio matures — published as they ship.</a:t>
            </a:r>
            <a:endParaRPr lang="en-US" sz="1200" dirty="0"/>
          </a:p>
        </p:txBody>
      </p:sp>
      <p:sp>
        <p:nvSpPr>
          <p:cNvPr id="5" name="Shape 3"/>
          <p:cNvSpPr/>
          <p:nvPr/>
        </p:nvSpPr>
        <p:spPr>
          <a:xfrm>
            <a:off x="502920" y="1828800"/>
            <a:ext cx="4937760" cy="3657600"/>
          </a:xfrm>
          <a:prstGeom prst="roundRect">
            <a:avLst>
              <a:gd name="adj" fmla="val 1750"/>
            </a:avLst>
          </a:prstGeom>
          <a:solidFill>
            <a:srgbClr val="F7F4FB"/>
          </a:solidFill>
          <a:ln w="9525">
            <a:solidFill>
              <a:srgbClr val="E2D9EE"/>
            </a:solidFill>
            <a:prstDash val="solid"/>
          </a:ln>
        </p:spPr>
      </p:sp>
      <p:sp>
        <p:nvSpPr>
          <p:cNvPr id="6" name="Shape 4"/>
          <p:cNvSpPr/>
          <p:nvPr/>
        </p:nvSpPr>
        <p:spPr>
          <a:xfrm>
            <a:off x="502920" y="1828800"/>
            <a:ext cx="4937760" cy="1188720"/>
          </a:xfrm>
          <a:prstGeom prst="roundRect">
            <a:avLst>
              <a:gd name="adj" fmla="val 5385"/>
            </a:avLst>
          </a:prstGeom>
          <a:solidFill>
            <a:srgbClr val="5B3A8C"/>
          </a:solidFill>
          <a:ln/>
        </p:spPr>
      </p:sp>
      <p:sp>
        <p:nvSpPr>
          <p:cNvPr id="7" name="Shape 5"/>
          <p:cNvSpPr/>
          <p:nvPr/>
        </p:nvSpPr>
        <p:spPr>
          <a:xfrm>
            <a:off x="502920" y="2377440"/>
            <a:ext cx="4937760" cy="640080"/>
          </a:xfrm>
          <a:prstGeom prst="rect">
            <a:avLst/>
          </a:prstGeom>
          <a:solidFill>
            <a:srgbClr val="5B3A8C"/>
          </a:solidFill>
          <a:ln/>
        </p:spPr>
      </p:sp>
      <p:pic>
        <p:nvPicPr>
          <p:cNvPr id="8" name="Image 0" descr="/home/claude/p4_a_aiiq.png">    </p:cNvPr>
          <p:cNvPicPr>
            <a:picLocks noChangeAspect="1"/>
          </p:cNvPicPr>
          <p:nvPr/>
        </p:nvPicPr>
        <p:blipFill>
          <a:blip r:embed="rId1"/>
          <a:stretch>
            <a:fillRect/>
          </a:stretch>
        </p:blipFill>
        <p:spPr>
          <a:xfrm>
            <a:off x="777240" y="2148840"/>
            <a:ext cx="548640" cy="548640"/>
          </a:xfrm>
          <a:prstGeom prst="rect">
            <a:avLst/>
          </a:prstGeom>
        </p:spPr>
      </p:pic>
      <p:sp>
        <p:nvSpPr>
          <p:cNvPr id="9" name="Text 6"/>
          <p:cNvSpPr txBox="1"/>
          <p:nvPr/>
        </p:nvSpPr>
        <p:spPr>
          <a:xfrm>
            <a:off x="1463040" y="2121408"/>
            <a:ext cx="384048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AI Readiness IQ</a:t>
            </a:r>
            <a:endParaRPr lang="en-US" sz="2200" dirty="0"/>
          </a:p>
        </p:txBody>
      </p:sp>
      <p:sp>
        <p:nvSpPr>
          <p:cNvPr id="10" name="Text 7"/>
          <p:cNvSpPr txBox="1"/>
          <p:nvPr/>
        </p:nvSpPr>
        <p:spPr>
          <a:xfrm>
            <a:off x="1481328" y="2578608"/>
            <a:ext cx="3840480" cy="274320"/>
          </a:xfrm>
          <a:prstGeom prst="rect">
            <a:avLst/>
          </a:prstGeom>
          <a:noFill/>
          <a:ln/>
        </p:spPr>
        <p:txBody>
          <a:bodyPr wrap="square" lIns="0" tIns="0" rIns="0" bIns="0" rtlCol="0" anchor="ctr"/>
          <a:lstStyle/>
          <a:p>
            <a:pPr indent="0" marL="0">
              <a:buNone/>
            </a:pPr>
            <a:r>
              <a:rPr lang="en-US" sz="1000" b="1" spc="150" kern="0" dirty="0">
                <a:solidFill>
                  <a:srgbClr val="B99FDB"/>
                </a:solidFill>
                <a:latin typeface="Calibri" pitchFamily="34" charset="0"/>
                <a:ea typeface="Calibri" pitchFamily="34" charset="-122"/>
                <a:cs typeface="Calibri" pitchFamily="34" charset="-120"/>
              </a:rPr>
              <a:t>FREE · SELF-SERVE · IN BUILD</a:t>
            </a:r>
            <a:endParaRPr lang="en-US" sz="1000" dirty="0"/>
          </a:p>
        </p:txBody>
      </p:sp>
      <p:sp>
        <p:nvSpPr>
          <p:cNvPr id="11" name="Text 8"/>
          <p:cNvSpPr txBox="1"/>
          <p:nvPr/>
        </p:nvSpPr>
        <p:spPr>
          <a:xfrm>
            <a:off x="777240" y="3246120"/>
            <a:ext cx="4389120" cy="457200"/>
          </a:xfrm>
          <a:prstGeom prst="rect">
            <a:avLst/>
          </a:prstGeom>
          <a:noFill/>
          <a:ln/>
        </p:spPr>
        <p:txBody>
          <a:bodyPr wrap="square" lIns="0" tIns="0" rIns="0" bIns="0" rtlCol="0" anchor="ctr"/>
          <a:lstStyle/>
          <a:p>
            <a:pPr indent="0" marL="0">
              <a:buNone/>
            </a:pPr>
            <a:r>
              <a:rPr lang="en-US" sz="1500" i="1" dirty="0">
                <a:solidFill>
                  <a:srgbClr val="5B3A8C"/>
                </a:solidFill>
                <a:latin typeface="Cambria" pitchFamily="34" charset="0"/>
                <a:ea typeface="Cambria" pitchFamily="34" charset="-122"/>
                <a:cs typeface="Cambria" pitchFamily="34" charset="-120"/>
              </a:rPr>
              <a:t>“Where does my AI program break?”</a:t>
            </a:r>
            <a:endParaRPr lang="en-US" sz="1500" dirty="0"/>
          </a:p>
        </p:txBody>
      </p:sp>
      <p:sp>
        <p:nvSpPr>
          <p:cNvPr id="12" name="Text 9"/>
          <p:cNvSpPr txBox="1"/>
          <p:nvPr/>
        </p:nvSpPr>
        <p:spPr>
          <a:xfrm>
            <a:off x="777240" y="3840480"/>
            <a:ext cx="4389120" cy="1463040"/>
          </a:xfrm>
          <a:prstGeom prst="rect">
            <a:avLst/>
          </a:prstGeom>
          <a:noFill/>
          <a:ln/>
        </p:spPr>
        <p:txBody>
          <a:bodyPr wrap="square" lIns="0" tIns="0" rIns="0" bIns="0" rtlCol="0" anchor="ctr"/>
          <a:lstStyle/>
          <a:p>
            <a:pPr indent="0" marL="0">
              <a:lnSpc>
                <a:spcPct val="108000"/>
              </a:lnSpc>
              <a:buNone/>
            </a:pPr>
            <a:r>
              <a:rPr lang="en-US" sz="1150" dirty="0">
                <a:solidFill>
                  <a:srgbClr val="3C3650"/>
                </a:solidFill>
                <a:latin typeface="Calibri" pitchFamily="34" charset="0"/>
                <a:ea typeface="Calibri" pitchFamily="34" charset="-122"/>
                <a:cs typeface="Calibri" pitchFamily="34" charset="-120"/>
              </a:rPr>
              <a:t>The front door — a short self-assessment that scores the enterprise across all five gates of the AI value ladder, identifies the one that’s blocking progress, and routes to the offering that clears it. Stops the 95% failure pattern before capital is committed.</a:t>
            </a:r>
            <a:endParaRPr lang="en-US" sz="1150" dirty="0"/>
          </a:p>
        </p:txBody>
      </p:sp>
      <p:sp>
        <p:nvSpPr>
          <p:cNvPr id="13" name="Text 10"/>
          <p:cNvSpPr txBox="1"/>
          <p:nvPr/>
        </p:nvSpPr>
        <p:spPr>
          <a:xfrm>
            <a:off x="5806440" y="1874520"/>
            <a:ext cx="5486400" cy="274320"/>
          </a:xfrm>
          <a:prstGeom prst="rect">
            <a:avLst/>
          </a:prstGeom>
          <a:noFill/>
          <a:ln/>
        </p:spPr>
        <p:txBody>
          <a:bodyPr wrap="square" lIns="0" tIns="0" rIns="0" bIns="0" rtlCol="0" anchor="ctr"/>
          <a:lstStyle/>
          <a:p>
            <a:pPr indent="0" marL="0">
              <a:buNone/>
            </a:pPr>
            <a:r>
              <a:rPr lang="en-US" sz="1000" b="1" spc="150" kern="0" dirty="0">
                <a:solidFill>
                  <a:srgbClr val="5B3A8C"/>
                </a:solidFill>
                <a:latin typeface="Calibri" pitchFamily="34" charset="0"/>
                <a:ea typeface="Calibri" pitchFamily="34" charset="-122"/>
                <a:cs typeface="Calibri" pitchFamily="34" charset="-120"/>
              </a:rPr>
              <a:t>IT SCORES ALL FIVE GATES</a:t>
            </a:r>
            <a:endParaRPr lang="en-US" sz="1000" dirty="0"/>
          </a:p>
        </p:txBody>
      </p:sp>
      <p:sp>
        <p:nvSpPr>
          <p:cNvPr id="14" name="Shape 11"/>
          <p:cNvSpPr/>
          <p:nvPr/>
        </p:nvSpPr>
        <p:spPr>
          <a:xfrm>
            <a:off x="5806440" y="2240280"/>
            <a:ext cx="5879592" cy="566928"/>
          </a:xfrm>
          <a:prstGeom prst="roundRect">
            <a:avLst>
              <a:gd name="adj" fmla="val 8065"/>
            </a:avLst>
          </a:prstGeom>
          <a:solidFill>
            <a:srgbClr val="F0EAF7"/>
          </a:solidFill>
          <a:ln w="6350">
            <a:solidFill>
              <a:srgbClr val="E2D9EE"/>
            </a:solidFill>
            <a:prstDash val="solid"/>
          </a:ln>
        </p:spPr>
      </p:sp>
      <p:sp>
        <p:nvSpPr>
          <p:cNvPr id="15" name="Shape 12"/>
          <p:cNvSpPr/>
          <p:nvPr/>
        </p:nvSpPr>
        <p:spPr>
          <a:xfrm>
            <a:off x="5943600" y="2368296"/>
            <a:ext cx="310896" cy="310896"/>
          </a:xfrm>
          <a:prstGeom prst="roundRect">
            <a:avLst>
              <a:gd name="adj" fmla="val 14706"/>
            </a:avLst>
          </a:prstGeom>
          <a:solidFill>
            <a:srgbClr val="5B3A8C"/>
          </a:solidFill>
          <a:ln/>
        </p:spPr>
      </p:sp>
      <p:sp>
        <p:nvSpPr>
          <p:cNvPr id="16" name="Text 13"/>
          <p:cNvSpPr txBox="1"/>
          <p:nvPr/>
        </p:nvSpPr>
        <p:spPr>
          <a:xfrm>
            <a:off x="5943600" y="23682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7" name="Text 14"/>
          <p:cNvSpPr txBox="1"/>
          <p:nvPr/>
        </p:nvSpPr>
        <p:spPr>
          <a:xfrm>
            <a:off x="6400800" y="2295144"/>
            <a:ext cx="2651760" cy="457200"/>
          </a:xfrm>
          <a:prstGeom prst="rect">
            <a:avLst/>
          </a:prstGeom>
          <a:noFill/>
          <a:ln/>
        </p:spPr>
        <p:txBody>
          <a:bodyPr wrap="square" lIns="0" tIns="0" rIns="0" bIns="0" rtlCol="0" anchor="ctr"/>
          <a:lstStyle/>
          <a:p>
            <a:pPr indent="0" marL="0">
              <a:buNone/>
            </a:pPr>
            <a:r>
              <a:rPr lang="en-US" sz="1150" b="1" dirty="0">
                <a:solidFill>
                  <a:srgbClr val="472D6E"/>
                </a:solidFill>
                <a:latin typeface="Cambria" pitchFamily="34" charset="0"/>
                <a:ea typeface="Cambria" pitchFamily="34" charset="-122"/>
                <a:cs typeface="Cambria" pitchFamily="34" charset="-120"/>
              </a:rPr>
              <a:t>Gate 1 · Should we?</a:t>
            </a:r>
            <a:endParaRPr lang="en-US" sz="1150" dirty="0"/>
          </a:p>
        </p:txBody>
      </p:sp>
      <p:sp>
        <p:nvSpPr>
          <p:cNvPr id="18" name="Text 15"/>
          <p:cNvSpPr txBox="1"/>
          <p:nvPr/>
        </p:nvSpPr>
        <p:spPr>
          <a:xfrm>
            <a:off x="9052560" y="2295144"/>
            <a:ext cx="2514600" cy="457200"/>
          </a:xfrm>
          <a:prstGeom prst="rect">
            <a:avLst/>
          </a:prstGeom>
          <a:noFill/>
          <a:ln/>
        </p:spPr>
        <p:txBody>
          <a:bodyPr wrap="square" lIns="0" tIns="0" rIns="0" bIns="0" rtlCol="0" anchor="ctr"/>
          <a:lstStyle/>
          <a:p>
            <a:pPr indent="0" marL="0">
              <a:lnSpc>
                <a:spcPct val="90000"/>
              </a:lnSpc>
              <a:buNone/>
            </a:pPr>
            <a:r>
              <a:rPr lang="en-US" sz="950" dirty="0">
                <a:solidFill>
                  <a:srgbClr val="5A5266"/>
                </a:solidFill>
                <a:latin typeface="Calibri" pitchFamily="34" charset="0"/>
                <a:ea typeface="Calibri" pitchFamily="34" charset="-122"/>
                <a:cs typeface="Calibri" pitchFamily="34" charset="-120"/>
              </a:rPr>
              <a:t>Readiness, opportunity, data foundation</a:t>
            </a:r>
            <a:endParaRPr lang="en-US" sz="950" dirty="0"/>
          </a:p>
        </p:txBody>
      </p:sp>
      <p:sp>
        <p:nvSpPr>
          <p:cNvPr id="19" name="Shape 16"/>
          <p:cNvSpPr/>
          <p:nvPr/>
        </p:nvSpPr>
        <p:spPr>
          <a:xfrm>
            <a:off x="5806440" y="2898648"/>
            <a:ext cx="5879592" cy="566928"/>
          </a:xfrm>
          <a:prstGeom prst="roundRect">
            <a:avLst>
              <a:gd name="adj" fmla="val 8065"/>
            </a:avLst>
          </a:prstGeom>
          <a:solidFill>
            <a:srgbClr val="F0EAF7"/>
          </a:solidFill>
          <a:ln w="6350">
            <a:solidFill>
              <a:srgbClr val="E2D9EE"/>
            </a:solidFill>
            <a:prstDash val="solid"/>
          </a:ln>
        </p:spPr>
      </p:sp>
      <p:sp>
        <p:nvSpPr>
          <p:cNvPr id="20" name="Shape 17"/>
          <p:cNvSpPr/>
          <p:nvPr/>
        </p:nvSpPr>
        <p:spPr>
          <a:xfrm>
            <a:off x="5943600" y="3026664"/>
            <a:ext cx="310896" cy="310896"/>
          </a:xfrm>
          <a:prstGeom prst="roundRect">
            <a:avLst>
              <a:gd name="adj" fmla="val 14706"/>
            </a:avLst>
          </a:prstGeom>
          <a:solidFill>
            <a:srgbClr val="5B3A8C"/>
          </a:solidFill>
          <a:ln/>
        </p:spPr>
      </p:sp>
      <p:sp>
        <p:nvSpPr>
          <p:cNvPr id="21" name="Text 18"/>
          <p:cNvSpPr txBox="1"/>
          <p:nvPr/>
        </p:nvSpPr>
        <p:spPr>
          <a:xfrm>
            <a:off x="5943600" y="30266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2" name="Text 19"/>
          <p:cNvSpPr txBox="1"/>
          <p:nvPr/>
        </p:nvSpPr>
        <p:spPr>
          <a:xfrm>
            <a:off x="6400800" y="2953512"/>
            <a:ext cx="2651760" cy="457200"/>
          </a:xfrm>
          <a:prstGeom prst="rect">
            <a:avLst/>
          </a:prstGeom>
          <a:noFill/>
          <a:ln/>
        </p:spPr>
        <p:txBody>
          <a:bodyPr wrap="square" lIns="0" tIns="0" rIns="0" bIns="0" rtlCol="0" anchor="ctr"/>
          <a:lstStyle/>
          <a:p>
            <a:pPr indent="0" marL="0">
              <a:buNone/>
            </a:pPr>
            <a:r>
              <a:rPr lang="en-US" sz="1150" b="1" dirty="0">
                <a:solidFill>
                  <a:srgbClr val="472D6E"/>
                </a:solidFill>
                <a:latin typeface="Cambria" pitchFamily="34" charset="0"/>
                <a:ea typeface="Cambria" pitchFamily="34" charset="-122"/>
                <a:cs typeface="Cambria" pitchFamily="34" charset="-120"/>
              </a:rPr>
              <a:t>Gate 2 · Can we run it?</a:t>
            </a:r>
            <a:endParaRPr lang="en-US" sz="1150" dirty="0"/>
          </a:p>
        </p:txBody>
      </p:sp>
      <p:sp>
        <p:nvSpPr>
          <p:cNvPr id="23" name="Text 20"/>
          <p:cNvSpPr txBox="1"/>
          <p:nvPr/>
        </p:nvSpPr>
        <p:spPr>
          <a:xfrm>
            <a:off x="9052560" y="2953512"/>
            <a:ext cx="2514600" cy="457200"/>
          </a:xfrm>
          <a:prstGeom prst="rect">
            <a:avLst/>
          </a:prstGeom>
          <a:noFill/>
          <a:ln/>
        </p:spPr>
        <p:txBody>
          <a:bodyPr wrap="square" lIns="0" tIns="0" rIns="0" bIns="0" rtlCol="0" anchor="ctr"/>
          <a:lstStyle/>
          <a:p>
            <a:pPr indent="0" marL="0">
              <a:lnSpc>
                <a:spcPct val="90000"/>
              </a:lnSpc>
              <a:buNone/>
            </a:pPr>
            <a:r>
              <a:rPr lang="en-US" sz="950" dirty="0">
                <a:solidFill>
                  <a:srgbClr val="5A5266"/>
                </a:solidFill>
                <a:latin typeface="Calibri" pitchFamily="34" charset="0"/>
                <a:ea typeface="Calibri" pitchFamily="34" charset="-122"/>
                <a:cs typeface="Calibri" pitchFamily="34" charset="-120"/>
              </a:rPr>
              <a:t>Compute &amp; GPU foundation</a:t>
            </a:r>
            <a:endParaRPr lang="en-US" sz="950" dirty="0"/>
          </a:p>
        </p:txBody>
      </p:sp>
      <p:sp>
        <p:nvSpPr>
          <p:cNvPr id="24" name="Shape 21"/>
          <p:cNvSpPr/>
          <p:nvPr/>
        </p:nvSpPr>
        <p:spPr>
          <a:xfrm>
            <a:off x="5806440" y="3557016"/>
            <a:ext cx="5879592" cy="566928"/>
          </a:xfrm>
          <a:prstGeom prst="roundRect">
            <a:avLst>
              <a:gd name="adj" fmla="val 8065"/>
            </a:avLst>
          </a:prstGeom>
          <a:solidFill>
            <a:srgbClr val="F0EAF7"/>
          </a:solidFill>
          <a:ln w="6350">
            <a:solidFill>
              <a:srgbClr val="E2D9EE"/>
            </a:solidFill>
            <a:prstDash val="solid"/>
          </a:ln>
        </p:spPr>
      </p:sp>
      <p:sp>
        <p:nvSpPr>
          <p:cNvPr id="25" name="Shape 22"/>
          <p:cNvSpPr/>
          <p:nvPr/>
        </p:nvSpPr>
        <p:spPr>
          <a:xfrm>
            <a:off x="5943600" y="3685032"/>
            <a:ext cx="310896" cy="310896"/>
          </a:xfrm>
          <a:prstGeom prst="roundRect">
            <a:avLst>
              <a:gd name="adj" fmla="val 14706"/>
            </a:avLst>
          </a:prstGeom>
          <a:solidFill>
            <a:srgbClr val="5B3A8C"/>
          </a:solidFill>
          <a:ln/>
        </p:spPr>
      </p:sp>
      <p:sp>
        <p:nvSpPr>
          <p:cNvPr id="26" name="Text 23"/>
          <p:cNvSpPr txBox="1"/>
          <p:nvPr/>
        </p:nvSpPr>
        <p:spPr>
          <a:xfrm>
            <a:off x="5943600" y="36850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7" name="Text 24"/>
          <p:cNvSpPr txBox="1"/>
          <p:nvPr/>
        </p:nvSpPr>
        <p:spPr>
          <a:xfrm>
            <a:off x="6400800" y="3611880"/>
            <a:ext cx="2651760" cy="457200"/>
          </a:xfrm>
          <a:prstGeom prst="rect">
            <a:avLst/>
          </a:prstGeom>
          <a:noFill/>
          <a:ln/>
        </p:spPr>
        <p:txBody>
          <a:bodyPr wrap="square" lIns="0" tIns="0" rIns="0" bIns="0" rtlCol="0" anchor="ctr"/>
          <a:lstStyle/>
          <a:p>
            <a:pPr indent="0" marL="0">
              <a:buNone/>
            </a:pPr>
            <a:r>
              <a:rPr lang="en-US" sz="1150" b="1" dirty="0">
                <a:solidFill>
                  <a:srgbClr val="472D6E"/>
                </a:solidFill>
                <a:latin typeface="Cambria" pitchFamily="34" charset="0"/>
                <a:ea typeface="Cambria" pitchFamily="34" charset="-122"/>
                <a:cs typeface="Cambria" pitchFamily="34" charset="-120"/>
              </a:rPr>
              <a:t>Gate 3 · Will it pass?</a:t>
            </a:r>
            <a:endParaRPr lang="en-US" sz="1150" dirty="0"/>
          </a:p>
        </p:txBody>
      </p:sp>
      <p:sp>
        <p:nvSpPr>
          <p:cNvPr id="28" name="Text 25"/>
          <p:cNvSpPr txBox="1"/>
          <p:nvPr/>
        </p:nvSpPr>
        <p:spPr>
          <a:xfrm>
            <a:off x="9052560" y="3611880"/>
            <a:ext cx="2514600" cy="457200"/>
          </a:xfrm>
          <a:prstGeom prst="rect">
            <a:avLst/>
          </a:prstGeom>
          <a:noFill/>
          <a:ln/>
        </p:spPr>
        <p:txBody>
          <a:bodyPr wrap="square" lIns="0" tIns="0" rIns="0" bIns="0" rtlCol="0" anchor="ctr"/>
          <a:lstStyle/>
          <a:p>
            <a:pPr indent="0" marL="0">
              <a:lnSpc>
                <a:spcPct val="90000"/>
              </a:lnSpc>
              <a:buNone/>
            </a:pPr>
            <a:r>
              <a:rPr lang="en-US" sz="950" dirty="0">
                <a:solidFill>
                  <a:srgbClr val="5A5266"/>
                </a:solidFill>
                <a:latin typeface="Calibri" pitchFamily="34" charset="0"/>
                <a:ea typeface="Calibri" pitchFamily="34" charset="-122"/>
                <a:cs typeface="Calibri" pitchFamily="34" charset="-120"/>
              </a:rPr>
              <a:t>Governance &amp; regulatory readiness</a:t>
            </a:r>
            <a:endParaRPr lang="en-US" sz="950" dirty="0"/>
          </a:p>
        </p:txBody>
      </p:sp>
      <p:sp>
        <p:nvSpPr>
          <p:cNvPr id="29" name="Shape 26"/>
          <p:cNvSpPr/>
          <p:nvPr/>
        </p:nvSpPr>
        <p:spPr>
          <a:xfrm>
            <a:off x="5806440" y="4215384"/>
            <a:ext cx="5879592" cy="566928"/>
          </a:xfrm>
          <a:prstGeom prst="roundRect">
            <a:avLst>
              <a:gd name="adj" fmla="val 8065"/>
            </a:avLst>
          </a:prstGeom>
          <a:solidFill>
            <a:srgbClr val="F0EAF7"/>
          </a:solidFill>
          <a:ln w="6350">
            <a:solidFill>
              <a:srgbClr val="E2D9EE"/>
            </a:solidFill>
            <a:prstDash val="solid"/>
          </a:ln>
        </p:spPr>
      </p:sp>
      <p:sp>
        <p:nvSpPr>
          <p:cNvPr id="30" name="Shape 27"/>
          <p:cNvSpPr/>
          <p:nvPr/>
        </p:nvSpPr>
        <p:spPr>
          <a:xfrm>
            <a:off x="5943600" y="4343400"/>
            <a:ext cx="310896" cy="310896"/>
          </a:xfrm>
          <a:prstGeom prst="roundRect">
            <a:avLst>
              <a:gd name="adj" fmla="val 14706"/>
            </a:avLst>
          </a:prstGeom>
          <a:solidFill>
            <a:srgbClr val="5B3A8C"/>
          </a:solidFill>
          <a:ln/>
        </p:spPr>
      </p:sp>
      <p:sp>
        <p:nvSpPr>
          <p:cNvPr id="31" name="Text 28"/>
          <p:cNvSpPr txBox="1"/>
          <p:nvPr/>
        </p:nvSpPr>
        <p:spPr>
          <a:xfrm>
            <a:off x="5943600" y="43434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32" name="Text 29"/>
          <p:cNvSpPr txBox="1"/>
          <p:nvPr/>
        </p:nvSpPr>
        <p:spPr>
          <a:xfrm>
            <a:off x="6400800" y="4270248"/>
            <a:ext cx="2651760" cy="457200"/>
          </a:xfrm>
          <a:prstGeom prst="rect">
            <a:avLst/>
          </a:prstGeom>
          <a:noFill/>
          <a:ln/>
        </p:spPr>
        <p:txBody>
          <a:bodyPr wrap="square" lIns="0" tIns="0" rIns="0" bIns="0" rtlCol="0" anchor="ctr"/>
          <a:lstStyle/>
          <a:p>
            <a:pPr indent="0" marL="0">
              <a:buNone/>
            </a:pPr>
            <a:r>
              <a:rPr lang="en-US" sz="1150" b="1" dirty="0">
                <a:solidFill>
                  <a:srgbClr val="472D6E"/>
                </a:solidFill>
                <a:latin typeface="Cambria" pitchFamily="34" charset="0"/>
                <a:ea typeface="Cambria" pitchFamily="34" charset="-122"/>
                <a:cs typeface="Cambria" pitchFamily="34" charset="-120"/>
              </a:rPr>
              <a:t>Gate 4 · Can we afford it?</a:t>
            </a:r>
            <a:endParaRPr lang="en-US" sz="1150" dirty="0"/>
          </a:p>
        </p:txBody>
      </p:sp>
      <p:sp>
        <p:nvSpPr>
          <p:cNvPr id="33" name="Text 30"/>
          <p:cNvSpPr txBox="1"/>
          <p:nvPr/>
        </p:nvSpPr>
        <p:spPr>
          <a:xfrm>
            <a:off x="9052560" y="4270248"/>
            <a:ext cx="2514600" cy="457200"/>
          </a:xfrm>
          <a:prstGeom prst="rect">
            <a:avLst/>
          </a:prstGeom>
          <a:noFill/>
          <a:ln/>
        </p:spPr>
        <p:txBody>
          <a:bodyPr wrap="square" lIns="0" tIns="0" rIns="0" bIns="0" rtlCol="0" anchor="ctr"/>
          <a:lstStyle/>
          <a:p>
            <a:pPr indent="0" marL="0">
              <a:lnSpc>
                <a:spcPct val="90000"/>
              </a:lnSpc>
              <a:buNone/>
            </a:pPr>
            <a:r>
              <a:rPr lang="en-US" sz="950" dirty="0">
                <a:solidFill>
                  <a:srgbClr val="5A5266"/>
                </a:solidFill>
                <a:latin typeface="Calibri" pitchFamily="34" charset="0"/>
                <a:ea typeface="Calibri" pitchFamily="34" charset="-122"/>
                <a:cs typeface="Calibri" pitchFamily="34" charset="-120"/>
              </a:rPr>
              <a:t>Unit economics &amp; TokenOps</a:t>
            </a:r>
            <a:endParaRPr lang="en-US" sz="950" dirty="0"/>
          </a:p>
        </p:txBody>
      </p:sp>
      <p:sp>
        <p:nvSpPr>
          <p:cNvPr id="34" name="Shape 31"/>
          <p:cNvSpPr/>
          <p:nvPr/>
        </p:nvSpPr>
        <p:spPr>
          <a:xfrm>
            <a:off x="5806440" y="4873752"/>
            <a:ext cx="5879592" cy="566928"/>
          </a:xfrm>
          <a:prstGeom prst="roundRect">
            <a:avLst>
              <a:gd name="adj" fmla="val 8065"/>
            </a:avLst>
          </a:prstGeom>
          <a:solidFill>
            <a:srgbClr val="F0EAF7"/>
          </a:solidFill>
          <a:ln w="6350">
            <a:solidFill>
              <a:srgbClr val="E2D9EE"/>
            </a:solidFill>
            <a:prstDash val="solid"/>
          </a:ln>
        </p:spPr>
      </p:sp>
      <p:sp>
        <p:nvSpPr>
          <p:cNvPr id="35" name="Shape 32"/>
          <p:cNvSpPr/>
          <p:nvPr/>
        </p:nvSpPr>
        <p:spPr>
          <a:xfrm>
            <a:off x="5943600" y="5001768"/>
            <a:ext cx="310896" cy="310896"/>
          </a:xfrm>
          <a:prstGeom prst="roundRect">
            <a:avLst>
              <a:gd name="adj" fmla="val 14706"/>
            </a:avLst>
          </a:prstGeom>
          <a:solidFill>
            <a:srgbClr val="5B3A8C"/>
          </a:solidFill>
          <a:ln/>
        </p:spPr>
      </p:sp>
      <p:sp>
        <p:nvSpPr>
          <p:cNvPr id="36" name="Text 33"/>
          <p:cNvSpPr txBox="1"/>
          <p:nvPr/>
        </p:nvSpPr>
        <p:spPr>
          <a:xfrm>
            <a:off x="5943600" y="50017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37" name="Text 34"/>
          <p:cNvSpPr txBox="1"/>
          <p:nvPr/>
        </p:nvSpPr>
        <p:spPr>
          <a:xfrm>
            <a:off x="6400800" y="4928616"/>
            <a:ext cx="2651760" cy="457200"/>
          </a:xfrm>
          <a:prstGeom prst="rect">
            <a:avLst/>
          </a:prstGeom>
          <a:noFill/>
          <a:ln/>
        </p:spPr>
        <p:txBody>
          <a:bodyPr wrap="square" lIns="0" tIns="0" rIns="0" bIns="0" rtlCol="0" anchor="ctr"/>
          <a:lstStyle/>
          <a:p>
            <a:pPr indent="0" marL="0">
              <a:buNone/>
            </a:pPr>
            <a:r>
              <a:rPr lang="en-US" sz="1150" b="1" dirty="0">
                <a:solidFill>
                  <a:srgbClr val="472D6E"/>
                </a:solidFill>
                <a:latin typeface="Cambria" pitchFamily="34" charset="0"/>
                <a:ea typeface="Cambria" pitchFamily="34" charset="-122"/>
                <a:cs typeface="Cambria" pitchFamily="34" charset="-120"/>
              </a:rPr>
              <a:t>Gate 5 · Can it act alone?</a:t>
            </a:r>
            <a:endParaRPr lang="en-US" sz="1150" dirty="0"/>
          </a:p>
        </p:txBody>
      </p:sp>
      <p:sp>
        <p:nvSpPr>
          <p:cNvPr id="38" name="Text 35"/>
          <p:cNvSpPr txBox="1"/>
          <p:nvPr/>
        </p:nvSpPr>
        <p:spPr>
          <a:xfrm>
            <a:off x="9052560" y="4928616"/>
            <a:ext cx="2514600" cy="457200"/>
          </a:xfrm>
          <a:prstGeom prst="rect">
            <a:avLst/>
          </a:prstGeom>
          <a:noFill/>
          <a:ln/>
        </p:spPr>
        <p:txBody>
          <a:bodyPr wrap="square" lIns="0" tIns="0" rIns="0" bIns="0" rtlCol="0" anchor="ctr"/>
          <a:lstStyle/>
          <a:p>
            <a:pPr indent="0" marL="0">
              <a:lnSpc>
                <a:spcPct val="90000"/>
              </a:lnSpc>
              <a:buNone/>
            </a:pPr>
            <a:r>
              <a:rPr lang="en-US" sz="950" dirty="0">
                <a:solidFill>
                  <a:srgbClr val="5A5266"/>
                </a:solidFill>
                <a:latin typeface="Calibri" pitchFamily="34" charset="0"/>
                <a:ea typeface="Calibri" pitchFamily="34" charset="-122"/>
                <a:cs typeface="Calibri" pitchFamily="34" charset="-120"/>
              </a:rPr>
              <a:t>Safe autonomy</a:t>
            </a:r>
            <a:endParaRPr lang="en-US" sz="950" dirty="0"/>
          </a:p>
        </p:txBody>
      </p:sp>
      <p:sp>
        <p:nvSpPr>
          <p:cNvPr id="39" name="Shape 36"/>
          <p:cNvSpPr/>
          <p:nvPr/>
        </p:nvSpPr>
        <p:spPr>
          <a:xfrm>
            <a:off x="502920" y="5669280"/>
            <a:ext cx="11183112" cy="566928"/>
          </a:xfrm>
          <a:prstGeom prst="roundRect">
            <a:avLst>
              <a:gd name="adj" fmla="val 9677"/>
            </a:avLst>
          </a:prstGeom>
          <a:solidFill>
            <a:srgbClr val="F0EAF7"/>
          </a:solidFill>
          <a:ln w="9525">
            <a:solidFill>
              <a:srgbClr val="B99FDB"/>
            </a:solidFill>
            <a:prstDash val="solid"/>
          </a:ln>
        </p:spPr>
      </p:sp>
      <p:sp>
        <p:nvSpPr>
          <p:cNvPr id="40" name="Text 37"/>
          <p:cNvSpPr txBox="1"/>
          <p:nvPr/>
        </p:nvSpPr>
        <p:spPr>
          <a:xfrm>
            <a:off x="777240" y="5769864"/>
            <a:ext cx="10698480" cy="365760"/>
          </a:xfrm>
          <a:prstGeom prst="rect">
            <a:avLst/>
          </a:prstGeom>
          <a:noFill/>
          <a:ln/>
        </p:spPr>
        <p:txBody>
          <a:bodyPr wrap="square" lIns="0" tIns="0" rIns="0" bIns="0" rtlCol="0" anchor="ctr"/>
          <a:lstStyle/>
          <a:p>
            <a:pPr indent="0" marL="0">
              <a:buNone/>
            </a:pPr>
            <a:r>
              <a:rPr lang="en-US" sz="1050" b="1" spc="150" kern="0" dirty="0">
                <a:solidFill>
                  <a:srgbClr val="5B3A8C"/>
                </a:solidFill>
                <a:latin typeface="Calibri" pitchFamily="34" charset="0"/>
                <a:ea typeface="Calibri" pitchFamily="34" charset="-122"/>
                <a:cs typeface="Calibri" pitchFamily="34" charset="-120"/>
              </a:rPr>
              <a:t>THE PATH   </a:t>
            </a:r>
            <a:pPr indent="0" marL="0">
              <a:buNone/>
            </a:pPr>
            <a:r>
              <a:rPr lang="en-US" sz="1400" i="1" dirty="0">
                <a:solidFill>
                  <a:srgbClr val="472D6E"/>
                </a:solidFill>
                <a:latin typeface="Cambria" pitchFamily="34" charset="0"/>
                <a:ea typeface="Cambria" pitchFamily="34" charset="-122"/>
                <a:cs typeface="Cambria" pitchFamily="34" charset="-120"/>
              </a:rPr>
              <a:t>AI Readiness IQ  →  the gate that scores weakest  →  the offering that clears it  →  climb to the next gate</a:t>
            </a:r>
            <a:endParaRPr lang="en-US" sz="1050" dirty="0"/>
          </a:p>
        </p:txBody>
      </p:sp>
      <p:sp>
        <p:nvSpPr>
          <p:cNvPr id="41" name="Text 38"/>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42" name="Text 39"/>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Accelerator</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OFFERING  ·  OUT-READY THE ESTATE.   ·   GATE 1 · SHOULD WE?</a:t>
            </a:r>
            <a:endParaRPr lang="en-US" sz="1100" dirty="0"/>
          </a:p>
        </p:txBody>
      </p:sp>
      <p:sp>
        <p:nvSpPr>
          <p:cNvPr id="3" name="Text 1"/>
          <p:cNvSpPr txBox="1"/>
          <p:nvPr/>
        </p:nvSpPr>
        <p:spPr>
          <a:xfrm>
            <a:off x="484632" y="658368"/>
            <a:ext cx="11338560" cy="502920"/>
          </a:xfrm>
          <a:prstGeom prst="rect">
            <a:avLst/>
          </a:prstGeom>
          <a:noFill/>
          <a:ln/>
        </p:spPr>
        <p:txBody>
          <a:bodyPr wrap="square" lIns="0" tIns="0" rIns="0" bIns="0" rtlCol="0" anchor="ctr"/>
          <a:lstStyle/>
          <a:p>
            <a:pPr indent="0" marL="0">
              <a:buNone/>
            </a:pPr>
            <a:r>
              <a:rPr lang="en-US" sz="2400" b="1" dirty="0">
                <a:solidFill>
                  <a:srgbClr val="B99FDB"/>
                </a:solidFill>
                <a:latin typeface="Cambria" pitchFamily="34" charset="0"/>
                <a:ea typeface="Cambria" pitchFamily="34" charset="-122"/>
                <a:cs typeface="Cambria" pitchFamily="34" charset="-120"/>
              </a:rPr>
              <a:t>04.1   </a:t>
            </a:r>
            <a:pPr indent="0" marL="0">
              <a:buNone/>
            </a:pPr>
            <a:r>
              <a:rPr lang="en-US" sz="2200" b="1" dirty="0">
                <a:solidFill>
                  <a:srgbClr val="1B1F23"/>
                </a:solidFill>
                <a:latin typeface="Cambria" pitchFamily="34" charset="0"/>
                <a:ea typeface="Cambria" pitchFamily="34" charset="-122"/>
                <a:cs typeface="Cambria" pitchFamily="34" charset="-120"/>
              </a:rPr>
              <a:t>AI Readiness, Opportunity &amp; Operating Model</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indent="0" marL="0">
              <a:buNone/>
            </a:pPr>
            <a:r>
              <a:rPr lang="en-US" sz="900" b="1" spc="100" kern="0" dirty="0">
                <a:solidFill>
                  <a:srgbClr val="B99FDB"/>
                </a:solidFill>
                <a:latin typeface="Calibri" pitchFamily="34" charset="0"/>
                <a:ea typeface="Calibri" pitchFamily="34" charset="-122"/>
                <a:cs typeface="Calibri" pitchFamily="34" charset="-120"/>
              </a:rPr>
              <a:t>STARTS FROM  </a:t>
            </a:r>
            <a:pPr indent="0" marL="0">
              <a:buNone/>
            </a:pPr>
            <a:r>
              <a:rPr lang="en-US" sz="1050" dirty="0">
                <a:solidFill>
                  <a:srgbClr val="50485F"/>
                </a:solidFill>
                <a:latin typeface="Calibri" pitchFamily="34" charset="0"/>
                <a:ea typeface="Calibri" pitchFamily="34" charset="-122"/>
                <a:cs typeface="Calibri" pitchFamily="34" charset="-120"/>
              </a:rPr>
              <a:t>AI Readiness IQ (in build)      </a:t>
            </a:r>
            <a:pPr indent="0" marL="0">
              <a:buNone/>
            </a:pPr>
            <a:r>
              <a:rPr lang="en-US" sz="900" b="1" spc="100" kern="0" dirty="0">
                <a:solidFill>
                  <a:srgbClr val="B99FDB"/>
                </a:solidFill>
                <a:latin typeface="Calibri" pitchFamily="34" charset="0"/>
                <a:ea typeface="Calibri" pitchFamily="34" charset="-122"/>
                <a:cs typeface="Calibri" pitchFamily="34" charset="-120"/>
              </a:rPr>
              <a:t>LEADS TO  </a:t>
            </a:r>
            <a:pPr indent="0" marL="0">
              <a:buNone/>
            </a:pPr>
            <a:r>
              <a:rPr lang="en-US" sz="1050" dirty="0">
                <a:solidFill>
                  <a:srgbClr val="50485F"/>
                </a:solidFill>
                <a:latin typeface="Calibri" pitchFamily="34" charset="0"/>
                <a:ea typeface="Calibri" pitchFamily="34" charset="-122"/>
                <a:cs typeface="Calibri" pitchFamily="34" charset="-120"/>
              </a:rPr>
              <a:t>AI platform &amp; landing-zone build · data-foundation remediation · use-case delivery</a:t>
            </a:r>
            <a:endParaRPr lang="en-US" sz="900" dirty="0"/>
          </a:p>
        </p:txBody>
      </p:sp>
      <p:sp>
        <p:nvSpPr>
          <p:cNvPr id="5" name="Shape 3"/>
          <p:cNvSpPr/>
          <p:nvPr/>
        </p:nvSpPr>
        <p:spPr>
          <a:xfrm>
            <a:off x="502920" y="1737360"/>
            <a:ext cx="5394960" cy="2395728"/>
          </a:xfrm>
          <a:prstGeom prst="roundRect">
            <a:avLst>
              <a:gd name="adj" fmla="val 2290"/>
            </a:avLst>
          </a:prstGeom>
          <a:solidFill>
            <a:srgbClr val="F7F4FB"/>
          </a:solidFill>
          <a:ln w="9525">
            <a:solidFill>
              <a:srgbClr val="E2D9EE"/>
            </a:solidFill>
            <a:prstDash val="solid"/>
          </a:ln>
        </p:spPr>
      </p:sp>
      <p:sp>
        <p:nvSpPr>
          <p:cNvPr id="6" name="Text 4"/>
          <p:cNvSpPr txBox="1"/>
          <p:nvPr/>
        </p:nvSpPr>
        <p:spPr>
          <a:xfrm>
            <a:off x="731520" y="1901952"/>
            <a:ext cx="4937760" cy="256032"/>
          </a:xfrm>
          <a:prstGeom prst="rect">
            <a:avLst/>
          </a:prstGeom>
          <a:noFill/>
          <a:ln/>
        </p:spPr>
        <p:txBody>
          <a:bodyPr wrap="square" lIns="0" tIns="0" rIns="0" bIns="0" rtlCol="0" anchor="ctr"/>
          <a:lstStyle/>
          <a:p>
            <a:pPr indent="0" marL="0">
              <a:buNone/>
            </a:pPr>
            <a:r>
              <a:rPr lang="en-US" sz="1100" b="1" spc="150" kern="0" dirty="0">
                <a:solidFill>
                  <a:srgbClr val="5B3A8C"/>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indent="0" marL="0">
              <a:lnSpc>
                <a:spcPct val="103000"/>
              </a:lnSpc>
              <a:buNone/>
            </a:pPr>
            <a:r>
              <a:rPr lang="en-US" sz="1100" dirty="0">
                <a:solidFill>
                  <a:srgbClr val="322C40"/>
                </a:solidFill>
                <a:latin typeface="Calibri" pitchFamily="34" charset="0"/>
                <a:ea typeface="Calibri" pitchFamily="34" charset="-122"/>
                <a:cs typeface="Calibri" pitchFamily="34" charset="-120"/>
              </a:rPr>
              <a:t>Answers the first gate every AI program must clear: are we ready, and which use-cases are real value rather than pilot theatre? It assesses readiness across infrastructure, data foundation, model access, governance and skills, scores opportunities on value-versus-feasibility, and designs the AI operating model that scales AI beyond isolated pilots. The point is to stop the 95% failure pattern at the source — before capital is committed to a pilot that never reaches production.</a:t>
            </a:r>
            <a:endParaRPr lang="en-US" sz="1100" dirty="0"/>
          </a:p>
        </p:txBody>
      </p:sp>
      <p:sp>
        <p:nvSpPr>
          <p:cNvPr id="8" name="Shape 6"/>
          <p:cNvSpPr/>
          <p:nvPr/>
        </p:nvSpPr>
        <p:spPr>
          <a:xfrm>
            <a:off x="502920" y="4279392"/>
            <a:ext cx="5394960" cy="1627632"/>
          </a:xfrm>
          <a:prstGeom prst="roundRect">
            <a:avLst>
              <a:gd name="adj" fmla="val 3371"/>
            </a:avLst>
          </a:prstGeom>
          <a:solidFill>
            <a:srgbClr val="5B3A8C"/>
          </a:solidFill>
          <a:ln w="9525">
            <a:solidFill>
              <a:srgbClr val="5B3A8C"/>
            </a:solidFill>
            <a:prstDash val="solid"/>
          </a:ln>
        </p:spPr>
      </p:sp>
      <p:sp>
        <p:nvSpPr>
          <p:cNvPr id="9" name="Text 7"/>
          <p:cNvSpPr txBox="1"/>
          <p:nvPr/>
        </p:nvSpPr>
        <p:spPr>
          <a:xfrm>
            <a:off x="731520" y="4425696"/>
            <a:ext cx="4937760" cy="256032"/>
          </a:xfrm>
          <a:prstGeom prst="rect">
            <a:avLst/>
          </a:prstGeom>
          <a:noFill/>
          <a:ln/>
        </p:spPr>
        <p:txBody>
          <a:bodyPr wrap="square" lIns="0" tIns="0" rIns="0" bIns="0" rtlCol="0" anchor="ctr"/>
          <a:lstStyle/>
          <a:p>
            <a:pPr indent="0" marL="0">
              <a:buNone/>
            </a:pPr>
            <a:r>
              <a:rPr lang="en-US" sz="1100" b="1" spc="150" kern="0" dirty="0">
                <a:solidFill>
                  <a:srgbClr val="D6C2EC"/>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indent="0" marL="0">
              <a:lnSpc>
                <a:spcPct val="102000"/>
              </a:lnSpc>
              <a:buNone/>
            </a:pPr>
            <a:r>
              <a:rPr lang="en-US" sz="1050" dirty="0">
                <a:solidFill>
                  <a:srgbClr val="F2ECFA"/>
                </a:solidFill>
                <a:latin typeface="Calibri" pitchFamily="34" charset="0"/>
                <a:ea typeface="Calibri" pitchFamily="34" charset="-122"/>
                <a:cs typeface="Calibri" pitchFamily="34" charset="-120"/>
              </a:rPr>
              <a:t>MIT’s NANDA study found 95% of enterprise GenAI pilots deliver zero measurable return, and S&amp;P Global reports large enterprises abandoned an average of 2.3 AI initiatives in 2025 at ~$7.2M sunk cost each. With global AI spend heading to $1.5T in 2026, the gate between investment and value has never mattered more — readiness is the difference between the 5% that scale and the 95% that stall.</a:t>
            </a:r>
            <a:endParaRPr lang="en-US" sz="105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indent="0" marL="0">
              <a:buNone/>
            </a:pPr>
            <a:r>
              <a:rPr lang="en-US" sz="850" i="1" dirty="0">
                <a:solidFill>
                  <a:srgbClr val="9B87BC"/>
                </a:solidFill>
                <a:latin typeface="Calibri" pitchFamily="34" charset="0"/>
                <a:ea typeface="Calibri" pitchFamily="34" charset="-122"/>
                <a:cs typeface="Calibri" pitchFamily="34" charset="-120"/>
              </a:rPr>
              <a:t>Source: MIT / Gartner / S&amp;P Global / EU AI Act, 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E2D9EE"/>
            </a:solidFill>
            <a:prstDash val="solid"/>
          </a:ln>
        </p:spPr>
      </p:sp>
      <p:sp>
        <p:nvSpPr>
          <p:cNvPr id="13" name="Text 11"/>
          <p:cNvSpPr txBox="1"/>
          <p:nvPr/>
        </p:nvSpPr>
        <p:spPr>
          <a:xfrm>
            <a:off x="6492240" y="1901952"/>
            <a:ext cx="4937760" cy="256032"/>
          </a:xfrm>
          <a:prstGeom prst="rect">
            <a:avLst/>
          </a:prstGeom>
          <a:noFill/>
          <a:ln/>
        </p:spPr>
        <p:txBody>
          <a:bodyPr wrap="square" lIns="0" tIns="0" rIns="0" bIns="0" rtlCol="0" anchor="ctr"/>
          <a:lstStyle/>
          <a:p>
            <a:pPr indent="0" marL="0">
              <a:buNone/>
            </a:pPr>
            <a:r>
              <a:rPr lang="en-US" sz="1100" b="1" spc="120" kern="0" dirty="0">
                <a:solidFill>
                  <a:srgbClr val="5B3A8C"/>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indent="0" marL="0">
              <a:lnSpc>
                <a:spcPct val="95000"/>
              </a:lnSpc>
              <a:buNone/>
            </a:pPr>
            <a:r>
              <a:rPr lang="en-US" sz="1150" i="1" dirty="0">
                <a:solidFill>
                  <a:srgbClr val="D35400"/>
                </a:solidFill>
                <a:latin typeface="Cambria" pitchFamily="34" charset="0"/>
                <a:ea typeface="Cambria" pitchFamily="34" charset="-122"/>
                <a:cs typeface="Cambria" pitchFamily="34" charset="-120"/>
              </a:rPr>
              <a:t>Most enterprise AI never reaches production — and the failure is organizational, not technical.</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95% of GenAI pilots deliver zero measurable P&amp;L return — the failure is data, workflow and outcome discipline, not the model.</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Use-cases are chosen on hype, not scored on value-versus-feasibility, so the portfolio is pilot theatre.</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The data foundation — quality, access, lineage — is the binding constraint, and it’s rarely baselined honestly.</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There’s no AI operating model: no decision rights, funding model or guardrails to scale beyond isolated experiments.</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By the third failed pilot, executive sponsorship fades — the organization implicitly decides “AI doesn’t work here.”</a:t>
            </a:r>
            <a:endParaRPr lang="en-US" sz="970" dirty="0"/>
          </a:p>
        </p:txBody>
      </p:sp>
      <p:sp>
        <p:nvSpPr>
          <p:cNvPr id="16" name="Shape 14"/>
          <p:cNvSpPr/>
          <p:nvPr/>
        </p:nvSpPr>
        <p:spPr>
          <a:xfrm>
            <a:off x="6263640" y="4279392"/>
            <a:ext cx="5394960" cy="1627632"/>
          </a:xfrm>
          <a:prstGeom prst="roundRect">
            <a:avLst>
              <a:gd name="adj" fmla="val 3371"/>
            </a:avLst>
          </a:prstGeom>
          <a:solidFill>
            <a:srgbClr val="F7F4FB"/>
          </a:solidFill>
          <a:ln w="9525">
            <a:solidFill>
              <a:srgbClr val="E2D9EE"/>
            </a:solidFill>
            <a:prstDash val="solid"/>
          </a:ln>
        </p:spPr>
      </p:sp>
      <p:sp>
        <p:nvSpPr>
          <p:cNvPr id="17" name="Text 15"/>
          <p:cNvSpPr txBox="1"/>
          <p:nvPr/>
        </p:nvSpPr>
        <p:spPr>
          <a:xfrm>
            <a:off x="6492240" y="4407408"/>
            <a:ext cx="4937760" cy="256032"/>
          </a:xfrm>
          <a:prstGeom prst="rect">
            <a:avLst/>
          </a:prstGeom>
          <a:noFill/>
          <a:ln/>
        </p:spPr>
        <p:txBody>
          <a:bodyPr wrap="square" lIns="0" tIns="0" rIns="0" bIns="0" rtlCol="0" anchor="ctr"/>
          <a:lstStyle/>
          <a:p>
            <a:pPr indent="0" marL="0">
              <a:buNone/>
            </a:pPr>
            <a:r>
              <a:rPr lang="en-US" sz="1100" b="1" spc="120" kern="0" dirty="0">
                <a:solidFill>
                  <a:srgbClr val="5B3A8C"/>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A defensible readiness index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Scored across infrastructure, data, model access, governance and skills — not an opinion.</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Real value, not pilot theatre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Use-cases ranked on value-versus-feasibility, separating durable value from experiments.</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The data constraint, surfaced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The data-foundation gaps that actually block production, baselined before spend.</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An operating model that scales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Decision rights, funding and guardrails to move AI past isolated pilots.</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Sponsorship protected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A credible path to value that keeps executive belief alive past pilot one.</a:t>
            </a:r>
            <a:endParaRPr lang="en-US" sz="950" dirty="0"/>
          </a:p>
        </p:txBody>
      </p:sp>
      <p:sp>
        <p:nvSpPr>
          <p:cNvPr id="23" name="Text 21"/>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24" name="Text 22"/>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04.1  ·  Overview</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338560" cy="502920"/>
          </a:xfrm>
          <a:prstGeom prst="rect">
            <a:avLst/>
          </a:prstGeom>
          <a:noFill/>
          <a:ln/>
        </p:spPr>
        <p:txBody>
          <a:bodyPr wrap="square" lIns="0" tIns="0" rIns="0" bIns="0" rtlCol="0" anchor="ctr"/>
          <a:lstStyle/>
          <a:p>
            <a:pPr indent="0" marL="0">
              <a:buNone/>
            </a:pPr>
            <a:r>
              <a:rPr lang="en-US" sz="2400" b="1" dirty="0">
                <a:solidFill>
                  <a:srgbClr val="B99FDB"/>
                </a:solidFill>
                <a:latin typeface="Cambria" pitchFamily="34" charset="0"/>
                <a:ea typeface="Cambria" pitchFamily="34" charset="-122"/>
                <a:cs typeface="Cambria" pitchFamily="34" charset="-120"/>
              </a:rPr>
              <a:t>04.1   </a:t>
            </a:r>
            <a:pPr indent="0" marL="0">
              <a:buNone/>
            </a:pPr>
            <a:r>
              <a:rPr lang="en-US" sz="2200" b="1" dirty="0">
                <a:solidFill>
                  <a:srgbClr val="1B1F23"/>
                </a:solidFill>
                <a:latin typeface="Cambria" pitchFamily="34" charset="0"/>
                <a:ea typeface="Cambria" pitchFamily="34" charset="-122"/>
                <a:cs typeface="Cambria" pitchFamily="34" charset="-120"/>
              </a:rPr>
              <a:t>AI Readiness, Opportunity &amp; Operating Model</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indent="0" marL="0">
              <a:buNone/>
            </a:pPr>
            <a:r>
              <a:rPr lang="en-US" sz="1200" i="1" dirty="0">
                <a:solidFill>
                  <a:srgbClr val="5A5266"/>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7F4FB"/>
          </a:solidFill>
          <a:ln w="9525">
            <a:solidFill>
              <a:srgbClr val="E2D9EE"/>
            </a:solidFill>
            <a:prstDash val="solid"/>
          </a:ln>
        </p:spPr>
      </p:sp>
      <p:sp>
        <p:nvSpPr>
          <p:cNvPr id="6" name="Shape 4"/>
          <p:cNvSpPr/>
          <p:nvPr/>
        </p:nvSpPr>
        <p:spPr>
          <a:xfrm>
            <a:off x="502920" y="1783080"/>
            <a:ext cx="3602736" cy="868680"/>
          </a:xfrm>
          <a:prstGeom prst="roundRect">
            <a:avLst>
              <a:gd name="adj" fmla="val 7368"/>
            </a:avLst>
          </a:prstGeom>
          <a:solidFill>
            <a:srgbClr val="5B3A8C"/>
          </a:solidFill>
          <a:ln/>
        </p:spPr>
      </p:sp>
      <p:sp>
        <p:nvSpPr>
          <p:cNvPr id="7" name="Shape 5"/>
          <p:cNvSpPr/>
          <p:nvPr/>
        </p:nvSpPr>
        <p:spPr>
          <a:xfrm>
            <a:off x="502920" y="2194560"/>
            <a:ext cx="3602736" cy="457200"/>
          </a:xfrm>
          <a:prstGeom prst="rect">
            <a:avLst/>
          </a:prstGeom>
          <a:solidFill>
            <a:srgbClr val="5B3A8C"/>
          </a:solidFill>
          <a:ln/>
        </p:spPr>
      </p:sp>
      <p:pic>
        <p:nvPicPr>
          <p:cNvPr id="8" name="Image 0" descr="/home/claude/p4_pe_understand.png">    </p:cNvPr>
          <p:cNvPicPr>
            <a:picLocks noChangeAspect="1"/>
          </p:cNvPicPr>
          <p:nvPr/>
        </p:nvPicPr>
        <p:blipFill>
          <a:blip r:embed="rId1"/>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indent="0" marL="0">
              <a:buNone/>
            </a:pPr>
            <a:r>
              <a:rPr lang="en-US" sz="1000" b="1" spc="100" kern="0" dirty="0">
                <a:solidFill>
                  <a:srgbClr val="D6C2EC"/>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Assess AI readiness across infrastructure, data foundation, model access, governance and skills</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Baseline the data foundation — quality, access patterns, catalog maturity, lineage</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Inventory current AI activity, pilots and shadow AI</a:t>
            </a:r>
            <a:endParaRPr lang="en-US" sz="1000" dirty="0"/>
          </a:p>
        </p:txBody>
      </p:sp>
      <p:sp>
        <p:nvSpPr>
          <p:cNvPr id="12" name="Shape 9"/>
          <p:cNvSpPr/>
          <p:nvPr/>
        </p:nvSpPr>
        <p:spPr>
          <a:xfrm>
            <a:off x="740664" y="4983480"/>
            <a:ext cx="3127248" cy="0"/>
          </a:xfrm>
          <a:prstGeom prst="line">
            <a:avLst/>
          </a:prstGeom>
          <a:noFill/>
          <a:ln w="12700">
            <a:solidFill>
              <a:srgbClr val="E2D9EE"/>
            </a:solidFill>
            <a:prstDash val="solid"/>
          </a:ln>
        </p:spPr>
      </p:sp>
      <p:sp>
        <p:nvSpPr>
          <p:cNvPr id="13" name="Text 10"/>
          <p:cNvSpPr txBox="1"/>
          <p:nvPr/>
        </p:nvSpPr>
        <p:spPr>
          <a:xfrm>
            <a:off x="74066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5B3A8C"/>
                </a:solidFill>
                <a:latin typeface="Calibri" pitchFamily="34" charset="0"/>
                <a:ea typeface="Calibri" pitchFamily="34" charset="-122"/>
                <a:cs typeface="Calibri" pitchFamily="34" charset="-120"/>
              </a:rPr>
              <a:t>AI readiness index · data-foundation baseline · AI activity &amp; shadow-AI inventory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algn="ctr" indent="0" marL="0">
              <a:buNone/>
            </a:pPr>
            <a:r>
              <a:rPr lang="en-US" sz="2000" dirty="0">
                <a:solidFill>
                  <a:srgbClr val="5A5266"/>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7F4FB"/>
          </a:solidFill>
          <a:ln w="9525">
            <a:solidFill>
              <a:srgbClr val="E2D9EE"/>
            </a:solidFill>
            <a:prstDash val="solid"/>
          </a:ln>
        </p:spPr>
      </p:sp>
      <p:sp>
        <p:nvSpPr>
          <p:cNvPr id="17" name="Shape 14"/>
          <p:cNvSpPr/>
          <p:nvPr/>
        </p:nvSpPr>
        <p:spPr>
          <a:xfrm>
            <a:off x="4343400" y="1783080"/>
            <a:ext cx="3602736" cy="868680"/>
          </a:xfrm>
          <a:prstGeom prst="roundRect">
            <a:avLst>
              <a:gd name="adj" fmla="val 7368"/>
            </a:avLst>
          </a:prstGeom>
          <a:solidFill>
            <a:srgbClr val="472D6E"/>
          </a:solidFill>
          <a:ln/>
        </p:spPr>
      </p:sp>
      <p:sp>
        <p:nvSpPr>
          <p:cNvPr id="18" name="Shape 15"/>
          <p:cNvSpPr/>
          <p:nvPr/>
        </p:nvSpPr>
        <p:spPr>
          <a:xfrm>
            <a:off x="4343400" y="2194560"/>
            <a:ext cx="3602736" cy="457200"/>
          </a:xfrm>
          <a:prstGeom prst="rect">
            <a:avLst/>
          </a:prstGeom>
          <a:solidFill>
            <a:srgbClr val="472D6E"/>
          </a:solidFill>
          <a:ln/>
        </p:spPr>
      </p:sp>
      <p:pic>
        <p:nvPicPr>
          <p:cNvPr id="19" name="Image 1" descr="/home/claude/p4_pe_ideate.png">    </p:cNvPr>
          <p:cNvPicPr>
            <a:picLocks noChangeAspect="1"/>
          </p:cNvPicPr>
          <p:nvPr/>
        </p:nvPicPr>
        <p:blipFill>
          <a:blip r:embed="rId2"/>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indent="0" marL="0">
              <a:buNone/>
            </a:pPr>
            <a:r>
              <a:rPr lang="en-US" sz="1000" b="1" spc="100" kern="0" dirty="0">
                <a:solidFill>
                  <a:srgbClr val="D6C2EC"/>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Score AI opportunities on value-versus-feasibility across business functions</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Design the target AI operating model (roles, decision rights, funding, guardrails)</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Sequence the enterprise AI roadmap so use-cases, data, governance and skills move together</a:t>
            </a:r>
            <a:endParaRPr lang="en-US" sz="1000" dirty="0"/>
          </a:p>
        </p:txBody>
      </p:sp>
      <p:sp>
        <p:nvSpPr>
          <p:cNvPr id="23" name="Shape 19"/>
          <p:cNvSpPr/>
          <p:nvPr/>
        </p:nvSpPr>
        <p:spPr>
          <a:xfrm>
            <a:off x="4581144" y="4983480"/>
            <a:ext cx="3127248" cy="0"/>
          </a:xfrm>
          <a:prstGeom prst="line">
            <a:avLst/>
          </a:prstGeom>
          <a:noFill/>
          <a:ln w="12700">
            <a:solidFill>
              <a:srgbClr val="E2D9EE"/>
            </a:solidFill>
            <a:prstDash val="solid"/>
          </a:ln>
        </p:spPr>
      </p:sp>
      <p:sp>
        <p:nvSpPr>
          <p:cNvPr id="24" name="Text 20"/>
          <p:cNvSpPr txBox="1"/>
          <p:nvPr/>
        </p:nvSpPr>
        <p:spPr>
          <a:xfrm>
            <a:off x="458114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5B3A8C"/>
                </a:solidFill>
                <a:latin typeface="Calibri" pitchFamily="34" charset="0"/>
                <a:ea typeface="Calibri" pitchFamily="34" charset="-122"/>
                <a:cs typeface="Calibri" pitchFamily="34" charset="-120"/>
              </a:rPr>
              <a:t>Opportunity scoring &amp; prioritized use-cases · target AI operating model · AI roadmap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algn="ctr" indent="0" marL="0">
              <a:buNone/>
            </a:pPr>
            <a:r>
              <a:rPr lang="en-US" sz="2000" dirty="0">
                <a:solidFill>
                  <a:srgbClr val="5A5266"/>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7F4FB"/>
          </a:solidFill>
          <a:ln w="9525">
            <a:solidFill>
              <a:srgbClr val="E2D9EE"/>
            </a:solidFill>
            <a:prstDash val="solid"/>
          </a:ln>
        </p:spPr>
      </p:sp>
      <p:sp>
        <p:nvSpPr>
          <p:cNvPr id="28" name="Shape 24"/>
          <p:cNvSpPr/>
          <p:nvPr/>
        </p:nvSpPr>
        <p:spPr>
          <a:xfrm>
            <a:off x="8183880" y="1783080"/>
            <a:ext cx="3602736" cy="868680"/>
          </a:xfrm>
          <a:prstGeom prst="roundRect">
            <a:avLst>
              <a:gd name="adj" fmla="val 7368"/>
            </a:avLst>
          </a:prstGeom>
          <a:solidFill>
            <a:srgbClr val="341F52"/>
          </a:solidFill>
          <a:ln/>
        </p:spPr>
      </p:sp>
      <p:sp>
        <p:nvSpPr>
          <p:cNvPr id="29" name="Shape 25"/>
          <p:cNvSpPr/>
          <p:nvPr/>
        </p:nvSpPr>
        <p:spPr>
          <a:xfrm>
            <a:off x="8183880" y="2194560"/>
            <a:ext cx="3602736" cy="457200"/>
          </a:xfrm>
          <a:prstGeom prst="rect">
            <a:avLst/>
          </a:prstGeom>
          <a:solidFill>
            <a:srgbClr val="341F52"/>
          </a:solidFill>
          <a:ln/>
        </p:spPr>
      </p:sp>
      <p:pic>
        <p:nvPicPr>
          <p:cNvPr id="30" name="Image 2" descr="/home/claude/p4_pe_outcreate.png">    </p:cNvPr>
          <p:cNvPicPr>
            <a:picLocks noChangeAspect="1"/>
          </p:cNvPicPr>
          <p:nvPr/>
        </p:nvPicPr>
        <p:blipFill>
          <a:blip r:embed="rId3"/>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indent="0" marL="0">
              <a:buNone/>
            </a:pPr>
            <a:r>
              <a:rPr lang="en-US" sz="1000" b="1" spc="100" kern="0" dirty="0">
                <a:solidFill>
                  <a:srgbClr val="D6C2EC"/>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Consolidate into an executive-ready AI strategy and roadmap</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Confirm the first-wave use-cases and readiness-remediation plan</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Executive playback, decision sign-off, first-wave mobilization</a:t>
            </a:r>
            <a:endParaRPr lang="en-US" sz="1000" dirty="0"/>
          </a:p>
        </p:txBody>
      </p:sp>
      <p:sp>
        <p:nvSpPr>
          <p:cNvPr id="34" name="Shape 29"/>
          <p:cNvSpPr/>
          <p:nvPr/>
        </p:nvSpPr>
        <p:spPr>
          <a:xfrm>
            <a:off x="8421624" y="4983480"/>
            <a:ext cx="3127248" cy="0"/>
          </a:xfrm>
          <a:prstGeom prst="line">
            <a:avLst/>
          </a:prstGeom>
          <a:noFill/>
          <a:ln w="12700">
            <a:solidFill>
              <a:srgbClr val="E2D9EE"/>
            </a:solidFill>
            <a:prstDash val="solid"/>
          </a:ln>
        </p:spPr>
      </p:sp>
      <p:sp>
        <p:nvSpPr>
          <p:cNvPr id="35" name="Text 30"/>
          <p:cNvSpPr txBox="1"/>
          <p:nvPr/>
        </p:nvSpPr>
        <p:spPr>
          <a:xfrm>
            <a:off x="842162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5B3A8C"/>
                </a:solidFill>
                <a:latin typeface="Calibri" pitchFamily="34" charset="0"/>
                <a:ea typeface="Calibri" pitchFamily="34" charset="-122"/>
                <a:cs typeface="Calibri" pitchFamily="34" charset="-120"/>
              </a:rPr>
              <a:t>Board-ready AI strategy · first-wave plan · mobilization plan · Executive Playback · Closure Pack</a:t>
            </a:r>
            <a:endParaRPr lang="en-US" sz="950" dirty="0"/>
          </a:p>
        </p:txBody>
      </p:sp>
      <p:sp>
        <p:nvSpPr>
          <p:cNvPr id="37" name="Text 32"/>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38" name="Text 33"/>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04.1  ·  Solution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338560" cy="502920"/>
          </a:xfrm>
          <a:prstGeom prst="rect">
            <a:avLst/>
          </a:prstGeom>
          <a:noFill/>
          <a:ln/>
        </p:spPr>
        <p:txBody>
          <a:bodyPr wrap="square" lIns="0" tIns="0" rIns="0" bIns="0" rtlCol="0" anchor="ctr"/>
          <a:lstStyle/>
          <a:p>
            <a:pPr indent="0" marL="0">
              <a:buNone/>
            </a:pPr>
            <a:r>
              <a:rPr lang="en-US" sz="2400" b="1" dirty="0">
                <a:solidFill>
                  <a:srgbClr val="B99FDB"/>
                </a:solidFill>
                <a:latin typeface="Cambria" pitchFamily="34" charset="0"/>
                <a:ea typeface="Cambria" pitchFamily="34" charset="-122"/>
                <a:cs typeface="Cambria" pitchFamily="34" charset="-120"/>
              </a:rPr>
              <a:t>04.1   </a:t>
            </a:r>
            <a:pPr indent="0" marL="0">
              <a:buNone/>
            </a:pPr>
            <a:r>
              <a:rPr lang="en-US" sz="2200" b="1" dirty="0">
                <a:solidFill>
                  <a:srgbClr val="1B1F23"/>
                </a:solidFill>
                <a:latin typeface="Cambria" pitchFamily="34" charset="0"/>
                <a:ea typeface="Cambria" pitchFamily="34" charset="-122"/>
                <a:cs typeface="Cambria" pitchFamily="34" charset="-120"/>
              </a:rPr>
              <a:t>AI Readiness, Opportunity &amp; Operating Model</a:t>
            </a:r>
            <a:endParaRPr lang="en-US" sz="2400" dirty="0"/>
          </a:p>
        </p:txBody>
      </p:sp>
      <p:sp>
        <p:nvSpPr>
          <p:cNvPr id="4" name="Shape 2"/>
          <p:cNvSpPr/>
          <p:nvPr/>
        </p:nvSpPr>
        <p:spPr>
          <a:xfrm>
            <a:off x="502920" y="1600200"/>
            <a:ext cx="5394960" cy="4480560"/>
          </a:xfrm>
          <a:prstGeom prst="roundRect">
            <a:avLst>
              <a:gd name="adj" fmla="val 1429"/>
            </a:avLst>
          </a:prstGeom>
          <a:solidFill>
            <a:srgbClr val="5B3A8C"/>
          </a:solidFill>
          <a:ln/>
        </p:spPr>
      </p:sp>
      <p:pic>
        <p:nvPicPr>
          <p:cNvPr id="5" name="Image 0" descr="/home/claude/p4_pe_deliver.png">    </p:cNvPr>
          <p:cNvPicPr>
            <a:picLocks noChangeAspect="1"/>
          </p:cNvPicPr>
          <p:nvPr/>
        </p:nvPicPr>
        <p:blipFill>
          <a:blip r:embed="rId1"/>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indent="0" marL="0">
              <a:buNone/>
            </a:pPr>
            <a:r>
              <a:rPr lang="en-US" sz="1050" i="1" dirty="0">
                <a:solidFill>
                  <a:srgbClr val="D6C2EC"/>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B99FDB"/>
          </a:solidFill>
          <a:ln/>
        </p:spPr>
      </p:sp>
      <p:sp>
        <p:nvSpPr>
          <p:cNvPr id="9" name="Text 6"/>
          <p:cNvSpPr txBox="1"/>
          <p:nvPr/>
        </p:nvSpPr>
        <p:spPr>
          <a:xfrm>
            <a:off x="777240" y="2880360"/>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AI readiness index across the five dimensions</a:t>
            </a:r>
            <a:endParaRPr lang="en-US" sz="1150" dirty="0"/>
          </a:p>
        </p:txBody>
      </p:sp>
      <p:sp>
        <p:nvSpPr>
          <p:cNvPr id="11" name="Shape 8"/>
          <p:cNvSpPr/>
          <p:nvPr/>
        </p:nvSpPr>
        <p:spPr>
          <a:xfrm>
            <a:off x="777240" y="3483864"/>
            <a:ext cx="310896" cy="310896"/>
          </a:xfrm>
          <a:prstGeom prst="roundRect">
            <a:avLst>
              <a:gd name="adj" fmla="val 14706"/>
            </a:avLst>
          </a:prstGeom>
          <a:solidFill>
            <a:srgbClr val="B99FDB"/>
          </a:solidFill>
          <a:ln/>
        </p:spPr>
      </p:sp>
      <p:sp>
        <p:nvSpPr>
          <p:cNvPr id="12" name="Text 9"/>
          <p:cNvSpPr txBox="1"/>
          <p:nvPr/>
        </p:nvSpPr>
        <p:spPr>
          <a:xfrm>
            <a:off x="777240" y="3483864"/>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Data-foundation baseline and gap view</a:t>
            </a:r>
            <a:endParaRPr lang="en-US" sz="1150" dirty="0"/>
          </a:p>
        </p:txBody>
      </p:sp>
      <p:sp>
        <p:nvSpPr>
          <p:cNvPr id="14" name="Shape 11"/>
          <p:cNvSpPr/>
          <p:nvPr/>
        </p:nvSpPr>
        <p:spPr>
          <a:xfrm>
            <a:off x="777240" y="4087368"/>
            <a:ext cx="310896" cy="310896"/>
          </a:xfrm>
          <a:prstGeom prst="roundRect">
            <a:avLst>
              <a:gd name="adj" fmla="val 14706"/>
            </a:avLst>
          </a:prstGeom>
          <a:solidFill>
            <a:srgbClr val="B99FDB"/>
          </a:solidFill>
          <a:ln/>
        </p:spPr>
      </p:sp>
      <p:sp>
        <p:nvSpPr>
          <p:cNvPr id="15" name="Text 12"/>
          <p:cNvSpPr txBox="1"/>
          <p:nvPr/>
        </p:nvSpPr>
        <p:spPr>
          <a:xfrm>
            <a:off x="777240" y="4087368"/>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Value-versus-feasibility opportunity scoring</a:t>
            </a:r>
            <a:endParaRPr lang="en-US" sz="1150" dirty="0"/>
          </a:p>
        </p:txBody>
      </p:sp>
      <p:sp>
        <p:nvSpPr>
          <p:cNvPr id="17" name="Shape 14"/>
          <p:cNvSpPr/>
          <p:nvPr/>
        </p:nvSpPr>
        <p:spPr>
          <a:xfrm>
            <a:off x="777240" y="4690872"/>
            <a:ext cx="310896" cy="310896"/>
          </a:xfrm>
          <a:prstGeom prst="roundRect">
            <a:avLst>
              <a:gd name="adj" fmla="val 14706"/>
            </a:avLst>
          </a:prstGeom>
          <a:solidFill>
            <a:srgbClr val="B99FDB"/>
          </a:solidFill>
          <a:ln/>
        </p:spPr>
      </p:sp>
      <p:sp>
        <p:nvSpPr>
          <p:cNvPr id="18" name="Text 15"/>
          <p:cNvSpPr txBox="1"/>
          <p:nvPr/>
        </p:nvSpPr>
        <p:spPr>
          <a:xfrm>
            <a:off x="777240" y="4690872"/>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Target AI operating model</a:t>
            </a:r>
            <a:endParaRPr lang="en-US" sz="1150" dirty="0"/>
          </a:p>
        </p:txBody>
      </p:sp>
      <p:sp>
        <p:nvSpPr>
          <p:cNvPr id="20" name="Shape 17"/>
          <p:cNvSpPr/>
          <p:nvPr/>
        </p:nvSpPr>
        <p:spPr>
          <a:xfrm>
            <a:off x="777240" y="5294376"/>
            <a:ext cx="310896" cy="310896"/>
          </a:xfrm>
          <a:prstGeom prst="roundRect">
            <a:avLst>
              <a:gd name="adj" fmla="val 14706"/>
            </a:avLst>
          </a:prstGeom>
          <a:solidFill>
            <a:srgbClr val="B99FDB"/>
          </a:solidFill>
          <a:ln/>
        </p:spPr>
      </p:sp>
      <p:sp>
        <p:nvSpPr>
          <p:cNvPr id="21" name="Text 18"/>
          <p:cNvSpPr txBox="1"/>
          <p:nvPr/>
        </p:nvSpPr>
        <p:spPr>
          <a:xfrm>
            <a:off x="777240" y="5294376"/>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Board-ready enterprise AI strategy and roadmap</a:t>
            </a:r>
            <a:endParaRPr lang="en-US" sz="1150" dirty="0"/>
          </a:p>
        </p:txBody>
      </p:sp>
      <p:sp>
        <p:nvSpPr>
          <p:cNvPr id="23" name="Shape 20"/>
          <p:cNvSpPr/>
          <p:nvPr/>
        </p:nvSpPr>
        <p:spPr>
          <a:xfrm>
            <a:off x="6263640" y="1600200"/>
            <a:ext cx="5394960" cy="2286000"/>
          </a:xfrm>
          <a:prstGeom prst="roundRect">
            <a:avLst>
              <a:gd name="adj" fmla="val 2800"/>
            </a:avLst>
          </a:prstGeom>
          <a:solidFill>
            <a:srgbClr val="EEF6F0"/>
          </a:solidFill>
          <a:ln w="9525">
            <a:solidFill>
              <a:srgbClr val="BFE3D2"/>
            </a:solidFill>
            <a:prstDash val="solid"/>
          </a:ln>
        </p:spPr>
      </p:sp>
      <p:pic>
        <p:nvPicPr>
          <p:cNvPr id="24" name="Image 1" descr="/home/claude/x_chk_in.png">    </p:cNvPr>
          <p:cNvPicPr>
            <a:picLocks noChangeAspect="1"/>
          </p:cNvPicPr>
          <p:nvPr/>
        </p:nvPicPr>
        <p:blipFill>
          <a:blip r:embed="rId2"/>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indent="0" marL="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AI readiness assessment (infrastructure, data, model, governance, skills)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Data-foundation baselining for AI</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AI opportunity identification and value-versus-feasibility scoring</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Target AI operating model design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Agentic-AI readiness assessment (where autonomy is safe)</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Enterprise AI roadmap sequencing</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sp>
      <p:pic>
        <p:nvPicPr>
          <p:cNvPr id="28" name="Image 2" descr="/home/claude/x_chk_out.png">    </p:cNvPr>
          <p:cNvPicPr>
            <a:picLocks noChangeAspect="1"/>
          </p:cNvPicPr>
          <p:nvPr/>
        </p:nvPicPr>
        <p:blipFill>
          <a:blip r:embed="rId3"/>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indent="0" marL="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AI infrastructure / GPU strategy build</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04.2 AI Infrastructure</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Responsible-AI governance framework</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04.3 Responsible AI</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AI cost / tokenomics deep-dive</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04.4 AI Economics</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Data platform build and data quality</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LTM Data</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Use-case delivery / model build</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5" name="Text 30"/>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36" name="Text 31"/>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04.1  ·  Deliverables &amp; scope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OFFERING  ·  OUT-BUILD THE COMPUTE.   ·   GATE 2 · CAN WE RUN IT?</a:t>
            </a:r>
            <a:endParaRPr lang="en-US" sz="1100" dirty="0"/>
          </a:p>
        </p:txBody>
      </p:sp>
      <p:sp>
        <p:nvSpPr>
          <p:cNvPr id="3" name="Text 1"/>
          <p:cNvSpPr txBox="1"/>
          <p:nvPr/>
        </p:nvSpPr>
        <p:spPr>
          <a:xfrm>
            <a:off x="484632" y="658368"/>
            <a:ext cx="11338560" cy="502920"/>
          </a:xfrm>
          <a:prstGeom prst="rect">
            <a:avLst/>
          </a:prstGeom>
          <a:noFill/>
          <a:ln/>
        </p:spPr>
        <p:txBody>
          <a:bodyPr wrap="square" lIns="0" tIns="0" rIns="0" bIns="0" rtlCol="0" anchor="ctr"/>
          <a:lstStyle/>
          <a:p>
            <a:pPr indent="0" marL="0">
              <a:buNone/>
            </a:pPr>
            <a:r>
              <a:rPr lang="en-US" sz="2400" b="1" dirty="0">
                <a:solidFill>
                  <a:srgbClr val="B99FDB"/>
                </a:solidFill>
                <a:latin typeface="Cambria" pitchFamily="34" charset="0"/>
                <a:ea typeface="Cambria" pitchFamily="34" charset="-122"/>
                <a:cs typeface="Cambria" pitchFamily="34" charset="-120"/>
              </a:rPr>
              <a:t>04.2   </a:t>
            </a:r>
            <a:pPr indent="0" marL="0">
              <a:buNone/>
            </a:pPr>
            <a:r>
              <a:rPr lang="en-US" sz="2200" b="1" dirty="0">
                <a:solidFill>
                  <a:srgbClr val="1B1F23"/>
                </a:solidFill>
                <a:latin typeface="Cambria" pitchFamily="34" charset="0"/>
                <a:ea typeface="Cambria" pitchFamily="34" charset="-122"/>
                <a:cs typeface="Cambria" pitchFamily="34" charset="-120"/>
              </a:rPr>
              <a:t>AI Infrastructure</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indent="0" marL="0">
              <a:buNone/>
            </a:pPr>
            <a:r>
              <a:rPr lang="en-US" sz="900" b="1" spc="100" kern="0" dirty="0">
                <a:solidFill>
                  <a:srgbClr val="B99FDB"/>
                </a:solidFill>
                <a:latin typeface="Calibri" pitchFamily="34" charset="0"/>
                <a:ea typeface="Calibri" pitchFamily="34" charset="-122"/>
                <a:cs typeface="Calibri" pitchFamily="34" charset="-120"/>
              </a:rPr>
              <a:t>STARTS FROM  </a:t>
            </a:r>
            <a:pPr indent="0" marL="0">
              <a:buNone/>
            </a:pPr>
            <a:r>
              <a:rPr lang="en-US" sz="1050" dirty="0">
                <a:solidFill>
                  <a:srgbClr val="50485F"/>
                </a:solidFill>
                <a:latin typeface="Calibri" pitchFamily="34" charset="0"/>
                <a:ea typeface="Calibri" pitchFamily="34" charset="-122"/>
                <a:cs typeface="Calibri" pitchFamily="34" charset="-120"/>
              </a:rPr>
              <a:t>AI Readiness IQ → 04.1 (readiness)      </a:t>
            </a:r>
            <a:pPr indent="0" marL="0">
              <a:buNone/>
            </a:pPr>
            <a:r>
              <a:rPr lang="en-US" sz="900" b="1" spc="100" kern="0" dirty="0">
                <a:solidFill>
                  <a:srgbClr val="B99FDB"/>
                </a:solidFill>
                <a:latin typeface="Calibri" pitchFamily="34" charset="0"/>
                <a:ea typeface="Calibri" pitchFamily="34" charset="-122"/>
                <a:cs typeface="Calibri" pitchFamily="34" charset="-120"/>
              </a:rPr>
              <a:t>LEADS TO  </a:t>
            </a:r>
            <a:pPr indent="0" marL="0">
              <a:buNone/>
            </a:pPr>
            <a:r>
              <a:rPr lang="en-US" sz="1050" dirty="0">
                <a:solidFill>
                  <a:srgbClr val="50485F"/>
                </a:solidFill>
                <a:latin typeface="Calibri" pitchFamily="34" charset="0"/>
                <a:ea typeface="Calibri" pitchFamily="34" charset="-122"/>
                <a:cs typeface="Calibri" pitchFamily="34" charset="-120"/>
              </a:rPr>
              <a:t>AI infrastructure build · GPU estate operations · AI platform operations</a:t>
            </a:r>
            <a:endParaRPr lang="en-US" sz="900" dirty="0"/>
          </a:p>
        </p:txBody>
      </p:sp>
      <p:sp>
        <p:nvSpPr>
          <p:cNvPr id="5" name="Shape 3"/>
          <p:cNvSpPr/>
          <p:nvPr/>
        </p:nvSpPr>
        <p:spPr>
          <a:xfrm>
            <a:off x="502920" y="1737360"/>
            <a:ext cx="5394960" cy="2395728"/>
          </a:xfrm>
          <a:prstGeom prst="roundRect">
            <a:avLst>
              <a:gd name="adj" fmla="val 2290"/>
            </a:avLst>
          </a:prstGeom>
          <a:solidFill>
            <a:srgbClr val="F7F4FB"/>
          </a:solidFill>
          <a:ln w="9525">
            <a:solidFill>
              <a:srgbClr val="E2D9EE"/>
            </a:solidFill>
            <a:prstDash val="solid"/>
          </a:ln>
        </p:spPr>
      </p:sp>
      <p:sp>
        <p:nvSpPr>
          <p:cNvPr id="6" name="Text 4"/>
          <p:cNvSpPr txBox="1"/>
          <p:nvPr/>
        </p:nvSpPr>
        <p:spPr>
          <a:xfrm>
            <a:off x="731520" y="1901952"/>
            <a:ext cx="4937760" cy="256032"/>
          </a:xfrm>
          <a:prstGeom prst="rect">
            <a:avLst/>
          </a:prstGeom>
          <a:noFill/>
          <a:ln/>
        </p:spPr>
        <p:txBody>
          <a:bodyPr wrap="square" lIns="0" tIns="0" rIns="0" bIns="0" rtlCol="0" anchor="ctr"/>
          <a:lstStyle/>
          <a:p>
            <a:pPr indent="0" marL="0">
              <a:buNone/>
            </a:pPr>
            <a:r>
              <a:rPr lang="en-US" sz="1100" b="1" spc="150" kern="0" dirty="0">
                <a:solidFill>
                  <a:srgbClr val="5B3A8C"/>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indent="0" marL="0">
              <a:lnSpc>
                <a:spcPct val="103000"/>
              </a:lnSpc>
              <a:buNone/>
            </a:pPr>
            <a:r>
              <a:rPr lang="en-US" sz="1100" dirty="0">
                <a:solidFill>
                  <a:srgbClr val="322C40"/>
                </a:solidFill>
                <a:latin typeface="Calibri" pitchFamily="34" charset="0"/>
                <a:ea typeface="Calibri" pitchFamily="34" charset="-122"/>
                <a:cs typeface="Calibri" pitchFamily="34" charset="-120"/>
              </a:rPr>
              <a:t>Clears the second gate: have we got the compute foundation to run AI at scale, at a defensible cost? It sizes accelerated-compute demand from the real use-case pipeline (not vendor capacity offers), designs the GPU/accelerator strategy across on-prem, cloud, sovereign and hybrid, and establishes the utilization governance that stops expensive capacity sitting idle — the most common AI-infrastructure failure mode.</a:t>
            </a:r>
            <a:endParaRPr lang="en-US" sz="1100" dirty="0"/>
          </a:p>
        </p:txBody>
      </p:sp>
      <p:sp>
        <p:nvSpPr>
          <p:cNvPr id="8" name="Shape 6"/>
          <p:cNvSpPr/>
          <p:nvPr/>
        </p:nvSpPr>
        <p:spPr>
          <a:xfrm>
            <a:off x="502920" y="4279392"/>
            <a:ext cx="5394960" cy="1627632"/>
          </a:xfrm>
          <a:prstGeom prst="roundRect">
            <a:avLst>
              <a:gd name="adj" fmla="val 3371"/>
            </a:avLst>
          </a:prstGeom>
          <a:solidFill>
            <a:srgbClr val="5B3A8C"/>
          </a:solidFill>
          <a:ln w="9525">
            <a:solidFill>
              <a:srgbClr val="5B3A8C"/>
            </a:solidFill>
            <a:prstDash val="solid"/>
          </a:ln>
        </p:spPr>
      </p:sp>
      <p:sp>
        <p:nvSpPr>
          <p:cNvPr id="9" name="Text 7"/>
          <p:cNvSpPr txBox="1"/>
          <p:nvPr/>
        </p:nvSpPr>
        <p:spPr>
          <a:xfrm>
            <a:off x="731520" y="4425696"/>
            <a:ext cx="4937760" cy="256032"/>
          </a:xfrm>
          <a:prstGeom prst="rect">
            <a:avLst/>
          </a:prstGeom>
          <a:noFill/>
          <a:ln/>
        </p:spPr>
        <p:txBody>
          <a:bodyPr wrap="square" lIns="0" tIns="0" rIns="0" bIns="0" rtlCol="0" anchor="ctr"/>
          <a:lstStyle/>
          <a:p>
            <a:pPr indent="0" marL="0">
              <a:buNone/>
            </a:pPr>
            <a:r>
              <a:rPr lang="en-US" sz="1100" b="1" spc="150" kern="0" dirty="0">
                <a:solidFill>
                  <a:srgbClr val="D6C2EC"/>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indent="0" marL="0">
              <a:lnSpc>
                <a:spcPct val="102000"/>
              </a:lnSpc>
              <a:buNone/>
            </a:pPr>
            <a:r>
              <a:rPr lang="en-US" sz="1050" dirty="0">
                <a:solidFill>
                  <a:srgbClr val="F2ECFA"/>
                </a:solidFill>
                <a:latin typeface="Calibri" pitchFamily="34" charset="0"/>
                <a:ea typeface="Calibri" pitchFamily="34" charset="-122"/>
                <a:cs typeface="Calibri" pitchFamily="34" charset="-120"/>
              </a:rPr>
              <a:t>Gartner’s April 2026 report “AI Projects in I&amp;O Stall Ahead of Meaningful ROI” found only 28% of AI infrastructure projects deliver the promised return and 57% of I&amp;O leaders report at least one failure. As data-centre systems spending grows 55.8% on AI compute, the enterprises that size and place infrastructure against real demand — not vendor offers — are the ones that clear this gate.</a:t>
            </a:r>
            <a:endParaRPr lang="en-US" sz="105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indent="0" marL="0">
              <a:buNone/>
            </a:pPr>
            <a:r>
              <a:rPr lang="en-US" sz="850" i="1" dirty="0">
                <a:solidFill>
                  <a:srgbClr val="9B87BC"/>
                </a:solidFill>
                <a:latin typeface="Calibri" pitchFamily="34" charset="0"/>
                <a:ea typeface="Calibri" pitchFamily="34" charset="-122"/>
                <a:cs typeface="Calibri" pitchFamily="34" charset="-120"/>
              </a:rPr>
              <a:t>Source: MIT / Gartner / S&amp;P Global / EU AI Act, 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E2D9EE"/>
            </a:solidFill>
            <a:prstDash val="solid"/>
          </a:ln>
        </p:spPr>
      </p:sp>
      <p:sp>
        <p:nvSpPr>
          <p:cNvPr id="13" name="Text 11"/>
          <p:cNvSpPr txBox="1"/>
          <p:nvPr/>
        </p:nvSpPr>
        <p:spPr>
          <a:xfrm>
            <a:off x="6492240" y="1901952"/>
            <a:ext cx="4937760" cy="256032"/>
          </a:xfrm>
          <a:prstGeom prst="rect">
            <a:avLst/>
          </a:prstGeom>
          <a:noFill/>
          <a:ln/>
        </p:spPr>
        <p:txBody>
          <a:bodyPr wrap="square" lIns="0" tIns="0" rIns="0" bIns="0" rtlCol="0" anchor="ctr"/>
          <a:lstStyle/>
          <a:p>
            <a:pPr indent="0" marL="0">
              <a:buNone/>
            </a:pPr>
            <a:r>
              <a:rPr lang="en-US" sz="1100" b="1" spc="120" kern="0" dirty="0">
                <a:solidFill>
                  <a:srgbClr val="5B3A8C"/>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indent="0" marL="0">
              <a:lnSpc>
                <a:spcPct val="95000"/>
              </a:lnSpc>
              <a:buNone/>
            </a:pPr>
            <a:r>
              <a:rPr lang="en-US" sz="1150" i="1" dirty="0">
                <a:solidFill>
                  <a:srgbClr val="D35400"/>
                </a:solidFill>
                <a:latin typeface="Cambria" pitchFamily="34" charset="0"/>
                <a:ea typeface="Cambria" pitchFamily="34" charset="-122"/>
                <a:cs typeface="Cambria" pitchFamily="34" charset="-120"/>
              </a:rPr>
              <a:t>AI infrastructure is bought on vendor capacity offers, not workload demand — so it’s over-bought, mis-placed and under-utilized.</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Only ~28% of AI infrastructure projects deliver the promised return — one in five fails outright.</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Accelerated-compute demand is sized from vendor offers, not the actual use-case pipeline.</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GPU and accelerator choices are made without honest cost and lock-in trade-offs across on-prem / cloud / sovereign.</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Expensive accelerated capacity sits idle — utilization governance is the most common gap.</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AI infrastructure decisions are disconnected from the power, siting and sovereignty constraints that bind them.</a:t>
            </a:r>
            <a:endParaRPr lang="en-US" sz="970" dirty="0"/>
          </a:p>
        </p:txBody>
      </p:sp>
      <p:sp>
        <p:nvSpPr>
          <p:cNvPr id="16" name="Shape 14"/>
          <p:cNvSpPr/>
          <p:nvPr/>
        </p:nvSpPr>
        <p:spPr>
          <a:xfrm>
            <a:off x="6263640" y="4279392"/>
            <a:ext cx="5394960" cy="1627632"/>
          </a:xfrm>
          <a:prstGeom prst="roundRect">
            <a:avLst>
              <a:gd name="adj" fmla="val 3371"/>
            </a:avLst>
          </a:prstGeom>
          <a:solidFill>
            <a:srgbClr val="F7F4FB"/>
          </a:solidFill>
          <a:ln w="9525">
            <a:solidFill>
              <a:srgbClr val="E2D9EE"/>
            </a:solidFill>
            <a:prstDash val="solid"/>
          </a:ln>
        </p:spPr>
      </p:sp>
      <p:sp>
        <p:nvSpPr>
          <p:cNvPr id="17" name="Text 15"/>
          <p:cNvSpPr txBox="1"/>
          <p:nvPr/>
        </p:nvSpPr>
        <p:spPr>
          <a:xfrm>
            <a:off x="6492240" y="4407408"/>
            <a:ext cx="4937760" cy="256032"/>
          </a:xfrm>
          <a:prstGeom prst="rect">
            <a:avLst/>
          </a:prstGeom>
          <a:noFill/>
          <a:ln/>
        </p:spPr>
        <p:txBody>
          <a:bodyPr wrap="square" lIns="0" tIns="0" rIns="0" bIns="0" rtlCol="0" anchor="ctr"/>
          <a:lstStyle/>
          <a:p>
            <a:pPr indent="0" marL="0">
              <a:buNone/>
            </a:pPr>
            <a:r>
              <a:rPr lang="en-US" sz="1100" b="1" spc="120" kern="0" dirty="0">
                <a:solidFill>
                  <a:srgbClr val="5B3A8C"/>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Compute sized to real demand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Accelerated-compute demand from the use-case pipeline, not vendor capacity offers.</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Honest GPU trade-offs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On-prem / cloud / sovereign / hybrid compared on cost and lock-in, deliberately.</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Idle capacity eliminated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Utilization governance so expensive accelerators don’t sit unused.</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A reference architecture that holds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Networking, storage, scheduling, multi-tenancy designed for AI at scale.</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Connected to the real constraints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Power, siting and sovereignty limits owned in Pillars 1 and 2, respected here.</a:t>
            </a:r>
            <a:endParaRPr lang="en-US" sz="950" dirty="0"/>
          </a:p>
        </p:txBody>
      </p:sp>
      <p:sp>
        <p:nvSpPr>
          <p:cNvPr id="23" name="Text 21"/>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24" name="Text 22"/>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04.2  ·  Overview</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338560" cy="502920"/>
          </a:xfrm>
          <a:prstGeom prst="rect">
            <a:avLst/>
          </a:prstGeom>
          <a:noFill/>
          <a:ln/>
        </p:spPr>
        <p:txBody>
          <a:bodyPr wrap="square" lIns="0" tIns="0" rIns="0" bIns="0" rtlCol="0" anchor="ctr"/>
          <a:lstStyle/>
          <a:p>
            <a:pPr indent="0" marL="0">
              <a:buNone/>
            </a:pPr>
            <a:r>
              <a:rPr lang="en-US" sz="2400" b="1" dirty="0">
                <a:solidFill>
                  <a:srgbClr val="B99FDB"/>
                </a:solidFill>
                <a:latin typeface="Cambria" pitchFamily="34" charset="0"/>
                <a:ea typeface="Cambria" pitchFamily="34" charset="-122"/>
                <a:cs typeface="Cambria" pitchFamily="34" charset="-120"/>
              </a:rPr>
              <a:t>04.2   </a:t>
            </a:r>
            <a:pPr indent="0" marL="0">
              <a:buNone/>
            </a:pPr>
            <a:r>
              <a:rPr lang="en-US" sz="2200" b="1" dirty="0">
                <a:solidFill>
                  <a:srgbClr val="1B1F23"/>
                </a:solidFill>
                <a:latin typeface="Cambria" pitchFamily="34" charset="0"/>
                <a:ea typeface="Cambria" pitchFamily="34" charset="-122"/>
                <a:cs typeface="Cambria" pitchFamily="34" charset="-120"/>
              </a:rPr>
              <a:t>AI Infrastructure</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indent="0" marL="0">
              <a:buNone/>
            </a:pPr>
            <a:r>
              <a:rPr lang="en-US" sz="1200" i="1" dirty="0">
                <a:solidFill>
                  <a:srgbClr val="5A5266"/>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7F4FB"/>
          </a:solidFill>
          <a:ln w="9525">
            <a:solidFill>
              <a:srgbClr val="E2D9EE"/>
            </a:solidFill>
            <a:prstDash val="solid"/>
          </a:ln>
        </p:spPr>
      </p:sp>
      <p:sp>
        <p:nvSpPr>
          <p:cNvPr id="6" name="Shape 4"/>
          <p:cNvSpPr/>
          <p:nvPr/>
        </p:nvSpPr>
        <p:spPr>
          <a:xfrm>
            <a:off x="502920" y="1783080"/>
            <a:ext cx="3602736" cy="868680"/>
          </a:xfrm>
          <a:prstGeom prst="roundRect">
            <a:avLst>
              <a:gd name="adj" fmla="val 7368"/>
            </a:avLst>
          </a:prstGeom>
          <a:solidFill>
            <a:srgbClr val="5B3A8C"/>
          </a:solidFill>
          <a:ln/>
        </p:spPr>
      </p:sp>
      <p:sp>
        <p:nvSpPr>
          <p:cNvPr id="7" name="Shape 5"/>
          <p:cNvSpPr/>
          <p:nvPr/>
        </p:nvSpPr>
        <p:spPr>
          <a:xfrm>
            <a:off x="502920" y="2194560"/>
            <a:ext cx="3602736" cy="457200"/>
          </a:xfrm>
          <a:prstGeom prst="rect">
            <a:avLst/>
          </a:prstGeom>
          <a:solidFill>
            <a:srgbClr val="5B3A8C"/>
          </a:solidFill>
          <a:ln/>
        </p:spPr>
      </p:sp>
      <p:pic>
        <p:nvPicPr>
          <p:cNvPr id="8" name="Image 0" descr="/home/claude/p4_pe_understand.png">    </p:cNvPr>
          <p:cNvPicPr>
            <a:picLocks noChangeAspect="1"/>
          </p:cNvPicPr>
          <p:nvPr/>
        </p:nvPicPr>
        <p:blipFill>
          <a:blip r:embed="rId1"/>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indent="0" marL="0">
              <a:buNone/>
            </a:pPr>
            <a:r>
              <a:rPr lang="en-US" sz="1000" b="1" spc="100" kern="0" dirty="0">
                <a:solidFill>
                  <a:srgbClr val="D6C2EC"/>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Size accelerated-compute demand from the AI use-case pipeline</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Assess current AI infrastructure, utilization and procurement posture</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Map the binding constraints — power, siting, sovereignty, cost</a:t>
            </a:r>
            <a:endParaRPr lang="en-US" sz="1000" dirty="0"/>
          </a:p>
        </p:txBody>
      </p:sp>
      <p:sp>
        <p:nvSpPr>
          <p:cNvPr id="12" name="Shape 9"/>
          <p:cNvSpPr/>
          <p:nvPr/>
        </p:nvSpPr>
        <p:spPr>
          <a:xfrm>
            <a:off x="740664" y="4983480"/>
            <a:ext cx="3127248" cy="0"/>
          </a:xfrm>
          <a:prstGeom prst="line">
            <a:avLst/>
          </a:prstGeom>
          <a:noFill/>
          <a:ln w="12700">
            <a:solidFill>
              <a:srgbClr val="E2D9EE"/>
            </a:solidFill>
            <a:prstDash val="solid"/>
          </a:ln>
        </p:spPr>
      </p:sp>
      <p:sp>
        <p:nvSpPr>
          <p:cNvPr id="13" name="Text 10"/>
          <p:cNvSpPr txBox="1"/>
          <p:nvPr/>
        </p:nvSpPr>
        <p:spPr>
          <a:xfrm>
            <a:off x="74066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5B3A8C"/>
                </a:solidFill>
                <a:latin typeface="Calibri" pitchFamily="34" charset="0"/>
                <a:ea typeface="Calibri" pitchFamily="34" charset="-122"/>
                <a:cs typeface="Calibri" pitchFamily="34" charset="-120"/>
              </a:rPr>
              <a:t>AI-compute demand model · current-state &amp; utilization assessment · constraint map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algn="ctr" indent="0" marL="0">
              <a:buNone/>
            </a:pPr>
            <a:r>
              <a:rPr lang="en-US" sz="2000" dirty="0">
                <a:solidFill>
                  <a:srgbClr val="5A5266"/>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7F4FB"/>
          </a:solidFill>
          <a:ln w="9525">
            <a:solidFill>
              <a:srgbClr val="E2D9EE"/>
            </a:solidFill>
            <a:prstDash val="solid"/>
          </a:ln>
        </p:spPr>
      </p:sp>
      <p:sp>
        <p:nvSpPr>
          <p:cNvPr id="17" name="Shape 14"/>
          <p:cNvSpPr/>
          <p:nvPr/>
        </p:nvSpPr>
        <p:spPr>
          <a:xfrm>
            <a:off x="4343400" y="1783080"/>
            <a:ext cx="3602736" cy="868680"/>
          </a:xfrm>
          <a:prstGeom prst="roundRect">
            <a:avLst>
              <a:gd name="adj" fmla="val 7368"/>
            </a:avLst>
          </a:prstGeom>
          <a:solidFill>
            <a:srgbClr val="472D6E"/>
          </a:solidFill>
          <a:ln/>
        </p:spPr>
      </p:sp>
      <p:sp>
        <p:nvSpPr>
          <p:cNvPr id="18" name="Shape 15"/>
          <p:cNvSpPr/>
          <p:nvPr/>
        </p:nvSpPr>
        <p:spPr>
          <a:xfrm>
            <a:off x="4343400" y="2194560"/>
            <a:ext cx="3602736" cy="457200"/>
          </a:xfrm>
          <a:prstGeom prst="rect">
            <a:avLst/>
          </a:prstGeom>
          <a:solidFill>
            <a:srgbClr val="472D6E"/>
          </a:solidFill>
          <a:ln/>
        </p:spPr>
      </p:sp>
      <p:pic>
        <p:nvPicPr>
          <p:cNvPr id="19" name="Image 1" descr="/home/claude/p4_pe_ideate.png">    </p:cNvPr>
          <p:cNvPicPr>
            <a:picLocks noChangeAspect="1"/>
          </p:cNvPicPr>
          <p:nvPr/>
        </p:nvPicPr>
        <p:blipFill>
          <a:blip r:embed="rId2"/>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indent="0" marL="0">
              <a:buNone/>
            </a:pPr>
            <a:r>
              <a:rPr lang="en-US" sz="1000" b="1" spc="100" kern="0" dirty="0">
                <a:solidFill>
                  <a:srgbClr val="D6C2EC"/>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Design the GPU / accelerator strategy across on-prem, cloud, sovereign and hybrid</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Define the AI infrastructure reference architecture (networking, storage, scheduling, multi-tenancy)</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Design utilization governance and procurement / commitment structure</a:t>
            </a:r>
            <a:endParaRPr lang="en-US" sz="1000" dirty="0"/>
          </a:p>
        </p:txBody>
      </p:sp>
      <p:sp>
        <p:nvSpPr>
          <p:cNvPr id="23" name="Shape 19"/>
          <p:cNvSpPr/>
          <p:nvPr/>
        </p:nvSpPr>
        <p:spPr>
          <a:xfrm>
            <a:off x="4581144" y="4983480"/>
            <a:ext cx="3127248" cy="0"/>
          </a:xfrm>
          <a:prstGeom prst="line">
            <a:avLst/>
          </a:prstGeom>
          <a:noFill/>
          <a:ln w="12700">
            <a:solidFill>
              <a:srgbClr val="E2D9EE"/>
            </a:solidFill>
            <a:prstDash val="solid"/>
          </a:ln>
        </p:spPr>
      </p:sp>
      <p:sp>
        <p:nvSpPr>
          <p:cNvPr id="24" name="Text 20"/>
          <p:cNvSpPr txBox="1"/>
          <p:nvPr/>
        </p:nvSpPr>
        <p:spPr>
          <a:xfrm>
            <a:off x="458114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5B3A8C"/>
                </a:solidFill>
                <a:latin typeface="Calibri" pitchFamily="34" charset="0"/>
                <a:ea typeface="Calibri" pitchFamily="34" charset="-122"/>
                <a:cs typeface="Calibri" pitchFamily="34" charset="-120"/>
              </a:rPr>
              <a:t>GPU/accelerator strategy · reference architecture · utilization &amp; procurement model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algn="ctr" indent="0" marL="0">
              <a:buNone/>
            </a:pPr>
            <a:r>
              <a:rPr lang="en-US" sz="2000" dirty="0">
                <a:solidFill>
                  <a:srgbClr val="5A5266"/>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7F4FB"/>
          </a:solidFill>
          <a:ln w="9525">
            <a:solidFill>
              <a:srgbClr val="E2D9EE"/>
            </a:solidFill>
            <a:prstDash val="solid"/>
          </a:ln>
        </p:spPr>
      </p:sp>
      <p:sp>
        <p:nvSpPr>
          <p:cNvPr id="28" name="Shape 24"/>
          <p:cNvSpPr/>
          <p:nvPr/>
        </p:nvSpPr>
        <p:spPr>
          <a:xfrm>
            <a:off x="8183880" y="1783080"/>
            <a:ext cx="3602736" cy="868680"/>
          </a:xfrm>
          <a:prstGeom prst="roundRect">
            <a:avLst>
              <a:gd name="adj" fmla="val 7368"/>
            </a:avLst>
          </a:prstGeom>
          <a:solidFill>
            <a:srgbClr val="341F52"/>
          </a:solidFill>
          <a:ln/>
        </p:spPr>
      </p:sp>
      <p:sp>
        <p:nvSpPr>
          <p:cNvPr id="29" name="Shape 25"/>
          <p:cNvSpPr/>
          <p:nvPr/>
        </p:nvSpPr>
        <p:spPr>
          <a:xfrm>
            <a:off x="8183880" y="2194560"/>
            <a:ext cx="3602736" cy="457200"/>
          </a:xfrm>
          <a:prstGeom prst="rect">
            <a:avLst/>
          </a:prstGeom>
          <a:solidFill>
            <a:srgbClr val="341F52"/>
          </a:solidFill>
          <a:ln/>
        </p:spPr>
      </p:sp>
      <p:pic>
        <p:nvPicPr>
          <p:cNvPr id="30" name="Image 2" descr="/home/claude/p4_pe_outcreate.png">    </p:cNvPr>
          <p:cNvPicPr>
            <a:picLocks noChangeAspect="1"/>
          </p:cNvPicPr>
          <p:nvPr/>
        </p:nvPicPr>
        <p:blipFill>
          <a:blip r:embed="rId3"/>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indent="0" marL="0">
              <a:buNone/>
            </a:pPr>
            <a:r>
              <a:rPr lang="en-US" sz="1000" b="1" spc="100" kern="0" dirty="0">
                <a:solidFill>
                  <a:srgbClr val="D6C2EC"/>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Consolidate into an executive-ready AI infrastructure strategy</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Confirm capacity plan, sequencing and commitment structure</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Executive playback, decision sign-off, first-capacity mobilization</a:t>
            </a:r>
            <a:endParaRPr lang="en-US" sz="1000" dirty="0"/>
          </a:p>
        </p:txBody>
      </p:sp>
      <p:sp>
        <p:nvSpPr>
          <p:cNvPr id="34" name="Shape 29"/>
          <p:cNvSpPr/>
          <p:nvPr/>
        </p:nvSpPr>
        <p:spPr>
          <a:xfrm>
            <a:off x="8421624" y="4983480"/>
            <a:ext cx="3127248" cy="0"/>
          </a:xfrm>
          <a:prstGeom prst="line">
            <a:avLst/>
          </a:prstGeom>
          <a:noFill/>
          <a:ln w="12700">
            <a:solidFill>
              <a:srgbClr val="E2D9EE"/>
            </a:solidFill>
            <a:prstDash val="solid"/>
          </a:ln>
        </p:spPr>
      </p:sp>
      <p:sp>
        <p:nvSpPr>
          <p:cNvPr id="35" name="Text 30"/>
          <p:cNvSpPr txBox="1"/>
          <p:nvPr/>
        </p:nvSpPr>
        <p:spPr>
          <a:xfrm>
            <a:off x="842162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5B3A8C"/>
                </a:solidFill>
                <a:latin typeface="Calibri" pitchFamily="34" charset="0"/>
                <a:ea typeface="Calibri" pitchFamily="34" charset="-122"/>
                <a:cs typeface="Calibri" pitchFamily="34" charset="-120"/>
              </a:rPr>
              <a:t>Board-ready AI infrastructure strategy · capacity plan · mobilization plan · Executive Playback · Closure Pack</a:t>
            </a:r>
            <a:endParaRPr lang="en-US" sz="950" dirty="0"/>
          </a:p>
        </p:txBody>
      </p:sp>
      <p:sp>
        <p:nvSpPr>
          <p:cNvPr id="37" name="Text 32"/>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38" name="Text 33"/>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04.2  ·  Solution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338560" cy="502920"/>
          </a:xfrm>
          <a:prstGeom prst="rect">
            <a:avLst/>
          </a:prstGeom>
          <a:noFill/>
          <a:ln/>
        </p:spPr>
        <p:txBody>
          <a:bodyPr wrap="square" lIns="0" tIns="0" rIns="0" bIns="0" rtlCol="0" anchor="ctr"/>
          <a:lstStyle/>
          <a:p>
            <a:pPr indent="0" marL="0">
              <a:buNone/>
            </a:pPr>
            <a:r>
              <a:rPr lang="en-US" sz="2400" b="1" dirty="0">
                <a:solidFill>
                  <a:srgbClr val="B99FDB"/>
                </a:solidFill>
                <a:latin typeface="Cambria" pitchFamily="34" charset="0"/>
                <a:ea typeface="Cambria" pitchFamily="34" charset="-122"/>
                <a:cs typeface="Cambria" pitchFamily="34" charset="-120"/>
              </a:rPr>
              <a:t>04.2   </a:t>
            </a:r>
            <a:pPr indent="0" marL="0">
              <a:buNone/>
            </a:pPr>
            <a:r>
              <a:rPr lang="en-US" sz="2200" b="1" dirty="0">
                <a:solidFill>
                  <a:srgbClr val="1B1F23"/>
                </a:solidFill>
                <a:latin typeface="Cambria" pitchFamily="34" charset="0"/>
                <a:ea typeface="Cambria" pitchFamily="34" charset="-122"/>
                <a:cs typeface="Cambria" pitchFamily="34" charset="-120"/>
              </a:rPr>
              <a:t>AI Infrastructure</a:t>
            </a:r>
            <a:endParaRPr lang="en-US" sz="2400" dirty="0"/>
          </a:p>
        </p:txBody>
      </p:sp>
      <p:sp>
        <p:nvSpPr>
          <p:cNvPr id="4" name="Shape 2"/>
          <p:cNvSpPr/>
          <p:nvPr/>
        </p:nvSpPr>
        <p:spPr>
          <a:xfrm>
            <a:off x="502920" y="1600200"/>
            <a:ext cx="5394960" cy="4480560"/>
          </a:xfrm>
          <a:prstGeom prst="roundRect">
            <a:avLst>
              <a:gd name="adj" fmla="val 1429"/>
            </a:avLst>
          </a:prstGeom>
          <a:solidFill>
            <a:srgbClr val="5B3A8C"/>
          </a:solidFill>
          <a:ln/>
        </p:spPr>
      </p:sp>
      <p:pic>
        <p:nvPicPr>
          <p:cNvPr id="5" name="Image 0" descr="/home/claude/p4_pe_deliver.png">    </p:cNvPr>
          <p:cNvPicPr>
            <a:picLocks noChangeAspect="1"/>
          </p:cNvPicPr>
          <p:nvPr/>
        </p:nvPicPr>
        <p:blipFill>
          <a:blip r:embed="rId1"/>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indent="0" marL="0">
              <a:buNone/>
            </a:pPr>
            <a:r>
              <a:rPr lang="en-US" sz="1050" i="1" dirty="0">
                <a:solidFill>
                  <a:srgbClr val="D6C2EC"/>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B99FDB"/>
          </a:solidFill>
          <a:ln/>
        </p:spPr>
      </p:sp>
      <p:sp>
        <p:nvSpPr>
          <p:cNvPr id="9" name="Text 6"/>
          <p:cNvSpPr txBox="1"/>
          <p:nvPr/>
        </p:nvSpPr>
        <p:spPr>
          <a:xfrm>
            <a:off x="777240" y="2880360"/>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AI-compute demand model (from use-case pipeline)</a:t>
            </a:r>
            <a:endParaRPr lang="en-US" sz="1150" dirty="0"/>
          </a:p>
        </p:txBody>
      </p:sp>
      <p:sp>
        <p:nvSpPr>
          <p:cNvPr id="11" name="Shape 8"/>
          <p:cNvSpPr/>
          <p:nvPr/>
        </p:nvSpPr>
        <p:spPr>
          <a:xfrm>
            <a:off x="777240" y="3483864"/>
            <a:ext cx="310896" cy="310896"/>
          </a:xfrm>
          <a:prstGeom prst="roundRect">
            <a:avLst>
              <a:gd name="adj" fmla="val 14706"/>
            </a:avLst>
          </a:prstGeom>
          <a:solidFill>
            <a:srgbClr val="B99FDB"/>
          </a:solidFill>
          <a:ln/>
        </p:spPr>
      </p:sp>
      <p:sp>
        <p:nvSpPr>
          <p:cNvPr id="12" name="Text 9"/>
          <p:cNvSpPr txBox="1"/>
          <p:nvPr/>
        </p:nvSpPr>
        <p:spPr>
          <a:xfrm>
            <a:off x="777240" y="3483864"/>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GPU / accelerator strategy (on-prem / cloud / sovereign / hybrid)</a:t>
            </a:r>
            <a:endParaRPr lang="en-US" sz="1150" dirty="0"/>
          </a:p>
        </p:txBody>
      </p:sp>
      <p:sp>
        <p:nvSpPr>
          <p:cNvPr id="14" name="Shape 11"/>
          <p:cNvSpPr/>
          <p:nvPr/>
        </p:nvSpPr>
        <p:spPr>
          <a:xfrm>
            <a:off x="777240" y="4087368"/>
            <a:ext cx="310896" cy="310896"/>
          </a:xfrm>
          <a:prstGeom prst="roundRect">
            <a:avLst>
              <a:gd name="adj" fmla="val 14706"/>
            </a:avLst>
          </a:prstGeom>
          <a:solidFill>
            <a:srgbClr val="B99FDB"/>
          </a:solidFill>
          <a:ln/>
        </p:spPr>
      </p:sp>
      <p:sp>
        <p:nvSpPr>
          <p:cNvPr id="15" name="Text 12"/>
          <p:cNvSpPr txBox="1"/>
          <p:nvPr/>
        </p:nvSpPr>
        <p:spPr>
          <a:xfrm>
            <a:off x="777240" y="4087368"/>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AI infrastructure reference architecture</a:t>
            </a:r>
            <a:endParaRPr lang="en-US" sz="1150" dirty="0"/>
          </a:p>
        </p:txBody>
      </p:sp>
      <p:sp>
        <p:nvSpPr>
          <p:cNvPr id="17" name="Shape 14"/>
          <p:cNvSpPr/>
          <p:nvPr/>
        </p:nvSpPr>
        <p:spPr>
          <a:xfrm>
            <a:off x="777240" y="4690872"/>
            <a:ext cx="310896" cy="310896"/>
          </a:xfrm>
          <a:prstGeom prst="roundRect">
            <a:avLst>
              <a:gd name="adj" fmla="val 14706"/>
            </a:avLst>
          </a:prstGeom>
          <a:solidFill>
            <a:srgbClr val="B99FDB"/>
          </a:solidFill>
          <a:ln/>
        </p:spPr>
      </p:sp>
      <p:sp>
        <p:nvSpPr>
          <p:cNvPr id="18" name="Text 15"/>
          <p:cNvSpPr txBox="1"/>
          <p:nvPr/>
        </p:nvSpPr>
        <p:spPr>
          <a:xfrm>
            <a:off x="777240" y="4690872"/>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Utilization-governance and procurement model</a:t>
            </a:r>
            <a:endParaRPr lang="en-US" sz="1150" dirty="0"/>
          </a:p>
        </p:txBody>
      </p:sp>
      <p:sp>
        <p:nvSpPr>
          <p:cNvPr id="20" name="Shape 17"/>
          <p:cNvSpPr/>
          <p:nvPr/>
        </p:nvSpPr>
        <p:spPr>
          <a:xfrm>
            <a:off x="777240" y="5294376"/>
            <a:ext cx="310896" cy="310896"/>
          </a:xfrm>
          <a:prstGeom prst="roundRect">
            <a:avLst>
              <a:gd name="adj" fmla="val 14706"/>
            </a:avLst>
          </a:prstGeom>
          <a:solidFill>
            <a:srgbClr val="B99FDB"/>
          </a:solidFill>
          <a:ln/>
        </p:spPr>
      </p:sp>
      <p:sp>
        <p:nvSpPr>
          <p:cNvPr id="21" name="Text 18"/>
          <p:cNvSpPr txBox="1"/>
          <p:nvPr/>
        </p:nvSpPr>
        <p:spPr>
          <a:xfrm>
            <a:off x="777240" y="5294376"/>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Board-ready AI infrastructure strategy and capacity plan</a:t>
            </a:r>
            <a:endParaRPr lang="en-US" sz="1150" dirty="0"/>
          </a:p>
        </p:txBody>
      </p:sp>
      <p:sp>
        <p:nvSpPr>
          <p:cNvPr id="23" name="Shape 20"/>
          <p:cNvSpPr/>
          <p:nvPr/>
        </p:nvSpPr>
        <p:spPr>
          <a:xfrm>
            <a:off x="6263640" y="1600200"/>
            <a:ext cx="5394960" cy="2286000"/>
          </a:xfrm>
          <a:prstGeom prst="roundRect">
            <a:avLst>
              <a:gd name="adj" fmla="val 2800"/>
            </a:avLst>
          </a:prstGeom>
          <a:solidFill>
            <a:srgbClr val="EEF6F0"/>
          </a:solidFill>
          <a:ln w="9525">
            <a:solidFill>
              <a:srgbClr val="BFE3D2"/>
            </a:solidFill>
            <a:prstDash val="solid"/>
          </a:ln>
        </p:spPr>
      </p:sp>
      <p:pic>
        <p:nvPicPr>
          <p:cNvPr id="24" name="Image 1" descr="/home/claude/x_chk_in.png">    </p:cNvPr>
          <p:cNvPicPr>
            <a:picLocks noChangeAspect="1"/>
          </p:cNvPicPr>
          <p:nvPr/>
        </p:nvPicPr>
        <p:blipFill>
          <a:blip r:embed="rId2"/>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indent="0" marL="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Accelerated-compute demand sizing from use-case pipeline</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GPU / accelerator strategy across deployment patterns</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AI infrastructure reference architecture</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Utilization governance and capacity planning</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Procurement sequencing and commitment structure</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sp>
      <p:pic>
        <p:nvPicPr>
          <p:cNvPr id="28" name="Image 2" descr="/home/claude/x_chk_out.png">    </p:cNvPr>
          <p:cNvPicPr>
            <a:picLocks noChangeAspect="1"/>
          </p:cNvPicPr>
          <p:nvPr/>
        </p:nvPicPr>
        <p:blipFill>
          <a:blip r:embed="rId3"/>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indent="0" marL="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AI readiness and opportunity</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04.1 AI Readiness</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Data-centre siting and power strategy</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03.5 / Pillar 01</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Sovereign AI hosting architecture</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02.5 (Pillar 02)</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AI infrastructure build and GPU operations</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Cloud placement strategy</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03.1 Right Cloud</a:t>
            </a:r>
            <a:endParaRPr lang="en-US" sz="970" dirty="0"/>
          </a:p>
        </p:txBody>
      </p:sp>
      <p:sp>
        <p:nvSpPr>
          <p:cNvPr id="35" name="Text 30"/>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36" name="Text 31"/>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04.2  ·  Deliverables &amp; scope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OFFERING  ·  OUT-GOVERN THE MODEL.   ·   GATE 3 · WILL IT PASS?</a:t>
            </a:r>
            <a:endParaRPr lang="en-US" sz="1100" dirty="0"/>
          </a:p>
        </p:txBody>
      </p:sp>
      <p:sp>
        <p:nvSpPr>
          <p:cNvPr id="3" name="Text 1"/>
          <p:cNvSpPr txBox="1"/>
          <p:nvPr/>
        </p:nvSpPr>
        <p:spPr>
          <a:xfrm>
            <a:off x="484632" y="658368"/>
            <a:ext cx="11338560" cy="502920"/>
          </a:xfrm>
          <a:prstGeom prst="rect">
            <a:avLst/>
          </a:prstGeom>
          <a:noFill/>
          <a:ln/>
        </p:spPr>
        <p:txBody>
          <a:bodyPr wrap="square" lIns="0" tIns="0" rIns="0" bIns="0" rtlCol="0" anchor="ctr"/>
          <a:lstStyle/>
          <a:p>
            <a:pPr indent="0" marL="0">
              <a:buNone/>
            </a:pPr>
            <a:r>
              <a:rPr lang="en-US" sz="2400" b="1" dirty="0">
                <a:solidFill>
                  <a:srgbClr val="B99FDB"/>
                </a:solidFill>
                <a:latin typeface="Cambria" pitchFamily="34" charset="0"/>
                <a:ea typeface="Cambria" pitchFamily="34" charset="-122"/>
                <a:cs typeface="Cambria" pitchFamily="34" charset="-120"/>
              </a:rPr>
              <a:t>04.3   </a:t>
            </a:r>
            <a:pPr indent="0" marL="0">
              <a:buNone/>
            </a:pPr>
            <a:r>
              <a:rPr lang="en-US" sz="2200" b="1" dirty="0">
                <a:solidFill>
                  <a:srgbClr val="1B1F23"/>
                </a:solidFill>
                <a:latin typeface="Cambria" pitchFamily="34" charset="0"/>
                <a:ea typeface="Cambria" pitchFamily="34" charset="-122"/>
                <a:cs typeface="Cambria" pitchFamily="34" charset="-120"/>
              </a:rPr>
              <a:t>Responsible AI &amp; Governance</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indent="0" marL="0">
              <a:buNone/>
            </a:pPr>
            <a:r>
              <a:rPr lang="en-US" sz="900" b="1" spc="100" kern="0" dirty="0">
                <a:solidFill>
                  <a:srgbClr val="B99FDB"/>
                </a:solidFill>
                <a:latin typeface="Calibri" pitchFamily="34" charset="0"/>
                <a:ea typeface="Calibri" pitchFamily="34" charset="-122"/>
                <a:cs typeface="Calibri" pitchFamily="34" charset="-120"/>
              </a:rPr>
              <a:t>STARTS FROM  </a:t>
            </a:r>
            <a:pPr indent="0" marL="0">
              <a:buNone/>
            </a:pPr>
            <a:r>
              <a:rPr lang="en-US" sz="1050" dirty="0">
                <a:solidFill>
                  <a:srgbClr val="50485F"/>
                </a:solidFill>
                <a:latin typeface="Calibri" pitchFamily="34" charset="0"/>
                <a:ea typeface="Calibri" pitchFamily="34" charset="-122"/>
                <a:cs typeface="Calibri" pitchFamily="34" charset="-120"/>
              </a:rPr>
              <a:t>AI Readiness IQ → 04.1 (readiness)      </a:t>
            </a:r>
            <a:pPr indent="0" marL="0">
              <a:buNone/>
            </a:pPr>
            <a:r>
              <a:rPr lang="en-US" sz="900" b="1" spc="100" kern="0" dirty="0">
                <a:solidFill>
                  <a:srgbClr val="B99FDB"/>
                </a:solidFill>
                <a:latin typeface="Calibri" pitchFamily="34" charset="0"/>
                <a:ea typeface="Calibri" pitchFamily="34" charset="-122"/>
                <a:cs typeface="Calibri" pitchFamily="34" charset="-120"/>
              </a:rPr>
              <a:t>LEADS TO  </a:t>
            </a:r>
            <a:pPr indent="0" marL="0">
              <a:buNone/>
            </a:pPr>
            <a:r>
              <a:rPr lang="en-US" sz="1050" dirty="0">
                <a:solidFill>
                  <a:srgbClr val="50485F"/>
                </a:solidFill>
                <a:latin typeface="Calibri" pitchFamily="34" charset="0"/>
                <a:ea typeface="Calibri" pitchFamily="34" charset="-122"/>
                <a:cs typeface="Calibri" pitchFamily="34" charset="-120"/>
              </a:rPr>
              <a:t>AI governance platform implementation · control automation · model assurance services</a:t>
            </a:r>
            <a:endParaRPr lang="en-US" sz="900" dirty="0"/>
          </a:p>
        </p:txBody>
      </p:sp>
      <p:sp>
        <p:nvSpPr>
          <p:cNvPr id="5" name="Shape 3"/>
          <p:cNvSpPr/>
          <p:nvPr/>
        </p:nvSpPr>
        <p:spPr>
          <a:xfrm>
            <a:off x="502920" y="1737360"/>
            <a:ext cx="5394960" cy="2395728"/>
          </a:xfrm>
          <a:prstGeom prst="roundRect">
            <a:avLst>
              <a:gd name="adj" fmla="val 2290"/>
            </a:avLst>
          </a:prstGeom>
          <a:solidFill>
            <a:srgbClr val="F7F4FB"/>
          </a:solidFill>
          <a:ln w="9525">
            <a:solidFill>
              <a:srgbClr val="E2D9EE"/>
            </a:solidFill>
            <a:prstDash val="solid"/>
          </a:ln>
        </p:spPr>
      </p:sp>
      <p:sp>
        <p:nvSpPr>
          <p:cNvPr id="6" name="Text 4"/>
          <p:cNvSpPr txBox="1"/>
          <p:nvPr/>
        </p:nvSpPr>
        <p:spPr>
          <a:xfrm>
            <a:off x="731520" y="1901952"/>
            <a:ext cx="4937760" cy="256032"/>
          </a:xfrm>
          <a:prstGeom prst="rect">
            <a:avLst/>
          </a:prstGeom>
          <a:noFill/>
          <a:ln/>
        </p:spPr>
        <p:txBody>
          <a:bodyPr wrap="square" lIns="0" tIns="0" rIns="0" bIns="0" rtlCol="0" anchor="ctr"/>
          <a:lstStyle/>
          <a:p>
            <a:pPr indent="0" marL="0">
              <a:buNone/>
            </a:pPr>
            <a:r>
              <a:rPr lang="en-US" sz="1100" b="1" spc="150" kern="0" dirty="0">
                <a:solidFill>
                  <a:srgbClr val="5B3A8C"/>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indent="0" marL="0">
              <a:lnSpc>
                <a:spcPct val="103000"/>
              </a:lnSpc>
              <a:buNone/>
            </a:pPr>
            <a:r>
              <a:rPr lang="en-US" sz="1100" dirty="0">
                <a:solidFill>
                  <a:srgbClr val="322C40"/>
                </a:solidFill>
                <a:latin typeface="Calibri" pitchFamily="34" charset="0"/>
                <a:ea typeface="Calibri" pitchFamily="34" charset="-122"/>
                <a:cs typeface="Calibri" pitchFamily="34" charset="-120"/>
              </a:rPr>
              <a:t>Clears the third gate: can we put AI into production that the board and the regulator will sign off? It establishes the Responsible AI framework, designs the governance operating model, and selects the AI governance platform that makes policy operable at scale — the point at which governance stops being a document. Consultancies write AI policy; LTM implements the platform that enforces it, because governance that is not instrumented is not governance.</a:t>
            </a:r>
            <a:endParaRPr lang="en-US" sz="1100" dirty="0"/>
          </a:p>
        </p:txBody>
      </p:sp>
      <p:sp>
        <p:nvSpPr>
          <p:cNvPr id="8" name="Shape 6"/>
          <p:cNvSpPr/>
          <p:nvPr/>
        </p:nvSpPr>
        <p:spPr>
          <a:xfrm>
            <a:off x="502920" y="4279392"/>
            <a:ext cx="5394960" cy="1627632"/>
          </a:xfrm>
          <a:prstGeom prst="roundRect">
            <a:avLst>
              <a:gd name="adj" fmla="val 3371"/>
            </a:avLst>
          </a:prstGeom>
          <a:solidFill>
            <a:srgbClr val="5B3A8C"/>
          </a:solidFill>
          <a:ln w="9525">
            <a:solidFill>
              <a:srgbClr val="5B3A8C"/>
            </a:solidFill>
            <a:prstDash val="solid"/>
          </a:ln>
        </p:spPr>
      </p:sp>
      <p:sp>
        <p:nvSpPr>
          <p:cNvPr id="9" name="Text 7"/>
          <p:cNvSpPr txBox="1"/>
          <p:nvPr/>
        </p:nvSpPr>
        <p:spPr>
          <a:xfrm>
            <a:off x="731520" y="4425696"/>
            <a:ext cx="4937760" cy="256032"/>
          </a:xfrm>
          <a:prstGeom prst="rect">
            <a:avLst/>
          </a:prstGeom>
          <a:noFill/>
          <a:ln/>
        </p:spPr>
        <p:txBody>
          <a:bodyPr wrap="square" lIns="0" tIns="0" rIns="0" bIns="0" rtlCol="0" anchor="ctr"/>
          <a:lstStyle/>
          <a:p>
            <a:pPr indent="0" marL="0">
              <a:buNone/>
            </a:pPr>
            <a:r>
              <a:rPr lang="en-US" sz="1100" b="1" spc="150" kern="0" dirty="0">
                <a:solidFill>
                  <a:srgbClr val="D6C2EC"/>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indent="0" marL="0">
              <a:lnSpc>
                <a:spcPct val="102000"/>
              </a:lnSpc>
              <a:buNone/>
            </a:pPr>
            <a:r>
              <a:rPr lang="en-US" sz="1050" dirty="0">
                <a:solidFill>
                  <a:srgbClr val="F2ECFA"/>
                </a:solidFill>
                <a:latin typeface="Calibri" pitchFamily="34" charset="0"/>
                <a:ea typeface="Calibri" pitchFamily="34" charset="-122"/>
                <a:cs typeface="Calibri" pitchFamily="34" charset="-120"/>
              </a:rPr>
              <a:t>On 2 August 2026 the EU AI Act’s high-risk obligations became enforceable, with fines up to €35M or 7% of global turnover — yet 67% of European enterprises still lack a formal governance framework and only ~50% have an AI governance committee. Governance has moved from strategy to enforcement; the readiness gap is now a compliance exposure, not a future risk.</a:t>
            </a:r>
            <a:endParaRPr lang="en-US" sz="105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indent="0" marL="0">
              <a:buNone/>
            </a:pPr>
            <a:r>
              <a:rPr lang="en-US" sz="850" i="1" dirty="0">
                <a:solidFill>
                  <a:srgbClr val="9B87BC"/>
                </a:solidFill>
                <a:latin typeface="Calibri" pitchFamily="34" charset="0"/>
                <a:ea typeface="Calibri" pitchFamily="34" charset="-122"/>
                <a:cs typeface="Calibri" pitchFamily="34" charset="-120"/>
              </a:rPr>
              <a:t>Source: MIT / Gartner / S&amp;P Global / EU AI Act, 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E2D9EE"/>
            </a:solidFill>
            <a:prstDash val="solid"/>
          </a:ln>
        </p:spPr>
      </p:sp>
      <p:sp>
        <p:nvSpPr>
          <p:cNvPr id="13" name="Text 11"/>
          <p:cNvSpPr txBox="1"/>
          <p:nvPr/>
        </p:nvSpPr>
        <p:spPr>
          <a:xfrm>
            <a:off x="6492240" y="1901952"/>
            <a:ext cx="4937760" cy="256032"/>
          </a:xfrm>
          <a:prstGeom prst="rect">
            <a:avLst/>
          </a:prstGeom>
          <a:noFill/>
          <a:ln/>
        </p:spPr>
        <p:txBody>
          <a:bodyPr wrap="square" lIns="0" tIns="0" rIns="0" bIns="0" rtlCol="0" anchor="ctr"/>
          <a:lstStyle/>
          <a:p>
            <a:pPr indent="0" marL="0">
              <a:buNone/>
            </a:pPr>
            <a:r>
              <a:rPr lang="en-US" sz="1100" b="1" spc="120" kern="0" dirty="0">
                <a:solidFill>
                  <a:srgbClr val="5B3A8C"/>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indent="0" marL="0">
              <a:lnSpc>
                <a:spcPct val="95000"/>
              </a:lnSpc>
              <a:buNone/>
            </a:pPr>
            <a:r>
              <a:rPr lang="en-US" sz="1150" i="1" dirty="0">
                <a:solidFill>
                  <a:srgbClr val="D35400"/>
                </a:solidFill>
                <a:latin typeface="Cambria" pitchFamily="34" charset="0"/>
                <a:ea typeface="Cambria" pitchFamily="34" charset="-122"/>
                <a:cs typeface="Cambria" pitchFamily="34" charset="-120"/>
              </a:rPr>
              <a:t>Almost every enterprise now uses AI; very few can actually govern it — and enforcement has arrived.</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67% of European enterprises lack a formal AI governance framework, and only 26% keep governance pace with deployment.</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The EU AI Act’s high-risk obligations are enforceable from August 2026, with fines up to €35M or 7% of global turnover.</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60% of enterprises cannot terminate a misbehaving agent, and 63% cannot enforce purpose limitations.</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Shadow-AI breaches cost an average $670K more — ungoverned AI is a quantified liability.</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AI policy exists on paper but isn’t instrumented — governance that can’t be enforced isn’t governance.</a:t>
            </a:r>
            <a:endParaRPr lang="en-US" sz="970" dirty="0"/>
          </a:p>
        </p:txBody>
      </p:sp>
      <p:sp>
        <p:nvSpPr>
          <p:cNvPr id="16" name="Shape 14"/>
          <p:cNvSpPr/>
          <p:nvPr/>
        </p:nvSpPr>
        <p:spPr>
          <a:xfrm>
            <a:off x="6263640" y="4279392"/>
            <a:ext cx="5394960" cy="1627632"/>
          </a:xfrm>
          <a:prstGeom prst="roundRect">
            <a:avLst>
              <a:gd name="adj" fmla="val 3371"/>
            </a:avLst>
          </a:prstGeom>
          <a:solidFill>
            <a:srgbClr val="F7F4FB"/>
          </a:solidFill>
          <a:ln w="9525">
            <a:solidFill>
              <a:srgbClr val="E2D9EE"/>
            </a:solidFill>
            <a:prstDash val="solid"/>
          </a:ln>
        </p:spPr>
      </p:sp>
      <p:sp>
        <p:nvSpPr>
          <p:cNvPr id="17" name="Text 15"/>
          <p:cNvSpPr txBox="1"/>
          <p:nvPr/>
        </p:nvSpPr>
        <p:spPr>
          <a:xfrm>
            <a:off x="6492240" y="4407408"/>
            <a:ext cx="4937760" cy="256032"/>
          </a:xfrm>
          <a:prstGeom prst="rect">
            <a:avLst/>
          </a:prstGeom>
          <a:noFill/>
          <a:ln/>
        </p:spPr>
        <p:txBody>
          <a:bodyPr wrap="square" lIns="0" tIns="0" rIns="0" bIns="0" rtlCol="0" anchor="ctr"/>
          <a:lstStyle/>
          <a:p>
            <a:pPr indent="0" marL="0">
              <a:buNone/>
            </a:pPr>
            <a:r>
              <a:rPr lang="en-US" sz="1100" b="1" spc="120" kern="0" dirty="0">
                <a:solidFill>
                  <a:srgbClr val="5B3A8C"/>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Governance that’s operable, not paper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An AI governance platform that enforces policy at scale, instrumented and audited.</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Board and regulator sign-off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A defensible Responsible-AI posture that clears the risk committee and the supervisor.</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EU AI Act exposure closed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High-risk obligations met before the penalty, not after.</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Control by design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Bias, fairness, explainability, robustness and privacy embedded across the lifecycle.</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Agents you can stop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Purpose limits and kill-switches enforced — the controls most enterprises lack.</a:t>
            </a:r>
            <a:endParaRPr lang="en-US" sz="950" dirty="0"/>
          </a:p>
        </p:txBody>
      </p:sp>
      <p:sp>
        <p:nvSpPr>
          <p:cNvPr id="23" name="Text 21"/>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24" name="Text 22"/>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04.3  ·  Overview</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338560" cy="502920"/>
          </a:xfrm>
          <a:prstGeom prst="rect">
            <a:avLst/>
          </a:prstGeom>
          <a:noFill/>
          <a:ln/>
        </p:spPr>
        <p:txBody>
          <a:bodyPr wrap="square" lIns="0" tIns="0" rIns="0" bIns="0" rtlCol="0" anchor="ctr"/>
          <a:lstStyle/>
          <a:p>
            <a:pPr indent="0" marL="0">
              <a:buNone/>
            </a:pPr>
            <a:r>
              <a:rPr lang="en-US" sz="2400" b="1" dirty="0">
                <a:solidFill>
                  <a:srgbClr val="B99FDB"/>
                </a:solidFill>
                <a:latin typeface="Cambria" pitchFamily="34" charset="0"/>
                <a:ea typeface="Cambria" pitchFamily="34" charset="-122"/>
                <a:cs typeface="Cambria" pitchFamily="34" charset="-120"/>
              </a:rPr>
              <a:t>04.3   </a:t>
            </a:r>
            <a:pPr indent="0" marL="0">
              <a:buNone/>
            </a:pPr>
            <a:r>
              <a:rPr lang="en-US" sz="2200" b="1" dirty="0">
                <a:solidFill>
                  <a:srgbClr val="1B1F23"/>
                </a:solidFill>
                <a:latin typeface="Cambria" pitchFamily="34" charset="0"/>
                <a:ea typeface="Cambria" pitchFamily="34" charset="-122"/>
                <a:cs typeface="Cambria" pitchFamily="34" charset="-120"/>
              </a:rPr>
              <a:t>Responsible AI &amp; Governance</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indent="0" marL="0">
              <a:buNone/>
            </a:pPr>
            <a:r>
              <a:rPr lang="en-US" sz="1200" i="1" dirty="0">
                <a:solidFill>
                  <a:srgbClr val="5A5266"/>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7F4FB"/>
          </a:solidFill>
          <a:ln w="9525">
            <a:solidFill>
              <a:srgbClr val="E2D9EE"/>
            </a:solidFill>
            <a:prstDash val="solid"/>
          </a:ln>
        </p:spPr>
      </p:sp>
      <p:sp>
        <p:nvSpPr>
          <p:cNvPr id="6" name="Shape 4"/>
          <p:cNvSpPr/>
          <p:nvPr/>
        </p:nvSpPr>
        <p:spPr>
          <a:xfrm>
            <a:off x="502920" y="1783080"/>
            <a:ext cx="3602736" cy="868680"/>
          </a:xfrm>
          <a:prstGeom prst="roundRect">
            <a:avLst>
              <a:gd name="adj" fmla="val 7368"/>
            </a:avLst>
          </a:prstGeom>
          <a:solidFill>
            <a:srgbClr val="5B3A8C"/>
          </a:solidFill>
          <a:ln/>
        </p:spPr>
      </p:sp>
      <p:sp>
        <p:nvSpPr>
          <p:cNvPr id="7" name="Shape 5"/>
          <p:cNvSpPr/>
          <p:nvPr/>
        </p:nvSpPr>
        <p:spPr>
          <a:xfrm>
            <a:off x="502920" y="2194560"/>
            <a:ext cx="3602736" cy="457200"/>
          </a:xfrm>
          <a:prstGeom prst="rect">
            <a:avLst/>
          </a:prstGeom>
          <a:solidFill>
            <a:srgbClr val="5B3A8C"/>
          </a:solidFill>
          <a:ln/>
        </p:spPr>
      </p:sp>
      <p:pic>
        <p:nvPicPr>
          <p:cNvPr id="8" name="Image 0" descr="/home/claude/p4_pe_understand.png">    </p:cNvPr>
          <p:cNvPicPr>
            <a:picLocks noChangeAspect="1"/>
          </p:cNvPicPr>
          <p:nvPr/>
        </p:nvPicPr>
        <p:blipFill>
          <a:blip r:embed="rId1"/>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indent="0" marL="0">
              <a:buNone/>
            </a:pPr>
            <a:r>
              <a:rPr lang="en-US" sz="1000" b="1" spc="100" kern="0" dirty="0">
                <a:solidFill>
                  <a:srgbClr val="D6C2EC"/>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Assess regulatory exposure across the AI portfolio (EU AI Act, sector regulators)</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Inventory AI systems and classify risk; surface shadow AI</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Assess current governance maturity, controls and enforcement gaps</a:t>
            </a:r>
            <a:endParaRPr lang="en-US" sz="1000" dirty="0"/>
          </a:p>
        </p:txBody>
      </p:sp>
      <p:sp>
        <p:nvSpPr>
          <p:cNvPr id="12" name="Shape 9"/>
          <p:cNvSpPr/>
          <p:nvPr/>
        </p:nvSpPr>
        <p:spPr>
          <a:xfrm>
            <a:off x="740664" y="4983480"/>
            <a:ext cx="3127248" cy="0"/>
          </a:xfrm>
          <a:prstGeom prst="line">
            <a:avLst/>
          </a:prstGeom>
          <a:noFill/>
          <a:ln w="12700">
            <a:solidFill>
              <a:srgbClr val="E2D9EE"/>
            </a:solidFill>
            <a:prstDash val="solid"/>
          </a:ln>
        </p:spPr>
      </p:sp>
      <p:sp>
        <p:nvSpPr>
          <p:cNvPr id="13" name="Text 10"/>
          <p:cNvSpPr txBox="1"/>
          <p:nvPr/>
        </p:nvSpPr>
        <p:spPr>
          <a:xfrm>
            <a:off x="74066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5B3A8C"/>
                </a:solidFill>
                <a:latin typeface="Calibri" pitchFamily="34" charset="0"/>
                <a:ea typeface="Calibri" pitchFamily="34" charset="-122"/>
                <a:cs typeface="Calibri" pitchFamily="34" charset="-120"/>
              </a:rPr>
              <a:t>AI risk &amp; exposure assessment · AI system inventory &amp; risk classification · governance-gap register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algn="ctr" indent="0" marL="0">
              <a:buNone/>
            </a:pPr>
            <a:r>
              <a:rPr lang="en-US" sz="2000" dirty="0">
                <a:solidFill>
                  <a:srgbClr val="5A5266"/>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7F4FB"/>
          </a:solidFill>
          <a:ln w="9525">
            <a:solidFill>
              <a:srgbClr val="E2D9EE"/>
            </a:solidFill>
            <a:prstDash val="solid"/>
          </a:ln>
        </p:spPr>
      </p:sp>
      <p:sp>
        <p:nvSpPr>
          <p:cNvPr id="17" name="Shape 14"/>
          <p:cNvSpPr/>
          <p:nvPr/>
        </p:nvSpPr>
        <p:spPr>
          <a:xfrm>
            <a:off x="4343400" y="1783080"/>
            <a:ext cx="3602736" cy="868680"/>
          </a:xfrm>
          <a:prstGeom prst="roundRect">
            <a:avLst>
              <a:gd name="adj" fmla="val 7368"/>
            </a:avLst>
          </a:prstGeom>
          <a:solidFill>
            <a:srgbClr val="472D6E"/>
          </a:solidFill>
          <a:ln/>
        </p:spPr>
      </p:sp>
      <p:sp>
        <p:nvSpPr>
          <p:cNvPr id="18" name="Shape 15"/>
          <p:cNvSpPr/>
          <p:nvPr/>
        </p:nvSpPr>
        <p:spPr>
          <a:xfrm>
            <a:off x="4343400" y="2194560"/>
            <a:ext cx="3602736" cy="457200"/>
          </a:xfrm>
          <a:prstGeom prst="rect">
            <a:avLst/>
          </a:prstGeom>
          <a:solidFill>
            <a:srgbClr val="472D6E"/>
          </a:solidFill>
          <a:ln/>
        </p:spPr>
      </p:sp>
      <p:pic>
        <p:nvPicPr>
          <p:cNvPr id="19" name="Image 1" descr="/home/claude/p4_pe_ideate.png">    </p:cNvPr>
          <p:cNvPicPr>
            <a:picLocks noChangeAspect="1"/>
          </p:cNvPicPr>
          <p:nvPr/>
        </p:nvPicPr>
        <p:blipFill>
          <a:blip r:embed="rId2"/>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indent="0" marL="0">
              <a:buNone/>
            </a:pPr>
            <a:r>
              <a:rPr lang="en-US" sz="1000" b="1" spc="100" kern="0" dirty="0">
                <a:solidFill>
                  <a:srgbClr val="D6C2EC"/>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Establish the Responsible AI framework (principles, policy, ownership, controls, enforcement)</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Design the governance operating model (council, review gates, audit trail)</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Select and design the AI governance platform that makes governance operable</a:t>
            </a:r>
            <a:endParaRPr lang="en-US" sz="1000" dirty="0"/>
          </a:p>
        </p:txBody>
      </p:sp>
      <p:sp>
        <p:nvSpPr>
          <p:cNvPr id="23" name="Shape 19"/>
          <p:cNvSpPr/>
          <p:nvPr/>
        </p:nvSpPr>
        <p:spPr>
          <a:xfrm>
            <a:off x="4581144" y="4983480"/>
            <a:ext cx="3127248" cy="0"/>
          </a:xfrm>
          <a:prstGeom prst="line">
            <a:avLst/>
          </a:prstGeom>
          <a:noFill/>
          <a:ln w="12700">
            <a:solidFill>
              <a:srgbClr val="E2D9EE"/>
            </a:solidFill>
            <a:prstDash val="solid"/>
          </a:ln>
        </p:spPr>
      </p:sp>
      <p:sp>
        <p:nvSpPr>
          <p:cNvPr id="24" name="Text 20"/>
          <p:cNvSpPr txBox="1"/>
          <p:nvPr/>
        </p:nvSpPr>
        <p:spPr>
          <a:xfrm>
            <a:off x="458114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5B3A8C"/>
                </a:solidFill>
                <a:latin typeface="Calibri" pitchFamily="34" charset="0"/>
                <a:ea typeface="Calibri" pitchFamily="34" charset="-122"/>
                <a:cs typeface="Calibri" pitchFamily="34" charset="-120"/>
              </a:rPr>
              <a:t>Responsible-AI framework · governance operating model · platform design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algn="ctr" indent="0" marL="0">
              <a:buNone/>
            </a:pPr>
            <a:r>
              <a:rPr lang="en-US" sz="2000" dirty="0">
                <a:solidFill>
                  <a:srgbClr val="5A5266"/>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7F4FB"/>
          </a:solidFill>
          <a:ln w="9525">
            <a:solidFill>
              <a:srgbClr val="E2D9EE"/>
            </a:solidFill>
            <a:prstDash val="solid"/>
          </a:ln>
        </p:spPr>
      </p:sp>
      <p:sp>
        <p:nvSpPr>
          <p:cNvPr id="28" name="Shape 24"/>
          <p:cNvSpPr/>
          <p:nvPr/>
        </p:nvSpPr>
        <p:spPr>
          <a:xfrm>
            <a:off x="8183880" y="1783080"/>
            <a:ext cx="3602736" cy="868680"/>
          </a:xfrm>
          <a:prstGeom prst="roundRect">
            <a:avLst>
              <a:gd name="adj" fmla="val 7368"/>
            </a:avLst>
          </a:prstGeom>
          <a:solidFill>
            <a:srgbClr val="341F52"/>
          </a:solidFill>
          <a:ln/>
        </p:spPr>
      </p:sp>
      <p:sp>
        <p:nvSpPr>
          <p:cNvPr id="29" name="Shape 25"/>
          <p:cNvSpPr/>
          <p:nvPr/>
        </p:nvSpPr>
        <p:spPr>
          <a:xfrm>
            <a:off x="8183880" y="2194560"/>
            <a:ext cx="3602736" cy="457200"/>
          </a:xfrm>
          <a:prstGeom prst="rect">
            <a:avLst/>
          </a:prstGeom>
          <a:solidFill>
            <a:srgbClr val="341F52"/>
          </a:solidFill>
          <a:ln/>
        </p:spPr>
      </p:sp>
      <p:pic>
        <p:nvPicPr>
          <p:cNvPr id="30" name="Image 2" descr="/home/claude/p4_pe_outcreate.png">    </p:cNvPr>
          <p:cNvPicPr>
            <a:picLocks noChangeAspect="1"/>
          </p:cNvPicPr>
          <p:nvPr/>
        </p:nvPicPr>
        <p:blipFill>
          <a:blip r:embed="rId3"/>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indent="0" marL="0">
              <a:buNone/>
            </a:pPr>
            <a:r>
              <a:rPr lang="en-US" sz="1000" b="1" spc="100" kern="0" dirty="0">
                <a:solidFill>
                  <a:srgbClr val="D6C2EC"/>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Consolidate into an executive-ready AI governance roadmap</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Define model risk management — drift detection, incident response, safe rollback</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Executive playback, decision sign-off, first-control mobilization</a:t>
            </a:r>
            <a:endParaRPr lang="en-US" sz="1000" dirty="0"/>
          </a:p>
        </p:txBody>
      </p:sp>
      <p:sp>
        <p:nvSpPr>
          <p:cNvPr id="34" name="Shape 29"/>
          <p:cNvSpPr/>
          <p:nvPr/>
        </p:nvSpPr>
        <p:spPr>
          <a:xfrm>
            <a:off x="8421624" y="4983480"/>
            <a:ext cx="3127248" cy="0"/>
          </a:xfrm>
          <a:prstGeom prst="line">
            <a:avLst/>
          </a:prstGeom>
          <a:noFill/>
          <a:ln w="12700">
            <a:solidFill>
              <a:srgbClr val="E2D9EE"/>
            </a:solidFill>
            <a:prstDash val="solid"/>
          </a:ln>
        </p:spPr>
      </p:sp>
      <p:sp>
        <p:nvSpPr>
          <p:cNvPr id="35" name="Text 30"/>
          <p:cNvSpPr txBox="1"/>
          <p:nvPr/>
        </p:nvSpPr>
        <p:spPr>
          <a:xfrm>
            <a:off x="842162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5B3A8C"/>
                </a:solidFill>
                <a:latin typeface="Calibri" pitchFamily="34" charset="0"/>
                <a:ea typeface="Calibri" pitchFamily="34" charset="-122"/>
                <a:cs typeface="Calibri" pitchFamily="34" charset="-120"/>
              </a:rPr>
              <a:t>Board-ready governance roadmap · model-risk-management design · mobilization plan · Executive Playback · Closure Pack</a:t>
            </a:r>
            <a:endParaRPr lang="en-US" sz="950" dirty="0"/>
          </a:p>
        </p:txBody>
      </p:sp>
      <p:sp>
        <p:nvSpPr>
          <p:cNvPr id="37" name="Text 32"/>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38" name="Text 33"/>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04.3  ·  Solution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338560" cy="502920"/>
          </a:xfrm>
          <a:prstGeom prst="rect">
            <a:avLst/>
          </a:prstGeom>
          <a:noFill/>
          <a:ln/>
        </p:spPr>
        <p:txBody>
          <a:bodyPr wrap="square" lIns="0" tIns="0" rIns="0" bIns="0" rtlCol="0" anchor="ctr"/>
          <a:lstStyle/>
          <a:p>
            <a:pPr indent="0" marL="0">
              <a:buNone/>
            </a:pPr>
            <a:r>
              <a:rPr lang="en-US" sz="2400" b="1" dirty="0">
                <a:solidFill>
                  <a:srgbClr val="B99FDB"/>
                </a:solidFill>
                <a:latin typeface="Cambria" pitchFamily="34" charset="0"/>
                <a:ea typeface="Cambria" pitchFamily="34" charset="-122"/>
                <a:cs typeface="Cambria" pitchFamily="34" charset="-120"/>
              </a:rPr>
              <a:t>04.3   </a:t>
            </a:r>
            <a:pPr indent="0" marL="0">
              <a:buNone/>
            </a:pPr>
            <a:r>
              <a:rPr lang="en-US" sz="2200" b="1" dirty="0">
                <a:solidFill>
                  <a:srgbClr val="1B1F23"/>
                </a:solidFill>
                <a:latin typeface="Cambria" pitchFamily="34" charset="0"/>
                <a:ea typeface="Cambria" pitchFamily="34" charset="-122"/>
                <a:cs typeface="Cambria" pitchFamily="34" charset="-120"/>
              </a:rPr>
              <a:t>Responsible AI &amp; Governance</a:t>
            </a:r>
            <a:endParaRPr lang="en-US" sz="2400" dirty="0"/>
          </a:p>
        </p:txBody>
      </p:sp>
      <p:sp>
        <p:nvSpPr>
          <p:cNvPr id="4" name="Shape 2"/>
          <p:cNvSpPr/>
          <p:nvPr/>
        </p:nvSpPr>
        <p:spPr>
          <a:xfrm>
            <a:off x="502920" y="1600200"/>
            <a:ext cx="5394960" cy="4480560"/>
          </a:xfrm>
          <a:prstGeom prst="roundRect">
            <a:avLst>
              <a:gd name="adj" fmla="val 1429"/>
            </a:avLst>
          </a:prstGeom>
          <a:solidFill>
            <a:srgbClr val="5B3A8C"/>
          </a:solidFill>
          <a:ln/>
        </p:spPr>
      </p:sp>
      <p:pic>
        <p:nvPicPr>
          <p:cNvPr id="5" name="Image 0" descr="/home/claude/p4_pe_deliver.png">    </p:cNvPr>
          <p:cNvPicPr>
            <a:picLocks noChangeAspect="1"/>
          </p:cNvPicPr>
          <p:nvPr/>
        </p:nvPicPr>
        <p:blipFill>
          <a:blip r:embed="rId1"/>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indent="0" marL="0">
              <a:buNone/>
            </a:pPr>
            <a:r>
              <a:rPr lang="en-US" sz="1050" i="1" dirty="0">
                <a:solidFill>
                  <a:srgbClr val="D6C2EC"/>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B99FDB"/>
          </a:solidFill>
          <a:ln/>
        </p:spPr>
      </p:sp>
      <p:sp>
        <p:nvSpPr>
          <p:cNvPr id="9" name="Text 6"/>
          <p:cNvSpPr txBox="1"/>
          <p:nvPr/>
        </p:nvSpPr>
        <p:spPr>
          <a:xfrm>
            <a:off x="777240" y="2880360"/>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AI risk and regulatory exposure assessment</a:t>
            </a:r>
            <a:endParaRPr lang="en-US" sz="1150" dirty="0"/>
          </a:p>
        </p:txBody>
      </p:sp>
      <p:sp>
        <p:nvSpPr>
          <p:cNvPr id="11" name="Shape 8"/>
          <p:cNvSpPr/>
          <p:nvPr/>
        </p:nvSpPr>
        <p:spPr>
          <a:xfrm>
            <a:off x="777240" y="3483864"/>
            <a:ext cx="310896" cy="310896"/>
          </a:xfrm>
          <a:prstGeom prst="roundRect">
            <a:avLst>
              <a:gd name="adj" fmla="val 14706"/>
            </a:avLst>
          </a:prstGeom>
          <a:solidFill>
            <a:srgbClr val="B99FDB"/>
          </a:solidFill>
          <a:ln/>
        </p:spPr>
      </p:sp>
      <p:sp>
        <p:nvSpPr>
          <p:cNvPr id="12" name="Text 9"/>
          <p:cNvSpPr txBox="1"/>
          <p:nvPr/>
        </p:nvSpPr>
        <p:spPr>
          <a:xfrm>
            <a:off x="777240" y="3483864"/>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AI system inventory and risk classification</a:t>
            </a:r>
            <a:endParaRPr lang="en-US" sz="1150" dirty="0"/>
          </a:p>
        </p:txBody>
      </p:sp>
      <p:sp>
        <p:nvSpPr>
          <p:cNvPr id="14" name="Shape 11"/>
          <p:cNvSpPr/>
          <p:nvPr/>
        </p:nvSpPr>
        <p:spPr>
          <a:xfrm>
            <a:off x="777240" y="4087368"/>
            <a:ext cx="310896" cy="310896"/>
          </a:xfrm>
          <a:prstGeom prst="roundRect">
            <a:avLst>
              <a:gd name="adj" fmla="val 14706"/>
            </a:avLst>
          </a:prstGeom>
          <a:solidFill>
            <a:srgbClr val="B99FDB"/>
          </a:solidFill>
          <a:ln/>
        </p:spPr>
      </p:sp>
      <p:sp>
        <p:nvSpPr>
          <p:cNvPr id="15" name="Text 12"/>
          <p:cNvSpPr txBox="1"/>
          <p:nvPr/>
        </p:nvSpPr>
        <p:spPr>
          <a:xfrm>
            <a:off x="777240" y="4087368"/>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Responsible AI framework and governance operating model</a:t>
            </a:r>
            <a:endParaRPr lang="en-US" sz="1150" dirty="0"/>
          </a:p>
        </p:txBody>
      </p:sp>
      <p:sp>
        <p:nvSpPr>
          <p:cNvPr id="17" name="Shape 14"/>
          <p:cNvSpPr/>
          <p:nvPr/>
        </p:nvSpPr>
        <p:spPr>
          <a:xfrm>
            <a:off x="777240" y="4690872"/>
            <a:ext cx="310896" cy="310896"/>
          </a:xfrm>
          <a:prstGeom prst="roundRect">
            <a:avLst>
              <a:gd name="adj" fmla="val 14706"/>
            </a:avLst>
          </a:prstGeom>
          <a:solidFill>
            <a:srgbClr val="B99FDB"/>
          </a:solidFill>
          <a:ln/>
        </p:spPr>
      </p:sp>
      <p:sp>
        <p:nvSpPr>
          <p:cNvPr id="18" name="Text 15"/>
          <p:cNvSpPr txBox="1"/>
          <p:nvPr/>
        </p:nvSpPr>
        <p:spPr>
          <a:xfrm>
            <a:off x="777240" y="4690872"/>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AI governance platform selection and design</a:t>
            </a:r>
            <a:endParaRPr lang="en-US" sz="1150" dirty="0"/>
          </a:p>
        </p:txBody>
      </p:sp>
      <p:sp>
        <p:nvSpPr>
          <p:cNvPr id="20" name="Shape 17"/>
          <p:cNvSpPr/>
          <p:nvPr/>
        </p:nvSpPr>
        <p:spPr>
          <a:xfrm>
            <a:off x="777240" y="5294376"/>
            <a:ext cx="310896" cy="310896"/>
          </a:xfrm>
          <a:prstGeom prst="roundRect">
            <a:avLst>
              <a:gd name="adj" fmla="val 14706"/>
            </a:avLst>
          </a:prstGeom>
          <a:solidFill>
            <a:srgbClr val="B99FDB"/>
          </a:solidFill>
          <a:ln/>
        </p:spPr>
      </p:sp>
      <p:sp>
        <p:nvSpPr>
          <p:cNvPr id="21" name="Text 18"/>
          <p:cNvSpPr txBox="1"/>
          <p:nvPr/>
        </p:nvSpPr>
        <p:spPr>
          <a:xfrm>
            <a:off x="777240" y="5294376"/>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Board-ready AI governance roadmap</a:t>
            </a:r>
            <a:endParaRPr lang="en-US" sz="1150" dirty="0"/>
          </a:p>
        </p:txBody>
      </p:sp>
      <p:sp>
        <p:nvSpPr>
          <p:cNvPr id="23" name="Shape 20"/>
          <p:cNvSpPr/>
          <p:nvPr/>
        </p:nvSpPr>
        <p:spPr>
          <a:xfrm>
            <a:off x="6263640" y="1600200"/>
            <a:ext cx="5394960" cy="2286000"/>
          </a:xfrm>
          <a:prstGeom prst="roundRect">
            <a:avLst>
              <a:gd name="adj" fmla="val 2800"/>
            </a:avLst>
          </a:prstGeom>
          <a:solidFill>
            <a:srgbClr val="EEF6F0"/>
          </a:solidFill>
          <a:ln w="9525">
            <a:solidFill>
              <a:srgbClr val="BFE3D2"/>
            </a:solidFill>
            <a:prstDash val="solid"/>
          </a:ln>
        </p:spPr>
      </p:sp>
      <p:pic>
        <p:nvPicPr>
          <p:cNvPr id="24" name="Image 1" descr="/home/claude/x_chk_in.png">    </p:cNvPr>
          <p:cNvPicPr>
            <a:picLocks noChangeAspect="1"/>
          </p:cNvPicPr>
          <p:nvPr/>
        </p:nvPicPr>
        <p:blipFill>
          <a:blip r:embed="rId2"/>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indent="0" marL="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Responsible AI framework (principles, policy, ownership, enforcement)</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AI governance operating model (council, gates, audit trail)</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AI governance platform selection and design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Regulatory exposure assessment (EU AI Act, sector)</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Bias / fairness / explainability / robustness controls design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Model risk management (drift, incident, rollback)</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sp>
      <p:pic>
        <p:nvPicPr>
          <p:cNvPr id="28" name="Image 2" descr="/home/claude/x_chk_out.png">    </p:cNvPr>
          <p:cNvPicPr>
            <a:picLocks noChangeAspect="1"/>
          </p:cNvPicPr>
          <p:nvPr/>
        </p:nvPicPr>
        <p:blipFill>
          <a:blip r:embed="rId3"/>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indent="0" marL="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AI readiness and operating model</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04.1 AI Readiness</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Sovereign AI and data-boundary architecture</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02.5 (Pillar 02)</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Cyber security services and SOC</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LTM Security</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Governance platform build and run</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Legal opinion on AI regulation</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Client legal counsel</a:t>
            </a:r>
            <a:endParaRPr lang="en-US" sz="970" dirty="0"/>
          </a:p>
        </p:txBody>
      </p:sp>
      <p:sp>
        <p:nvSpPr>
          <p:cNvPr id="35" name="Text 30"/>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36" name="Text 31"/>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04.3  ·  Deliverables &amp; scope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OFFERING  ·  OUT-COST THE COMPUTE.   ·   GATE 4 · CAN WE AFFORD IT?</a:t>
            </a:r>
            <a:endParaRPr lang="en-US" sz="1100" dirty="0"/>
          </a:p>
        </p:txBody>
      </p:sp>
      <p:sp>
        <p:nvSpPr>
          <p:cNvPr id="3" name="Text 1"/>
          <p:cNvSpPr txBox="1"/>
          <p:nvPr/>
        </p:nvSpPr>
        <p:spPr>
          <a:xfrm>
            <a:off x="484632" y="658368"/>
            <a:ext cx="11338560" cy="502920"/>
          </a:xfrm>
          <a:prstGeom prst="rect">
            <a:avLst/>
          </a:prstGeom>
          <a:noFill/>
          <a:ln/>
        </p:spPr>
        <p:txBody>
          <a:bodyPr wrap="square" lIns="0" tIns="0" rIns="0" bIns="0" rtlCol="0" anchor="ctr"/>
          <a:lstStyle/>
          <a:p>
            <a:pPr indent="0" marL="0">
              <a:buNone/>
            </a:pPr>
            <a:r>
              <a:rPr lang="en-US" sz="2400" b="1" dirty="0">
                <a:solidFill>
                  <a:srgbClr val="B99FDB"/>
                </a:solidFill>
                <a:latin typeface="Cambria" pitchFamily="34" charset="0"/>
                <a:ea typeface="Cambria" pitchFamily="34" charset="-122"/>
                <a:cs typeface="Cambria" pitchFamily="34" charset="-120"/>
              </a:rPr>
              <a:t>04.4   </a:t>
            </a:r>
            <a:pPr indent="0" marL="0">
              <a:buNone/>
            </a:pPr>
            <a:r>
              <a:rPr lang="en-US" sz="2200" b="1" dirty="0">
                <a:solidFill>
                  <a:srgbClr val="1B1F23"/>
                </a:solidFill>
                <a:latin typeface="Cambria" pitchFamily="34" charset="0"/>
                <a:ea typeface="Cambria" pitchFamily="34" charset="-122"/>
                <a:cs typeface="Cambria" pitchFamily="34" charset="-120"/>
              </a:rPr>
              <a:t>AI Cost, FinOps for AI &amp; Tokenomics</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indent="0" marL="0">
              <a:buNone/>
            </a:pPr>
            <a:r>
              <a:rPr lang="en-US" sz="900" b="1" spc="100" kern="0" dirty="0">
                <a:solidFill>
                  <a:srgbClr val="B99FDB"/>
                </a:solidFill>
                <a:latin typeface="Calibri" pitchFamily="34" charset="0"/>
                <a:ea typeface="Calibri" pitchFamily="34" charset="-122"/>
                <a:cs typeface="Calibri" pitchFamily="34" charset="-120"/>
              </a:rPr>
              <a:t>STARTS FROM  </a:t>
            </a:r>
            <a:pPr indent="0" marL="0">
              <a:buNone/>
            </a:pPr>
            <a:r>
              <a:rPr lang="en-US" sz="1050" dirty="0">
                <a:solidFill>
                  <a:srgbClr val="50485F"/>
                </a:solidFill>
                <a:latin typeface="Calibri" pitchFamily="34" charset="0"/>
                <a:ea typeface="Calibri" pitchFamily="34" charset="-122"/>
                <a:cs typeface="Calibri" pitchFamily="34" charset="-120"/>
              </a:rPr>
              <a:t>AI Readiness IQ → 04.1 (readiness)      </a:t>
            </a:r>
            <a:pPr indent="0" marL="0">
              <a:buNone/>
            </a:pPr>
            <a:r>
              <a:rPr lang="en-US" sz="900" b="1" spc="100" kern="0" dirty="0">
                <a:solidFill>
                  <a:srgbClr val="B99FDB"/>
                </a:solidFill>
                <a:latin typeface="Calibri" pitchFamily="34" charset="0"/>
                <a:ea typeface="Calibri" pitchFamily="34" charset="-122"/>
                <a:cs typeface="Calibri" pitchFamily="34" charset="-120"/>
              </a:rPr>
              <a:t>LEADS TO  </a:t>
            </a:r>
            <a:pPr indent="0" marL="0">
              <a:buNone/>
            </a:pPr>
            <a:r>
              <a:rPr lang="en-US" sz="1050" dirty="0">
                <a:solidFill>
                  <a:srgbClr val="50485F"/>
                </a:solidFill>
                <a:latin typeface="Calibri" pitchFamily="34" charset="0"/>
                <a:ea typeface="Calibri" pitchFamily="34" charset="-122"/>
                <a:cs typeface="Calibri" pitchFamily="34" charset="-120"/>
              </a:rPr>
              <a:t>AI cost platform implementation · model routing &amp; optimization · managed AI FinOps</a:t>
            </a:r>
            <a:endParaRPr lang="en-US" sz="900" dirty="0"/>
          </a:p>
        </p:txBody>
      </p:sp>
      <p:sp>
        <p:nvSpPr>
          <p:cNvPr id="5" name="Shape 3"/>
          <p:cNvSpPr/>
          <p:nvPr/>
        </p:nvSpPr>
        <p:spPr>
          <a:xfrm>
            <a:off x="502920" y="1737360"/>
            <a:ext cx="5394960" cy="2395728"/>
          </a:xfrm>
          <a:prstGeom prst="roundRect">
            <a:avLst>
              <a:gd name="adj" fmla="val 2290"/>
            </a:avLst>
          </a:prstGeom>
          <a:solidFill>
            <a:srgbClr val="F7F4FB"/>
          </a:solidFill>
          <a:ln w="9525">
            <a:solidFill>
              <a:srgbClr val="E2D9EE"/>
            </a:solidFill>
            <a:prstDash val="solid"/>
          </a:ln>
        </p:spPr>
      </p:sp>
      <p:sp>
        <p:nvSpPr>
          <p:cNvPr id="6" name="Text 4"/>
          <p:cNvSpPr txBox="1"/>
          <p:nvPr/>
        </p:nvSpPr>
        <p:spPr>
          <a:xfrm>
            <a:off x="731520" y="1901952"/>
            <a:ext cx="4937760" cy="256032"/>
          </a:xfrm>
          <a:prstGeom prst="rect">
            <a:avLst/>
          </a:prstGeom>
          <a:noFill/>
          <a:ln/>
        </p:spPr>
        <p:txBody>
          <a:bodyPr wrap="square" lIns="0" tIns="0" rIns="0" bIns="0" rtlCol="0" anchor="ctr"/>
          <a:lstStyle/>
          <a:p>
            <a:pPr indent="0" marL="0">
              <a:buNone/>
            </a:pPr>
            <a:r>
              <a:rPr lang="en-US" sz="1100" b="1" spc="150" kern="0" dirty="0">
                <a:solidFill>
                  <a:srgbClr val="5B3A8C"/>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indent="0" marL="0">
              <a:lnSpc>
                <a:spcPct val="103000"/>
              </a:lnSpc>
              <a:buNone/>
            </a:pPr>
            <a:r>
              <a:rPr lang="en-US" sz="1100" dirty="0">
                <a:solidFill>
                  <a:srgbClr val="322C40"/>
                </a:solidFill>
                <a:latin typeface="Calibri" pitchFamily="34" charset="0"/>
                <a:ea typeface="Calibri" pitchFamily="34" charset="-122"/>
                <a:cs typeface="Calibri" pitchFamily="34" charset="-120"/>
              </a:rPr>
              <a:t>Clears the fourth gate: do we understand what AI truly costs per use, before the bill arrives? It builds the full AI cost baseline across infrastructure, model, token, data and human-in-the-loop, installs FinOps for AI, and implements TokenOps — governance over GenAI consumption through model-choice policy, caching, routing and retry discipline. Owning the TokenOps vocabulary now is a credible claim to category leadership before the majors name it.</a:t>
            </a:r>
            <a:endParaRPr lang="en-US" sz="1100" dirty="0"/>
          </a:p>
        </p:txBody>
      </p:sp>
      <p:sp>
        <p:nvSpPr>
          <p:cNvPr id="8" name="Shape 6"/>
          <p:cNvSpPr/>
          <p:nvPr/>
        </p:nvSpPr>
        <p:spPr>
          <a:xfrm>
            <a:off x="502920" y="4279392"/>
            <a:ext cx="5394960" cy="1627632"/>
          </a:xfrm>
          <a:prstGeom prst="roundRect">
            <a:avLst>
              <a:gd name="adj" fmla="val 3371"/>
            </a:avLst>
          </a:prstGeom>
          <a:solidFill>
            <a:srgbClr val="5B3A8C"/>
          </a:solidFill>
          <a:ln w="9525">
            <a:solidFill>
              <a:srgbClr val="5B3A8C"/>
            </a:solidFill>
            <a:prstDash val="solid"/>
          </a:ln>
        </p:spPr>
      </p:sp>
      <p:sp>
        <p:nvSpPr>
          <p:cNvPr id="9" name="Text 7"/>
          <p:cNvSpPr txBox="1"/>
          <p:nvPr/>
        </p:nvSpPr>
        <p:spPr>
          <a:xfrm>
            <a:off x="731520" y="4425696"/>
            <a:ext cx="4937760" cy="256032"/>
          </a:xfrm>
          <a:prstGeom prst="rect">
            <a:avLst/>
          </a:prstGeom>
          <a:noFill/>
          <a:ln/>
        </p:spPr>
        <p:txBody>
          <a:bodyPr wrap="square" lIns="0" tIns="0" rIns="0" bIns="0" rtlCol="0" anchor="ctr"/>
          <a:lstStyle/>
          <a:p>
            <a:pPr indent="0" marL="0">
              <a:buNone/>
            </a:pPr>
            <a:r>
              <a:rPr lang="en-US" sz="1100" b="1" spc="150" kern="0" dirty="0">
                <a:solidFill>
                  <a:srgbClr val="D6C2EC"/>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indent="0" marL="0">
              <a:lnSpc>
                <a:spcPct val="102000"/>
              </a:lnSpc>
              <a:buNone/>
            </a:pPr>
            <a:r>
              <a:rPr lang="en-US" sz="1050" dirty="0">
                <a:solidFill>
                  <a:srgbClr val="F2ECFA"/>
                </a:solidFill>
                <a:latin typeface="Calibri" pitchFamily="34" charset="0"/>
                <a:ea typeface="Calibri" pitchFamily="34" charset="-122"/>
                <a:cs typeface="Calibri" pitchFamily="34" charset="-120"/>
              </a:rPr>
              <a:t>With global AI spend heading to $1.5T in 2026 and 18% of AI initiatives running but never recouping cost, escalating spend is now a leading cause of agentic-AI cancellations. As reasoning models and agentic workflows change the cost structure fundamentally, the enterprises that install AI unit economics and TokenOps now clear the affordability gate that stalls the rest.</a:t>
            </a:r>
            <a:endParaRPr lang="en-US" sz="105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indent="0" marL="0">
              <a:buNone/>
            </a:pPr>
            <a:r>
              <a:rPr lang="en-US" sz="850" i="1" dirty="0">
                <a:solidFill>
                  <a:srgbClr val="9B87BC"/>
                </a:solidFill>
                <a:latin typeface="Calibri" pitchFamily="34" charset="0"/>
                <a:ea typeface="Calibri" pitchFamily="34" charset="-122"/>
                <a:cs typeface="Calibri" pitchFamily="34" charset="-120"/>
              </a:rPr>
              <a:t>Source: MIT / Gartner / S&amp;P Global / EU AI Act, 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E2D9EE"/>
            </a:solidFill>
            <a:prstDash val="solid"/>
          </a:ln>
        </p:spPr>
      </p:sp>
      <p:sp>
        <p:nvSpPr>
          <p:cNvPr id="13" name="Text 11"/>
          <p:cNvSpPr txBox="1"/>
          <p:nvPr/>
        </p:nvSpPr>
        <p:spPr>
          <a:xfrm>
            <a:off x="6492240" y="1901952"/>
            <a:ext cx="4937760" cy="256032"/>
          </a:xfrm>
          <a:prstGeom prst="rect">
            <a:avLst/>
          </a:prstGeom>
          <a:noFill/>
          <a:ln/>
        </p:spPr>
        <p:txBody>
          <a:bodyPr wrap="square" lIns="0" tIns="0" rIns="0" bIns="0" rtlCol="0" anchor="ctr"/>
          <a:lstStyle/>
          <a:p>
            <a:pPr indent="0" marL="0">
              <a:buNone/>
            </a:pPr>
            <a:r>
              <a:rPr lang="en-US" sz="1100" b="1" spc="120" kern="0" dirty="0">
                <a:solidFill>
                  <a:srgbClr val="5B3A8C"/>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indent="0" marL="0">
              <a:lnSpc>
                <a:spcPct val="95000"/>
              </a:lnSpc>
              <a:buNone/>
            </a:pPr>
            <a:r>
              <a:rPr lang="en-US" sz="1150" i="1" dirty="0">
                <a:solidFill>
                  <a:srgbClr val="D35400"/>
                </a:solidFill>
                <a:latin typeface="Cambria" pitchFamily="34" charset="0"/>
                <a:ea typeface="Cambria" pitchFamily="34" charset="-122"/>
                <a:cs typeface="Cambria" pitchFamily="34" charset="-120"/>
              </a:rPr>
              <a:t>AI cost is unmodeled per-use — so the business case blows up at the first invoice, and the program stalls.</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AI cost isn’t understood per query, user or workflow — there’s no true cost-to-serve visibility.</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18% of AI projects run but never recoup their costs; escalating cost is a top cause of agentic cancellations.</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The premium-model default routinely inflates cost by an order of magnitude versus fit-for-purpose models.</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GenAI consumption is ungoverned — no model-choice policy, caching, routing or retry discipline.</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AI spend isn’t allocated to product teams, so no one owns the cost decision where it’s incurred.</a:t>
            </a:r>
            <a:endParaRPr lang="en-US" sz="970" dirty="0"/>
          </a:p>
        </p:txBody>
      </p:sp>
      <p:sp>
        <p:nvSpPr>
          <p:cNvPr id="16" name="Shape 14"/>
          <p:cNvSpPr/>
          <p:nvPr/>
        </p:nvSpPr>
        <p:spPr>
          <a:xfrm>
            <a:off x="6263640" y="4279392"/>
            <a:ext cx="5394960" cy="1627632"/>
          </a:xfrm>
          <a:prstGeom prst="roundRect">
            <a:avLst>
              <a:gd name="adj" fmla="val 3371"/>
            </a:avLst>
          </a:prstGeom>
          <a:solidFill>
            <a:srgbClr val="F7F4FB"/>
          </a:solidFill>
          <a:ln w="9525">
            <a:solidFill>
              <a:srgbClr val="E2D9EE"/>
            </a:solidFill>
            <a:prstDash val="solid"/>
          </a:ln>
        </p:spPr>
      </p:sp>
      <p:sp>
        <p:nvSpPr>
          <p:cNvPr id="17" name="Text 15"/>
          <p:cNvSpPr txBox="1"/>
          <p:nvPr/>
        </p:nvSpPr>
        <p:spPr>
          <a:xfrm>
            <a:off x="6492240" y="4407408"/>
            <a:ext cx="4937760" cy="256032"/>
          </a:xfrm>
          <a:prstGeom prst="rect">
            <a:avLst/>
          </a:prstGeom>
          <a:noFill/>
          <a:ln/>
        </p:spPr>
        <p:txBody>
          <a:bodyPr wrap="square" lIns="0" tIns="0" rIns="0" bIns="0" rtlCol="0" anchor="ctr"/>
          <a:lstStyle/>
          <a:p>
            <a:pPr indent="0" marL="0">
              <a:buNone/>
            </a:pPr>
            <a:r>
              <a:rPr lang="en-US" sz="1100" b="1" spc="120" kern="0" dirty="0">
                <a:solidFill>
                  <a:srgbClr val="5B3A8C"/>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True cost-to-serve visibility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Full AI cost baseline across infrastructure, model, token, data and human-in-the-loop.</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Unit economics, per use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Cost per query / user / workflow, set against the value each delivers.</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Order-of-magnitude savings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Model-portfolio rationalization countering the premium-model default.</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TokenOps discipline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Model-choice policy, caching, routing and retry governance over GenAI consumption.</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Cost owned at the source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FinOps for AI — budgets, showback / chargeback, allocation to product teams.</a:t>
            </a:r>
            <a:endParaRPr lang="en-US" sz="950" dirty="0"/>
          </a:p>
        </p:txBody>
      </p:sp>
      <p:sp>
        <p:nvSpPr>
          <p:cNvPr id="23" name="Text 21"/>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24" name="Text 22"/>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04.4  ·  Overview</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338560" cy="502920"/>
          </a:xfrm>
          <a:prstGeom prst="rect">
            <a:avLst/>
          </a:prstGeom>
          <a:noFill/>
          <a:ln/>
        </p:spPr>
        <p:txBody>
          <a:bodyPr wrap="square" lIns="0" tIns="0" rIns="0" bIns="0" rtlCol="0" anchor="ctr"/>
          <a:lstStyle/>
          <a:p>
            <a:pPr indent="0" marL="0">
              <a:buNone/>
            </a:pPr>
            <a:r>
              <a:rPr lang="en-US" sz="2400" b="1" dirty="0">
                <a:solidFill>
                  <a:srgbClr val="B99FDB"/>
                </a:solidFill>
                <a:latin typeface="Cambria" pitchFamily="34" charset="0"/>
                <a:ea typeface="Cambria" pitchFamily="34" charset="-122"/>
                <a:cs typeface="Cambria" pitchFamily="34" charset="-120"/>
              </a:rPr>
              <a:t>04.4   </a:t>
            </a:r>
            <a:pPr indent="0" marL="0">
              <a:buNone/>
            </a:pPr>
            <a:r>
              <a:rPr lang="en-US" sz="2200" b="1" dirty="0">
                <a:solidFill>
                  <a:srgbClr val="1B1F23"/>
                </a:solidFill>
                <a:latin typeface="Cambria" pitchFamily="34" charset="0"/>
                <a:ea typeface="Cambria" pitchFamily="34" charset="-122"/>
                <a:cs typeface="Cambria" pitchFamily="34" charset="-120"/>
              </a:rPr>
              <a:t>AI Cost, FinOps for AI &amp; Tokenomics</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indent="0" marL="0">
              <a:buNone/>
            </a:pPr>
            <a:r>
              <a:rPr lang="en-US" sz="1200" i="1" dirty="0">
                <a:solidFill>
                  <a:srgbClr val="5A5266"/>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7F4FB"/>
          </a:solidFill>
          <a:ln w="9525">
            <a:solidFill>
              <a:srgbClr val="E2D9EE"/>
            </a:solidFill>
            <a:prstDash val="solid"/>
          </a:ln>
        </p:spPr>
      </p:sp>
      <p:sp>
        <p:nvSpPr>
          <p:cNvPr id="6" name="Shape 4"/>
          <p:cNvSpPr/>
          <p:nvPr/>
        </p:nvSpPr>
        <p:spPr>
          <a:xfrm>
            <a:off x="502920" y="1783080"/>
            <a:ext cx="3602736" cy="868680"/>
          </a:xfrm>
          <a:prstGeom prst="roundRect">
            <a:avLst>
              <a:gd name="adj" fmla="val 7368"/>
            </a:avLst>
          </a:prstGeom>
          <a:solidFill>
            <a:srgbClr val="5B3A8C"/>
          </a:solidFill>
          <a:ln/>
        </p:spPr>
      </p:sp>
      <p:sp>
        <p:nvSpPr>
          <p:cNvPr id="7" name="Shape 5"/>
          <p:cNvSpPr/>
          <p:nvPr/>
        </p:nvSpPr>
        <p:spPr>
          <a:xfrm>
            <a:off x="502920" y="2194560"/>
            <a:ext cx="3602736" cy="457200"/>
          </a:xfrm>
          <a:prstGeom prst="rect">
            <a:avLst/>
          </a:prstGeom>
          <a:solidFill>
            <a:srgbClr val="5B3A8C"/>
          </a:solidFill>
          <a:ln/>
        </p:spPr>
      </p:sp>
      <p:pic>
        <p:nvPicPr>
          <p:cNvPr id="8" name="Image 0" descr="/home/claude/p4_pe_understand.png">    </p:cNvPr>
          <p:cNvPicPr>
            <a:picLocks noChangeAspect="1"/>
          </p:cNvPicPr>
          <p:nvPr/>
        </p:nvPicPr>
        <p:blipFill>
          <a:blip r:embed="rId1"/>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indent="0" marL="0">
              <a:buNone/>
            </a:pPr>
            <a:r>
              <a:rPr lang="en-US" sz="1000" b="1" spc="100" kern="0" dirty="0">
                <a:solidFill>
                  <a:srgbClr val="D6C2EC"/>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Establish the full AI cost baseline (infrastructure, model, token, data, human-in-the-loop)</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Analyze consumption patterns, model choices and waste concentration</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Identify the highest-yield cost-out and model-rationalization opportunities</a:t>
            </a:r>
            <a:endParaRPr lang="en-US" sz="1000" dirty="0"/>
          </a:p>
        </p:txBody>
      </p:sp>
      <p:sp>
        <p:nvSpPr>
          <p:cNvPr id="12" name="Shape 9"/>
          <p:cNvSpPr/>
          <p:nvPr/>
        </p:nvSpPr>
        <p:spPr>
          <a:xfrm>
            <a:off x="740664" y="4983480"/>
            <a:ext cx="3127248" cy="0"/>
          </a:xfrm>
          <a:prstGeom prst="line">
            <a:avLst/>
          </a:prstGeom>
          <a:noFill/>
          <a:ln w="12700">
            <a:solidFill>
              <a:srgbClr val="E2D9EE"/>
            </a:solidFill>
            <a:prstDash val="solid"/>
          </a:ln>
        </p:spPr>
      </p:sp>
      <p:sp>
        <p:nvSpPr>
          <p:cNvPr id="13" name="Text 10"/>
          <p:cNvSpPr txBox="1"/>
          <p:nvPr/>
        </p:nvSpPr>
        <p:spPr>
          <a:xfrm>
            <a:off x="74066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5B3A8C"/>
                </a:solidFill>
                <a:latin typeface="Calibri" pitchFamily="34" charset="0"/>
                <a:ea typeface="Calibri" pitchFamily="34" charset="-122"/>
                <a:cs typeface="Calibri" pitchFamily="34" charset="-120"/>
              </a:rPr>
              <a:t>AI cost baseline · consumption &amp; model-choice analysis · cost-out opportunity register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algn="ctr" indent="0" marL="0">
              <a:buNone/>
            </a:pPr>
            <a:r>
              <a:rPr lang="en-US" sz="2000" dirty="0">
                <a:solidFill>
                  <a:srgbClr val="5A5266"/>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7F4FB"/>
          </a:solidFill>
          <a:ln w="9525">
            <a:solidFill>
              <a:srgbClr val="E2D9EE"/>
            </a:solidFill>
            <a:prstDash val="solid"/>
          </a:ln>
        </p:spPr>
      </p:sp>
      <p:sp>
        <p:nvSpPr>
          <p:cNvPr id="17" name="Shape 14"/>
          <p:cNvSpPr/>
          <p:nvPr/>
        </p:nvSpPr>
        <p:spPr>
          <a:xfrm>
            <a:off x="4343400" y="1783080"/>
            <a:ext cx="3602736" cy="868680"/>
          </a:xfrm>
          <a:prstGeom prst="roundRect">
            <a:avLst>
              <a:gd name="adj" fmla="val 7368"/>
            </a:avLst>
          </a:prstGeom>
          <a:solidFill>
            <a:srgbClr val="472D6E"/>
          </a:solidFill>
          <a:ln/>
        </p:spPr>
      </p:sp>
      <p:sp>
        <p:nvSpPr>
          <p:cNvPr id="18" name="Shape 15"/>
          <p:cNvSpPr/>
          <p:nvPr/>
        </p:nvSpPr>
        <p:spPr>
          <a:xfrm>
            <a:off x="4343400" y="2194560"/>
            <a:ext cx="3602736" cy="457200"/>
          </a:xfrm>
          <a:prstGeom prst="rect">
            <a:avLst/>
          </a:prstGeom>
          <a:solidFill>
            <a:srgbClr val="472D6E"/>
          </a:solidFill>
          <a:ln/>
        </p:spPr>
      </p:sp>
      <p:pic>
        <p:nvPicPr>
          <p:cNvPr id="19" name="Image 1" descr="/home/claude/p4_pe_ideate.png">    </p:cNvPr>
          <p:cNvPicPr>
            <a:picLocks noChangeAspect="1"/>
          </p:cNvPicPr>
          <p:nvPr/>
        </p:nvPicPr>
        <p:blipFill>
          <a:blip r:embed="rId2"/>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indent="0" marL="0">
              <a:buNone/>
            </a:pPr>
            <a:r>
              <a:rPr lang="en-US" sz="1000" b="1" spc="100" kern="0" dirty="0">
                <a:solidFill>
                  <a:srgbClr val="D6C2EC"/>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Build the AI unit-economics model (cost per query / user / workflow vs value)</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Design FinOps for AI — guardrails, showback / chargeback, product-team allocation</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Design TokenOps — model-choice policy, caching, routing, retry discipline</a:t>
            </a:r>
            <a:endParaRPr lang="en-US" sz="1000" dirty="0"/>
          </a:p>
        </p:txBody>
      </p:sp>
      <p:sp>
        <p:nvSpPr>
          <p:cNvPr id="23" name="Shape 19"/>
          <p:cNvSpPr/>
          <p:nvPr/>
        </p:nvSpPr>
        <p:spPr>
          <a:xfrm>
            <a:off x="4581144" y="4983480"/>
            <a:ext cx="3127248" cy="0"/>
          </a:xfrm>
          <a:prstGeom prst="line">
            <a:avLst/>
          </a:prstGeom>
          <a:noFill/>
          <a:ln w="12700">
            <a:solidFill>
              <a:srgbClr val="E2D9EE"/>
            </a:solidFill>
            <a:prstDash val="solid"/>
          </a:ln>
        </p:spPr>
      </p:sp>
      <p:sp>
        <p:nvSpPr>
          <p:cNvPr id="24" name="Text 20"/>
          <p:cNvSpPr txBox="1"/>
          <p:nvPr/>
        </p:nvSpPr>
        <p:spPr>
          <a:xfrm>
            <a:off x="458114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5B3A8C"/>
                </a:solidFill>
                <a:latin typeface="Calibri" pitchFamily="34" charset="0"/>
                <a:ea typeface="Calibri" pitchFamily="34" charset="-122"/>
                <a:cs typeface="Calibri" pitchFamily="34" charset="-120"/>
              </a:rPr>
              <a:t>AI unit-economics model · FinOps-for-AI design · TokenOps policy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algn="ctr" indent="0" marL="0">
              <a:buNone/>
            </a:pPr>
            <a:r>
              <a:rPr lang="en-US" sz="2000" dirty="0">
                <a:solidFill>
                  <a:srgbClr val="5A5266"/>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7F4FB"/>
          </a:solidFill>
          <a:ln w="9525">
            <a:solidFill>
              <a:srgbClr val="E2D9EE"/>
            </a:solidFill>
            <a:prstDash val="solid"/>
          </a:ln>
        </p:spPr>
      </p:sp>
      <p:sp>
        <p:nvSpPr>
          <p:cNvPr id="28" name="Shape 24"/>
          <p:cNvSpPr/>
          <p:nvPr/>
        </p:nvSpPr>
        <p:spPr>
          <a:xfrm>
            <a:off x="8183880" y="1783080"/>
            <a:ext cx="3602736" cy="868680"/>
          </a:xfrm>
          <a:prstGeom prst="roundRect">
            <a:avLst>
              <a:gd name="adj" fmla="val 7368"/>
            </a:avLst>
          </a:prstGeom>
          <a:solidFill>
            <a:srgbClr val="341F52"/>
          </a:solidFill>
          <a:ln/>
        </p:spPr>
      </p:sp>
      <p:sp>
        <p:nvSpPr>
          <p:cNvPr id="29" name="Shape 25"/>
          <p:cNvSpPr/>
          <p:nvPr/>
        </p:nvSpPr>
        <p:spPr>
          <a:xfrm>
            <a:off x="8183880" y="2194560"/>
            <a:ext cx="3602736" cy="457200"/>
          </a:xfrm>
          <a:prstGeom prst="rect">
            <a:avLst/>
          </a:prstGeom>
          <a:solidFill>
            <a:srgbClr val="341F52"/>
          </a:solidFill>
          <a:ln/>
        </p:spPr>
      </p:sp>
      <p:pic>
        <p:nvPicPr>
          <p:cNvPr id="30" name="Image 2" descr="/home/claude/p4_pe_outcreate.png">    </p:cNvPr>
          <p:cNvPicPr>
            <a:picLocks noChangeAspect="1"/>
          </p:cNvPicPr>
          <p:nvPr/>
        </p:nvPicPr>
        <p:blipFill>
          <a:blip r:embed="rId3"/>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indent="0" marL="0">
              <a:buNone/>
            </a:pPr>
            <a:r>
              <a:rPr lang="en-US" sz="1000" b="1" spc="100" kern="0" dirty="0">
                <a:solidFill>
                  <a:srgbClr val="D6C2EC"/>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Consolidate into an executive-ready AI economics roadmap with committed targets</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Define value-review forums and sustaining discipline</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Executive playback, decision sign-off, first cost-out wave</a:t>
            </a:r>
            <a:endParaRPr lang="en-US" sz="1000" dirty="0"/>
          </a:p>
        </p:txBody>
      </p:sp>
      <p:sp>
        <p:nvSpPr>
          <p:cNvPr id="34" name="Shape 29"/>
          <p:cNvSpPr/>
          <p:nvPr/>
        </p:nvSpPr>
        <p:spPr>
          <a:xfrm>
            <a:off x="8421624" y="4983480"/>
            <a:ext cx="3127248" cy="0"/>
          </a:xfrm>
          <a:prstGeom prst="line">
            <a:avLst/>
          </a:prstGeom>
          <a:noFill/>
          <a:ln w="12700">
            <a:solidFill>
              <a:srgbClr val="E2D9EE"/>
            </a:solidFill>
            <a:prstDash val="solid"/>
          </a:ln>
        </p:spPr>
      </p:sp>
      <p:sp>
        <p:nvSpPr>
          <p:cNvPr id="35" name="Text 30"/>
          <p:cNvSpPr txBox="1"/>
          <p:nvPr/>
        </p:nvSpPr>
        <p:spPr>
          <a:xfrm>
            <a:off x="842162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5B3A8C"/>
                </a:solidFill>
                <a:latin typeface="Calibri" pitchFamily="34" charset="0"/>
                <a:ea typeface="Calibri" pitchFamily="34" charset="-122"/>
                <a:cs typeface="Calibri" pitchFamily="34" charset="-120"/>
              </a:rPr>
              <a:t>Board-ready AI economics roadmap · governance model · mobilization plan · Executive Playback · Closure Pack</a:t>
            </a:r>
            <a:endParaRPr lang="en-US" sz="950" dirty="0"/>
          </a:p>
        </p:txBody>
      </p:sp>
      <p:sp>
        <p:nvSpPr>
          <p:cNvPr id="37" name="Text 32"/>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38" name="Text 33"/>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04.4  ·  Solution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338560" cy="502920"/>
          </a:xfrm>
          <a:prstGeom prst="rect">
            <a:avLst/>
          </a:prstGeom>
          <a:noFill/>
          <a:ln/>
        </p:spPr>
        <p:txBody>
          <a:bodyPr wrap="square" lIns="0" tIns="0" rIns="0" bIns="0" rtlCol="0" anchor="ctr"/>
          <a:lstStyle/>
          <a:p>
            <a:pPr indent="0" marL="0">
              <a:buNone/>
            </a:pPr>
            <a:r>
              <a:rPr lang="en-US" sz="2400" b="1" dirty="0">
                <a:solidFill>
                  <a:srgbClr val="B99FDB"/>
                </a:solidFill>
                <a:latin typeface="Cambria" pitchFamily="34" charset="0"/>
                <a:ea typeface="Cambria" pitchFamily="34" charset="-122"/>
                <a:cs typeface="Cambria" pitchFamily="34" charset="-120"/>
              </a:rPr>
              <a:t>04.4   </a:t>
            </a:r>
            <a:pPr indent="0" marL="0">
              <a:buNone/>
            </a:pPr>
            <a:r>
              <a:rPr lang="en-US" sz="2200" b="1" dirty="0">
                <a:solidFill>
                  <a:srgbClr val="1B1F23"/>
                </a:solidFill>
                <a:latin typeface="Cambria" pitchFamily="34" charset="0"/>
                <a:ea typeface="Cambria" pitchFamily="34" charset="-122"/>
                <a:cs typeface="Cambria" pitchFamily="34" charset="-120"/>
              </a:rPr>
              <a:t>AI Cost, FinOps for AI &amp; Tokenomics</a:t>
            </a:r>
            <a:endParaRPr lang="en-US" sz="2400" dirty="0"/>
          </a:p>
        </p:txBody>
      </p:sp>
      <p:sp>
        <p:nvSpPr>
          <p:cNvPr id="4" name="Shape 2"/>
          <p:cNvSpPr/>
          <p:nvPr/>
        </p:nvSpPr>
        <p:spPr>
          <a:xfrm>
            <a:off x="502920" y="1600200"/>
            <a:ext cx="5394960" cy="4480560"/>
          </a:xfrm>
          <a:prstGeom prst="roundRect">
            <a:avLst>
              <a:gd name="adj" fmla="val 1429"/>
            </a:avLst>
          </a:prstGeom>
          <a:solidFill>
            <a:srgbClr val="5B3A8C"/>
          </a:solidFill>
          <a:ln/>
        </p:spPr>
      </p:sp>
      <p:pic>
        <p:nvPicPr>
          <p:cNvPr id="5" name="Image 0" descr="/home/claude/p4_pe_deliver.png">    </p:cNvPr>
          <p:cNvPicPr>
            <a:picLocks noChangeAspect="1"/>
          </p:cNvPicPr>
          <p:nvPr/>
        </p:nvPicPr>
        <p:blipFill>
          <a:blip r:embed="rId1"/>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indent="0" marL="0">
              <a:buNone/>
            </a:pPr>
            <a:r>
              <a:rPr lang="en-US" sz="1050" i="1" dirty="0">
                <a:solidFill>
                  <a:srgbClr val="D6C2EC"/>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B99FDB"/>
          </a:solidFill>
          <a:ln/>
        </p:spPr>
      </p:sp>
      <p:sp>
        <p:nvSpPr>
          <p:cNvPr id="9" name="Text 6"/>
          <p:cNvSpPr txBox="1"/>
          <p:nvPr/>
        </p:nvSpPr>
        <p:spPr>
          <a:xfrm>
            <a:off x="777240" y="2880360"/>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Full AI cost baseline and cost-to-serve view</a:t>
            </a:r>
            <a:endParaRPr lang="en-US" sz="1150" dirty="0"/>
          </a:p>
        </p:txBody>
      </p:sp>
      <p:sp>
        <p:nvSpPr>
          <p:cNvPr id="11" name="Shape 8"/>
          <p:cNvSpPr/>
          <p:nvPr/>
        </p:nvSpPr>
        <p:spPr>
          <a:xfrm>
            <a:off x="777240" y="3483864"/>
            <a:ext cx="310896" cy="310896"/>
          </a:xfrm>
          <a:prstGeom prst="roundRect">
            <a:avLst>
              <a:gd name="adj" fmla="val 14706"/>
            </a:avLst>
          </a:prstGeom>
          <a:solidFill>
            <a:srgbClr val="B99FDB"/>
          </a:solidFill>
          <a:ln/>
        </p:spPr>
      </p:sp>
      <p:sp>
        <p:nvSpPr>
          <p:cNvPr id="12" name="Text 9"/>
          <p:cNvSpPr txBox="1"/>
          <p:nvPr/>
        </p:nvSpPr>
        <p:spPr>
          <a:xfrm>
            <a:off x="777240" y="3483864"/>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AI unit-economics model (per query / user / workflow)</a:t>
            </a:r>
            <a:endParaRPr lang="en-US" sz="1150" dirty="0"/>
          </a:p>
        </p:txBody>
      </p:sp>
      <p:sp>
        <p:nvSpPr>
          <p:cNvPr id="14" name="Shape 11"/>
          <p:cNvSpPr/>
          <p:nvPr/>
        </p:nvSpPr>
        <p:spPr>
          <a:xfrm>
            <a:off x="777240" y="4087368"/>
            <a:ext cx="310896" cy="310896"/>
          </a:xfrm>
          <a:prstGeom prst="roundRect">
            <a:avLst>
              <a:gd name="adj" fmla="val 14706"/>
            </a:avLst>
          </a:prstGeom>
          <a:solidFill>
            <a:srgbClr val="B99FDB"/>
          </a:solidFill>
          <a:ln/>
        </p:spPr>
      </p:sp>
      <p:sp>
        <p:nvSpPr>
          <p:cNvPr id="15" name="Text 12"/>
          <p:cNvSpPr txBox="1"/>
          <p:nvPr/>
        </p:nvSpPr>
        <p:spPr>
          <a:xfrm>
            <a:off x="777240" y="4087368"/>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FinOps-for-AI operating model</a:t>
            </a:r>
            <a:endParaRPr lang="en-US" sz="1150" dirty="0"/>
          </a:p>
        </p:txBody>
      </p:sp>
      <p:sp>
        <p:nvSpPr>
          <p:cNvPr id="17" name="Shape 14"/>
          <p:cNvSpPr/>
          <p:nvPr/>
        </p:nvSpPr>
        <p:spPr>
          <a:xfrm>
            <a:off x="777240" y="4690872"/>
            <a:ext cx="310896" cy="310896"/>
          </a:xfrm>
          <a:prstGeom prst="roundRect">
            <a:avLst>
              <a:gd name="adj" fmla="val 14706"/>
            </a:avLst>
          </a:prstGeom>
          <a:solidFill>
            <a:srgbClr val="B99FDB"/>
          </a:solidFill>
          <a:ln/>
        </p:spPr>
      </p:sp>
      <p:sp>
        <p:nvSpPr>
          <p:cNvPr id="18" name="Text 15"/>
          <p:cNvSpPr txBox="1"/>
          <p:nvPr/>
        </p:nvSpPr>
        <p:spPr>
          <a:xfrm>
            <a:off x="777240" y="4690872"/>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TokenOps consumption-governance policy</a:t>
            </a:r>
            <a:endParaRPr lang="en-US" sz="1150" dirty="0"/>
          </a:p>
        </p:txBody>
      </p:sp>
      <p:sp>
        <p:nvSpPr>
          <p:cNvPr id="20" name="Shape 17"/>
          <p:cNvSpPr/>
          <p:nvPr/>
        </p:nvSpPr>
        <p:spPr>
          <a:xfrm>
            <a:off x="777240" y="5294376"/>
            <a:ext cx="310896" cy="310896"/>
          </a:xfrm>
          <a:prstGeom prst="roundRect">
            <a:avLst>
              <a:gd name="adj" fmla="val 14706"/>
            </a:avLst>
          </a:prstGeom>
          <a:solidFill>
            <a:srgbClr val="B99FDB"/>
          </a:solidFill>
          <a:ln/>
        </p:spPr>
      </p:sp>
      <p:sp>
        <p:nvSpPr>
          <p:cNvPr id="21" name="Text 18"/>
          <p:cNvSpPr txBox="1"/>
          <p:nvPr/>
        </p:nvSpPr>
        <p:spPr>
          <a:xfrm>
            <a:off x="777240" y="5294376"/>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Board-ready AI economics roadmap with committed targets</a:t>
            </a:r>
            <a:endParaRPr lang="en-US" sz="1150" dirty="0"/>
          </a:p>
        </p:txBody>
      </p:sp>
      <p:sp>
        <p:nvSpPr>
          <p:cNvPr id="23" name="Shape 20"/>
          <p:cNvSpPr/>
          <p:nvPr/>
        </p:nvSpPr>
        <p:spPr>
          <a:xfrm>
            <a:off x="6263640" y="1600200"/>
            <a:ext cx="5394960" cy="2286000"/>
          </a:xfrm>
          <a:prstGeom prst="roundRect">
            <a:avLst>
              <a:gd name="adj" fmla="val 2800"/>
            </a:avLst>
          </a:prstGeom>
          <a:solidFill>
            <a:srgbClr val="EEF6F0"/>
          </a:solidFill>
          <a:ln w="9525">
            <a:solidFill>
              <a:srgbClr val="BFE3D2"/>
            </a:solidFill>
            <a:prstDash val="solid"/>
          </a:ln>
        </p:spPr>
      </p:sp>
      <p:pic>
        <p:nvPicPr>
          <p:cNvPr id="24" name="Image 1" descr="/home/claude/x_chk_in.png">    </p:cNvPr>
          <p:cNvPicPr>
            <a:picLocks noChangeAspect="1"/>
          </p:cNvPicPr>
          <p:nvPr/>
        </p:nvPicPr>
        <p:blipFill>
          <a:blip r:embed="rId2"/>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indent="0" marL="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Full AI cost baselining (infrastructure, model, token, data, HITL)</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AI unit-economics modeling</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FinOps for AI (guardrails, showback / chargeback, allocation)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TokenOps (model-choice policy, caching, routing, retry)</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Model-portfolio rationalization</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sp>
      <p:pic>
        <p:nvPicPr>
          <p:cNvPr id="28" name="Image 2" descr="/home/claude/x_chk_out.png">    </p:cNvPr>
          <p:cNvPicPr>
            <a:picLocks noChangeAspect="1"/>
          </p:cNvPicPr>
          <p:nvPr/>
        </p:nvPicPr>
        <p:blipFill>
          <a:blip r:embed="rId3"/>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indent="0" marL="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Public cloud FinOps (non-AI)</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03.3 FinOps Excellence</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Non-cloud IT cost / TBM</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Pillar 01</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AI infrastructure sizing</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04.2 AI Infrastructure</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AI cost platform build and run</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Model / use-case build</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Separate delivery</a:t>
            </a:r>
            <a:endParaRPr lang="en-US" sz="970" dirty="0"/>
          </a:p>
        </p:txBody>
      </p:sp>
      <p:sp>
        <p:nvSpPr>
          <p:cNvPr id="35" name="Text 30"/>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36" name="Text 31"/>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04.4  ·  Deliverables &amp; scope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OFFERING  ·  OUT-OPERATE WITH AUTONOMY.   ·   GATE 5 · CAN IT ACT ALONE?</a:t>
            </a:r>
            <a:endParaRPr lang="en-US" sz="1100" dirty="0"/>
          </a:p>
        </p:txBody>
      </p:sp>
      <p:sp>
        <p:nvSpPr>
          <p:cNvPr id="3" name="Text 1"/>
          <p:cNvSpPr txBox="1"/>
          <p:nvPr/>
        </p:nvSpPr>
        <p:spPr>
          <a:xfrm>
            <a:off x="484632" y="658368"/>
            <a:ext cx="11338560" cy="502920"/>
          </a:xfrm>
          <a:prstGeom prst="rect">
            <a:avLst/>
          </a:prstGeom>
          <a:noFill/>
          <a:ln/>
        </p:spPr>
        <p:txBody>
          <a:bodyPr wrap="square" lIns="0" tIns="0" rIns="0" bIns="0" rtlCol="0" anchor="ctr"/>
          <a:lstStyle/>
          <a:p>
            <a:pPr indent="0" marL="0">
              <a:buNone/>
            </a:pPr>
            <a:r>
              <a:rPr lang="en-US" sz="2400" b="1" dirty="0">
                <a:solidFill>
                  <a:srgbClr val="B99FDB"/>
                </a:solidFill>
                <a:latin typeface="Cambria" pitchFamily="34" charset="0"/>
                <a:ea typeface="Cambria" pitchFamily="34" charset="-122"/>
                <a:cs typeface="Cambria" pitchFamily="34" charset="-120"/>
              </a:rPr>
              <a:t>04.5   </a:t>
            </a:r>
            <a:pPr indent="0" marL="0">
              <a:buNone/>
            </a:pPr>
            <a:r>
              <a:rPr lang="en-US" sz="2200" b="1" dirty="0">
                <a:solidFill>
                  <a:srgbClr val="1B1F23"/>
                </a:solidFill>
                <a:latin typeface="Cambria" pitchFamily="34" charset="0"/>
                <a:ea typeface="Cambria" pitchFamily="34" charset="-122"/>
                <a:cs typeface="Cambria" pitchFamily="34" charset="-120"/>
              </a:rPr>
              <a:t>Agentic-Ops</a:t>
            </a:r>
            <a:endParaRPr lang="en-US" sz="2400" dirty="0"/>
          </a:p>
        </p:txBody>
      </p:sp>
      <p:sp>
        <p:nvSpPr>
          <p:cNvPr id="4" name="Text 2"/>
          <p:cNvSpPr txBox="1"/>
          <p:nvPr/>
        </p:nvSpPr>
        <p:spPr>
          <a:xfrm>
            <a:off x="502920" y="1261872"/>
            <a:ext cx="11155680" cy="274320"/>
          </a:xfrm>
          <a:prstGeom prst="rect">
            <a:avLst/>
          </a:prstGeom>
          <a:noFill/>
          <a:ln/>
        </p:spPr>
        <p:txBody>
          <a:bodyPr wrap="square" lIns="0" tIns="0" rIns="0" bIns="0" rtlCol="0" anchor="ctr"/>
          <a:lstStyle/>
          <a:p>
            <a:pPr indent="0" marL="0">
              <a:buNone/>
            </a:pPr>
            <a:r>
              <a:rPr lang="en-US" sz="900" b="1" spc="100" kern="0" dirty="0">
                <a:solidFill>
                  <a:srgbClr val="B99FDB"/>
                </a:solidFill>
                <a:latin typeface="Calibri" pitchFamily="34" charset="0"/>
                <a:ea typeface="Calibri" pitchFamily="34" charset="-122"/>
                <a:cs typeface="Calibri" pitchFamily="34" charset="-120"/>
              </a:rPr>
              <a:t>STARTS FROM  </a:t>
            </a:r>
            <a:pPr indent="0" marL="0">
              <a:buNone/>
            </a:pPr>
            <a:r>
              <a:rPr lang="en-US" sz="1050" dirty="0">
                <a:solidFill>
                  <a:srgbClr val="50485F"/>
                </a:solidFill>
                <a:latin typeface="Calibri" pitchFamily="34" charset="0"/>
                <a:ea typeface="Calibri" pitchFamily="34" charset="-122"/>
                <a:cs typeface="Calibri" pitchFamily="34" charset="-120"/>
              </a:rPr>
              <a:t>AI Readiness IQ → 04.1 (readiness)      </a:t>
            </a:r>
            <a:pPr indent="0" marL="0">
              <a:buNone/>
            </a:pPr>
            <a:r>
              <a:rPr lang="en-US" sz="900" b="1" spc="100" kern="0" dirty="0">
                <a:solidFill>
                  <a:srgbClr val="B99FDB"/>
                </a:solidFill>
                <a:latin typeface="Calibri" pitchFamily="34" charset="0"/>
                <a:ea typeface="Calibri" pitchFamily="34" charset="-122"/>
                <a:cs typeface="Calibri" pitchFamily="34" charset="-120"/>
              </a:rPr>
              <a:t>LEADS TO  </a:t>
            </a:r>
            <a:pPr indent="0" marL="0">
              <a:buNone/>
            </a:pPr>
            <a:r>
              <a:rPr lang="en-US" sz="1050" dirty="0">
                <a:solidFill>
                  <a:srgbClr val="50485F"/>
                </a:solidFill>
                <a:latin typeface="Calibri" pitchFamily="34" charset="0"/>
                <a:ea typeface="Calibri" pitchFamily="34" charset="-122"/>
                <a:cs typeface="Calibri" pitchFamily="34" charset="-120"/>
              </a:rPr>
              <a:t>Agentic ops implementation · autonomous operations run services · CIS Layers 2–4</a:t>
            </a:r>
            <a:endParaRPr lang="en-US" sz="900" dirty="0"/>
          </a:p>
        </p:txBody>
      </p:sp>
      <p:sp>
        <p:nvSpPr>
          <p:cNvPr id="5" name="Shape 3"/>
          <p:cNvSpPr/>
          <p:nvPr/>
        </p:nvSpPr>
        <p:spPr>
          <a:xfrm>
            <a:off x="502920" y="1737360"/>
            <a:ext cx="5394960" cy="2395728"/>
          </a:xfrm>
          <a:prstGeom prst="roundRect">
            <a:avLst>
              <a:gd name="adj" fmla="val 2290"/>
            </a:avLst>
          </a:prstGeom>
          <a:solidFill>
            <a:srgbClr val="F7F4FB"/>
          </a:solidFill>
          <a:ln w="9525">
            <a:solidFill>
              <a:srgbClr val="E2D9EE"/>
            </a:solidFill>
            <a:prstDash val="solid"/>
          </a:ln>
        </p:spPr>
      </p:sp>
      <p:sp>
        <p:nvSpPr>
          <p:cNvPr id="6" name="Text 4"/>
          <p:cNvSpPr txBox="1"/>
          <p:nvPr/>
        </p:nvSpPr>
        <p:spPr>
          <a:xfrm>
            <a:off x="731520" y="1901952"/>
            <a:ext cx="4937760" cy="256032"/>
          </a:xfrm>
          <a:prstGeom prst="rect">
            <a:avLst/>
          </a:prstGeom>
          <a:noFill/>
          <a:ln/>
        </p:spPr>
        <p:txBody>
          <a:bodyPr wrap="square" lIns="0" tIns="0" rIns="0" bIns="0" rtlCol="0" anchor="ctr"/>
          <a:lstStyle/>
          <a:p>
            <a:pPr indent="0" marL="0">
              <a:buNone/>
            </a:pPr>
            <a:r>
              <a:rPr lang="en-US" sz="1100" b="1" spc="150" kern="0" dirty="0">
                <a:solidFill>
                  <a:srgbClr val="5B3A8C"/>
                </a:solidFill>
                <a:latin typeface="Calibri" pitchFamily="34" charset="0"/>
                <a:ea typeface="Calibri" pitchFamily="34" charset="-122"/>
                <a:cs typeface="Calibri" pitchFamily="34" charset="-120"/>
              </a:rPr>
              <a:t>OBJECTIVE</a:t>
            </a:r>
            <a:endParaRPr lang="en-US" sz="1100" dirty="0"/>
          </a:p>
        </p:txBody>
      </p:sp>
      <p:sp>
        <p:nvSpPr>
          <p:cNvPr id="7" name="Text 5"/>
          <p:cNvSpPr txBox="1"/>
          <p:nvPr/>
        </p:nvSpPr>
        <p:spPr>
          <a:xfrm>
            <a:off x="731520" y="2194560"/>
            <a:ext cx="4937760" cy="1783080"/>
          </a:xfrm>
          <a:prstGeom prst="rect">
            <a:avLst/>
          </a:prstGeom>
          <a:noFill/>
          <a:ln/>
        </p:spPr>
        <p:txBody>
          <a:bodyPr wrap="square" lIns="0" tIns="0" rIns="0" bIns="0" rtlCol="0" anchor="ctr"/>
          <a:lstStyle/>
          <a:p>
            <a:pPr indent="0" marL="0">
              <a:lnSpc>
                <a:spcPct val="103000"/>
              </a:lnSpc>
              <a:buNone/>
            </a:pPr>
            <a:r>
              <a:rPr lang="en-US" sz="1100" dirty="0">
                <a:solidFill>
                  <a:srgbClr val="322C40"/>
                </a:solidFill>
                <a:latin typeface="Calibri" pitchFamily="34" charset="0"/>
                <a:ea typeface="Calibri" pitchFamily="34" charset="-122"/>
                <a:cs typeface="Calibri" pitchFamily="34" charset="-120"/>
              </a:rPr>
              <a:t>Clears the final gate: where can AI safely operate on its own, and where must a human stay in the loop? It assesses readiness for agentic operations, defines safe-action boundaries, and sequences the transition from assisted to supervised to autonomous operations — with the control and assurance framework that makes autonomous action defensible to risk and audit. It is also the designed bridge from advisory into the wider Cognitive Infrastructure Services practice.</a:t>
            </a:r>
            <a:endParaRPr lang="en-US" sz="1100" dirty="0"/>
          </a:p>
        </p:txBody>
      </p:sp>
      <p:sp>
        <p:nvSpPr>
          <p:cNvPr id="8" name="Shape 6"/>
          <p:cNvSpPr/>
          <p:nvPr/>
        </p:nvSpPr>
        <p:spPr>
          <a:xfrm>
            <a:off x="502920" y="4279392"/>
            <a:ext cx="5394960" cy="1627632"/>
          </a:xfrm>
          <a:prstGeom prst="roundRect">
            <a:avLst>
              <a:gd name="adj" fmla="val 3371"/>
            </a:avLst>
          </a:prstGeom>
          <a:solidFill>
            <a:srgbClr val="5B3A8C"/>
          </a:solidFill>
          <a:ln w="9525">
            <a:solidFill>
              <a:srgbClr val="5B3A8C"/>
            </a:solidFill>
            <a:prstDash val="solid"/>
          </a:ln>
        </p:spPr>
      </p:sp>
      <p:sp>
        <p:nvSpPr>
          <p:cNvPr id="9" name="Text 7"/>
          <p:cNvSpPr txBox="1"/>
          <p:nvPr/>
        </p:nvSpPr>
        <p:spPr>
          <a:xfrm>
            <a:off x="731520" y="4425696"/>
            <a:ext cx="4937760" cy="256032"/>
          </a:xfrm>
          <a:prstGeom prst="rect">
            <a:avLst/>
          </a:prstGeom>
          <a:noFill/>
          <a:ln/>
        </p:spPr>
        <p:txBody>
          <a:bodyPr wrap="square" lIns="0" tIns="0" rIns="0" bIns="0" rtlCol="0" anchor="ctr"/>
          <a:lstStyle/>
          <a:p>
            <a:pPr indent="0" marL="0">
              <a:buNone/>
            </a:pPr>
            <a:r>
              <a:rPr lang="en-US" sz="1100" b="1" spc="150" kern="0" dirty="0">
                <a:solidFill>
                  <a:srgbClr val="D6C2EC"/>
                </a:solidFill>
                <a:latin typeface="Calibri" pitchFamily="34" charset="0"/>
                <a:ea typeface="Calibri" pitchFamily="34" charset="-122"/>
                <a:cs typeface="Calibri" pitchFamily="34" charset="-120"/>
              </a:rPr>
              <a:t>WHY NOW</a:t>
            </a:r>
            <a:endParaRPr lang="en-US" sz="1100" dirty="0"/>
          </a:p>
        </p:txBody>
      </p:sp>
      <p:sp>
        <p:nvSpPr>
          <p:cNvPr id="10" name="Text 8"/>
          <p:cNvSpPr txBox="1"/>
          <p:nvPr/>
        </p:nvSpPr>
        <p:spPr>
          <a:xfrm>
            <a:off x="731520" y="4700016"/>
            <a:ext cx="4937760" cy="960120"/>
          </a:xfrm>
          <a:prstGeom prst="rect">
            <a:avLst/>
          </a:prstGeom>
          <a:noFill/>
          <a:ln/>
        </p:spPr>
        <p:txBody>
          <a:bodyPr wrap="square" lIns="0" tIns="0" rIns="0" bIns="0" rtlCol="0" anchor="ctr"/>
          <a:lstStyle/>
          <a:p>
            <a:pPr indent="0" marL="0">
              <a:lnSpc>
                <a:spcPct val="102000"/>
              </a:lnSpc>
              <a:buNone/>
            </a:pPr>
            <a:r>
              <a:rPr lang="en-US" sz="1050" dirty="0">
                <a:solidFill>
                  <a:srgbClr val="F2ECFA"/>
                </a:solidFill>
                <a:latin typeface="Calibri" pitchFamily="34" charset="0"/>
                <a:ea typeface="Calibri" pitchFamily="34" charset="-122"/>
                <a:cs typeface="Calibri" pitchFamily="34" charset="-120"/>
              </a:rPr>
              <a:t>Gartner reports 89% of AI agent pilots never reach production, while the 11% that do deliver 171% ROI — and over 40% of agentic projects will be cancelled by 2027 without governance and ROI discipline. 2026 is the year agents move from experiment to production; the enterprises that define safe autonomy now capture the upside while the rest join the cancellation statistic.</a:t>
            </a:r>
            <a:endParaRPr lang="en-US" sz="1050" dirty="0"/>
          </a:p>
        </p:txBody>
      </p:sp>
      <p:sp>
        <p:nvSpPr>
          <p:cNvPr id="11" name="Text 9"/>
          <p:cNvSpPr txBox="1"/>
          <p:nvPr/>
        </p:nvSpPr>
        <p:spPr>
          <a:xfrm>
            <a:off x="731520" y="5650992"/>
            <a:ext cx="4937760" cy="228600"/>
          </a:xfrm>
          <a:prstGeom prst="rect">
            <a:avLst/>
          </a:prstGeom>
          <a:noFill/>
          <a:ln/>
        </p:spPr>
        <p:txBody>
          <a:bodyPr wrap="square" lIns="0" tIns="0" rIns="0" bIns="0" rtlCol="0" anchor="ctr"/>
          <a:lstStyle/>
          <a:p>
            <a:pPr indent="0" marL="0">
              <a:buNone/>
            </a:pPr>
            <a:r>
              <a:rPr lang="en-US" sz="850" i="1" dirty="0">
                <a:solidFill>
                  <a:srgbClr val="9B87BC"/>
                </a:solidFill>
                <a:latin typeface="Calibri" pitchFamily="34" charset="0"/>
                <a:ea typeface="Calibri" pitchFamily="34" charset="-122"/>
                <a:cs typeface="Calibri" pitchFamily="34" charset="-120"/>
              </a:rPr>
              <a:t>Source: MIT / Gartner / S&amp;P Global / EU AI Act, 2026.</a:t>
            </a:r>
            <a:endParaRPr lang="en-US" sz="850" dirty="0"/>
          </a:p>
        </p:txBody>
      </p:sp>
      <p:sp>
        <p:nvSpPr>
          <p:cNvPr id="12" name="Shape 10"/>
          <p:cNvSpPr/>
          <p:nvPr/>
        </p:nvSpPr>
        <p:spPr>
          <a:xfrm>
            <a:off x="6263640" y="1737360"/>
            <a:ext cx="5394960" cy="2395728"/>
          </a:xfrm>
          <a:prstGeom prst="roundRect">
            <a:avLst>
              <a:gd name="adj" fmla="val 2290"/>
            </a:avLst>
          </a:prstGeom>
          <a:solidFill>
            <a:srgbClr val="FFFFFF"/>
          </a:solidFill>
          <a:ln w="9525">
            <a:solidFill>
              <a:srgbClr val="E2D9EE"/>
            </a:solidFill>
            <a:prstDash val="solid"/>
          </a:ln>
        </p:spPr>
      </p:sp>
      <p:sp>
        <p:nvSpPr>
          <p:cNvPr id="13" name="Text 11"/>
          <p:cNvSpPr txBox="1"/>
          <p:nvPr/>
        </p:nvSpPr>
        <p:spPr>
          <a:xfrm>
            <a:off x="6492240" y="1901952"/>
            <a:ext cx="4937760" cy="256032"/>
          </a:xfrm>
          <a:prstGeom prst="rect">
            <a:avLst/>
          </a:prstGeom>
          <a:noFill/>
          <a:ln/>
        </p:spPr>
        <p:txBody>
          <a:bodyPr wrap="square" lIns="0" tIns="0" rIns="0" bIns="0" rtlCol="0" anchor="ctr"/>
          <a:lstStyle/>
          <a:p>
            <a:pPr indent="0" marL="0">
              <a:buNone/>
            </a:pPr>
            <a:r>
              <a:rPr lang="en-US" sz="1100" b="1" spc="120" kern="0" dirty="0">
                <a:solidFill>
                  <a:srgbClr val="5B3A8C"/>
                </a:solidFill>
                <a:latin typeface="Calibri" pitchFamily="34" charset="0"/>
                <a:ea typeface="Calibri" pitchFamily="34" charset="-122"/>
                <a:cs typeface="Calibri" pitchFamily="34" charset="-120"/>
              </a:rPr>
              <a:t>BUSINESS PROBLEM WE SOLVE</a:t>
            </a:r>
            <a:endParaRPr lang="en-US" sz="1100" dirty="0"/>
          </a:p>
        </p:txBody>
      </p:sp>
      <p:sp>
        <p:nvSpPr>
          <p:cNvPr id="14" name="Text 12"/>
          <p:cNvSpPr txBox="1"/>
          <p:nvPr/>
        </p:nvSpPr>
        <p:spPr>
          <a:xfrm>
            <a:off x="6492240" y="2157984"/>
            <a:ext cx="4937760" cy="457200"/>
          </a:xfrm>
          <a:prstGeom prst="rect">
            <a:avLst/>
          </a:prstGeom>
          <a:noFill/>
          <a:ln/>
        </p:spPr>
        <p:txBody>
          <a:bodyPr wrap="square" lIns="0" tIns="0" rIns="0" bIns="0" rtlCol="0" anchor="ctr"/>
          <a:lstStyle/>
          <a:p>
            <a:pPr indent="0" marL="0">
              <a:lnSpc>
                <a:spcPct val="95000"/>
              </a:lnSpc>
              <a:buNone/>
            </a:pPr>
            <a:r>
              <a:rPr lang="en-US" sz="1150" i="1" dirty="0">
                <a:solidFill>
                  <a:srgbClr val="D35400"/>
                </a:solidFill>
                <a:latin typeface="Cambria" pitchFamily="34" charset="0"/>
                <a:ea typeface="Cambria" pitchFamily="34" charset="-122"/>
                <a:cs typeface="Cambria" pitchFamily="34" charset="-120"/>
              </a:rPr>
              <a:t>Every enterprise has agentic AI on the roadmap — but almost none can bound, supervise or stop an autonomous agent.</a:t>
            </a:r>
            <a:endParaRPr lang="en-US" sz="1150" dirty="0"/>
          </a:p>
        </p:txBody>
      </p:sp>
      <p:sp>
        <p:nvSpPr>
          <p:cNvPr id="15" name="Text 13"/>
          <p:cNvSpPr txBox="1"/>
          <p:nvPr/>
        </p:nvSpPr>
        <p:spPr>
          <a:xfrm>
            <a:off x="6492240" y="2697480"/>
            <a:ext cx="4937760" cy="1325880"/>
          </a:xfrm>
          <a:prstGeom prst="rect">
            <a:avLst/>
          </a:prstGeom>
          <a:noFill/>
          <a:ln/>
        </p:spPr>
        <p:txBody>
          <a:bodyPr wrap="square" lIns="0" tIns="0" rIns="0" bIns="0" rtlCol="0" anchor="ctr"/>
          <a:lstStyle/>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89% of AI agent pilots never reach production — though the 11% that do deliver 171% ROI.</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100% of enterprises have agentic AI on the roadmap, but 60% cannot terminate a misbehaving agent.</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Safe-action boundaries are undefined — what an agent may do autonomously vs what needs approval isn’t drawn.</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Automation, observability and process standardization aren’t mature enough to trust autonomy.</a:t>
            </a:r>
            <a:endParaRPr lang="en-US" sz="970" dirty="0"/>
          </a:p>
          <a:p>
            <a:pPr marL="152400" indent="-152400">
              <a:lnSpc>
                <a:spcPct val="94000"/>
              </a:lnSpc>
              <a:spcAft>
                <a:spcPts val="350"/>
              </a:spcAft>
              <a:buSzPct val="100000"/>
              <a:buChar char="•"/>
            </a:pPr>
            <a:r>
              <a:rPr lang="en-US" sz="970" dirty="0">
                <a:solidFill>
                  <a:srgbClr val="322C40"/>
                </a:solidFill>
                <a:latin typeface="Calibri" pitchFamily="34" charset="0"/>
                <a:ea typeface="Calibri" pitchFamily="34" charset="-122"/>
                <a:cs typeface="Calibri" pitchFamily="34" charset="-120"/>
              </a:rPr>
              <a:t>Over 40% of agentic projects are forecast to be cancelled by 2027 without governance and ROI fundamentals.</a:t>
            </a:r>
            <a:endParaRPr lang="en-US" sz="970" dirty="0"/>
          </a:p>
        </p:txBody>
      </p:sp>
      <p:sp>
        <p:nvSpPr>
          <p:cNvPr id="16" name="Shape 14"/>
          <p:cNvSpPr/>
          <p:nvPr/>
        </p:nvSpPr>
        <p:spPr>
          <a:xfrm>
            <a:off x="6263640" y="4279392"/>
            <a:ext cx="5394960" cy="1627632"/>
          </a:xfrm>
          <a:prstGeom prst="roundRect">
            <a:avLst>
              <a:gd name="adj" fmla="val 3371"/>
            </a:avLst>
          </a:prstGeom>
          <a:solidFill>
            <a:srgbClr val="F7F4FB"/>
          </a:solidFill>
          <a:ln w="9525">
            <a:solidFill>
              <a:srgbClr val="E2D9EE"/>
            </a:solidFill>
            <a:prstDash val="solid"/>
          </a:ln>
        </p:spPr>
      </p:sp>
      <p:sp>
        <p:nvSpPr>
          <p:cNvPr id="17" name="Text 15"/>
          <p:cNvSpPr txBox="1"/>
          <p:nvPr/>
        </p:nvSpPr>
        <p:spPr>
          <a:xfrm>
            <a:off x="6492240" y="4407408"/>
            <a:ext cx="4937760" cy="256032"/>
          </a:xfrm>
          <a:prstGeom prst="rect">
            <a:avLst/>
          </a:prstGeom>
          <a:noFill/>
          <a:ln/>
        </p:spPr>
        <p:txBody>
          <a:bodyPr wrap="square" lIns="0" tIns="0" rIns="0" bIns="0" rtlCol="0" anchor="ctr"/>
          <a:lstStyle/>
          <a:p>
            <a:pPr indent="0" marL="0">
              <a:buNone/>
            </a:pPr>
            <a:r>
              <a:rPr lang="en-US" sz="1100" b="1" spc="120" kern="0" dirty="0">
                <a:solidFill>
                  <a:srgbClr val="5B3A8C"/>
                </a:solidFill>
                <a:latin typeface="Calibri" pitchFamily="34" charset="0"/>
                <a:ea typeface="Calibri" pitchFamily="34" charset="-122"/>
                <a:cs typeface="Calibri" pitchFamily="34" charset="-120"/>
              </a:rPr>
              <a:t>VALUE TO THE CUSTOMER</a:t>
            </a:r>
            <a:endParaRPr lang="en-US" sz="1100" dirty="0"/>
          </a:p>
        </p:txBody>
      </p:sp>
      <p:sp>
        <p:nvSpPr>
          <p:cNvPr id="18" name="Text 16"/>
          <p:cNvSpPr txBox="1"/>
          <p:nvPr/>
        </p:nvSpPr>
        <p:spPr>
          <a:xfrm>
            <a:off x="6492240" y="4681728"/>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Safe autonomy, drawn explicitly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Clear boundaries — what agents may do alone, what needs approval, what never automates.</a:t>
            </a:r>
            <a:endParaRPr lang="en-US" sz="950" dirty="0"/>
          </a:p>
        </p:txBody>
      </p:sp>
      <p:sp>
        <p:nvSpPr>
          <p:cNvPr id="19" name="Text 17"/>
          <p:cNvSpPr txBox="1"/>
          <p:nvPr/>
        </p:nvSpPr>
        <p:spPr>
          <a:xfrm>
            <a:off x="6492240" y="491581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A staged transition, not a leap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Assisted → supervised → autonomous, sequenced rather than attempted at once.</a:t>
            </a:r>
            <a:endParaRPr lang="en-US" sz="950" dirty="0"/>
          </a:p>
        </p:txBody>
      </p:sp>
      <p:sp>
        <p:nvSpPr>
          <p:cNvPr id="20" name="Text 18"/>
          <p:cNvSpPr txBox="1"/>
          <p:nvPr/>
        </p:nvSpPr>
        <p:spPr>
          <a:xfrm>
            <a:off x="6492240" y="5149901"/>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Agents you can assure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A control and assurance framework that makes autonomous action defensible to audit.</a:t>
            </a:r>
            <a:endParaRPr lang="en-US" sz="950" dirty="0"/>
          </a:p>
        </p:txBody>
      </p:sp>
      <p:sp>
        <p:nvSpPr>
          <p:cNvPr id="21" name="Text 19"/>
          <p:cNvSpPr txBox="1"/>
          <p:nvPr/>
        </p:nvSpPr>
        <p:spPr>
          <a:xfrm>
            <a:off x="6492240" y="5383987"/>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The 171% ROI bracket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A path into the minority of agentic programs that actually reach production value.</a:t>
            </a:r>
            <a:endParaRPr lang="en-US" sz="950" dirty="0"/>
          </a:p>
        </p:txBody>
      </p:sp>
      <p:sp>
        <p:nvSpPr>
          <p:cNvPr id="22" name="Text 20"/>
          <p:cNvSpPr txBox="1"/>
          <p:nvPr/>
        </p:nvSpPr>
        <p:spPr>
          <a:xfrm>
            <a:off x="6492240" y="5618074"/>
            <a:ext cx="4937760" cy="237744"/>
          </a:xfrm>
          <a:prstGeom prst="rect">
            <a:avLst/>
          </a:prstGeom>
          <a:noFill/>
          <a:ln/>
        </p:spPr>
        <p:txBody>
          <a:bodyPr wrap="square" lIns="0" tIns="0" rIns="0" bIns="0" rtlCol="0" anchor="ctr"/>
          <a:lstStyle/>
          <a:p>
            <a:pPr indent="0" marL="0">
              <a:lnSpc>
                <a:spcPct val="88000"/>
              </a:lnSpc>
              <a:buNone/>
            </a:pPr>
            <a:r>
              <a:rPr lang="en-US" sz="950" b="1" dirty="0">
                <a:solidFill>
                  <a:srgbClr val="5B3A8C"/>
                </a:solidFill>
                <a:latin typeface="Calibri" pitchFamily="34" charset="0"/>
                <a:ea typeface="Calibri" pitchFamily="34" charset="-122"/>
                <a:cs typeface="Calibri" pitchFamily="34" charset="-120"/>
              </a:rPr>
              <a:t>The bridge into autonomous operations  </a:t>
            </a:r>
            <a:pPr indent="0" marL="0">
              <a:lnSpc>
                <a:spcPct val="88000"/>
              </a:lnSpc>
              <a:buNone/>
            </a:pPr>
            <a:r>
              <a:rPr lang="en-US" sz="900" dirty="0">
                <a:solidFill>
                  <a:srgbClr val="50485F"/>
                </a:solidFill>
                <a:latin typeface="Calibri" pitchFamily="34" charset="0"/>
                <a:ea typeface="Calibri" pitchFamily="34" charset="-122"/>
                <a:cs typeface="Calibri" pitchFamily="34" charset="-120"/>
              </a:rPr>
              <a:t>— The designed advisory bridge into CIS Layers 2–4.</a:t>
            </a:r>
            <a:endParaRPr lang="en-US" sz="950" dirty="0"/>
          </a:p>
        </p:txBody>
      </p:sp>
      <p:sp>
        <p:nvSpPr>
          <p:cNvPr id="23" name="Text 21"/>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24" name="Text 22"/>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04.5  ·  Overview</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OFFERING  ·  THE JUMP START WAY</a:t>
            </a:r>
            <a:endParaRPr lang="en-US" sz="1100" dirty="0"/>
          </a:p>
        </p:txBody>
      </p:sp>
      <p:sp>
        <p:nvSpPr>
          <p:cNvPr id="3" name="Text 1"/>
          <p:cNvSpPr txBox="1"/>
          <p:nvPr/>
        </p:nvSpPr>
        <p:spPr>
          <a:xfrm>
            <a:off x="484632" y="658368"/>
            <a:ext cx="11338560" cy="502920"/>
          </a:xfrm>
          <a:prstGeom prst="rect">
            <a:avLst/>
          </a:prstGeom>
          <a:noFill/>
          <a:ln/>
        </p:spPr>
        <p:txBody>
          <a:bodyPr wrap="square" lIns="0" tIns="0" rIns="0" bIns="0" rtlCol="0" anchor="ctr"/>
          <a:lstStyle/>
          <a:p>
            <a:pPr indent="0" marL="0">
              <a:buNone/>
            </a:pPr>
            <a:r>
              <a:rPr lang="en-US" sz="2400" b="1" dirty="0">
                <a:solidFill>
                  <a:srgbClr val="B99FDB"/>
                </a:solidFill>
                <a:latin typeface="Cambria" pitchFamily="34" charset="0"/>
                <a:ea typeface="Cambria" pitchFamily="34" charset="-122"/>
                <a:cs typeface="Cambria" pitchFamily="34" charset="-120"/>
              </a:rPr>
              <a:t>04.5   </a:t>
            </a:r>
            <a:pPr indent="0" marL="0">
              <a:buNone/>
            </a:pPr>
            <a:r>
              <a:rPr lang="en-US" sz="2200" b="1" dirty="0">
                <a:solidFill>
                  <a:srgbClr val="1B1F23"/>
                </a:solidFill>
                <a:latin typeface="Cambria" pitchFamily="34" charset="0"/>
                <a:ea typeface="Cambria" pitchFamily="34" charset="-122"/>
                <a:cs typeface="Cambria" pitchFamily="34" charset="-120"/>
              </a:rPr>
              <a:t>Agentic-Ops</a:t>
            </a:r>
            <a:endParaRPr lang="en-US" sz="2400" dirty="0"/>
          </a:p>
        </p:txBody>
      </p:sp>
      <p:sp>
        <p:nvSpPr>
          <p:cNvPr id="4" name="Text 2"/>
          <p:cNvSpPr txBox="1"/>
          <p:nvPr/>
        </p:nvSpPr>
        <p:spPr>
          <a:xfrm>
            <a:off x="502920" y="1188720"/>
            <a:ext cx="11155680" cy="274320"/>
          </a:xfrm>
          <a:prstGeom prst="rect">
            <a:avLst/>
          </a:prstGeom>
          <a:noFill/>
          <a:ln/>
        </p:spPr>
        <p:txBody>
          <a:bodyPr wrap="square" lIns="0" tIns="0" rIns="0" bIns="0" rtlCol="0" anchor="ctr"/>
          <a:lstStyle/>
          <a:p>
            <a:pPr indent="0" marL="0">
              <a:buNone/>
            </a:pPr>
            <a:r>
              <a:rPr lang="en-US" sz="1200" i="1" dirty="0">
                <a:solidFill>
                  <a:srgbClr val="5A5266"/>
                </a:solidFill>
                <a:latin typeface="Calibri" pitchFamily="34" charset="0"/>
                <a:ea typeface="Calibri" pitchFamily="34" charset="-122"/>
                <a:cs typeface="Calibri" pitchFamily="34" charset="-120"/>
              </a:rPr>
              <a:t>Understand → Ideate → Outcreate — every action falls into one of three phases.</a:t>
            </a:r>
            <a:endParaRPr lang="en-US" sz="1200" dirty="0"/>
          </a:p>
        </p:txBody>
      </p:sp>
      <p:sp>
        <p:nvSpPr>
          <p:cNvPr id="5" name="Shape 3"/>
          <p:cNvSpPr/>
          <p:nvPr/>
        </p:nvSpPr>
        <p:spPr>
          <a:xfrm>
            <a:off x="502920" y="1783080"/>
            <a:ext cx="3602736" cy="4160520"/>
          </a:xfrm>
          <a:prstGeom prst="roundRect">
            <a:avLst>
              <a:gd name="adj" fmla="val 1777"/>
            </a:avLst>
          </a:prstGeom>
          <a:solidFill>
            <a:srgbClr val="F7F4FB"/>
          </a:solidFill>
          <a:ln w="9525">
            <a:solidFill>
              <a:srgbClr val="E2D9EE"/>
            </a:solidFill>
            <a:prstDash val="solid"/>
          </a:ln>
        </p:spPr>
      </p:sp>
      <p:sp>
        <p:nvSpPr>
          <p:cNvPr id="6" name="Shape 4"/>
          <p:cNvSpPr/>
          <p:nvPr/>
        </p:nvSpPr>
        <p:spPr>
          <a:xfrm>
            <a:off x="502920" y="1783080"/>
            <a:ext cx="3602736" cy="868680"/>
          </a:xfrm>
          <a:prstGeom prst="roundRect">
            <a:avLst>
              <a:gd name="adj" fmla="val 7368"/>
            </a:avLst>
          </a:prstGeom>
          <a:solidFill>
            <a:srgbClr val="5B3A8C"/>
          </a:solidFill>
          <a:ln/>
        </p:spPr>
      </p:sp>
      <p:sp>
        <p:nvSpPr>
          <p:cNvPr id="7" name="Shape 5"/>
          <p:cNvSpPr/>
          <p:nvPr/>
        </p:nvSpPr>
        <p:spPr>
          <a:xfrm>
            <a:off x="502920" y="2194560"/>
            <a:ext cx="3602736" cy="457200"/>
          </a:xfrm>
          <a:prstGeom prst="rect">
            <a:avLst/>
          </a:prstGeom>
          <a:solidFill>
            <a:srgbClr val="5B3A8C"/>
          </a:solidFill>
          <a:ln/>
        </p:spPr>
      </p:sp>
      <p:pic>
        <p:nvPicPr>
          <p:cNvPr id="8" name="Image 0" descr="/home/claude/p4_pe_understand.png">    </p:cNvPr>
          <p:cNvPicPr>
            <a:picLocks noChangeAspect="1"/>
          </p:cNvPicPr>
          <p:nvPr/>
        </p:nvPicPr>
        <p:blipFill>
          <a:blip r:embed="rId1"/>
          <a:stretch>
            <a:fillRect/>
          </a:stretch>
        </p:blipFill>
        <p:spPr>
          <a:xfrm>
            <a:off x="740664" y="2002536"/>
            <a:ext cx="438912" cy="438912"/>
          </a:xfrm>
          <a:prstGeom prst="rect">
            <a:avLst/>
          </a:prstGeom>
        </p:spPr>
      </p:pic>
      <p:sp>
        <p:nvSpPr>
          <p:cNvPr id="9" name="Text 6"/>
          <p:cNvSpPr txBox="1"/>
          <p:nvPr/>
        </p:nvSpPr>
        <p:spPr>
          <a:xfrm>
            <a:off x="130759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UNDERSTAND</a:t>
            </a:r>
            <a:endParaRPr lang="en-US" sz="1700" dirty="0"/>
          </a:p>
        </p:txBody>
      </p:sp>
      <p:sp>
        <p:nvSpPr>
          <p:cNvPr id="10" name="Text 7"/>
          <p:cNvSpPr txBox="1"/>
          <p:nvPr/>
        </p:nvSpPr>
        <p:spPr>
          <a:xfrm>
            <a:off x="1325880" y="2295144"/>
            <a:ext cx="2688336" cy="237744"/>
          </a:xfrm>
          <a:prstGeom prst="rect">
            <a:avLst/>
          </a:prstGeom>
          <a:noFill/>
          <a:ln/>
        </p:spPr>
        <p:txBody>
          <a:bodyPr wrap="square" lIns="0" tIns="0" rIns="0" bIns="0" rtlCol="0" anchor="ctr"/>
          <a:lstStyle/>
          <a:p>
            <a:pPr indent="0" marL="0">
              <a:buNone/>
            </a:pPr>
            <a:r>
              <a:rPr lang="en-US" sz="1000" b="1" spc="100" kern="0" dirty="0">
                <a:solidFill>
                  <a:srgbClr val="D6C2EC"/>
                </a:solidFill>
                <a:latin typeface="Calibri" pitchFamily="34" charset="0"/>
                <a:ea typeface="Calibri" pitchFamily="34" charset="-122"/>
                <a:cs typeface="Calibri" pitchFamily="34" charset="-120"/>
              </a:rPr>
              <a:t>Diagnose · 1–2 wks</a:t>
            </a:r>
            <a:endParaRPr lang="en-US" sz="1000" dirty="0"/>
          </a:p>
        </p:txBody>
      </p:sp>
      <p:sp>
        <p:nvSpPr>
          <p:cNvPr id="11" name="Text 8"/>
          <p:cNvSpPr txBox="1"/>
          <p:nvPr/>
        </p:nvSpPr>
        <p:spPr>
          <a:xfrm>
            <a:off x="74066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Assess readiness for agentic operations (data quality, observability, automation maturity)</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Inventory candidate processes and current agent activity</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Identify where autonomy is safe, and what must be true first</a:t>
            </a:r>
            <a:endParaRPr lang="en-US" sz="1000" dirty="0"/>
          </a:p>
        </p:txBody>
      </p:sp>
      <p:sp>
        <p:nvSpPr>
          <p:cNvPr id="12" name="Shape 9"/>
          <p:cNvSpPr/>
          <p:nvPr/>
        </p:nvSpPr>
        <p:spPr>
          <a:xfrm>
            <a:off x="740664" y="4983480"/>
            <a:ext cx="3127248" cy="0"/>
          </a:xfrm>
          <a:prstGeom prst="line">
            <a:avLst/>
          </a:prstGeom>
          <a:noFill/>
          <a:ln w="12700">
            <a:solidFill>
              <a:srgbClr val="E2D9EE"/>
            </a:solidFill>
            <a:prstDash val="solid"/>
          </a:ln>
        </p:spPr>
      </p:sp>
      <p:sp>
        <p:nvSpPr>
          <p:cNvPr id="13" name="Text 10"/>
          <p:cNvSpPr txBox="1"/>
          <p:nvPr/>
        </p:nvSpPr>
        <p:spPr>
          <a:xfrm>
            <a:off x="74066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14" name="Text 11"/>
          <p:cNvSpPr txBox="1"/>
          <p:nvPr/>
        </p:nvSpPr>
        <p:spPr>
          <a:xfrm>
            <a:off x="74066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5B3A8C"/>
                </a:solidFill>
                <a:latin typeface="Calibri" pitchFamily="34" charset="0"/>
                <a:ea typeface="Calibri" pitchFamily="34" charset="-122"/>
                <a:cs typeface="Calibri" pitchFamily="34" charset="-120"/>
              </a:rPr>
              <a:t>Agentic-ops readiness assessment · candidate-process inventory · safe-autonomy view · Understand Playback</a:t>
            </a:r>
            <a:endParaRPr lang="en-US" sz="950" dirty="0"/>
          </a:p>
        </p:txBody>
      </p:sp>
      <p:sp>
        <p:nvSpPr>
          <p:cNvPr id="15" name="Text 12"/>
          <p:cNvSpPr txBox="1"/>
          <p:nvPr/>
        </p:nvSpPr>
        <p:spPr>
          <a:xfrm>
            <a:off x="4087368" y="3520440"/>
            <a:ext cx="274320" cy="365760"/>
          </a:xfrm>
          <a:prstGeom prst="rect">
            <a:avLst/>
          </a:prstGeom>
          <a:noFill/>
          <a:ln/>
        </p:spPr>
        <p:txBody>
          <a:bodyPr wrap="square" lIns="0" tIns="0" rIns="0" bIns="0" rtlCol="0" anchor="ctr"/>
          <a:lstStyle/>
          <a:p>
            <a:pPr algn="ctr" indent="0" marL="0">
              <a:buNone/>
            </a:pPr>
            <a:r>
              <a:rPr lang="en-US" sz="2000" dirty="0">
                <a:solidFill>
                  <a:srgbClr val="5A5266"/>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4343400" y="1783080"/>
            <a:ext cx="3602736" cy="4160520"/>
          </a:xfrm>
          <a:prstGeom prst="roundRect">
            <a:avLst>
              <a:gd name="adj" fmla="val 1777"/>
            </a:avLst>
          </a:prstGeom>
          <a:solidFill>
            <a:srgbClr val="F7F4FB"/>
          </a:solidFill>
          <a:ln w="9525">
            <a:solidFill>
              <a:srgbClr val="E2D9EE"/>
            </a:solidFill>
            <a:prstDash val="solid"/>
          </a:ln>
        </p:spPr>
      </p:sp>
      <p:sp>
        <p:nvSpPr>
          <p:cNvPr id="17" name="Shape 14"/>
          <p:cNvSpPr/>
          <p:nvPr/>
        </p:nvSpPr>
        <p:spPr>
          <a:xfrm>
            <a:off x="4343400" y="1783080"/>
            <a:ext cx="3602736" cy="868680"/>
          </a:xfrm>
          <a:prstGeom prst="roundRect">
            <a:avLst>
              <a:gd name="adj" fmla="val 7368"/>
            </a:avLst>
          </a:prstGeom>
          <a:solidFill>
            <a:srgbClr val="472D6E"/>
          </a:solidFill>
          <a:ln/>
        </p:spPr>
      </p:sp>
      <p:sp>
        <p:nvSpPr>
          <p:cNvPr id="18" name="Shape 15"/>
          <p:cNvSpPr/>
          <p:nvPr/>
        </p:nvSpPr>
        <p:spPr>
          <a:xfrm>
            <a:off x="4343400" y="2194560"/>
            <a:ext cx="3602736" cy="457200"/>
          </a:xfrm>
          <a:prstGeom prst="rect">
            <a:avLst/>
          </a:prstGeom>
          <a:solidFill>
            <a:srgbClr val="472D6E"/>
          </a:solidFill>
          <a:ln/>
        </p:spPr>
      </p:sp>
      <p:pic>
        <p:nvPicPr>
          <p:cNvPr id="19" name="Image 1" descr="/home/claude/p4_pe_ideate.png">    </p:cNvPr>
          <p:cNvPicPr>
            <a:picLocks noChangeAspect="1"/>
          </p:cNvPicPr>
          <p:nvPr/>
        </p:nvPicPr>
        <p:blipFill>
          <a:blip r:embed="rId2"/>
          <a:stretch>
            <a:fillRect/>
          </a:stretch>
        </p:blipFill>
        <p:spPr>
          <a:xfrm>
            <a:off x="4581144" y="2002536"/>
            <a:ext cx="438912" cy="438912"/>
          </a:xfrm>
          <a:prstGeom prst="rect">
            <a:avLst/>
          </a:prstGeom>
        </p:spPr>
      </p:pic>
      <p:sp>
        <p:nvSpPr>
          <p:cNvPr id="20" name="Text 16"/>
          <p:cNvSpPr txBox="1"/>
          <p:nvPr/>
        </p:nvSpPr>
        <p:spPr>
          <a:xfrm>
            <a:off x="514807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IDEATE</a:t>
            </a:r>
            <a:endParaRPr lang="en-US" sz="1700" dirty="0"/>
          </a:p>
        </p:txBody>
      </p:sp>
      <p:sp>
        <p:nvSpPr>
          <p:cNvPr id="21" name="Text 17"/>
          <p:cNvSpPr txBox="1"/>
          <p:nvPr/>
        </p:nvSpPr>
        <p:spPr>
          <a:xfrm>
            <a:off x="5166360" y="2295144"/>
            <a:ext cx="2688336" cy="237744"/>
          </a:xfrm>
          <a:prstGeom prst="rect">
            <a:avLst/>
          </a:prstGeom>
          <a:noFill/>
          <a:ln/>
        </p:spPr>
        <p:txBody>
          <a:bodyPr wrap="square" lIns="0" tIns="0" rIns="0" bIns="0" rtlCol="0" anchor="ctr"/>
          <a:lstStyle/>
          <a:p>
            <a:pPr indent="0" marL="0">
              <a:buNone/>
            </a:pPr>
            <a:r>
              <a:rPr lang="en-US" sz="1000" b="1" spc="100" kern="0" dirty="0">
                <a:solidFill>
                  <a:srgbClr val="D6C2EC"/>
                </a:solidFill>
                <a:latin typeface="Calibri" pitchFamily="34" charset="0"/>
                <a:ea typeface="Calibri" pitchFamily="34" charset="-122"/>
                <a:cs typeface="Calibri" pitchFamily="34" charset="-120"/>
              </a:rPr>
              <a:t>Design · 4–8 wks</a:t>
            </a:r>
            <a:endParaRPr lang="en-US" sz="1000" dirty="0"/>
          </a:p>
        </p:txBody>
      </p:sp>
      <p:sp>
        <p:nvSpPr>
          <p:cNvPr id="22" name="Text 18"/>
          <p:cNvSpPr txBox="1"/>
          <p:nvPr/>
        </p:nvSpPr>
        <p:spPr>
          <a:xfrm>
            <a:off x="458114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Define safe-action boundaries (autonomous / human-approval / never-automate)</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Design the agentic operating model (accountability, escalation, audit, workforce)</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Sequence the assisted → supervised → autonomous transition</a:t>
            </a:r>
            <a:endParaRPr lang="en-US" sz="1000" dirty="0"/>
          </a:p>
        </p:txBody>
      </p:sp>
      <p:sp>
        <p:nvSpPr>
          <p:cNvPr id="23" name="Shape 19"/>
          <p:cNvSpPr/>
          <p:nvPr/>
        </p:nvSpPr>
        <p:spPr>
          <a:xfrm>
            <a:off x="4581144" y="4983480"/>
            <a:ext cx="3127248" cy="0"/>
          </a:xfrm>
          <a:prstGeom prst="line">
            <a:avLst/>
          </a:prstGeom>
          <a:noFill/>
          <a:ln w="12700">
            <a:solidFill>
              <a:srgbClr val="E2D9EE"/>
            </a:solidFill>
            <a:prstDash val="solid"/>
          </a:ln>
        </p:spPr>
      </p:sp>
      <p:sp>
        <p:nvSpPr>
          <p:cNvPr id="24" name="Text 20"/>
          <p:cNvSpPr txBox="1"/>
          <p:nvPr/>
        </p:nvSpPr>
        <p:spPr>
          <a:xfrm>
            <a:off x="458114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25" name="Text 21"/>
          <p:cNvSpPr txBox="1"/>
          <p:nvPr/>
        </p:nvSpPr>
        <p:spPr>
          <a:xfrm>
            <a:off x="458114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5B3A8C"/>
                </a:solidFill>
                <a:latin typeface="Calibri" pitchFamily="34" charset="0"/>
                <a:ea typeface="Calibri" pitchFamily="34" charset="-122"/>
                <a:cs typeface="Calibri" pitchFamily="34" charset="-120"/>
              </a:rPr>
              <a:t>Safe-action boundary model · agentic operating model · transition roadmap · advisory PoV · Ideate Playback</a:t>
            </a:r>
            <a:endParaRPr lang="en-US" sz="950" dirty="0"/>
          </a:p>
        </p:txBody>
      </p:sp>
      <p:sp>
        <p:nvSpPr>
          <p:cNvPr id="26" name="Text 22"/>
          <p:cNvSpPr txBox="1"/>
          <p:nvPr/>
        </p:nvSpPr>
        <p:spPr>
          <a:xfrm>
            <a:off x="7927848" y="3520440"/>
            <a:ext cx="274320" cy="365760"/>
          </a:xfrm>
          <a:prstGeom prst="rect">
            <a:avLst/>
          </a:prstGeom>
          <a:noFill/>
          <a:ln/>
        </p:spPr>
        <p:txBody>
          <a:bodyPr wrap="square" lIns="0" tIns="0" rIns="0" bIns="0" rtlCol="0" anchor="ctr"/>
          <a:lstStyle/>
          <a:p>
            <a:pPr algn="ctr" indent="0" marL="0">
              <a:buNone/>
            </a:pPr>
            <a:r>
              <a:rPr lang="en-US" sz="2000" dirty="0">
                <a:solidFill>
                  <a:srgbClr val="5A5266"/>
                </a:solidFill>
                <a:latin typeface="Calibri" pitchFamily="34" charset="0"/>
                <a:ea typeface="Calibri" pitchFamily="34" charset="-122"/>
                <a:cs typeface="Calibri" pitchFamily="34" charset="-120"/>
              </a:rPr>
              <a:t>→</a:t>
            </a:r>
            <a:endParaRPr lang="en-US" sz="2000" dirty="0"/>
          </a:p>
        </p:txBody>
      </p:sp>
      <p:sp>
        <p:nvSpPr>
          <p:cNvPr id="27" name="Shape 23"/>
          <p:cNvSpPr/>
          <p:nvPr/>
        </p:nvSpPr>
        <p:spPr>
          <a:xfrm>
            <a:off x="8183880" y="1783080"/>
            <a:ext cx="3602736" cy="4160520"/>
          </a:xfrm>
          <a:prstGeom prst="roundRect">
            <a:avLst>
              <a:gd name="adj" fmla="val 1777"/>
            </a:avLst>
          </a:prstGeom>
          <a:solidFill>
            <a:srgbClr val="F7F4FB"/>
          </a:solidFill>
          <a:ln w="9525">
            <a:solidFill>
              <a:srgbClr val="E2D9EE"/>
            </a:solidFill>
            <a:prstDash val="solid"/>
          </a:ln>
        </p:spPr>
      </p:sp>
      <p:sp>
        <p:nvSpPr>
          <p:cNvPr id="28" name="Shape 24"/>
          <p:cNvSpPr/>
          <p:nvPr/>
        </p:nvSpPr>
        <p:spPr>
          <a:xfrm>
            <a:off x="8183880" y="1783080"/>
            <a:ext cx="3602736" cy="868680"/>
          </a:xfrm>
          <a:prstGeom prst="roundRect">
            <a:avLst>
              <a:gd name="adj" fmla="val 7368"/>
            </a:avLst>
          </a:prstGeom>
          <a:solidFill>
            <a:srgbClr val="341F52"/>
          </a:solidFill>
          <a:ln/>
        </p:spPr>
      </p:sp>
      <p:sp>
        <p:nvSpPr>
          <p:cNvPr id="29" name="Shape 25"/>
          <p:cNvSpPr/>
          <p:nvPr/>
        </p:nvSpPr>
        <p:spPr>
          <a:xfrm>
            <a:off x="8183880" y="2194560"/>
            <a:ext cx="3602736" cy="457200"/>
          </a:xfrm>
          <a:prstGeom prst="rect">
            <a:avLst/>
          </a:prstGeom>
          <a:solidFill>
            <a:srgbClr val="341F52"/>
          </a:solidFill>
          <a:ln/>
        </p:spPr>
      </p:sp>
      <p:pic>
        <p:nvPicPr>
          <p:cNvPr id="30" name="Image 2" descr="/home/claude/p4_pe_outcreate.png">    </p:cNvPr>
          <p:cNvPicPr>
            <a:picLocks noChangeAspect="1"/>
          </p:cNvPicPr>
          <p:nvPr/>
        </p:nvPicPr>
        <p:blipFill>
          <a:blip r:embed="rId3"/>
          <a:stretch>
            <a:fillRect/>
          </a:stretch>
        </p:blipFill>
        <p:spPr>
          <a:xfrm>
            <a:off x="8421624" y="2002536"/>
            <a:ext cx="438912" cy="438912"/>
          </a:xfrm>
          <a:prstGeom prst="rect">
            <a:avLst/>
          </a:prstGeom>
        </p:spPr>
      </p:pic>
      <p:sp>
        <p:nvSpPr>
          <p:cNvPr id="31" name="Text 26"/>
          <p:cNvSpPr txBox="1"/>
          <p:nvPr/>
        </p:nvSpPr>
        <p:spPr>
          <a:xfrm>
            <a:off x="8988552" y="1965960"/>
            <a:ext cx="2688336"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OUTCREATE</a:t>
            </a:r>
            <a:endParaRPr lang="en-US" sz="1700" dirty="0"/>
          </a:p>
        </p:txBody>
      </p:sp>
      <p:sp>
        <p:nvSpPr>
          <p:cNvPr id="32" name="Text 27"/>
          <p:cNvSpPr txBox="1"/>
          <p:nvPr/>
        </p:nvSpPr>
        <p:spPr>
          <a:xfrm>
            <a:off x="9006840" y="2295144"/>
            <a:ext cx="2688336" cy="237744"/>
          </a:xfrm>
          <a:prstGeom prst="rect">
            <a:avLst/>
          </a:prstGeom>
          <a:noFill/>
          <a:ln/>
        </p:spPr>
        <p:txBody>
          <a:bodyPr wrap="square" lIns="0" tIns="0" rIns="0" bIns="0" rtlCol="0" anchor="ctr"/>
          <a:lstStyle/>
          <a:p>
            <a:pPr indent="0" marL="0">
              <a:buNone/>
            </a:pPr>
            <a:r>
              <a:rPr lang="en-US" sz="1000" b="1" spc="100" kern="0" dirty="0">
                <a:solidFill>
                  <a:srgbClr val="D6C2EC"/>
                </a:solidFill>
                <a:latin typeface="Calibri" pitchFamily="34" charset="0"/>
                <a:ea typeface="Calibri" pitchFamily="34" charset="-122"/>
                <a:cs typeface="Calibri" pitchFamily="34" charset="-120"/>
              </a:rPr>
              <a:t>Mobilise · final 2 wks</a:t>
            </a:r>
            <a:endParaRPr lang="en-US" sz="1000" dirty="0"/>
          </a:p>
        </p:txBody>
      </p:sp>
      <p:sp>
        <p:nvSpPr>
          <p:cNvPr id="33" name="Text 28"/>
          <p:cNvSpPr txBox="1"/>
          <p:nvPr/>
        </p:nvSpPr>
        <p:spPr>
          <a:xfrm>
            <a:off x="8421624" y="2825496"/>
            <a:ext cx="3127248" cy="2103120"/>
          </a:xfrm>
          <a:prstGeom prst="rect">
            <a:avLst/>
          </a:prstGeom>
          <a:noFill/>
          <a:ln/>
        </p:spPr>
        <p:txBody>
          <a:bodyPr wrap="square" lIns="0" tIns="0" rIns="0" bIns="0" rtlCol="0" anchor="t"/>
          <a:lstStyle/>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Consolidate into an executive-ready agentic-ops roadmap</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Define the control and assurance framework for autonomous action</a:t>
            </a:r>
            <a:endParaRPr lang="en-US" sz="1000" dirty="0"/>
          </a:p>
          <a:p>
            <a:pPr marL="152400" indent="-152400">
              <a:lnSpc>
                <a:spcPct val="98000"/>
              </a:lnSpc>
              <a:spcAft>
                <a:spcPts val="700"/>
              </a:spcAft>
              <a:buSzPct val="100000"/>
              <a:buChar char="•"/>
            </a:pPr>
            <a:r>
              <a:rPr lang="en-US" sz="1000" dirty="0">
                <a:solidFill>
                  <a:srgbClr val="322C40"/>
                </a:solidFill>
                <a:latin typeface="Calibri" pitchFamily="34" charset="0"/>
                <a:ea typeface="Calibri" pitchFamily="34" charset="-122"/>
                <a:cs typeface="Calibri" pitchFamily="34" charset="-120"/>
              </a:rPr>
              <a:t>Executive playback, decision sign-off, first-capability mobilization</a:t>
            </a:r>
            <a:endParaRPr lang="en-US" sz="1000" dirty="0"/>
          </a:p>
        </p:txBody>
      </p:sp>
      <p:sp>
        <p:nvSpPr>
          <p:cNvPr id="34" name="Shape 29"/>
          <p:cNvSpPr/>
          <p:nvPr/>
        </p:nvSpPr>
        <p:spPr>
          <a:xfrm>
            <a:off x="8421624" y="4983480"/>
            <a:ext cx="3127248" cy="0"/>
          </a:xfrm>
          <a:prstGeom prst="line">
            <a:avLst/>
          </a:prstGeom>
          <a:noFill/>
          <a:ln w="12700">
            <a:solidFill>
              <a:srgbClr val="E2D9EE"/>
            </a:solidFill>
            <a:prstDash val="solid"/>
          </a:ln>
        </p:spPr>
      </p:sp>
      <p:sp>
        <p:nvSpPr>
          <p:cNvPr id="35" name="Text 30"/>
          <p:cNvSpPr txBox="1"/>
          <p:nvPr/>
        </p:nvSpPr>
        <p:spPr>
          <a:xfrm>
            <a:off x="8421624" y="5056632"/>
            <a:ext cx="3127248" cy="219456"/>
          </a:xfrm>
          <a:prstGeom prst="rect">
            <a:avLst/>
          </a:prstGeom>
          <a:noFill/>
          <a:ln/>
        </p:spPr>
        <p:txBody>
          <a:bodyPr wrap="square" lIns="0" tIns="0" rIns="0" bIns="0" rtlCol="0" anchor="ctr"/>
          <a:lstStyle/>
          <a:p>
            <a:pPr indent="0" marL="0">
              <a:buNone/>
            </a:pPr>
            <a:r>
              <a:rPr lang="en-US" sz="900" b="1" spc="100" kern="0" dirty="0">
                <a:solidFill>
                  <a:srgbClr val="D35400"/>
                </a:solidFill>
                <a:latin typeface="Calibri" pitchFamily="34" charset="0"/>
                <a:ea typeface="Calibri" pitchFamily="34" charset="-122"/>
                <a:cs typeface="Calibri" pitchFamily="34" charset="-120"/>
              </a:rPr>
              <a:t>PHASE OUTPUTS</a:t>
            </a:r>
            <a:endParaRPr lang="en-US" sz="900" dirty="0"/>
          </a:p>
        </p:txBody>
      </p:sp>
      <p:sp>
        <p:nvSpPr>
          <p:cNvPr id="36" name="Text 31"/>
          <p:cNvSpPr txBox="1"/>
          <p:nvPr/>
        </p:nvSpPr>
        <p:spPr>
          <a:xfrm>
            <a:off x="8421624" y="5276088"/>
            <a:ext cx="3127248" cy="621792"/>
          </a:xfrm>
          <a:prstGeom prst="rect">
            <a:avLst/>
          </a:prstGeom>
          <a:noFill/>
          <a:ln/>
        </p:spPr>
        <p:txBody>
          <a:bodyPr wrap="square" lIns="0" tIns="0" rIns="0" bIns="0" rtlCol="0" anchor="ctr"/>
          <a:lstStyle/>
          <a:p>
            <a:pPr indent="0" marL="0">
              <a:lnSpc>
                <a:spcPct val="100000"/>
              </a:lnSpc>
              <a:buNone/>
            </a:pPr>
            <a:r>
              <a:rPr lang="en-US" sz="950" dirty="0">
                <a:solidFill>
                  <a:srgbClr val="5B3A8C"/>
                </a:solidFill>
                <a:latin typeface="Calibri" pitchFamily="34" charset="0"/>
                <a:ea typeface="Calibri" pitchFamily="34" charset="-122"/>
                <a:cs typeface="Calibri" pitchFamily="34" charset="-120"/>
              </a:rPr>
              <a:t>Board-ready agentic-ops roadmap · control &amp; assurance framework · mobilization plan · Executive Playback · Closure Pack</a:t>
            </a:r>
            <a:endParaRPr lang="en-US" sz="950" dirty="0"/>
          </a:p>
        </p:txBody>
      </p:sp>
      <p:sp>
        <p:nvSpPr>
          <p:cNvPr id="37" name="Text 32"/>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38" name="Text 33"/>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04.5  ·  Solution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0058400" cy="274320"/>
          </a:xfrm>
          <a:prstGeom prst="rect">
            <a:avLst/>
          </a:prstGeom>
          <a:noFill/>
          <a:ln/>
        </p:spPr>
        <p:txBody>
          <a:bodyPr wrap="square" lIns="0" tIns="0" rIns="0" bIns="0" rtlCol="0" anchor="ctr"/>
          <a:lstStyle/>
          <a:p>
            <a:pPr indent="0" marL="0">
              <a:buNone/>
            </a:pPr>
            <a:r>
              <a:rPr lang="en-US" sz="1100" b="1" spc="200" kern="0" dirty="0">
                <a:solidFill>
                  <a:srgbClr val="5B3A8C"/>
                </a:solidFill>
                <a:latin typeface="Calibri" pitchFamily="34" charset="0"/>
                <a:ea typeface="Calibri" pitchFamily="34" charset="-122"/>
                <a:cs typeface="Calibri" pitchFamily="34" charset="-120"/>
              </a:rPr>
              <a:t>OFFERING  ·  DELIVERABLES &amp; SCOPE</a:t>
            </a:r>
            <a:endParaRPr lang="en-US" sz="1100" dirty="0"/>
          </a:p>
        </p:txBody>
      </p:sp>
      <p:sp>
        <p:nvSpPr>
          <p:cNvPr id="3" name="Text 1"/>
          <p:cNvSpPr txBox="1"/>
          <p:nvPr/>
        </p:nvSpPr>
        <p:spPr>
          <a:xfrm>
            <a:off x="484632" y="658368"/>
            <a:ext cx="11338560" cy="502920"/>
          </a:xfrm>
          <a:prstGeom prst="rect">
            <a:avLst/>
          </a:prstGeom>
          <a:noFill/>
          <a:ln/>
        </p:spPr>
        <p:txBody>
          <a:bodyPr wrap="square" lIns="0" tIns="0" rIns="0" bIns="0" rtlCol="0" anchor="ctr"/>
          <a:lstStyle/>
          <a:p>
            <a:pPr indent="0" marL="0">
              <a:buNone/>
            </a:pPr>
            <a:r>
              <a:rPr lang="en-US" sz="2400" b="1" dirty="0">
                <a:solidFill>
                  <a:srgbClr val="B99FDB"/>
                </a:solidFill>
                <a:latin typeface="Cambria" pitchFamily="34" charset="0"/>
                <a:ea typeface="Cambria" pitchFamily="34" charset="-122"/>
                <a:cs typeface="Cambria" pitchFamily="34" charset="-120"/>
              </a:rPr>
              <a:t>04.5   </a:t>
            </a:r>
            <a:pPr indent="0" marL="0">
              <a:buNone/>
            </a:pPr>
            <a:r>
              <a:rPr lang="en-US" sz="2200" b="1" dirty="0">
                <a:solidFill>
                  <a:srgbClr val="1B1F23"/>
                </a:solidFill>
                <a:latin typeface="Cambria" pitchFamily="34" charset="0"/>
                <a:ea typeface="Cambria" pitchFamily="34" charset="-122"/>
                <a:cs typeface="Cambria" pitchFamily="34" charset="-120"/>
              </a:rPr>
              <a:t>Agentic-Ops</a:t>
            </a:r>
            <a:endParaRPr lang="en-US" sz="2400" dirty="0"/>
          </a:p>
        </p:txBody>
      </p:sp>
      <p:sp>
        <p:nvSpPr>
          <p:cNvPr id="4" name="Shape 2"/>
          <p:cNvSpPr/>
          <p:nvPr/>
        </p:nvSpPr>
        <p:spPr>
          <a:xfrm>
            <a:off x="502920" y="1600200"/>
            <a:ext cx="5394960" cy="4480560"/>
          </a:xfrm>
          <a:prstGeom prst="roundRect">
            <a:avLst>
              <a:gd name="adj" fmla="val 1429"/>
            </a:avLst>
          </a:prstGeom>
          <a:solidFill>
            <a:srgbClr val="5B3A8C"/>
          </a:solidFill>
          <a:ln/>
        </p:spPr>
      </p:sp>
      <p:pic>
        <p:nvPicPr>
          <p:cNvPr id="5" name="Image 0" descr="/home/claude/p4_pe_deliver.png">    </p:cNvPr>
          <p:cNvPicPr>
            <a:picLocks noChangeAspect="1"/>
          </p:cNvPicPr>
          <p:nvPr/>
        </p:nvPicPr>
        <p:blipFill>
          <a:blip r:embed="rId1"/>
          <a:stretch>
            <a:fillRect/>
          </a:stretch>
        </p:blipFill>
        <p:spPr>
          <a:xfrm>
            <a:off x="758952" y="1856232"/>
            <a:ext cx="457200" cy="457200"/>
          </a:xfrm>
          <a:prstGeom prst="rect">
            <a:avLst/>
          </a:prstGeom>
        </p:spPr>
      </p:pic>
      <p:sp>
        <p:nvSpPr>
          <p:cNvPr id="6" name="Text 3"/>
          <p:cNvSpPr txBox="1"/>
          <p:nvPr/>
        </p:nvSpPr>
        <p:spPr>
          <a:xfrm>
            <a:off x="1344168" y="1929384"/>
            <a:ext cx="448056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KEY DELIVERABLES</a:t>
            </a:r>
            <a:endParaRPr lang="en-US" sz="1700" dirty="0"/>
          </a:p>
        </p:txBody>
      </p:sp>
      <p:sp>
        <p:nvSpPr>
          <p:cNvPr id="7" name="Text 4"/>
          <p:cNvSpPr txBox="1"/>
          <p:nvPr/>
        </p:nvSpPr>
        <p:spPr>
          <a:xfrm>
            <a:off x="777240" y="2423160"/>
            <a:ext cx="4846320" cy="274320"/>
          </a:xfrm>
          <a:prstGeom prst="rect">
            <a:avLst/>
          </a:prstGeom>
          <a:noFill/>
          <a:ln/>
        </p:spPr>
        <p:txBody>
          <a:bodyPr wrap="square" lIns="0" tIns="0" rIns="0" bIns="0" rtlCol="0" anchor="ctr"/>
          <a:lstStyle/>
          <a:p>
            <a:pPr indent="0" marL="0">
              <a:buNone/>
            </a:pPr>
            <a:r>
              <a:rPr lang="en-US" sz="1050" i="1" dirty="0">
                <a:solidFill>
                  <a:srgbClr val="D6C2EC"/>
                </a:solidFill>
                <a:latin typeface="Calibri" pitchFamily="34" charset="0"/>
                <a:ea typeface="Calibri" pitchFamily="34" charset="-122"/>
                <a:cs typeface="Calibri" pitchFamily="34" charset="-120"/>
              </a:rPr>
              <a:t>The headline artifacts you keep from the engagement.</a:t>
            </a:r>
            <a:endParaRPr lang="en-US" sz="1050" dirty="0"/>
          </a:p>
        </p:txBody>
      </p:sp>
      <p:sp>
        <p:nvSpPr>
          <p:cNvPr id="8" name="Shape 5"/>
          <p:cNvSpPr/>
          <p:nvPr/>
        </p:nvSpPr>
        <p:spPr>
          <a:xfrm>
            <a:off x="777240" y="2880360"/>
            <a:ext cx="310896" cy="310896"/>
          </a:xfrm>
          <a:prstGeom prst="roundRect">
            <a:avLst>
              <a:gd name="adj" fmla="val 14706"/>
            </a:avLst>
          </a:prstGeom>
          <a:solidFill>
            <a:srgbClr val="B99FDB"/>
          </a:solidFill>
          <a:ln/>
        </p:spPr>
      </p:sp>
      <p:sp>
        <p:nvSpPr>
          <p:cNvPr id="9" name="Text 6"/>
          <p:cNvSpPr txBox="1"/>
          <p:nvPr/>
        </p:nvSpPr>
        <p:spPr>
          <a:xfrm>
            <a:off x="777240" y="2880360"/>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216152" y="2843784"/>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Agentic-ops readiness assessment</a:t>
            </a:r>
            <a:endParaRPr lang="en-US" sz="1150" dirty="0"/>
          </a:p>
        </p:txBody>
      </p:sp>
      <p:sp>
        <p:nvSpPr>
          <p:cNvPr id="11" name="Shape 8"/>
          <p:cNvSpPr/>
          <p:nvPr/>
        </p:nvSpPr>
        <p:spPr>
          <a:xfrm>
            <a:off x="777240" y="3483864"/>
            <a:ext cx="310896" cy="310896"/>
          </a:xfrm>
          <a:prstGeom prst="roundRect">
            <a:avLst>
              <a:gd name="adj" fmla="val 14706"/>
            </a:avLst>
          </a:prstGeom>
          <a:solidFill>
            <a:srgbClr val="B99FDB"/>
          </a:solidFill>
          <a:ln/>
        </p:spPr>
      </p:sp>
      <p:sp>
        <p:nvSpPr>
          <p:cNvPr id="12" name="Text 9"/>
          <p:cNvSpPr txBox="1"/>
          <p:nvPr/>
        </p:nvSpPr>
        <p:spPr>
          <a:xfrm>
            <a:off x="777240" y="3483864"/>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2</a:t>
            </a:r>
            <a:endParaRPr lang="en-US" sz="1300" dirty="0"/>
          </a:p>
        </p:txBody>
      </p:sp>
      <p:sp>
        <p:nvSpPr>
          <p:cNvPr id="13" name="Text 10"/>
          <p:cNvSpPr txBox="1"/>
          <p:nvPr/>
        </p:nvSpPr>
        <p:spPr>
          <a:xfrm>
            <a:off x="1216152" y="3447288"/>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Safe-action boundary model</a:t>
            </a:r>
            <a:endParaRPr lang="en-US" sz="1150" dirty="0"/>
          </a:p>
        </p:txBody>
      </p:sp>
      <p:sp>
        <p:nvSpPr>
          <p:cNvPr id="14" name="Shape 11"/>
          <p:cNvSpPr/>
          <p:nvPr/>
        </p:nvSpPr>
        <p:spPr>
          <a:xfrm>
            <a:off x="777240" y="4087368"/>
            <a:ext cx="310896" cy="310896"/>
          </a:xfrm>
          <a:prstGeom prst="roundRect">
            <a:avLst>
              <a:gd name="adj" fmla="val 14706"/>
            </a:avLst>
          </a:prstGeom>
          <a:solidFill>
            <a:srgbClr val="B99FDB"/>
          </a:solidFill>
          <a:ln/>
        </p:spPr>
      </p:sp>
      <p:sp>
        <p:nvSpPr>
          <p:cNvPr id="15" name="Text 12"/>
          <p:cNvSpPr txBox="1"/>
          <p:nvPr/>
        </p:nvSpPr>
        <p:spPr>
          <a:xfrm>
            <a:off x="777240" y="4087368"/>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3</a:t>
            </a:r>
            <a:endParaRPr lang="en-US" sz="1300" dirty="0"/>
          </a:p>
        </p:txBody>
      </p:sp>
      <p:sp>
        <p:nvSpPr>
          <p:cNvPr id="16" name="Text 13"/>
          <p:cNvSpPr txBox="1"/>
          <p:nvPr/>
        </p:nvSpPr>
        <p:spPr>
          <a:xfrm>
            <a:off x="1216152" y="4050792"/>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Agentic operating model (accountability, escalation, audit)</a:t>
            </a:r>
            <a:endParaRPr lang="en-US" sz="1150" dirty="0"/>
          </a:p>
        </p:txBody>
      </p:sp>
      <p:sp>
        <p:nvSpPr>
          <p:cNvPr id="17" name="Shape 14"/>
          <p:cNvSpPr/>
          <p:nvPr/>
        </p:nvSpPr>
        <p:spPr>
          <a:xfrm>
            <a:off x="777240" y="4690872"/>
            <a:ext cx="310896" cy="310896"/>
          </a:xfrm>
          <a:prstGeom prst="roundRect">
            <a:avLst>
              <a:gd name="adj" fmla="val 14706"/>
            </a:avLst>
          </a:prstGeom>
          <a:solidFill>
            <a:srgbClr val="B99FDB"/>
          </a:solidFill>
          <a:ln/>
        </p:spPr>
      </p:sp>
      <p:sp>
        <p:nvSpPr>
          <p:cNvPr id="18" name="Text 15"/>
          <p:cNvSpPr txBox="1"/>
          <p:nvPr/>
        </p:nvSpPr>
        <p:spPr>
          <a:xfrm>
            <a:off x="777240" y="4690872"/>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216152" y="4654296"/>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Assisted → supervised → autonomous transition roadmap</a:t>
            </a:r>
            <a:endParaRPr lang="en-US" sz="1150" dirty="0"/>
          </a:p>
        </p:txBody>
      </p:sp>
      <p:sp>
        <p:nvSpPr>
          <p:cNvPr id="20" name="Shape 17"/>
          <p:cNvSpPr/>
          <p:nvPr/>
        </p:nvSpPr>
        <p:spPr>
          <a:xfrm>
            <a:off x="777240" y="5294376"/>
            <a:ext cx="310896" cy="310896"/>
          </a:xfrm>
          <a:prstGeom prst="roundRect">
            <a:avLst>
              <a:gd name="adj" fmla="val 14706"/>
            </a:avLst>
          </a:prstGeom>
          <a:solidFill>
            <a:srgbClr val="B99FDB"/>
          </a:solidFill>
          <a:ln/>
        </p:spPr>
      </p:sp>
      <p:sp>
        <p:nvSpPr>
          <p:cNvPr id="21" name="Text 18"/>
          <p:cNvSpPr txBox="1"/>
          <p:nvPr/>
        </p:nvSpPr>
        <p:spPr>
          <a:xfrm>
            <a:off x="777240" y="5294376"/>
            <a:ext cx="310896" cy="310896"/>
          </a:xfrm>
          <a:prstGeom prst="rect">
            <a:avLst/>
          </a:prstGeom>
          <a:noFill/>
          <a:ln/>
        </p:spPr>
        <p:txBody>
          <a:bodyPr wrap="square" lIns="0" tIns="0" rIns="0" bIns="0" rtlCol="0" anchor="ctr"/>
          <a:lstStyle/>
          <a:p>
            <a:pPr algn="ctr" indent="0" marL="0">
              <a:buNone/>
            </a:pPr>
            <a:r>
              <a:rPr lang="en-US" sz="1300" b="1" dirty="0">
                <a:solidFill>
                  <a:srgbClr val="472D6E"/>
                </a:solidFill>
                <a:latin typeface="Cambria" pitchFamily="34" charset="0"/>
                <a:ea typeface="Cambria" pitchFamily="34" charset="-122"/>
                <a:cs typeface="Cambria" pitchFamily="34" charset="-120"/>
              </a:rPr>
              <a:t>5</a:t>
            </a:r>
            <a:endParaRPr lang="en-US" sz="1300" dirty="0"/>
          </a:p>
        </p:txBody>
      </p:sp>
      <p:sp>
        <p:nvSpPr>
          <p:cNvPr id="22" name="Text 19"/>
          <p:cNvSpPr txBox="1"/>
          <p:nvPr/>
        </p:nvSpPr>
        <p:spPr>
          <a:xfrm>
            <a:off x="1216152" y="5257800"/>
            <a:ext cx="4434840" cy="457200"/>
          </a:xfrm>
          <a:prstGeom prst="rect">
            <a:avLst/>
          </a:prstGeom>
          <a:noFill/>
          <a:ln/>
        </p:spPr>
        <p:txBody>
          <a:bodyPr wrap="square" lIns="0" tIns="0" rIns="0" bIns="0" rtlCol="0" anchor="ctr"/>
          <a:lstStyle/>
          <a:p>
            <a:pPr indent="0" marL="0">
              <a:lnSpc>
                <a:spcPct val="97000"/>
              </a:lnSpc>
              <a:buNone/>
            </a:pPr>
            <a:r>
              <a:rPr lang="en-US" sz="1150" dirty="0">
                <a:solidFill>
                  <a:srgbClr val="F2ECFA"/>
                </a:solidFill>
                <a:latin typeface="Calibri" pitchFamily="34" charset="0"/>
                <a:ea typeface="Calibri" pitchFamily="34" charset="-122"/>
                <a:cs typeface="Calibri" pitchFamily="34" charset="-120"/>
              </a:rPr>
              <a:t>Board-ready agentic-ops roadmap with control &amp; assurance framework</a:t>
            </a:r>
            <a:endParaRPr lang="en-US" sz="1150" dirty="0"/>
          </a:p>
        </p:txBody>
      </p:sp>
      <p:sp>
        <p:nvSpPr>
          <p:cNvPr id="23" name="Shape 20"/>
          <p:cNvSpPr/>
          <p:nvPr/>
        </p:nvSpPr>
        <p:spPr>
          <a:xfrm>
            <a:off x="6263640" y="1600200"/>
            <a:ext cx="5394960" cy="2286000"/>
          </a:xfrm>
          <a:prstGeom prst="roundRect">
            <a:avLst>
              <a:gd name="adj" fmla="val 2800"/>
            </a:avLst>
          </a:prstGeom>
          <a:solidFill>
            <a:srgbClr val="EEF6F0"/>
          </a:solidFill>
          <a:ln w="9525">
            <a:solidFill>
              <a:srgbClr val="BFE3D2"/>
            </a:solidFill>
            <a:prstDash val="solid"/>
          </a:ln>
        </p:spPr>
      </p:sp>
      <p:pic>
        <p:nvPicPr>
          <p:cNvPr id="24" name="Image 1" descr="/home/claude/x_chk_in.png">    </p:cNvPr>
          <p:cNvPicPr>
            <a:picLocks noChangeAspect="1"/>
          </p:cNvPicPr>
          <p:nvPr/>
        </p:nvPicPr>
        <p:blipFill>
          <a:blip r:embed="rId2"/>
          <a:stretch>
            <a:fillRect/>
          </a:stretch>
        </p:blipFill>
        <p:spPr>
          <a:xfrm>
            <a:off x="6501384" y="1801368"/>
            <a:ext cx="365760" cy="365760"/>
          </a:xfrm>
          <a:prstGeom prst="rect">
            <a:avLst/>
          </a:prstGeom>
        </p:spPr>
      </p:pic>
      <p:sp>
        <p:nvSpPr>
          <p:cNvPr id="25" name="Text 21"/>
          <p:cNvSpPr txBox="1"/>
          <p:nvPr/>
        </p:nvSpPr>
        <p:spPr>
          <a:xfrm>
            <a:off x="6976872" y="1837944"/>
            <a:ext cx="4480560" cy="292608"/>
          </a:xfrm>
          <a:prstGeom prst="rect">
            <a:avLst/>
          </a:prstGeom>
          <a:noFill/>
          <a:ln/>
        </p:spPr>
        <p:txBody>
          <a:bodyPr wrap="square" lIns="0" tIns="0" rIns="0" bIns="0" rtlCol="0" anchor="ctr"/>
          <a:lstStyle/>
          <a:p>
            <a:pPr indent="0" marL="0">
              <a:buNone/>
            </a:pPr>
            <a:r>
              <a:rPr lang="en-US" sz="1500" b="1" dirty="0">
                <a:solidFill>
                  <a:srgbClr val="1D7A4C"/>
                </a:solidFill>
                <a:latin typeface="Cambria" pitchFamily="34" charset="0"/>
                <a:ea typeface="Cambria" pitchFamily="34" charset="-122"/>
                <a:cs typeface="Cambria" pitchFamily="34" charset="-120"/>
              </a:rPr>
              <a:t>IN SCOPE</a:t>
            </a:r>
            <a:endParaRPr lang="en-US" sz="1500" dirty="0"/>
          </a:p>
        </p:txBody>
      </p:sp>
      <p:sp>
        <p:nvSpPr>
          <p:cNvPr id="26" name="Text 22"/>
          <p:cNvSpPr txBox="1"/>
          <p:nvPr/>
        </p:nvSpPr>
        <p:spPr>
          <a:xfrm>
            <a:off x="6537960" y="2258568"/>
            <a:ext cx="4846320" cy="1554480"/>
          </a:xfrm>
          <a:prstGeom prst="rect">
            <a:avLst/>
          </a:prstGeom>
          <a:noFill/>
          <a:ln/>
        </p:spPr>
        <p:txBody>
          <a:bodyPr wrap="square" lIns="0" tIns="0" rIns="0" bIns="0" rtlCol="0" anchor="ctr"/>
          <a:lstStyle/>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Agentic-operations readiness assessment</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Safe-action boundary definition</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Agentic operating-model design (accountability, escalation, audit)</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Assisted / supervised / autonomous transition sequencing</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Control and assurance framework for autonomy</a:t>
            </a:r>
            <a:endParaRPr lang="en-US" sz="970" dirty="0"/>
          </a:p>
          <a:p>
            <a:pPr marL="177800" indent="-177800">
              <a:lnSpc>
                <a:spcPct val="95000"/>
              </a:lnSpc>
              <a:spcAft>
                <a:spcPts val="350"/>
              </a:spcAft>
              <a:buSzPct val="100000"/>
              <a:buChar char="✓"/>
            </a:pPr>
            <a:r>
              <a:rPr lang="en-US" sz="970" dirty="0">
                <a:solidFill>
                  <a:srgbClr val="2C3A34"/>
                </a:solidFill>
                <a:latin typeface="Calibri" pitchFamily="34" charset="0"/>
                <a:ea typeface="Calibri" pitchFamily="34" charset="-122"/>
                <a:cs typeface="Calibri" pitchFamily="34" charset="-120"/>
              </a:rPr>
              <a:t>Designed bridge into CIS Layers 2–4</a:t>
            </a:r>
            <a:endParaRPr lang="en-US" sz="970" dirty="0"/>
          </a:p>
        </p:txBody>
      </p:sp>
      <p:sp>
        <p:nvSpPr>
          <p:cNvPr id="27" name="Shape 23"/>
          <p:cNvSpPr/>
          <p:nvPr/>
        </p:nvSpPr>
        <p:spPr>
          <a:xfrm>
            <a:off x="6263640" y="4023360"/>
            <a:ext cx="5394960" cy="2057400"/>
          </a:xfrm>
          <a:prstGeom prst="roundRect">
            <a:avLst>
              <a:gd name="adj" fmla="val 3111"/>
            </a:avLst>
          </a:prstGeom>
          <a:solidFill>
            <a:srgbClr val="FBF3F0"/>
          </a:solidFill>
          <a:ln w="9525">
            <a:solidFill>
              <a:srgbClr val="ECCFC4"/>
            </a:solidFill>
            <a:prstDash val="solid"/>
          </a:ln>
        </p:spPr>
      </p:sp>
      <p:pic>
        <p:nvPicPr>
          <p:cNvPr id="28" name="Image 2" descr="/home/claude/x_chk_out.png">    </p:cNvPr>
          <p:cNvPicPr>
            <a:picLocks noChangeAspect="1"/>
          </p:cNvPicPr>
          <p:nvPr/>
        </p:nvPicPr>
        <p:blipFill>
          <a:blip r:embed="rId3"/>
          <a:stretch>
            <a:fillRect/>
          </a:stretch>
        </p:blipFill>
        <p:spPr>
          <a:xfrm>
            <a:off x="6501384" y="4206240"/>
            <a:ext cx="365760" cy="365760"/>
          </a:xfrm>
          <a:prstGeom prst="rect">
            <a:avLst/>
          </a:prstGeom>
        </p:spPr>
      </p:pic>
      <p:sp>
        <p:nvSpPr>
          <p:cNvPr id="29" name="Text 24"/>
          <p:cNvSpPr txBox="1"/>
          <p:nvPr/>
        </p:nvSpPr>
        <p:spPr>
          <a:xfrm>
            <a:off x="6976872" y="4242816"/>
            <a:ext cx="4480560" cy="292608"/>
          </a:xfrm>
          <a:prstGeom prst="rect">
            <a:avLst/>
          </a:prstGeom>
          <a:noFill/>
          <a:ln/>
        </p:spPr>
        <p:txBody>
          <a:bodyPr wrap="square" lIns="0" tIns="0" rIns="0" bIns="0" rtlCol="0" anchor="ctr"/>
          <a:lstStyle/>
          <a:p>
            <a:pPr indent="0" marL="0">
              <a:buNone/>
            </a:pPr>
            <a:r>
              <a:rPr lang="en-US" sz="1500" b="1" dirty="0">
                <a:solidFill>
                  <a:srgbClr val="A32D2D"/>
                </a:solidFill>
                <a:latin typeface="Cambria" pitchFamily="34" charset="0"/>
                <a:ea typeface="Cambria" pitchFamily="34" charset="-122"/>
                <a:cs typeface="Cambria" pitchFamily="34" charset="-120"/>
              </a:rPr>
              <a:t>OUT OF SCOPE</a:t>
            </a:r>
            <a:endParaRPr lang="en-US" sz="1500" dirty="0"/>
          </a:p>
        </p:txBody>
      </p:sp>
      <p:sp>
        <p:nvSpPr>
          <p:cNvPr id="30" name="Text 25"/>
          <p:cNvSpPr txBox="1"/>
          <p:nvPr/>
        </p:nvSpPr>
        <p:spPr>
          <a:xfrm>
            <a:off x="6537960" y="466344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AI readiness and operating model</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04.1 AI Readiness</a:t>
            </a:r>
            <a:endParaRPr lang="en-US" sz="970" dirty="0"/>
          </a:p>
        </p:txBody>
      </p:sp>
      <p:sp>
        <p:nvSpPr>
          <p:cNvPr id="31" name="Text 26"/>
          <p:cNvSpPr txBox="1"/>
          <p:nvPr/>
        </p:nvSpPr>
        <p:spPr>
          <a:xfrm>
            <a:off x="6537960" y="493776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Responsible-AI governance framework</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04.3 Responsible AI</a:t>
            </a:r>
            <a:endParaRPr lang="en-US" sz="970" dirty="0"/>
          </a:p>
        </p:txBody>
      </p:sp>
      <p:sp>
        <p:nvSpPr>
          <p:cNvPr id="32" name="Text 27"/>
          <p:cNvSpPr txBox="1"/>
          <p:nvPr/>
        </p:nvSpPr>
        <p:spPr>
          <a:xfrm>
            <a:off x="6537960" y="521208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Agentic-ops implementation and run</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Separate delivery / CIS Layers 2–4</a:t>
            </a:r>
            <a:endParaRPr lang="en-US" sz="970" dirty="0"/>
          </a:p>
        </p:txBody>
      </p:sp>
      <p:sp>
        <p:nvSpPr>
          <p:cNvPr id="33" name="Text 28"/>
          <p:cNvSpPr txBox="1"/>
          <p:nvPr/>
        </p:nvSpPr>
        <p:spPr>
          <a:xfrm>
            <a:off x="6537960" y="548640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Platform engineering / IDP</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03.6 Platform Engineering</a:t>
            </a:r>
            <a:endParaRPr lang="en-US" sz="970" dirty="0"/>
          </a:p>
        </p:txBody>
      </p:sp>
      <p:sp>
        <p:nvSpPr>
          <p:cNvPr id="34" name="Text 29"/>
          <p:cNvSpPr txBox="1"/>
          <p:nvPr/>
        </p:nvSpPr>
        <p:spPr>
          <a:xfrm>
            <a:off x="6537960" y="5760720"/>
            <a:ext cx="4846320" cy="274320"/>
          </a:xfrm>
          <a:prstGeom prst="rect">
            <a:avLst/>
          </a:prstGeom>
          <a:noFill/>
          <a:ln/>
        </p:spPr>
        <p:txBody>
          <a:bodyPr wrap="square" lIns="0" tIns="0" rIns="0" bIns="0" rtlCol="0" anchor="ctr"/>
          <a:lstStyle/>
          <a:p>
            <a:pPr indent="0" marL="0">
              <a:lnSpc>
                <a:spcPct val="90000"/>
              </a:lnSpc>
              <a:buNone/>
            </a:pPr>
            <a:r>
              <a:rPr lang="en-US" sz="970" dirty="0">
                <a:solidFill>
                  <a:srgbClr val="3A2C28"/>
                </a:solidFill>
                <a:latin typeface="Calibri" pitchFamily="34" charset="0"/>
                <a:ea typeface="Calibri" pitchFamily="34" charset="-122"/>
                <a:cs typeface="Calibri" pitchFamily="34" charset="-120"/>
              </a:rPr>
              <a:t>Security operations / SOC</a:t>
            </a:r>
            <a:pPr indent="0" marL="0">
              <a:lnSpc>
                <a:spcPct val="90000"/>
              </a:lnSpc>
              <a:buNone/>
            </a:pPr>
            <a:r>
              <a:rPr lang="en-US" sz="900" i="1" dirty="0">
                <a:solidFill>
                  <a:srgbClr val="9A5541"/>
                </a:solidFill>
                <a:latin typeface="Calibri" pitchFamily="34" charset="0"/>
                <a:ea typeface="Calibri" pitchFamily="34" charset="-122"/>
                <a:cs typeface="Calibri" pitchFamily="34" charset="-120"/>
              </a:rPr>
              <a:t>   → LTM Security</a:t>
            </a:r>
            <a:endParaRPr lang="en-US" sz="970" dirty="0"/>
          </a:p>
        </p:txBody>
      </p:sp>
      <p:sp>
        <p:nvSpPr>
          <p:cNvPr id="35" name="Text 30"/>
          <p:cNvSpPr txBox="1"/>
          <p:nvPr/>
        </p:nvSpPr>
        <p:spPr>
          <a:xfrm>
            <a:off x="502920" y="6473952"/>
            <a:ext cx="8229600" cy="274320"/>
          </a:xfrm>
          <a:prstGeom prst="rect">
            <a:avLst/>
          </a:prstGeom>
          <a:noFill/>
          <a:ln/>
        </p:spPr>
        <p:txBody>
          <a:bodyPr wrap="square" lIns="0" tIns="0" rIns="0" bIns="0" rtlCol="0" anchor="ctr"/>
          <a:lstStyle/>
          <a:p>
            <a:pPr indent="0" marL="0">
              <a:buNone/>
            </a:pPr>
            <a:r>
              <a:rPr lang="en-US" sz="950" dirty="0">
                <a:solidFill>
                  <a:srgbClr val="A79BB8"/>
                </a:solidFill>
                <a:latin typeface="Calibri" pitchFamily="34" charset="0"/>
                <a:ea typeface="Calibri" pitchFamily="34" charset="-122"/>
                <a:cs typeface="Calibri" pitchFamily="34" charset="-120"/>
              </a:rPr>
              <a:t>LTM  ·  Infra Tech Advisory  ·  AI Infusion</a:t>
            </a:r>
            <a:endParaRPr lang="en-US" sz="950" dirty="0"/>
          </a:p>
        </p:txBody>
      </p:sp>
      <p:sp>
        <p:nvSpPr>
          <p:cNvPr id="36" name="Text 31"/>
          <p:cNvSpPr txBox="1"/>
          <p:nvPr/>
        </p:nvSpPr>
        <p:spPr>
          <a:xfrm>
            <a:off x="8961120" y="6473952"/>
            <a:ext cx="2724912" cy="274320"/>
          </a:xfrm>
          <a:prstGeom prst="rect">
            <a:avLst/>
          </a:prstGeom>
          <a:noFill/>
          <a:ln/>
        </p:spPr>
        <p:txBody>
          <a:bodyPr wrap="square" lIns="0" tIns="0" rIns="0" bIns="0" rtlCol="0" anchor="ctr"/>
          <a:lstStyle/>
          <a:p>
            <a:pPr algn="r" indent="0" marL="0">
              <a:buNone/>
            </a:pPr>
            <a:r>
              <a:rPr lang="en-US" sz="950" dirty="0">
                <a:solidFill>
                  <a:srgbClr val="A79BB8"/>
                </a:solidFill>
                <a:latin typeface="Calibri" pitchFamily="34" charset="0"/>
                <a:ea typeface="Calibri" pitchFamily="34" charset="-122"/>
                <a:cs typeface="Calibri" pitchFamily="34" charset="-120"/>
              </a:rPr>
              <a:t>04.5  ·  Deliverables &amp; scope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2026-09-10T16:11:12Z</dcterms:created>
  <dcterms:modified xsi:type="dcterms:W3CDTF">2026-09-10T16:11:12Z</dcterms:modified>
</cp:coreProperties>
</file>
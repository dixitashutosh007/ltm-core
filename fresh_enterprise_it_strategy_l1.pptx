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13315C"/>
          </a:solidFill>
          <a:ln/>
        </p:spPr>
      </p:sp>
      <p:sp>
        <p:nvSpPr>
          <p:cNvPr id="3" name="Text 1"/>
          <p:cNvSpPr txBox="1"/>
          <p:nvPr/>
        </p:nvSpPr>
        <p:spPr>
          <a:xfrm>
            <a:off x="685800" y="640080"/>
            <a:ext cx="7315200" cy="274320"/>
          </a:xfrm>
          <a:prstGeom prst="rect">
            <a:avLst/>
          </a:prstGeom>
          <a:noFill/>
          <a:ln/>
        </p:spPr>
        <p:txBody>
          <a:bodyPr wrap="square" lIns="0" tIns="0" rIns="0" bIns="0" rtlCol="0" anchor="ctr"/>
          <a:lstStyle/>
          <a:p>
            <a:pPr indent="0" marL="0">
              <a:buNone/>
            </a:pPr>
            <a:r>
              <a:rPr lang="en-US" sz="1200" b="1" spc="250" kern="0" dirty="0">
                <a:solidFill>
                  <a:srgbClr val="8DA9C4"/>
                </a:solidFill>
                <a:latin typeface="Calibri" pitchFamily="34" charset="0"/>
                <a:ea typeface="Calibri" pitchFamily="34" charset="-122"/>
                <a:cs typeface="Calibri" pitchFamily="34" charset="-120"/>
              </a:rPr>
              <a:t>PILLAR 01  ·  INFRA TECH ADVISORY</a:t>
            </a:r>
            <a:endParaRPr lang="en-US" sz="1200" dirty="0"/>
          </a:p>
        </p:txBody>
      </p:sp>
      <p:sp>
        <p:nvSpPr>
          <p:cNvPr id="4" name="Text 2"/>
          <p:cNvSpPr txBox="1"/>
          <p:nvPr/>
        </p:nvSpPr>
        <p:spPr>
          <a:xfrm>
            <a:off x="658368" y="1024128"/>
            <a:ext cx="10972800" cy="10515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Enterprise IT Strategy</a:t>
            </a:r>
            <a:endParaRPr lang="en-US" sz="4800" dirty="0"/>
          </a:p>
        </p:txBody>
      </p:sp>
      <p:sp>
        <p:nvSpPr>
          <p:cNvPr id="5" name="Text 3"/>
          <p:cNvSpPr txBox="1"/>
          <p:nvPr/>
        </p:nvSpPr>
        <p:spPr>
          <a:xfrm>
            <a:off x="685800" y="2121408"/>
            <a:ext cx="9875520" cy="502920"/>
          </a:xfrm>
          <a:prstGeom prst="rect">
            <a:avLst/>
          </a:prstGeom>
          <a:noFill/>
          <a:ln/>
        </p:spPr>
        <p:txBody>
          <a:bodyPr wrap="square" lIns="0" tIns="0" rIns="0" bIns="0" rtlCol="0" anchor="ctr"/>
          <a:lstStyle/>
          <a:p>
            <a:pPr indent="0" marL="0">
              <a:buNone/>
            </a:pPr>
            <a:r>
              <a:rPr lang="en-US" sz="2000" i="1" dirty="0">
                <a:solidFill>
                  <a:srgbClr val="B8CCE4"/>
                </a:solidFill>
                <a:latin typeface="Cambria" pitchFamily="34" charset="0"/>
                <a:ea typeface="Cambria" pitchFamily="34" charset="-122"/>
                <a:cs typeface="Cambria" pitchFamily="34" charset="-120"/>
              </a:rPr>
              <a:t>Is my IT strategy, cost base and resilience posture fit for the next 3–5 years?</a:t>
            </a:r>
            <a:endParaRPr lang="en-US" sz="2000" dirty="0"/>
          </a:p>
        </p:txBody>
      </p:sp>
      <p:sp>
        <p:nvSpPr>
          <p:cNvPr id="6" name="Text 4"/>
          <p:cNvSpPr txBox="1"/>
          <p:nvPr/>
        </p:nvSpPr>
        <p:spPr>
          <a:xfrm>
            <a:off x="685800" y="2852928"/>
            <a:ext cx="7406640" cy="1828800"/>
          </a:xfrm>
          <a:prstGeom prst="rect">
            <a:avLst/>
          </a:prstGeom>
          <a:noFill/>
          <a:ln/>
        </p:spPr>
        <p:txBody>
          <a:bodyPr wrap="square" lIns="0" tIns="0" rIns="0" bIns="0" rtlCol="0" anchor="ctr"/>
          <a:lstStyle/>
          <a:p>
            <a:pPr indent="0" marL="0">
              <a:lnSpc>
                <a:spcPct val="112000"/>
              </a:lnSpc>
              <a:buNone/>
            </a:pPr>
            <a:r>
              <a:rPr lang="en-US" sz="1350" dirty="0">
                <a:solidFill>
                  <a:srgbClr val="E4ECF7"/>
                </a:solidFill>
                <a:latin typeface="Calibri" pitchFamily="34" charset="0"/>
                <a:ea typeface="Calibri" pitchFamily="34" charset="-122"/>
                <a:cs typeface="Calibri" pitchFamily="34" charset="-120"/>
              </a:rPr>
              <a:t>Enterprise IT Strategy is the strategic front door to the CIO’s whole estate. It sets the direction, operating model, economics and resilience posture of enterprise IT — then mobilizes the transformation that delivers it. In a year when budgets grow but concentrate into AI, this pillar’s job is to release capital from the legacy estate and redirect it into the intelligent core — with LTM accountable for the execution, not just the recommendation.</a:t>
            </a:r>
            <a:endParaRPr lang="en-US" sz="1350" dirty="0"/>
          </a:p>
        </p:txBody>
      </p:sp>
      <p:sp>
        <p:nvSpPr>
          <p:cNvPr id="7" name="Text 5"/>
          <p:cNvSpPr txBox="1"/>
          <p:nvPr/>
        </p:nvSpPr>
        <p:spPr>
          <a:xfrm>
            <a:off x="8366760" y="2724912"/>
            <a:ext cx="3108960" cy="420624"/>
          </a:xfrm>
          <a:prstGeom prst="rect">
            <a:avLst/>
          </a:prstGeom>
          <a:noFill/>
          <a:ln/>
        </p:spPr>
        <p:txBody>
          <a:bodyPr wrap="square" lIns="0" tIns="0" rIns="0" bIns="0" rtlCol="0" anchor="ctr"/>
          <a:lstStyle/>
          <a:p>
            <a:pPr indent="0" marL="0">
              <a:buNone/>
            </a:pPr>
            <a:r>
              <a:rPr lang="en-US" sz="2600" b="1" dirty="0">
                <a:solidFill>
                  <a:srgbClr val="8DA9C4"/>
                </a:solidFill>
                <a:latin typeface="Cambria" pitchFamily="34" charset="0"/>
                <a:ea typeface="Cambria" pitchFamily="34" charset="-122"/>
                <a:cs typeface="Cambria" pitchFamily="34" charset="-120"/>
              </a:rPr>
              <a:t>$5.08M</a:t>
            </a:r>
            <a:endParaRPr lang="en-US" sz="2600" dirty="0"/>
          </a:p>
        </p:txBody>
      </p:sp>
      <p:sp>
        <p:nvSpPr>
          <p:cNvPr id="8" name="Text 6"/>
          <p:cNvSpPr txBox="1"/>
          <p:nvPr/>
        </p:nvSpPr>
        <p:spPr>
          <a:xfrm>
            <a:off x="8394192" y="3127248"/>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CBD9EC"/>
                </a:solidFill>
                <a:latin typeface="Calibri" pitchFamily="34" charset="0"/>
                <a:ea typeface="Calibri" pitchFamily="34" charset="-122"/>
                <a:cs typeface="Calibri" pitchFamily="34" charset="-120"/>
              </a:rPr>
              <a:t>average ransomware attack cost in 2026 — 24 days’ downtime</a:t>
            </a:r>
            <a:endParaRPr lang="en-US" sz="1050" dirty="0"/>
          </a:p>
        </p:txBody>
      </p:sp>
      <p:sp>
        <p:nvSpPr>
          <p:cNvPr id="9" name="Text 7"/>
          <p:cNvSpPr txBox="1"/>
          <p:nvPr/>
        </p:nvSpPr>
        <p:spPr>
          <a:xfrm>
            <a:off x="8366760" y="3511296"/>
            <a:ext cx="3108960" cy="420624"/>
          </a:xfrm>
          <a:prstGeom prst="rect">
            <a:avLst/>
          </a:prstGeom>
          <a:noFill/>
          <a:ln/>
        </p:spPr>
        <p:txBody>
          <a:bodyPr wrap="square" lIns="0" tIns="0" rIns="0" bIns="0" rtlCol="0" anchor="ctr"/>
          <a:lstStyle/>
          <a:p>
            <a:pPr indent="0" marL="0">
              <a:buNone/>
            </a:pPr>
            <a:r>
              <a:rPr lang="en-US" sz="2600" b="1" dirty="0">
                <a:solidFill>
                  <a:srgbClr val="8DA9C4"/>
                </a:solidFill>
                <a:latin typeface="Cambria" pitchFamily="34" charset="0"/>
                <a:ea typeface="Cambria" pitchFamily="34" charset="-122"/>
                <a:cs typeface="Cambria" pitchFamily="34" charset="-120"/>
              </a:rPr>
              <a:t>34%</a:t>
            </a:r>
            <a:endParaRPr lang="en-US" sz="2600" dirty="0"/>
          </a:p>
        </p:txBody>
      </p:sp>
      <p:sp>
        <p:nvSpPr>
          <p:cNvPr id="10" name="Text 8"/>
          <p:cNvSpPr txBox="1"/>
          <p:nvPr/>
        </p:nvSpPr>
        <p:spPr>
          <a:xfrm>
            <a:off x="8394192" y="3913632"/>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CBD9EC"/>
                </a:solidFill>
                <a:latin typeface="Calibri" pitchFamily="34" charset="0"/>
                <a:ea typeface="Calibri" pitchFamily="34" charset="-122"/>
                <a:cs typeface="Calibri" pitchFamily="34" charset="-120"/>
              </a:rPr>
              <a:t>of M&amp;A deal-value destruction traces to IT integration</a:t>
            </a:r>
            <a:endParaRPr lang="en-US" sz="1050" dirty="0"/>
          </a:p>
        </p:txBody>
      </p:sp>
      <p:sp>
        <p:nvSpPr>
          <p:cNvPr id="11" name="Text 9"/>
          <p:cNvSpPr txBox="1"/>
          <p:nvPr/>
        </p:nvSpPr>
        <p:spPr>
          <a:xfrm>
            <a:off x="8366760" y="4297680"/>
            <a:ext cx="3108960" cy="420624"/>
          </a:xfrm>
          <a:prstGeom prst="rect">
            <a:avLst/>
          </a:prstGeom>
          <a:noFill/>
          <a:ln/>
        </p:spPr>
        <p:txBody>
          <a:bodyPr wrap="square" lIns="0" tIns="0" rIns="0" bIns="0" rtlCol="0" anchor="ctr"/>
          <a:lstStyle/>
          <a:p>
            <a:pPr indent="0" marL="0">
              <a:buNone/>
            </a:pPr>
            <a:r>
              <a:rPr lang="en-US" sz="2600" b="1" dirty="0">
                <a:solidFill>
                  <a:srgbClr val="8DA9C4"/>
                </a:solidFill>
                <a:latin typeface="Cambria" pitchFamily="34" charset="0"/>
                <a:ea typeface="Cambria" pitchFamily="34" charset="-122"/>
                <a:cs typeface="Cambria" pitchFamily="34" charset="-120"/>
              </a:rPr>
              <a:t>~1,050 TWh</a:t>
            </a:r>
            <a:endParaRPr lang="en-US" sz="2600" dirty="0"/>
          </a:p>
        </p:txBody>
      </p:sp>
      <p:sp>
        <p:nvSpPr>
          <p:cNvPr id="12" name="Text 10"/>
          <p:cNvSpPr txBox="1"/>
          <p:nvPr/>
        </p:nvSpPr>
        <p:spPr>
          <a:xfrm>
            <a:off x="8394192" y="4700016"/>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CBD9EC"/>
                </a:solidFill>
                <a:latin typeface="Calibri" pitchFamily="34" charset="0"/>
                <a:ea typeface="Calibri" pitchFamily="34" charset="-122"/>
                <a:cs typeface="Calibri" pitchFamily="34" charset="-120"/>
              </a:rPr>
              <a:t>data-centre power draw in 2026 — energy is now a capacity ceiling</a:t>
            </a:r>
            <a:endParaRPr lang="en-US" sz="1050" dirty="0"/>
          </a:p>
        </p:txBody>
      </p:sp>
      <p:sp>
        <p:nvSpPr>
          <p:cNvPr id="13" name="Text 11"/>
          <p:cNvSpPr txBox="1"/>
          <p:nvPr/>
        </p:nvSpPr>
        <p:spPr>
          <a:xfrm>
            <a:off x="685800" y="5285232"/>
            <a:ext cx="6400800" cy="274320"/>
          </a:xfrm>
          <a:prstGeom prst="rect">
            <a:avLst/>
          </a:prstGeom>
          <a:noFill/>
          <a:ln/>
        </p:spPr>
        <p:txBody>
          <a:bodyPr wrap="square" lIns="0" tIns="0" rIns="0" bIns="0" rtlCol="0" anchor="ctr"/>
          <a:lstStyle/>
          <a:p>
            <a:pPr indent="0" marL="0">
              <a:buNone/>
            </a:pPr>
            <a:r>
              <a:rPr lang="en-US" sz="1050" b="1" spc="200" kern="0" dirty="0">
                <a:solidFill>
                  <a:srgbClr val="8DA9C4"/>
                </a:solidFill>
                <a:latin typeface="Calibri" pitchFamily="34" charset="0"/>
                <a:ea typeface="Calibri" pitchFamily="34" charset="-122"/>
                <a:cs typeface="Calibri" pitchFamily="34" charset="-120"/>
              </a:rPr>
              <a:t>ONE FRONT DOOR, TWO ENTRY MODES</a:t>
            </a:r>
            <a:endParaRPr lang="en-US" sz="1050" dirty="0"/>
          </a:p>
        </p:txBody>
      </p:sp>
      <p:sp>
        <p:nvSpPr>
          <p:cNvPr id="14" name="Text 12"/>
          <p:cNvSpPr txBox="1"/>
          <p:nvPr/>
        </p:nvSpPr>
        <p:spPr>
          <a:xfrm>
            <a:off x="685800" y="5596128"/>
            <a:ext cx="10789920" cy="457200"/>
          </a:xfrm>
          <a:prstGeom prst="rect">
            <a:avLst/>
          </a:prstGeom>
          <a:noFill/>
          <a:ln/>
        </p:spPr>
        <p:txBody>
          <a:bodyPr wrap="square" lIns="0" tIns="0" rIns="0" bIns="0" rtlCol="0" anchor="ctr"/>
          <a:lstStyle/>
          <a:p>
            <a:pPr indent="0" marL="0">
              <a:buNone/>
            </a:pPr>
            <a:r>
              <a:rPr lang="en-US" sz="1650" i="1" dirty="0">
                <a:solidFill>
                  <a:srgbClr val="FFFFFF"/>
                </a:solidFill>
                <a:latin typeface="Cambria" pitchFamily="34" charset="0"/>
                <a:ea typeface="Cambria" pitchFamily="34" charset="-122"/>
                <a:cs typeface="Cambria" pitchFamily="34" charset="-120"/>
              </a:rPr>
              <a:t>Strategy IQ challenges the current model and routes — or the CIO enters direct, with a pain that bundles offering components.</a:t>
            </a:r>
            <a:endParaRPr lang="en-US" sz="1650" dirty="0"/>
          </a:p>
        </p:txBody>
      </p:sp>
      <p:sp>
        <p:nvSpPr>
          <p:cNvPr id="15" name="Text 13"/>
          <p:cNvSpPr txBox="1"/>
          <p:nvPr/>
        </p:nvSpPr>
        <p:spPr>
          <a:xfrm>
            <a:off x="685800" y="6108192"/>
            <a:ext cx="7498080" cy="320040"/>
          </a:xfrm>
          <a:prstGeom prst="rect">
            <a:avLst/>
          </a:prstGeom>
          <a:noFill/>
          <a:ln/>
        </p:spPr>
        <p:txBody>
          <a:bodyPr wrap="square" lIns="0" tIns="0" rIns="0" bIns="0" rtlCol="0" anchor="ctr"/>
          <a:lstStyle/>
          <a:p>
            <a:pPr indent="0" marL="0">
              <a:buNone/>
            </a:pPr>
            <a:r>
              <a:rPr lang="en-US" sz="1100" dirty="0">
                <a:solidFill>
                  <a:srgbClr val="A9C2E0"/>
                </a:solidFill>
                <a:latin typeface="Calibri" pitchFamily="34" charset="0"/>
                <a:ea typeface="Calibri" pitchFamily="34" charset="-122"/>
                <a:cs typeface="Calibri" pitchFamily="34" charset="-120"/>
              </a:rPr>
              <a:t>Diagnostic-led  │  or  │  Direct / defined-pain — Target Operating Model is the spine; the other four are enterable by pain.</a:t>
            </a:r>
            <a:endParaRPr lang="en-US" sz="1100" dirty="0"/>
          </a:p>
        </p:txBody>
      </p:sp>
      <p:sp>
        <p:nvSpPr>
          <p:cNvPr id="16" name="Text 14"/>
          <p:cNvSpPr txBox="1"/>
          <p:nvPr/>
        </p:nvSpPr>
        <p:spPr>
          <a:xfrm>
            <a:off x="8366760" y="6108192"/>
            <a:ext cx="3108960" cy="274320"/>
          </a:xfrm>
          <a:prstGeom prst="rect">
            <a:avLst/>
          </a:prstGeom>
          <a:noFill/>
          <a:ln/>
        </p:spPr>
        <p:txBody>
          <a:bodyPr wrap="square" lIns="0" tIns="0" rIns="0" bIns="0" rtlCol="0" anchor="ctr"/>
          <a:lstStyle/>
          <a:p>
            <a:pPr algn="r" indent="0" marL="0">
              <a:buNone/>
            </a:pPr>
            <a:r>
              <a:rPr lang="en-US" sz="900" i="1" dirty="0">
                <a:solidFill>
                  <a:srgbClr val="7F9AB8"/>
                </a:solidFill>
                <a:latin typeface="Calibri" pitchFamily="34" charset="0"/>
                <a:ea typeface="Calibri" pitchFamily="34" charset="-122"/>
                <a:cs typeface="Calibri" pitchFamily="34" charset="-120"/>
              </a:rPr>
              <a:t>Source: IBM / McKinsey / IEA,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A diagnostic-led hub — with two ways in</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Strategy IQ challenges the current structure, methods and process, then routes. Or the CIO enters direct by pain.</a:t>
            </a:r>
            <a:endParaRPr lang="en-US" sz="1200" dirty="0"/>
          </a:p>
        </p:txBody>
      </p:sp>
      <p:sp>
        <p:nvSpPr>
          <p:cNvPr id="5" name="Shape 3"/>
          <p:cNvSpPr/>
          <p:nvPr/>
        </p:nvSpPr>
        <p:spPr>
          <a:xfrm>
            <a:off x="502920" y="1691640"/>
            <a:ext cx="6903720" cy="2286000"/>
          </a:xfrm>
          <a:prstGeom prst="roundRect">
            <a:avLst>
              <a:gd name="adj" fmla="val 2400"/>
            </a:avLst>
          </a:prstGeom>
          <a:solidFill>
            <a:srgbClr val="EAF0F7"/>
          </a:solidFill>
          <a:ln w="9525">
            <a:solidFill>
              <a:srgbClr val="8DA9C4"/>
            </a:solidFill>
            <a:prstDash val="solid"/>
          </a:ln>
        </p:spPr>
      </p:sp>
      <p:sp>
        <p:nvSpPr>
          <p:cNvPr id="6" name="Text 4"/>
          <p:cNvSpPr txBox="1"/>
          <p:nvPr/>
        </p:nvSpPr>
        <p:spPr>
          <a:xfrm>
            <a:off x="713232" y="1828800"/>
            <a:ext cx="6400800" cy="256032"/>
          </a:xfrm>
          <a:prstGeom prst="rect">
            <a:avLst/>
          </a:prstGeom>
          <a:noFill/>
          <a:ln/>
        </p:spPr>
        <p:txBody>
          <a:bodyPr wrap="square" lIns="0" tIns="0" rIns="0" bIns="0" rtlCol="0" anchor="ctr"/>
          <a:lstStyle/>
          <a:p>
            <a:pPr indent="0" marL="0">
              <a:buNone/>
            </a:pPr>
            <a:r>
              <a:rPr lang="en-US" sz="1000" b="1" spc="150" kern="0" dirty="0">
                <a:solidFill>
                  <a:srgbClr val="0B2545"/>
                </a:solidFill>
                <a:latin typeface="Calibri" pitchFamily="34" charset="0"/>
                <a:ea typeface="Calibri" pitchFamily="34" charset="-122"/>
                <a:cs typeface="Calibri" pitchFamily="34" charset="-120"/>
              </a:rPr>
              <a:t>ENTRY 1 · DIAGNOSTIC-LED</a:t>
            </a:r>
            <a:endParaRPr lang="en-US" sz="1000" dirty="0"/>
          </a:p>
        </p:txBody>
      </p:sp>
      <p:sp>
        <p:nvSpPr>
          <p:cNvPr id="7" name="Shape 5"/>
          <p:cNvSpPr/>
          <p:nvPr/>
        </p:nvSpPr>
        <p:spPr>
          <a:xfrm>
            <a:off x="713232" y="2121408"/>
            <a:ext cx="2743200" cy="566928"/>
          </a:xfrm>
          <a:prstGeom prst="roundRect">
            <a:avLst>
              <a:gd name="adj" fmla="val 9677"/>
            </a:avLst>
          </a:prstGeom>
          <a:solidFill>
            <a:srgbClr val="0B2545"/>
          </a:solidFill>
          <a:ln/>
        </p:spPr>
      </p:sp>
      <p:sp>
        <p:nvSpPr>
          <p:cNvPr id="8" name="Text 6"/>
          <p:cNvSpPr txBox="1"/>
          <p:nvPr/>
        </p:nvSpPr>
        <p:spPr>
          <a:xfrm>
            <a:off x="713232" y="2121408"/>
            <a:ext cx="2743200" cy="566928"/>
          </a:xfrm>
          <a:prstGeom prst="rect">
            <a:avLst/>
          </a:prstGeom>
          <a:noFill/>
          <a:ln/>
        </p:spPr>
        <p:txBody>
          <a:bodyPr wrap="square" lIns="0" tIns="0" rIns="0" bIns="0" rtlCol="0" anchor="ctr"/>
          <a:lstStyle/>
          <a:p>
            <a:pPr algn="ctr" indent="0" marL="0">
              <a:lnSpc>
                <a:spcPct val="90000"/>
              </a:lnSpc>
              <a:buNone/>
            </a:pPr>
            <a:r>
              <a:rPr lang="en-US" sz="1400" b="1" dirty="0">
                <a:solidFill>
                  <a:srgbClr val="FFFFFF"/>
                </a:solidFill>
                <a:latin typeface="Cambria" pitchFamily="34" charset="0"/>
                <a:ea typeface="Cambria" pitchFamily="34" charset="-122"/>
                <a:cs typeface="Cambria" pitchFamily="34" charset="-120"/>
              </a:rPr>
              <a:t>Strategy IQ
</a:t>
            </a:r>
            <a:pPr algn="ctr" indent="0" marL="0">
              <a:lnSpc>
                <a:spcPct val="90000"/>
              </a:lnSpc>
              <a:buNone/>
            </a:pPr>
            <a:r>
              <a:rPr lang="en-US" sz="900" dirty="0">
                <a:solidFill>
                  <a:srgbClr val="B8CCE4"/>
                </a:solidFill>
                <a:latin typeface="Calibri" pitchFamily="34" charset="0"/>
                <a:ea typeface="Calibri" pitchFamily="34" charset="-122"/>
                <a:cs typeface="Calibri" pitchFamily="34" charset="-120"/>
              </a:rPr>
              <a:t>free self-assessment</a:t>
            </a:r>
            <a:endParaRPr lang="en-US" sz="1400" dirty="0"/>
          </a:p>
        </p:txBody>
      </p:sp>
      <p:sp>
        <p:nvSpPr>
          <p:cNvPr id="9" name="Text 7"/>
          <p:cNvSpPr txBox="1"/>
          <p:nvPr/>
        </p:nvSpPr>
        <p:spPr>
          <a:xfrm>
            <a:off x="3611880" y="2194560"/>
            <a:ext cx="3657600" cy="457200"/>
          </a:xfrm>
          <a:prstGeom prst="rect">
            <a:avLst/>
          </a:prstGeom>
          <a:noFill/>
          <a:ln/>
        </p:spPr>
        <p:txBody>
          <a:bodyPr wrap="square" lIns="0" tIns="0" rIns="0" bIns="0" rtlCol="0" anchor="ctr"/>
          <a:lstStyle/>
          <a:p>
            <a:pPr indent="0" marL="0">
              <a:buNone/>
            </a:pPr>
            <a:r>
              <a:rPr lang="en-US" sz="1000" i="1" dirty="0">
                <a:solidFill>
                  <a:srgbClr val="0B2545"/>
                </a:solidFill>
                <a:latin typeface="Calibri" pitchFamily="34" charset="0"/>
                <a:ea typeface="Calibri" pitchFamily="34" charset="-122"/>
                <a:cs typeface="Calibri" pitchFamily="34" charset="-120"/>
              </a:rPr>
              <a:t>challenges the six anchors of a defensible IT strategy ↓</a:t>
            </a:r>
            <a:endParaRPr lang="en-US" sz="1000" dirty="0"/>
          </a:p>
        </p:txBody>
      </p:sp>
      <p:sp>
        <p:nvSpPr>
          <p:cNvPr id="10" name="Shape 8"/>
          <p:cNvSpPr/>
          <p:nvPr/>
        </p:nvSpPr>
        <p:spPr>
          <a:xfrm>
            <a:off x="713232" y="2798064"/>
            <a:ext cx="2103120" cy="420624"/>
          </a:xfrm>
          <a:prstGeom prst="roundRect">
            <a:avLst>
              <a:gd name="adj" fmla="val 10870"/>
            </a:avLst>
          </a:prstGeom>
          <a:solidFill>
            <a:srgbClr val="FFFFFF"/>
          </a:solidFill>
          <a:ln w="6350">
            <a:solidFill>
              <a:srgbClr val="8DA9C4"/>
            </a:solidFill>
            <a:prstDash val="solid"/>
          </a:ln>
        </p:spPr>
      </p:sp>
      <p:sp>
        <p:nvSpPr>
          <p:cNvPr id="11" name="Text 9"/>
          <p:cNvSpPr txBox="1"/>
          <p:nvPr/>
        </p:nvSpPr>
        <p:spPr>
          <a:xfrm>
            <a:off x="768096" y="2798064"/>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Business-IT alignment</a:t>
            </a:r>
            <a:endParaRPr lang="en-US" sz="900" dirty="0"/>
          </a:p>
        </p:txBody>
      </p:sp>
      <p:sp>
        <p:nvSpPr>
          <p:cNvPr id="12" name="Shape 10"/>
          <p:cNvSpPr/>
          <p:nvPr/>
        </p:nvSpPr>
        <p:spPr>
          <a:xfrm>
            <a:off x="2926080" y="2798064"/>
            <a:ext cx="2103120" cy="420624"/>
          </a:xfrm>
          <a:prstGeom prst="roundRect">
            <a:avLst>
              <a:gd name="adj" fmla="val 10870"/>
            </a:avLst>
          </a:prstGeom>
          <a:solidFill>
            <a:srgbClr val="FFFFFF"/>
          </a:solidFill>
          <a:ln w="6350">
            <a:solidFill>
              <a:srgbClr val="8DA9C4"/>
            </a:solidFill>
            <a:prstDash val="solid"/>
          </a:ln>
        </p:spPr>
      </p:sp>
      <p:sp>
        <p:nvSpPr>
          <p:cNvPr id="13" name="Text 11"/>
          <p:cNvSpPr txBox="1"/>
          <p:nvPr/>
        </p:nvSpPr>
        <p:spPr>
          <a:xfrm>
            <a:off x="2980944" y="2798064"/>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Target operating model</a:t>
            </a:r>
            <a:endParaRPr lang="en-US" sz="900" dirty="0"/>
          </a:p>
        </p:txBody>
      </p:sp>
      <p:sp>
        <p:nvSpPr>
          <p:cNvPr id="14" name="Shape 12"/>
          <p:cNvSpPr/>
          <p:nvPr/>
        </p:nvSpPr>
        <p:spPr>
          <a:xfrm>
            <a:off x="5138928" y="2798064"/>
            <a:ext cx="2103120" cy="420624"/>
          </a:xfrm>
          <a:prstGeom prst="roundRect">
            <a:avLst>
              <a:gd name="adj" fmla="val 10870"/>
            </a:avLst>
          </a:prstGeom>
          <a:solidFill>
            <a:srgbClr val="FFFFFF"/>
          </a:solidFill>
          <a:ln w="6350">
            <a:solidFill>
              <a:srgbClr val="8DA9C4"/>
            </a:solidFill>
            <a:prstDash val="solid"/>
          </a:ln>
        </p:spPr>
      </p:sp>
      <p:sp>
        <p:nvSpPr>
          <p:cNvPr id="15" name="Text 13"/>
          <p:cNvSpPr txBox="1"/>
          <p:nvPr/>
        </p:nvSpPr>
        <p:spPr>
          <a:xfrm>
            <a:off x="5193792" y="2798064"/>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Portfolio management</a:t>
            </a:r>
            <a:endParaRPr lang="en-US" sz="900" dirty="0"/>
          </a:p>
        </p:txBody>
      </p:sp>
      <p:sp>
        <p:nvSpPr>
          <p:cNvPr id="16" name="Shape 14"/>
          <p:cNvSpPr/>
          <p:nvPr/>
        </p:nvSpPr>
        <p:spPr>
          <a:xfrm>
            <a:off x="713232" y="3310128"/>
            <a:ext cx="2103120" cy="420624"/>
          </a:xfrm>
          <a:prstGeom prst="roundRect">
            <a:avLst>
              <a:gd name="adj" fmla="val 10870"/>
            </a:avLst>
          </a:prstGeom>
          <a:solidFill>
            <a:srgbClr val="FFFFFF"/>
          </a:solidFill>
          <a:ln w="6350">
            <a:solidFill>
              <a:srgbClr val="8DA9C4"/>
            </a:solidFill>
            <a:prstDash val="solid"/>
          </a:ln>
        </p:spPr>
      </p:sp>
      <p:sp>
        <p:nvSpPr>
          <p:cNvPr id="17" name="Text 15"/>
          <p:cNvSpPr txBox="1"/>
          <p:nvPr/>
        </p:nvSpPr>
        <p:spPr>
          <a:xfrm>
            <a:off x="768096" y="3310128"/>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Tech-debt posture</a:t>
            </a:r>
            <a:endParaRPr lang="en-US" sz="900" dirty="0"/>
          </a:p>
        </p:txBody>
      </p:sp>
      <p:sp>
        <p:nvSpPr>
          <p:cNvPr id="18" name="Shape 16"/>
          <p:cNvSpPr/>
          <p:nvPr/>
        </p:nvSpPr>
        <p:spPr>
          <a:xfrm>
            <a:off x="2926080" y="3310128"/>
            <a:ext cx="2103120" cy="420624"/>
          </a:xfrm>
          <a:prstGeom prst="roundRect">
            <a:avLst>
              <a:gd name="adj" fmla="val 10870"/>
            </a:avLst>
          </a:prstGeom>
          <a:solidFill>
            <a:srgbClr val="FFFFFF"/>
          </a:solidFill>
          <a:ln w="6350">
            <a:solidFill>
              <a:srgbClr val="8DA9C4"/>
            </a:solidFill>
            <a:prstDash val="solid"/>
          </a:ln>
        </p:spPr>
      </p:sp>
      <p:sp>
        <p:nvSpPr>
          <p:cNvPr id="19" name="Text 17"/>
          <p:cNvSpPr txBox="1"/>
          <p:nvPr/>
        </p:nvSpPr>
        <p:spPr>
          <a:xfrm>
            <a:off x="2980944" y="3310128"/>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Capability &amp; sourcing</a:t>
            </a:r>
            <a:endParaRPr lang="en-US" sz="900" dirty="0"/>
          </a:p>
        </p:txBody>
      </p:sp>
      <p:sp>
        <p:nvSpPr>
          <p:cNvPr id="20" name="Shape 18"/>
          <p:cNvSpPr/>
          <p:nvPr/>
        </p:nvSpPr>
        <p:spPr>
          <a:xfrm>
            <a:off x="5138928" y="3310128"/>
            <a:ext cx="2103120" cy="420624"/>
          </a:xfrm>
          <a:prstGeom prst="roundRect">
            <a:avLst>
              <a:gd name="adj" fmla="val 10870"/>
            </a:avLst>
          </a:prstGeom>
          <a:solidFill>
            <a:srgbClr val="FFFFFF"/>
          </a:solidFill>
          <a:ln w="6350">
            <a:solidFill>
              <a:srgbClr val="8DA9C4"/>
            </a:solidFill>
            <a:prstDash val="solid"/>
          </a:ln>
        </p:spPr>
      </p:sp>
      <p:sp>
        <p:nvSpPr>
          <p:cNvPr id="21" name="Text 19"/>
          <p:cNvSpPr txBox="1"/>
          <p:nvPr/>
        </p:nvSpPr>
        <p:spPr>
          <a:xfrm>
            <a:off x="5193792" y="3310128"/>
            <a:ext cx="1993392" cy="420624"/>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Investment governance</a:t>
            </a:r>
            <a:endParaRPr lang="en-US" sz="900" dirty="0"/>
          </a:p>
        </p:txBody>
      </p:sp>
      <p:sp>
        <p:nvSpPr>
          <p:cNvPr id="22" name="Shape 20"/>
          <p:cNvSpPr/>
          <p:nvPr/>
        </p:nvSpPr>
        <p:spPr>
          <a:xfrm>
            <a:off x="7635240" y="1691640"/>
            <a:ext cx="4050792" cy="2286000"/>
          </a:xfrm>
          <a:prstGeom prst="roundRect">
            <a:avLst>
              <a:gd name="adj" fmla="val 2400"/>
            </a:avLst>
          </a:prstGeom>
          <a:solidFill>
            <a:srgbClr val="0B2545"/>
          </a:solidFill>
          <a:ln/>
        </p:spPr>
      </p:sp>
      <p:sp>
        <p:nvSpPr>
          <p:cNvPr id="23" name="Text 21"/>
          <p:cNvSpPr txBox="1"/>
          <p:nvPr/>
        </p:nvSpPr>
        <p:spPr>
          <a:xfrm>
            <a:off x="7845552" y="1828800"/>
            <a:ext cx="3657600" cy="256032"/>
          </a:xfrm>
          <a:prstGeom prst="rect">
            <a:avLst/>
          </a:prstGeom>
          <a:noFill/>
          <a:ln/>
        </p:spPr>
        <p:txBody>
          <a:bodyPr wrap="square" lIns="0" tIns="0" rIns="0" bIns="0" rtlCol="0" anchor="ctr"/>
          <a:lstStyle/>
          <a:p>
            <a:pPr indent="0" marL="0">
              <a:buNone/>
            </a:pPr>
            <a:r>
              <a:rPr lang="en-US" sz="1000" b="1" spc="120" kern="0" dirty="0">
                <a:solidFill>
                  <a:srgbClr val="8DA9C4"/>
                </a:solidFill>
                <a:latin typeface="Calibri" pitchFamily="34" charset="0"/>
                <a:ea typeface="Calibri" pitchFamily="34" charset="-122"/>
                <a:cs typeface="Calibri" pitchFamily="34" charset="-120"/>
              </a:rPr>
              <a:t>ENTRY 2 · DIRECT / DEFINED PAIN</a:t>
            </a:r>
            <a:endParaRPr lang="en-US" sz="1000" dirty="0"/>
          </a:p>
        </p:txBody>
      </p:sp>
      <p:sp>
        <p:nvSpPr>
          <p:cNvPr id="24" name="Text 22"/>
          <p:cNvSpPr txBox="1"/>
          <p:nvPr/>
        </p:nvSpPr>
        <p:spPr>
          <a:xfrm>
            <a:off x="7845552" y="2139696"/>
            <a:ext cx="3611880" cy="822960"/>
          </a:xfrm>
          <a:prstGeom prst="rect">
            <a:avLst/>
          </a:prstGeom>
          <a:noFill/>
          <a:ln/>
        </p:spPr>
        <p:txBody>
          <a:bodyPr wrap="square" lIns="0" tIns="0" rIns="0" bIns="0" rtlCol="0" anchor="ctr"/>
          <a:lstStyle/>
          <a:p>
            <a:pPr indent="0" marL="0">
              <a:lnSpc>
                <a:spcPct val="105000"/>
              </a:lnSpc>
              <a:buNone/>
            </a:pPr>
            <a:r>
              <a:rPr lang="en-US" sz="1100" dirty="0">
                <a:solidFill>
                  <a:srgbClr val="E4ECF7"/>
                </a:solidFill>
                <a:latin typeface="Calibri" pitchFamily="34" charset="0"/>
                <a:ea typeface="Calibri" pitchFamily="34" charset="-122"/>
                <a:cs typeface="Calibri" pitchFamily="34" charset="-120"/>
              </a:rPr>
              <a:t>The enterprise-IT buyer often arrives already knowing the pain — or with a pain that bundles components from several offerings at once.</a:t>
            </a:r>
            <a:endParaRPr lang="en-US" sz="1100" dirty="0"/>
          </a:p>
        </p:txBody>
      </p:sp>
      <p:sp>
        <p:nvSpPr>
          <p:cNvPr id="25" name="Text 23"/>
          <p:cNvSpPr txBox="1"/>
          <p:nvPr/>
        </p:nvSpPr>
        <p:spPr>
          <a:xfrm>
            <a:off x="7845552" y="3017520"/>
            <a:ext cx="3611880" cy="274320"/>
          </a:xfrm>
          <a:prstGeom prst="rect">
            <a:avLst/>
          </a:prstGeom>
          <a:noFill/>
          <a:ln/>
        </p:spPr>
        <p:txBody>
          <a:bodyPr wrap="square" lIns="0" tIns="0" rIns="0" bIns="0" rtlCol="0" anchor="ctr"/>
          <a:lstStyle/>
          <a:p>
            <a:pPr indent="0" marL="0">
              <a:buNone/>
            </a:pPr>
            <a:r>
              <a:rPr lang="en-US" sz="1100" b="1" i="1" dirty="0">
                <a:solidFill>
                  <a:srgbClr val="FFFFFF"/>
                </a:solidFill>
                <a:latin typeface="Cambria" pitchFamily="34" charset="0"/>
                <a:ea typeface="Cambria" pitchFamily="34" charset="-122"/>
                <a:cs typeface="Cambria" pitchFamily="34" charset="-120"/>
              </a:rPr>
              <a:t>“take cost out”</a:t>
            </a:r>
            <a:pPr indent="0" marL="0">
              <a:buNone/>
            </a:pPr>
            <a:r>
              <a:rPr lang="en-US" sz="950" dirty="0">
                <a:solidFill>
                  <a:srgbClr val="B8CCE4"/>
                </a:solidFill>
                <a:latin typeface="Calibri" pitchFamily="34" charset="0"/>
                <a:ea typeface="Calibri" pitchFamily="34" charset="-122"/>
                <a:cs typeface="Calibri" pitchFamily="34" charset="-120"/>
              </a:rPr>
              <a:t>  → IT Economics + TOM + tech-debt</a:t>
            </a:r>
            <a:endParaRPr lang="en-US" sz="1100" dirty="0"/>
          </a:p>
        </p:txBody>
      </p:sp>
      <p:sp>
        <p:nvSpPr>
          <p:cNvPr id="26" name="Text 24"/>
          <p:cNvSpPr txBox="1"/>
          <p:nvPr/>
        </p:nvSpPr>
        <p:spPr>
          <a:xfrm>
            <a:off x="7845552" y="3310128"/>
            <a:ext cx="3611880" cy="274320"/>
          </a:xfrm>
          <a:prstGeom prst="rect">
            <a:avLst/>
          </a:prstGeom>
          <a:noFill/>
          <a:ln/>
        </p:spPr>
        <p:txBody>
          <a:bodyPr wrap="square" lIns="0" tIns="0" rIns="0" bIns="0" rtlCol="0" anchor="ctr"/>
          <a:lstStyle/>
          <a:p>
            <a:pPr indent="0" marL="0">
              <a:buNone/>
            </a:pPr>
            <a:r>
              <a:rPr lang="en-US" sz="1100" b="1" i="1" dirty="0">
                <a:solidFill>
                  <a:srgbClr val="FFFFFF"/>
                </a:solidFill>
                <a:latin typeface="Cambria" pitchFamily="34" charset="0"/>
                <a:ea typeface="Cambria" pitchFamily="34" charset="-122"/>
                <a:cs typeface="Cambria" pitchFamily="34" charset="-120"/>
              </a:rPr>
              <a:t>“we have a deal”</a:t>
            </a:r>
            <a:pPr indent="0" marL="0">
              <a:buNone/>
            </a:pPr>
            <a:r>
              <a:rPr lang="en-US" sz="950" dirty="0">
                <a:solidFill>
                  <a:srgbClr val="B8CCE4"/>
                </a:solidFill>
                <a:latin typeface="Calibri" pitchFamily="34" charset="0"/>
                <a:ea typeface="Calibri" pitchFamily="34" charset="-122"/>
                <a:cs typeface="Calibri" pitchFamily="34" charset="-120"/>
              </a:rPr>
              <a:t>  → M&amp;A + parts of TOM</a:t>
            </a:r>
            <a:endParaRPr lang="en-US" sz="1100" dirty="0"/>
          </a:p>
        </p:txBody>
      </p:sp>
      <p:sp>
        <p:nvSpPr>
          <p:cNvPr id="27" name="Text 25"/>
          <p:cNvSpPr txBox="1"/>
          <p:nvPr/>
        </p:nvSpPr>
        <p:spPr>
          <a:xfrm>
            <a:off x="7845552" y="3621024"/>
            <a:ext cx="3611880" cy="256032"/>
          </a:xfrm>
          <a:prstGeom prst="rect">
            <a:avLst/>
          </a:prstGeom>
          <a:noFill/>
          <a:ln/>
        </p:spPr>
        <p:txBody>
          <a:bodyPr wrap="square" lIns="0" tIns="0" rIns="0" bIns="0" rtlCol="0" anchor="ctr"/>
          <a:lstStyle/>
          <a:p>
            <a:pPr indent="0" marL="0">
              <a:buNone/>
            </a:pPr>
            <a:r>
              <a:rPr lang="en-US" sz="950" i="1" dirty="0">
                <a:solidFill>
                  <a:srgbClr val="8DA9C4"/>
                </a:solidFill>
                <a:latin typeface="Calibri" pitchFamily="34" charset="0"/>
                <a:ea typeface="Calibri" pitchFamily="34" charset="-122"/>
                <a:cs typeface="Calibri" pitchFamily="34" charset="-120"/>
              </a:rPr>
              <a:t>Bundled around a defined pain.</a:t>
            </a:r>
            <a:endParaRPr lang="en-US" sz="950" dirty="0"/>
          </a:p>
        </p:txBody>
      </p:sp>
      <p:sp>
        <p:nvSpPr>
          <p:cNvPr id="28" name="Text 26"/>
          <p:cNvSpPr txBox="1"/>
          <p:nvPr/>
        </p:nvSpPr>
        <p:spPr>
          <a:xfrm>
            <a:off x="502920" y="4114800"/>
            <a:ext cx="10972800" cy="256032"/>
          </a:xfrm>
          <a:prstGeom prst="rect">
            <a:avLst/>
          </a:prstGeom>
          <a:noFill/>
          <a:ln/>
        </p:spPr>
        <p:txBody>
          <a:bodyPr wrap="square" lIns="0" tIns="0" rIns="0" bIns="0" rtlCol="0" anchor="ctr"/>
          <a:lstStyle/>
          <a:p>
            <a:pPr algn="ctr" indent="0" marL="0">
              <a:buNone/>
            </a:pPr>
            <a:r>
              <a:rPr lang="en-US" sz="1100" b="1" dirty="0">
                <a:solidFill>
                  <a:srgbClr val="D35400"/>
                </a:solidFill>
                <a:latin typeface="Calibri" pitchFamily="34" charset="0"/>
                <a:ea typeface="Calibri" pitchFamily="34" charset="-122"/>
                <a:cs typeface="Calibri" pitchFamily="34" charset="-120"/>
              </a:rPr>
              <a:t>both routes lead to the five offerings ↓</a:t>
            </a:r>
            <a:endParaRPr lang="en-US" sz="1100" dirty="0"/>
          </a:p>
        </p:txBody>
      </p:sp>
      <p:sp>
        <p:nvSpPr>
          <p:cNvPr id="29" name="Shape 27"/>
          <p:cNvSpPr/>
          <p:nvPr/>
        </p:nvSpPr>
        <p:spPr>
          <a:xfrm>
            <a:off x="566928" y="4526280"/>
            <a:ext cx="2103120" cy="1051560"/>
          </a:xfrm>
          <a:prstGeom prst="roundRect">
            <a:avLst>
              <a:gd name="adj" fmla="val 5217"/>
            </a:avLst>
          </a:prstGeom>
          <a:solidFill>
            <a:srgbClr val="0B2545"/>
          </a:solidFill>
          <a:ln w="15875">
            <a:solidFill>
              <a:srgbClr val="D35400"/>
            </a:solidFill>
            <a:prstDash val="solid"/>
          </a:ln>
        </p:spPr>
      </p:sp>
      <p:sp>
        <p:nvSpPr>
          <p:cNvPr id="30" name="Text 28"/>
          <p:cNvSpPr txBox="1"/>
          <p:nvPr/>
        </p:nvSpPr>
        <p:spPr>
          <a:xfrm>
            <a:off x="676656" y="4636008"/>
            <a:ext cx="1883664" cy="237744"/>
          </a:xfrm>
          <a:prstGeom prst="rect">
            <a:avLst/>
          </a:prstGeom>
          <a:noFill/>
          <a:ln/>
        </p:spPr>
        <p:txBody>
          <a:bodyPr wrap="square" lIns="0" tIns="0" rIns="0" bIns="0" rtlCol="0" anchor="ctr"/>
          <a:lstStyle/>
          <a:p>
            <a:pPr indent="0" marL="0">
              <a:buNone/>
            </a:pPr>
            <a:r>
              <a:rPr lang="en-US" sz="1000" b="1" dirty="0">
                <a:solidFill>
                  <a:srgbClr val="8DA9C4"/>
                </a:solidFill>
                <a:latin typeface="Calibri" pitchFamily="34" charset="0"/>
                <a:ea typeface="Calibri" pitchFamily="34" charset="-122"/>
                <a:cs typeface="Calibri" pitchFamily="34" charset="-120"/>
              </a:rPr>
              <a:t>01.5</a:t>
            </a:r>
            <a:endParaRPr lang="en-US" sz="1000" dirty="0"/>
          </a:p>
        </p:txBody>
      </p:sp>
      <p:sp>
        <p:nvSpPr>
          <p:cNvPr id="31" name="Text 29"/>
          <p:cNvSpPr txBox="1"/>
          <p:nvPr/>
        </p:nvSpPr>
        <p:spPr>
          <a:xfrm>
            <a:off x="676656" y="4855464"/>
            <a:ext cx="1883664" cy="502920"/>
          </a:xfrm>
          <a:prstGeom prst="rect">
            <a:avLst/>
          </a:prstGeom>
          <a:noFill/>
          <a:ln/>
        </p:spPr>
        <p:txBody>
          <a:bodyPr wrap="square" lIns="0" tIns="0" rIns="0" bIns="0" rtlCol="0" anchor="ctr"/>
          <a:lstStyle/>
          <a:p>
            <a:pPr indent="0" marL="0">
              <a:lnSpc>
                <a:spcPct val="90000"/>
              </a:lnSpc>
              <a:buNone/>
            </a:pPr>
            <a:r>
              <a:rPr lang="en-US" sz="1200" b="1" dirty="0">
                <a:solidFill>
                  <a:srgbClr val="FFFFFF"/>
                </a:solidFill>
                <a:latin typeface="Cambria" pitchFamily="34" charset="0"/>
                <a:ea typeface="Cambria" pitchFamily="34" charset="-122"/>
                <a:cs typeface="Cambria" pitchFamily="34" charset="-120"/>
              </a:rPr>
              <a:t>Target Operating</a:t>
            </a:r>
            <a:endParaRPr lang="en-US" sz="1200" dirty="0"/>
          </a:p>
          <a:p>
            <a:pPr indent="0" marL="0">
              <a:lnSpc>
                <a:spcPct val="90000"/>
              </a:lnSpc>
              <a:buNone/>
            </a:pPr>
            <a:r>
              <a:rPr lang="en-US" sz="1200" b="1" dirty="0">
                <a:solidFill>
                  <a:srgbClr val="FFFFFF"/>
                </a:solidFill>
                <a:latin typeface="Cambria" pitchFamily="34" charset="0"/>
                <a:ea typeface="Cambria" pitchFamily="34" charset="-122"/>
                <a:cs typeface="Cambria" pitchFamily="34" charset="-120"/>
              </a:rPr>
              <a:t>Model</a:t>
            </a:r>
            <a:endParaRPr lang="en-US" sz="1200" dirty="0"/>
          </a:p>
        </p:txBody>
      </p:sp>
      <p:sp>
        <p:nvSpPr>
          <p:cNvPr id="32" name="Text 30"/>
          <p:cNvSpPr txBox="1"/>
          <p:nvPr/>
        </p:nvSpPr>
        <p:spPr>
          <a:xfrm>
            <a:off x="676656" y="5349240"/>
            <a:ext cx="1883664" cy="182880"/>
          </a:xfrm>
          <a:prstGeom prst="rect">
            <a:avLst/>
          </a:prstGeom>
          <a:noFill/>
          <a:ln/>
        </p:spPr>
        <p:txBody>
          <a:bodyPr wrap="square" lIns="0" tIns="0" rIns="0" bIns="0" rtlCol="0" anchor="ctr"/>
          <a:lstStyle/>
          <a:p>
            <a:pPr indent="0" marL="0">
              <a:buNone/>
            </a:pPr>
            <a:r>
              <a:rPr lang="en-US" sz="750" b="1" spc="100" kern="0" dirty="0">
                <a:solidFill>
                  <a:srgbClr val="8DA9C4"/>
                </a:solidFill>
                <a:latin typeface="Calibri" pitchFamily="34" charset="0"/>
                <a:ea typeface="Calibri" pitchFamily="34" charset="-122"/>
                <a:cs typeface="Calibri" pitchFamily="34" charset="-120"/>
              </a:rPr>
              <a:t>★ THE SPINE</a:t>
            </a:r>
            <a:endParaRPr lang="en-US" sz="750" dirty="0"/>
          </a:p>
        </p:txBody>
      </p:sp>
      <p:sp>
        <p:nvSpPr>
          <p:cNvPr id="33" name="Shape 31"/>
          <p:cNvSpPr/>
          <p:nvPr/>
        </p:nvSpPr>
        <p:spPr>
          <a:xfrm>
            <a:off x="2843784" y="4526280"/>
            <a:ext cx="2103120" cy="1051560"/>
          </a:xfrm>
          <a:prstGeom prst="roundRect">
            <a:avLst>
              <a:gd name="adj" fmla="val 5217"/>
            </a:avLst>
          </a:prstGeom>
          <a:solidFill>
            <a:srgbClr val="EAF0F7"/>
          </a:solidFill>
          <a:ln w="9525">
            <a:solidFill>
              <a:srgbClr val="8DA9C4"/>
            </a:solidFill>
            <a:prstDash val="solid"/>
          </a:ln>
        </p:spPr>
      </p:sp>
      <p:sp>
        <p:nvSpPr>
          <p:cNvPr id="34" name="Text 32"/>
          <p:cNvSpPr txBox="1"/>
          <p:nvPr/>
        </p:nvSpPr>
        <p:spPr>
          <a:xfrm>
            <a:off x="2953512" y="4636008"/>
            <a:ext cx="1883664"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01.1</a:t>
            </a:r>
            <a:endParaRPr lang="en-US" sz="1000" dirty="0"/>
          </a:p>
        </p:txBody>
      </p:sp>
      <p:sp>
        <p:nvSpPr>
          <p:cNvPr id="35" name="Text 33"/>
          <p:cNvSpPr txBox="1"/>
          <p:nvPr/>
        </p:nvSpPr>
        <p:spPr>
          <a:xfrm>
            <a:off x="2953512" y="4855464"/>
            <a:ext cx="1883664" cy="502920"/>
          </a:xfrm>
          <a:prstGeom prst="rect">
            <a:avLst/>
          </a:prstGeom>
          <a:noFill/>
          <a:ln/>
        </p:spPr>
        <p:txBody>
          <a:bodyPr wrap="square" lIns="0" tIns="0" rIns="0" bIns="0" rtlCol="0" anchor="ctr"/>
          <a:lstStyle/>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IT Economics &amp;</a:t>
            </a:r>
            <a:endParaRPr lang="en-US" sz="1200" dirty="0"/>
          </a:p>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Cost Transformation</a:t>
            </a:r>
            <a:endParaRPr lang="en-US" sz="1200" dirty="0"/>
          </a:p>
        </p:txBody>
      </p:sp>
      <p:sp>
        <p:nvSpPr>
          <p:cNvPr id="36" name="Shape 34"/>
          <p:cNvSpPr/>
          <p:nvPr/>
        </p:nvSpPr>
        <p:spPr>
          <a:xfrm>
            <a:off x="5120640" y="4526280"/>
            <a:ext cx="2103120" cy="1051560"/>
          </a:xfrm>
          <a:prstGeom prst="roundRect">
            <a:avLst>
              <a:gd name="adj" fmla="val 5217"/>
            </a:avLst>
          </a:prstGeom>
          <a:solidFill>
            <a:srgbClr val="EAF0F7"/>
          </a:solidFill>
          <a:ln w="9525">
            <a:solidFill>
              <a:srgbClr val="8DA9C4"/>
            </a:solidFill>
            <a:prstDash val="solid"/>
          </a:ln>
        </p:spPr>
      </p:sp>
      <p:sp>
        <p:nvSpPr>
          <p:cNvPr id="37" name="Text 35"/>
          <p:cNvSpPr txBox="1"/>
          <p:nvPr/>
        </p:nvSpPr>
        <p:spPr>
          <a:xfrm>
            <a:off x="5230368" y="4636008"/>
            <a:ext cx="1883664"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01.2</a:t>
            </a:r>
            <a:endParaRPr lang="en-US" sz="1000" dirty="0"/>
          </a:p>
        </p:txBody>
      </p:sp>
      <p:sp>
        <p:nvSpPr>
          <p:cNvPr id="38" name="Text 36"/>
          <p:cNvSpPr txBox="1"/>
          <p:nvPr/>
        </p:nvSpPr>
        <p:spPr>
          <a:xfrm>
            <a:off x="5230368" y="4855464"/>
            <a:ext cx="1883664" cy="502920"/>
          </a:xfrm>
          <a:prstGeom prst="rect">
            <a:avLst/>
          </a:prstGeom>
          <a:noFill/>
          <a:ln/>
        </p:spPr>
        <p:txBody>
          <a:bodyPr wrap="square" lIns="0" tIns="0" rIns="0" bIns="0" rtlCol="0" anchor="ctr"/>
          <a:lstStyle/>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Resilience, Business</a:t>
            </a:r>
            <a:endParaRPr lang="en-US" sz="1200" dirty="0"/>
          </a:p>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Continuity</a:t>
            </a:r>
            <a:endParaRPr lang="en-US" sz="1200" dirty="0"/>
          </a:p>
        </p:txBody>
      </p:sp>
      <p:sp>
        <p:nvSpPr>
          <p:cNvPr id="39" name="Shape 37"/>
          <p:cNvSpPr/>
          <p:nvPr/>
        </p:nvSpPr>
        <p:spPr>
          <a:xfrm>
            <a:off x="7397496" y="4526280"/>
            <a:ext cx="2103120" cy="1051560"/>
          </a:xfrm>
          <a:prstGeom prst="roundRect">
            <a:avLst>
              <a:gd name="adj" fmla="val 5217"/>
            </a:avLst>
          </a:prstGeom>
          <a:solidFill>
            <a:srgbClr val="EAF0F7"/>
          </a:solidFill>
          <a:ln w="9525">
            <a:solidFill>
              <a:srgbClr val="8DA9C4"/>
            </a:solidFill>
            <a:prstDash val="solid"/>
          </a:ln>
        </p:spPr>
      </p:sp>
      <p:sp>
        <p:nvSpPr>
          <p:cNvPr id="40" name="Text 38"/>
          <p:cNvSpPr txBox="1"/>
          <p:nvPr/>
        </p:nvSpPr>
        <p:spPr>
          <a:xfrm>
            <a:off x="7507224" y="4636008"/>
            <a:ext cx="1883664"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01.3</a:t>
            </a:r>
            <a:endParaRPr lang="en-US" sz="1000" dirty="0"/>
          </a:p>
        </p:txBody>
      </p:sp>
      <p:sp>
        <p:nvSpPr>
          <p:cNvPr id="41" name="Text 39"/>
          <p:cNvSpPr txBox="1"/>
          <p:nvPr/>
        </p:nvSpPr>
        <p:spPr>
          <a:xfrm>
            <a:off x="7507224" y="4855464"/>
            <a:ext cx="1883664" cy="502920"/>
          </a:xfrm>
          <a:prstGeom prst="rect">
            <a:avLst/>
          </a:prstGeom>
          <a:noFill/>
          <a:ln/>
        </p:spPr>
        <p:txBody>
          <a:bodyPr wrap="square" lIns="0" tIns="0" rIns="0" bIns="0" rtlCol="0" anchor="ctr"/>
          <a:lstStyle/>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M&amp;A Advisory</a:t>
            </a:r>
            <a:endParaRPr lang="en-US" sz="1200" dirty="0"/>
          </a:p>
        </p:txBody>
      </p:sp>
      <p:sp>
        <p:nvSpPr>
          <p:cNvPr id="42" name="Text 40"/>
          <p:cNvSpPr txBox="1"/>
          <p:nvPr/>
        </p:nvSpPr>
        <p:spPr>
          <a:xfrm>
            <a:off x="7507224" y="5349240"/>
            <a:ext cx="1883664" cy="182880"/>
          </a:xfrm>
          <a:prstGeom prst="rect">
            <a:avLst/>
          </a:prstGeom>
          <a:noFill/>
          <a:ln/>
        </p:spPr>
        <p:txBody>
          <a:bodyPr wrap="square" lIns="0" tIns="0" rIns="0" bIns="0" rtlCol="0" anchor="ctr"/>
          <a:lstStyle/>
          <a:p>
            <a:pPr indent="0" marL="0">
              <a:buNone/>
            </a:pPr>
            <a:r>
              <a:rPr lang="en-US" sz="750" b="1" spc="100" kern="0" dirty="0">
                <a:solidFill>
                  <a:srgbClr val="D35400"/>
                </a:solidFill>
                <a:latin typeface="Calibri" pitchFamily="34" charset="0"/>
                <a:ea typeface="Calibri" pitchFamily="34" charset="-122"/>
                <a:cs typeface="Calibri" pitchFamily="34" charset="-120"/>
              </a:rPr>
              <a:t>DEAL-TRIGGERED</a:t>
            </a:r>
            <a:endParaRPr lang="en-US" sz="750" dirty="0"/>
          </a:p>
        </p:txBody>
      </p:sp>
      <p:sp>
        <p:nvSpPr>
          <p:cNvPr id="43" name="Shape 41"/>
          <p:cNvSpPr/>
          <p:nvPr/>
        </p:nvSpPr>
        <p:spPr>
          <a:xfrm>
            <a:off x="9674352" y="4526280"/>
            <a:ext cx="2103120" cy="1051560"/>
          </a:xfrm>
          <a:prstGeom prst="roundRect">
            <a:avLst>
              <a:gd name="adj" fmla="val 5217"/>
            </a:avLst>
          </a:prstGeom>
          <a:solidFill>
            <a:srgbClr val="EAF0F7"/>
          </a:solidFill>
          <a:ln w="9525">
            <a:solidFill>
              <a:srgbClr val="8DA9C4"/>
            </a:solidFill>
            <a:prstDash val="solid"/>
          </a:ln>
        </p:spPr>
      </p:sp>
      <p:sp>
        <p:nvSpPr>
          <p:cNvPr id="44" name="Text 42"/>
          <p:cNvSpPr txBox="1"/>
          <p:nvPr/>
        </p:nvSpPr>
        <p:spPr>
          <a:xfrm>
            <a:off x="9784080" y="4636008"/>
            <a:ext cx="1883664" cy="237744"/>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01.4</a:t>
            </a:r>
            <a:endParaRPr lang="en-US" sz="1000" dirty="0"/>
          </a:p>
        </p:txBody>
      </p:sp>
      <p:sp>
        <p:nvSpPr>
          <p:cNvPr id="45" name="Text 43"/>
          <p:cNvSpPr txBox="1"/>
          <p:nvPr/>
        </p:nvSpPr>
        <p:spPr>
          <a:xfrm>
            <a:off x="9784080" y="4855464"/>
            <a:ext cx="1883664" cy="502920"/>
          </a:xfrm>
          <a:prstGeom prst="rect">
            <a:avLst/>
          </a:prstGeom>
          <a:noFill/>
          <a:ln/>
        </p:spPr>
        <p:txBody>
          <a:bodyPr wrap="square" lIns="0" tIns="0" rIns="0" bIns="0" rtlCol="0" anchor="ctr"/>
          <a:lstStyle/>
          <a:p>
            <a:pPr indent="0" marL="0">
              <a:lnSpc>
                <a:spcPct val="90000"/>
              </a:lnSpc>
              <a:buNone/>
            </a:pPr>
            <a:r>
              <a:rPr lang="en-US" sz="1200" b="1" dirty="0">
                <a:solidFill>
                  <a:srgbClr val="0B2545"/>
                </a:solidFill>
                <a:latin typeface="Cambria" pitchFamily="34" charset="0"/>
                <a:ea typeface="Cambria" pitchFamily="34" charset="-122"/>
                <a:cs typeface="Cambria" pitchFamily="34" charset="-120"/>
              </a:rPr>
              <a:t>Sustainability</a:t>
            </a:r>
            <a:endParaRPr lang="en-US" sz="1200" dirty="0"/>
          </a:p>
        </p:txBody>
      </p:sp>
      <p:sp>
        <p:nvSpPr>
          <p:cNvPr id="46" name="Text 44"/>
          <p:cNvSpPr txBox="1"/>
          <p:nvPr/>
        </p:nvSpPr>
        <p:spPr>
          <a:xfrm>
            <a:off x="566928" y="5742432"/>
            <a:ext cx="11119104" cy="274320"/>
          </a:xfrm>
          <a:prstGeom prst="rect">
            <a:avLst/>
          </a:prstGeom>
          <a:noFill/>
          <a:ln/>
        </p:spPr>
        <p:txBody>
          <a:bodyPr wrap="square" lIns="0" tIns="0" rIns="0" bIns="0" rtlCol="0" anchor="ctr"/>
          <a:lstStyle/>
          <a:p>
            <a:pPr algn="ctr" indent="0" marL="0">
              <a:buNone/>
            </a:pPr>
            <a:r>
              <a:rPr lang="en-US" sz="1150" i="1" dirty="0">
                <a:solidFill>
                  <a:srgbClr val="0B2545"/>
                </a:solidFill>
                <a:latin typeface="Cambria" pitchFamily="34" charset="0"/>
                <a:ea typeface="Cambria" pitchFamily="34" charset="-122"/>
                <a:cs typeface="Cambria" pitchFamily="34" charset="-120"/>
              </a:rPr>
              <a:t>Target Operating Model is the spine — a strategy engagement surfaces the cost, resilience, M&amp;A and sustainability gaps. Each offering is also standalone-sellable.</a:t>
            </a:r>
            <a:endParaRPr lang="en-US" sz="1150" dirty="0"/>
          </a:p>
        </p:txBody>
      </p:sp>
      <p:sp>
        <p:nvSpPr>
          <p:cNvPr id="47" name="Text 45"/>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48" name="Text 46"/>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THE STRATEGY IQ DIAGNOSTIC</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Six anchors of a defensible IT strategy</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Strategy IQ scores each anchor, then routes the CIO to the offering(s) that close the weakest gaps.</a:t>
            </a:r>
            <a:endParaRPr lang="en-US" sz="1200" dirty="0"/>
          </a:p>
        </p:txBody>
      </p:sp>
      <p:sp>
        <p:nvSpPr>
          <p:cNvPr id="5" name="Shape 3"/>
          <p:cNvSpPr/>
          <p:nvPr/>
        </p:nvSpPr>
        <p:spPr>
          <a:xfrm>
            <a:off x="502920" y="1783080"/>
            <a:ext cx="11183112" cy="566928"/>
          </a:xfrm>
          <a:prstGeom prst="roundRect">
            <a:avLst>
              <a:gd name="adj" fmla="val 8065"/>
            </a:avLst>
          </a:prstGeom>
          <a:solidFill>
            <a:srgbClr val="F4F6FA"/>
          </a:solidFill>
          <a:ln w="6350">
            <a:solidFill>
              <a:srgbClr val="D8DFEA"/>
            </a:solidFill>
            <a:prstDash val="solid"/>
          </a:ln>
        </p:spPr>
      </p:sp>
      <p:sp>
        <p:nvSpPr>
          <p:cNvPr id="6" name="Shape 4"/>
          <p:cNvSpPr/>
          <p:nvPr/>
        </p:nvSpPr>
        <p:spPr>
          <a:xfrm>
            <a:off x="621792" y="1883664"/>
            <a:ext cx="603504" cy="365760"/>
          </a:xfrm>
          <a:prstGeom prst="roundRect">
            <a:avLst>
              <a:gd name="adj" fmla="val 12500"/>
            </a:avLst>
          </a:prstGeom>
          <a:solidFill>
            <a:srgbClr val="0B2545"/>
          </a:solidFill>
          <a:ln/>
        </p:spPr>
      </p:sp>
      <p:sp>
        <p:nvSpPr>
          <p:cNvPr id="7" name="Text 5"/>
          <p:cNvSpPr txBox="1"/>
          <p:nvPr/>
        </p:nvSpPr>
        <p:spPr>
          <a:xfrm>
            <a:off x="621792" y="1883664"/>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S1</a:t>
            </a:r>
            <a:endParaRPr lang="en-US" sz="1300" dirty="0"/>
          </a:p>
        </p:txBody>
      </p:sp>
      <p:sp>
        <p:nvSpPr>
          <p:cNvPr id="8" name="Text 6"/>
          <p:cNvSpPr txBox="1"/>
          <p:nvPr/>
        </p:nvSpPr>
        <p:spPr>
          <a:xfrm>
            <a:off x="1371600" y="1783080"/>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Business-IT alignment</a:t>
            </a:r>
            <a:endParaRPr lang="en-US" sz="1250" dirty="0"/>
          </a:p>
        </p:txBody>
      </p:sp>
      <p:sp>
        <p:nvSpPr>
          <p:cNvPr id="9" name="Text 7"/>
          <p:cNvSpPr txBox="1"/>
          <p:nvPr/>
        </p:nvSpPr>
        <p:spPr>
          <a:xfrm>
            <a:off x="3931920" y="1783080"/>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IT strategy tied to business strategy, and refreshed?</a:t>
            </a:r>
            <a:endParaRPr lang="en-US" sz="1050" dirty="0"/>
          </a:p>
        </p:txBody>
      </p:sp>
      <p:sp>
        <p:nvSpPr>
          <p:cNvPr id="10" name="Text 8"/>
          <p:cNvSpPr txBox="1"/>
          <p:nvPr/>
        </p:nvSpPr>
        <p:spPr>
          <a:xfrm>
            <a:off x="8366760" y="1783080"/>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8641080" y="1783080"/>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Target Operating Model</a:t>
            </a:r>
            <a:endParaRPr lang="en-US" sz="1100" dirty="0"/>
          </a:p>
        </p:txBody>
      </p:sp>
      <p:sp>
        <p:nvSpPr>
          <p:cNvPr id="12" name="Shape 10"/>
          <p:cNvSpPr/>
          <p:nvPr/>
        </p:nvSpPr>
        <p:spPr>
          <a:xfrm>
            <a:off x="502920" y="2459736"/>
            <a:ext cx="11183112" cy="566928"/>
          </a:xfrm>
          <a:prstGeom prst="roundRect">
            <a:avLst>
              <a:gd name="adj" fmla="val 8065"/>
            </a:avLst>
          </a:prstGeom>
          <a:solidFill>
            <a:srgbClr val="F4F6FA"/>
          </a:solidFill>
          <a:ln w="6350">
            <a:solidFill>
              <a:srgbClr val="D8DFEA"/>
            </a:solidFill>
            <a:prstDash val="solid"/>
          </a:ln>
        </p:spPr>
      </p:sp>
      <p:sp>
        <p:nvSpPr>
          <p:cNvPr id="13" name="Shape 11"/>
          <p:cNvSpPr/>
          <p:nvPr/>
        </p:nvSpPr>
        <p:spPr>
          <a:xfrm>
            <a:off x="621792" y="2560320"/>
            <a:ext cx="603504" cy="365760"/>
          </a:xfrm>
          <a:prstGeom prst="roundRect">
            <a:avLst>
              <a:gd name="adj" fmla="val 12500"/>
            </a:avLst>
          </a:prstGeom>
          <a:solidFill>
            <a:srgbClr val="0B2545"/>
          </a:solidFill>
          <a:ln/>
        </p:spPr>
      </p:sp>
      <p:sp>
        <p:nvSpPr>
          <p:cNvPr id="14" name="Text 12"/>
          <p:cNvSpPr txBox="1"/>
          <p:nvPr/>
        </p:nvSpPr>
        <p:spPr>
          <a:xfrm>
            <a:off x="621792" y="2560320"/>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S2</a:t>
            </a:r>
            <a:endParaRPr lang="en-US" sz="1300" dirty="0"/>
          </a:p>
        </p:txBody>
      </p:sp>
      <p:sp>
        <p:nvSpPr>
          <p:cNvPr id="15" name="Text 13"/>
          <p:cNvSpPr txBox="1"/>
          <p:nvPr/>
        </p:nvSpPr>
        <p:spPr>
          <a:xfrm>
            <a:off x="1371600" y="2459736"/>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Target operating model</a:t>
            </a:r>
            <a:endParaRPr lang="en-US" sz="1250" dirty="0"/>
          </a:p>
        </p:txBody>
      </p:sp>
      <p:sp>
        <p:nvSpPr>
          <p:cNvPr id="16" name="Text 14"/>
          <p:cNvSpPr txBox="1"/>
          <p:nvPr/>
        </p:nvSpPr>
        <p:spPr>
          <a:xfrm>
            <a:off x="3931920" y="2459736"/>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the operating &amp; product-team model defined and executed?</a:t>
            </a:r>
            <a:endParaRPr lang="en-US" sz="1050" dirty="0"/>
          </a:p>
        </p:txBody>
      </p:sp>
      <p:sp>
        <p:nvSpPr>
          <p:cNvPr id="17" name="Text 15"/>
          <p:cNvSpPr txBox="1"/>
          <p:nvPr/>
        </p:nvSpPr>
        <p:spPr>
          <a:xfrm>
            <a:off x="8366760" y="2459736"/>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8641080" y="2459736"/>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Target Operating Model</a:t>
            </a:r>
            <a:endParaRPr lang="en-US" sz="1100" dirty="0"/>
          </a:p>
        </p:txBody>
      </p:sp>
      <p:sp>
        <p:nvSpPr>
          <p:cNvPr id="19" name="Shape 17"/>
          <p:cNvSpPr/>
          <p:nvPr/>
        </p:nvSpPr>
        <p:spPr>
          <a:xfrm>
            <a:off x="502920" y="3136392"/>
            <a:ext cx="11183112" cy="566928"/>
          </a:xfrm>
          <a:prstGeom prst="roundRect">
            <a:avLst>
              <a:gd name="adj" fmla="val 8065"/>
            </a:avLst>
          </a:prstGeom>
          <a:solidFill>
            <a:srgbClr val="F4F6FA"/>
          </a:solidFill>
          <a:ln w="6350">
            <a:solidFill>
              <a:srgbClr val="D8DFEA"/>
            </a:solidFill>
            <a:prstDash val="solid"/>
          </a:ln>
        </p:spPr>
      </p:sp>
      <p:sp>
        <p:nvSpPr>
          <p:cNvPr id="20" name="Shape 18"/>
          <p:cNvSpPr/>
          <p:nvPr/>
        </p:nvSpPr>
        <p:spPr>
          <a:xfrm>
            <a:off x="621792" y="3236976"/>
            <a:ext cx="603504" cy="365760"/>
          </a:xfrm>
          <a:prstGeom prst="roundRect">
            <a:avLst>
              <a:gd name="adj" fmla="val 12500"/>
            </a:avLst>
          </a:prstGeom>
          <a:solidFill>
            <a:srgbClr val="0B2545"/>
          </a:solidFill>
          <a:ln/>
        </p:spPr>
      </p:sp>
      <p:sp>
        <p:nvSpPr>
          <p:cNvPr id="21" name="Text 19"/>
          <p:cNvSpPr txBox="1"/>
          <p:nvPr/>
        </p:nvSpPr>
        <p:spPr>
          <a:xfrm>
            <a:off x="621792" y="3236976"/>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S3</a:t>
            </a:r>
            <a:endParaRPr lang="en-US" sz="1300" dirty="0"/>
          </a:p>
        </p:txBody>
      </p:sp>
      <p:sp>
        <p:nvSpPr>
          <p:cNvPr id="22" name="Text 20"/>
          <p:cNvSpPr txBox="1"/>
          <p:nvPr/>
        </p:nvSpPr>
        <p:spPr>
          <a:xfrm>
            <a:off x="1371600" y="3136392"/>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Portfolio management</a:t>
            </a:r>
            <a:endParaRPr lang="en-US" sz="1250" dirty="0"/>
          </a:p>
        </p:txBody>
      </p:sp>
      <p:sp>
        <p:nvSpPr>
          <p:cNvPr id="23" name="Text 21"/>
          <p:cNvSpPr txBox="1"/>
          <p:nvPr/>
        </p:nvSpPr>
        <p:spPr>
          <a:xfrm>
            <a:off x="3931920" y="3136392"/>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the application portfolio scored on cost, value and fitness?</a:t>
            </a:r>
            <a:endParaRPr lang="en-US" sz="1050" dirty="0"/>
          </a:p>
        </p:txBody>
      </p:sp>
      <p:sp>
        <p:nvSpPr>
          <p:cNvPr id="24" name="Text 22"/>
          <p:cNvSpPr txBox="1"/>
          <p:nvPr/>
        </p:nvSpPr>
        <p:spPr>
          <a:xfrm>
            <a:off x="8366760" y="3136392"/>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8641080" y="3136392"/>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IT Economics &amp; Cost Transformation</a:t>
            </a:r>
            <a:endParaRPr lang="en-US" sz="1100" dirty="0"/>
          </a:p>
        </p:txBody>
      </p:sp>
      <p:sp>
        <p:nvSpPr>
          <p:cNvPr id="26" name="Shape 24"/>
          <p:cNvSpPr/>
          <p:nvPr/>
        </p:nvSpPr>
        <p:spPr>
          <a:xfrm>
            <a:off x="502920" y="3813048"/>
            <a:ext cx="11183112" cy="566928"/>
          </a:xfrm>
          <a:prstGeom prst="roundRect">
            <a:avLst>
              <a:gd name="adj" fmla="val 8065"/>
            </a:avLst>
          </a:prstGeom>
          <a:solidFill>
            <a:srgbClr val="F4F6FA"/>
          </a:solidFill>
          <a:ln w="6350">
            <a:solidFill>
              <a:srgbClr val="D8DFEA"/>
            </a:solidFill>
            <a:prstDash val="solid"/>
          </a:ln>
        </p:spPr>
      </p:sp>
      <p:sp>
        <p:nvSpPr>
          <p:cNvPr id="27" name="Shape 25"/>
          <p:cNvSpPr/>
          <p:nvPr/>
        </p:nvSpPr>
        <p:spPr>
          <a:xfrm>
            <a:off x="621792" y="3913632"/>
            <a:ext cx="603504" cy="365760"/>
          </a:xfrm>
          <a:prstGeom prst="roundRect">
            <a:avLst>
              <a:gd name="adj" fmla="val 12500"/>
            </a:avLst>
          </a:prstGeom>
          <a:solidFill>
            <a:srgbClr val="0B2545"/>
          </a:solidFill>
          <a:ln/>
        </p:spPr>
      </p:sp>
      <p:sp>
        <p:nvSpPr>
          <p:cNvPr id="28" name="Text 26"/>
          <p:cNvSpPr txBox="1"/>
          <p:nvPr/>
        </p:nvSpPr>
        <p:spPr>
          <a:xfrm>
            <a:off x="621792" y="3913632"/>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S4</a:t>
            </a:r>
            <a:endParaRPr lang="en-US" sz="1300" dirty="0"/>
          </a:p>
        </p:txBody>
      </p:sp>
      <p:sp>
        <p:nvSpPr>
          <p:cNvPr id="29" name="Text 27"/>
          <p:cNvSpPr txBox="1"/>
          <p:nvPr/>
        </p:nvSpPr>
        <p:spPr>
          <a:xfrm>
            <a:off x="1371600" y="3813048"/>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Tech-debt posture</a:t>
            </a:r>
            <a:endParaRPr lang="en-US" sz="1250" dirty="0"/>
          </a:p>
        </p:txBody>
      </p:sp>
      <p:sp>
        <p:nvSpPr>
          <p:cNvPr id="30" name="Text 28"/>
          <p:cNvSpPr txBox="1"/>
          <p:nvPr/>
        </p:nvSpPr>
        <p:spPr>
          <a:xfrm>
            <a:off x="3931920" y="3813048"/>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tech debt quantified, with a funded pay-down plan?</a:t>
            </a:r>
            <a:endParaRPr lang="en-US" sz="1050" dirty="0"/>
          </a:p>
        </p:txBody>
      </p:sp>
      <p:sp>
        <p:nvSpPr>
          <p:cNvPr id="31" name="Text 29"/>
          <p:cNvSpPr txBox="1"/>
          <p:nvPr/>
        </p:nvSpPr>
        <p:spPr>
          <a:xfrm>
            <a:off x="8366760" y="3813048"/>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32" name="Text 30"/>
          <p:cNvSpPr txBox="1"/>
          <p:nvPr/>
        </p:nvSpPr>
        <p:spPr>
          <a:xfrm>
            <a:off x="8641080" y="3813048"/>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IT Economics &amp; Cost Transformation</a:t>
            </a:r>
            <a:endParaRPr lang="en-US" sz="1100" dirty="0"/>
          </a:p>
        </p:txBody>
      </p:sp>
      <p:sp>
        <p:nvSpPr>
          <p:cNvPr id="33" name="Shape 31"/>
          <p:cNvSpPr/>
          <p:nvPr/>
        </p:nvSpPr>
        <p:spPr>
          <a:xfrm>
            <a:off x="502920" y="4489704"/>
            <a:ext cx="11183112" cy="566928"/>
          </a:xfrm>
          <a:prstGeom prst="roundRect">
            <a:avLst>
              <a:gd name="adj" fmla="val 8065"/>
            </a:avLst>
          </a:prstGeom>
          <a:solidFill>
            <a:srgbClr val="F4F6FA"/>
          </a:solidFill>
          <a:ln w="6350">
            <a:solidFill>
              <a:srgbClr val="D8DFEA"/>
            </a:solidFill>
            <a:prstDash val="solid"/>
          </a:ln>
        </p:spPr>
      </p:sp>
      <p:sp>
        <p:nvSpPr>
          <p:cNvPr id="34" name="Shape 32"/>
          <p:cNvSpPr/>
          <p:nvPr/>
        </p:nvSpPr>
        <p:spPr>
          <a:xfrm>
            <a:off x="621792" y="4590288"/>
            <a:ext cx="603504" cy="365760"/>
          </a:xfrm>
          <a:prstGeom prst="roundRect">
            <a:avLst>
              <a:gd name="adj" fmla="val 12500"/>
            </a:avLst>
          </a:prstGeom>
          <a:solidFill>
            <a:srgbClr val="0B2545"/>
          </a:solidFill>
          <a:ln/>
        </p:spPr>
      </p:sp>
      <p:sp>
        <p:nvSpPr>
          <p:cNvPr id="35" name="Text 33"/>
          <p:cNvSpPr txBox="1"/>
          <p:nvPr/>
        </p:nvSpPr>
        <p:spPr>
          <a:xfrm>
            <a:off x="621792" y="4590288"/>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S5</a:t>
            </a:r>
            <a:endParaRPr lang="en-US" sz="1300" dirty="0"/>
          </a:p>
        </p:txBody>
      </p:sp>
      <p:sp>
        <p:nvSpPr>
          <p:cNvPr id="36" name="Text 34"/>
          <p:cNvSpPr txBox="1"/>
          <p:nvPr/>
        </p:nvSpPr>
        <p:spPr>
          <a:xfrm>
            <a:off x="1371600" y="4489704"/>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Capability &amp; sourcing</a:t>
            </a:r>
            <a:endParaRPr lang="en-US" sz="1250" dirty="0"/>
          </a:p>
        </p:txBody>
      </p:sp>
      <p:sp>
        <p:nvSpPr>
          <p:cNvPr id="37" name="Text 35"/>
          <p:cNvSpPr txBox="1"/>
          <p:nvPr/>
        </p:nvSpPr>
        <p:spPr>
          <a:xfrm>
            <a:off x="3931920" y="4489704"/>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the sourcing mix intentional; key-person risk mitigated?</a:t>
            </a:r>
            <a:endParaRPr lang="en-US" sz="1050" dirty="0"/>
          </a:p>
        </p:txBody>
      </p:sp>
      <p:sp>
        <p:nvSpPr>
          <p:cNvPr id="38" name="Text 36"/>
          <p:cNvSpPr txBox="1"/>
          <p:nvPr/>
        </p:nvSpPr>
        <p:spPr>
          <a:xfrm>
            <a:off x="8366760" y="4489704"/>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8641080" y="4489704"/>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Target Operating Model</a:t>
            </a:r>
            <a:endParaRPr lang="en-US" sz="1100" dirty="0"/>
          </a:p>
        </p:txBody>
      </p:sp>
      <p:sp>
        <p:nvSpPr>
          <p:cNvPr id="40" name="Shape 38"/>
          <p:cNvSpPr/>
          <p:nvPr/>
        </p:nvSpPr>
        <p:spPr>
          <a:xfrm>
            <a:off x="502920" y="5166360"/>
            <a:ext cx="11183112" cy="566928"/>
          </a:xfrm>
          <a:prstGeom prst="roundRect">
            <a:avLst>
              <a:gd name="adj" fmla="val 8065"/>
            </a:avLst>
          </a:prstGeom>
          <a:solidFill>
            <a:srgbClr val="F4F6FA"/>
          </a:solidFill>
          <a:ln w="6350">
            <a:solidFill>
              <a:srgbClr val="D8DFEA"/>
            </a:solidFill>
            <a:prstDash val="solid"/>
          </a:ln>
        </p:spPr>
      </p:sp>
      <p:sp>
        <p:nvSpPr>
          <p:cNvPr id="41" name="Shape 39"/>
          <p:cNvSpPr/>
          <p:nvPr/>
        </p:nvSpPr>
        <p:spPr>
          <a:xfrm>
            <a:off x="621792" y="5266944"/>
            <a:ext cx="603504" cy="365760"/>
          </a:xfrm>
          <a:prstGeom prst="roundRect">
            <a:avLst>
              <a:gd name="adj" fmla="val 12500"/>
            </a:avLst>
          </a:prstGeom>
          <a:solidFill>
            <a:srgbClr val="0B2545"/>
          </a:solidFill>
          <a:ln/>
        </p:spPr>
      </p:sp>
      <p:sp>
        <p:nvSpPr>
          <p:cNvPr id="42" name="Text 40"/>
          <p:cNvSpPr txBox="1"/>
          <p:nvPr/>
        </p:nvSpPr>
        <p:spPr>
          <a:xfrm>
            <a:off x="621792" y="5266944"/>
            <a:ext cx="6035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S6</a:t>
            </a:r>
            <a:endParaRPr lang="en-US" sz="1300" dirty="0"/>
          </a:p>
        </p:txBody>
      </p:sp>
      <p:sp>
        <p:nvSpPr>
          <p:cNvPr id="43" name="Text 41"/>
          <p:cNvSpPr txBox="1"/>
          <p:nvPr/>
        </p:nvSpPr>
        <p:spPr>
          <a:xfrm>
            <a:off x="1371600" y="5166360"/>
            <a:ext cx="2468880" cy="566928"/>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Investment governance</a:t>
            </a:r>
            <a:endParaRPr lang="en-US" sz="1250" dirty="0"/>
          </a:p>
        </p:txBody>
      </p:sp>
      <p:sp>
        <p:nvSpPr>
          <p:cNvPr id="44" name="Text 42"/>
          <p:cNvSpPr txBox="1"/>
          <p:nvPr/>
        </p:nvSpPr>
        <p:spPr>
          <a:xfrm>
            <a:off x="3931920" y="5166360"/>
            <a:ext cx="4434840" cy="566928"/>
          </a:xfrm>
          <a:prstGeom prst="rect">
            <a:avLst/>
          </a:prstGeom>
          <a:noFill/>
          <a:ln/>
        </p:spPr>
        <p:txBody>
          <a:bodyPr wrap="square" lIns="0" tIns="0" rIns="0" bIns="0" rtlCol="0" anchor="ctr"/>
          <a:lstStyle/>
          <a:p>
            <a:pPr indent="0" marL="0">
              <a:lnSpc>
                <a:spcPct val="95000"/>
              </a:lnSpc>
              <a:buNone/>
            </a:pPr>
            <a:r>
              <a:rPr lang="en-US" sz="1050" i="1" dirty="0">
                <a:solidFill>
                  <a:srgbClr val="44515E"/>
                </a:solidFill>
                <a:latin typeface="Calibri" pitchFamily="34" charset="0"/>
                <a:ea typeface="Calibri" pitchFamily="34" charset="-122"/>
                <a:cs typeface="Calibri" pitchFamily="34" charset="-120"/>
              </a:rPr>
              <a:t>Is investment stage-gated and value tracked after the fact?</a:t>
            </a:r>
            <a:endParaRPr lang="en-US" sz="1050" dirty="0"/>
          </a:p>
        </p:txBody>
      </p:sp>
      <p:sp>
        <p:nvSpPr>
          <p:cNvPr id="45" name="Text 43"/>
          <p:cNvSpPr txBox="1"/>
          <p:nvPr/>
        </p:nvSpPr>
        <p:spPr>
          <a:xfrm>
            <a:off x="8366760" y="5166360"/>
            <a:ext cx="228600" cy="566928"/>
          </a:xfrm>
          <a:prstGeom prst="rect">
            <a:avLst/>
          </a:prstGeom>
          <a:noFill/>
          <a:ln/>
        </p:spPr>
        <p:txBody>
          <a:bodyPr wrap="square" lIns="0" tIns="0" rIns="0" bIns="0" rtlCol="0" anchor="ctr"/>
          <a:lstStyle/>
          <a:p>
            <a:pPr algn="ctr" indent="0" marL="0">
              <a:buNone/>
            </a:pPr>
            <a:r>
              <a:rPr lang="en-US" sz="1500" dirty="0">
                <a:solidFill>
                  <a:srgbClr val="8DA9C4"/>
                </a:solidFill>
                <a:latin typeface="Calibri" pitchFamily="34" charset="0"/>
                <a:ea typeface="Calibri" pitchFamily="34" charset="-122"/>
                <a:cs typeface="Calibri" pitchFamily="34" charset="-120"/>
              </a:rPr>
              <a:t>›</a:t>
            </a:r>
            <a:endParaRPr lang="en-US" sz="1500" dirty="0"/>
          </a:p>
        </p:txBody>
      </p:sp>
      <p:sp>
        <p:nvSpPr>
          <p:cNvPr id="46" name="Text 44"/>
          <p:cNvSpPr txBox="1"/>
          <p:nvPr/>
        </p:nvSpPr>
        <p:spPr>
          <a:xfrm>
            <a:off x="8641080" y="5166360"/>
            <a:ext cx="2971800" cy="566928"/>
          </a:xfrm>
          <a:prstGeom prst="rect">
            <a:avLst/>
          </a:prstGeom>
          <a:noFill/>
          <a:ln/>
        </p:spPr>
        <p:txBody>
          <a:bodyPr wrap="square" lIns="0" tIns="0" rIns="0" bIns="0" rtlCol="0" anchor="ctr"/>
          <a:lstStyle/>
          <a:p>
            <a:pPr indent="0" marL="0">
              <a:lnSpc>
                <a:spcPct val="92000"/>
              </a:lnSpc>
              <a:buNone/>
            </a:pPr>
            <a:r>
              <a:rPr lang="en-US" sz="1100" b="1" dirty="0">
                <a:solidFill>
                  <a:srgbClr val="0B2545"/>
                </a:solidFill>
                <a:latin typeface="Cambria" pitchFamily="34" charset="0"/>
                <a:ea typeface="Cambria" pitchFamily="34" charset="-122"/>
                <a:cs typeface="Cambria" pitchFamily="34" charset="-120"/>
              </a:rPr>
              <a:t>IT Economics &amp; Cost Transformation</a:t>
            </a:r>
            <a:endParaRPr lang="en-US" sz="1100" dirty="0"/>
          </a:p>
        </p:txBody>
      </p:sp>
      <p:sp>
        <p:nvSpPr>
          <p:cNvPr id="47" name="Text 45"/>
          <p:cNvSpPr txBox="1"/>
          <p:nvPr/>
        </p:nvSpPr>
        <p:spPr>
          <a:xfrm>
            <a:off x="502920" y="5943600"/>
            <a:ext cx="10972800" cy="274320"/>
          </a:xfrm>
          <a:prstGeom prst="rect">
            <a:avLst/>
          </a:prstGeom>
          <a:noFill/>
          <a:ln/>
        </p:spPr>
        <p:txBody>
          <a:bodyPr wrap="square" lIns="0" tIns="0" rIns="0" bIns="0" rtlCol="0" anchor="ctr"/>
          <a:lstStyle/>
          <a:p>
            <a:pPr indent="0" marL="0">
              <a:buNone/>
            </a:pPr>
            <a:r>
              <a:rPr lang="en-US" sz="1150" i="1" dirty="0">
                <a:solidFill>
                  <a:srgbClr val="D35400"/>
                </a:solidFill>
                <a:latin typeface="Cambria" pitchFamily="34" charset="0"/>
                <a:ea typeface="Cambria" pitchFamily="34" charset="-122"/>
                <a:cs typeface="Cambria" pitchFamily="34" charset="-120"/>
              </a:rPr>
              <a:t>Plus triage flags for Resilience, M&amp;A and Sustainability — so the front door opens onto all five offerings.</a:t>
            </a:r>
            <a:endParaRPr lang="en-US" sz="1150" dirty="0"/>
          </a:p>
        </p:txBody>
      </p:sp>
      <p:sp>
        <p:nvSpPr>
          <p:cNvPr id="48" name="Text 46"/>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49" name="Text 47"/>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Strategy IQ · six anchors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HOW EVERY ENGAGEMENT BEGINS</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Diagnostics that challenge the status quo</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Strategy IQ is the front door; specialist diagnostics deepen each offering. Honest status shown — we publish tools as they ship.</a:t>
            </a:r>
            <a:endParaRPr lang="en-US" sz="1200" dirty="0"/>
          </a:p>
        </p:txBody>
      </p:sp>
      <p:sp>
        <p:nvSpPr>
          <p:cNvPr id="5" name="Shape 3"/>
          <p:cNvSpPr/>
          <p:nvPr/>
        </p:nvSpPr>
        <p:spPr>
          <a:xfrm>
            <a:off x="502920" y="1828800"/>
            <a:ext cx="3602736" cy="3200400"/>
          </a:xfrm>
          <a:prstGeom prst="roundRect">
            <a:avLst>
              <a:gd name="adj" fmla="val 2000"/>
            </a:avLst>
          </a:prstGeom>
          <a:solidFill>
            <a:srgbClr val="F4F6FA"/>
          </a:solidFill>
          <a:ln w="9525">
            <a:solidFill>
              <a:srgbClr val="D8DFEA"/>
            </a:solidFill>
            <a:prstDash val="solid"/>
          </a:ln>
        </p:spPr>
      </p:sp>
      <p:sp>
        <p:nvSpPr>
          <p:cNvPr id="6" name="Shape 4"/>
          <p:cNvSpPr/>
          <p:nvPr/>
        </p:nvSpPr>
        <p:spPr>
          <a:xfrm>
            <a:off x="502920" y="1828800"/>
            <a:ext cx="3602736" cy="1051560"/>
          </a:xfrm>
          <a:prstGeom prst="roundRect">
            <a:avLst>
              <a:gd name="adj" fmla="val 6087"/>
            </a:avLst>
          </a:prstGeom>
          <a:solidFill>
            <a:srgbClr val="0B2545"/>
          </a:solidFill>
          <a:ln/>
        </p:spPr>
      </p:sp>
      <p:sp>
        <p:nvSpPr>
          <p:cNvPr id="7" name="Shape 5"/>
          <p:cNvSpPr/>
          <p:nvPr/>
        </p:nvSpPr>
        <p:spPr>
          <a:xfrm>
            <a:off x="502920" y="2331720"/>
            <a:ext cx="3602736" cy="548640"/>
          </a:xfrm>
          <a:prstGeom prst="rect">
            <a:avLst/>
          </a:prstGeom>
          <a:solidFill>
            <a:srgbClr val="0B2545"/>
          </a:solidFill>
          <a:ln/>
        </p:spPr>
      </p:sp>
      <p:pic>
        <p:nvPicPr>
          <p:cNvPr id="8" name="Image 0" descr="/home/claude/p1_a_strategyiq.png">    </p:cNvPr>
          <p:cNvPicPr>
            <a:picLocks noChangeAspect="1"/>
          </p:cNvPicPr>
          <p:nvPr/>
        </p:nvPicPr>
        <p:blipFill>
          <a:blip r:embed="rId1"/>
          <a:stretch>
            <a:fillRect/>
          </a:stretch>
        </p:blipFill>
        <p:spPr>
          <a:xfrm>
            <a:off x="758952" y="2103120"/>
            <a:ext cx="502920" cy="502920"/>
          </a:xfrm>
          <a:prstGeom prst="rect">
            <a:avLst/>
          </a:prstGeom>
        </p:spPr>
      </p:pic>
      <p:sp>
        <p:nvSpPr>
          <p:cNvPr id="9" name="Text 6"/>
          <p:cNvSpPr txBox="1"/>
          <p:nvPr/>
        </p:nvSpPr>
        <p:spPr>
          <a:xfrm>
            <a:off x="1399032" y="2048256"/>
            <a:ext cx="2596896" cy="457200"/>
          </a:xfrm>
          <a:prstGeom prst="rect">
            <a:avLst/>
          </a:prstGeom>
          <a:noFill/>
          <a:ln/>
        </p:spPr>
        <p:txBody>
          <a:bodyPr wrap="square" lIns="0" tIns="0" rIns="0" bIns="0" rtlCol="0" anchor="ctr"/>
          <a:lstStyle/>
          <a:p>
            <a:pPr indent="0" marL="0">
              <a:lnSpc>
                <a:spcPct val="88000"/>
              </a:lnSpc>
              <a:buNone/>
            </a:pPr>
            <a:r>
              <a:rPr lang="en-US" sz="1900" b="1" dirty="0">
                <a:solidFill>
                  <a:srgbClr val="FFFFFF"/>
                </a:solidFill>
                <a:latin typeface="Cambria" pitchFamily="34" charset="0"/>
                <a:ea typeface="Cambria" pitchFamily="34" charset="-122"/>
                <a:cs typeface="Cambria" pitchFamily="34" charset="-120"/>
              </a:rPr>
              <a:t>Strategy IQ</a:t>
            </a:r>
            <a:endParaRPr lang="en-US" sz="1900" dirty="0"/>
          </a:p>
        </p:txBody>
      </p:sp>
      <p:sp>
        <p:nvSpPr>
          <p:cNvPr id="10" name="Text 7"/>
          <p:cNvSpPr txBox="1"/>
          <p:nvPr/>
        </p:nvSpPr>
        <p:spPr>
          <a:xfrm>
            <a:off x="1417320" y="2542032"/>
            <a:ext cx="2596896" cy="256032"/>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FREE · SELF-SERVE · LIVE</a:t>
            </a:r>
            <a:endParaRPr lang="en-US" sz="900" dirty="0"/>
          </a:p>
        </p:txBody>
      </p:sp>
      <p:sp>
        <p:nvSpPr>
          <p:cNvPr id="11" name="Text 8"/>
          <p:cNvSpPr txBox="1"/>
          <p:nvPr/>
        </p:nvSpPr>
        <p:spPr>
          <a:xfrm>
            <a:off x="758952" y="3017520"/>
            <a:ext cx="3090672" cy="960120"/>
          </a:xfrm>
          <a:prstGeom prst="rect">
            <a:avLst/>
          </a:prstGeom>
          <a:noFill/>
          <a:ln/>
        </p:spPr>
        <p:txBody>
          <a:bodyPr wrap="square" lIns="0" tIns="0" rIns="0" bIns="0" rtlCol="0" anchor="ctr"/>
          <a:lstStyle/>
          <a:p>
            <a:pPr indent="0" marL="0">
              <a:lnSpc>
                <a:spcPct val="105000"/>
              </a:lnSpc>
              <a:buNone/>
            </a:pPr>
            <a:r>
              <a:rPr lang="en-US" sz="1300" i="1" dirty="0">
                <a:solidFill>
                  <a:srgbClr val="0B2545"/>
                </a:solidFill>
                <a:latin typeface="Cambria" pitchFamily="34" charset="0"/>
                <a:ea typeface="Cambria" pitchFamily="34" charset="-122"/>
                <a:cs typeface="Cambria" pitchFamily="34" charset="-120"/>
              </a:rPr>
              <a:t>“Is my IT strategy fit for the next horizon?”</a:t>
            </a:r>
            <a:endParaRPr lang="en-US" sz="1300" dirty="0"/>
          </a:p>
        </p:txBody>
      </p:sp>
      <p:sp>
        <p:nvSpPr>
          <p:cNvPr id="12" name="Shape 9"/>
          <p:cNvSpPr/>
          <p:nvPr/>
        </p:nvSpPr>
        <p:spPr>
          <a:xfrm>
            <a:off x="758952" y="4041648"/>
            <a:ext cx="3090672" cy="0"/>
          </a:xfrm>
          <a:prstGeom prst="line">
            <a:avLst/>
          </a:prstGeom>
          <a:noFill/>
          <a:ln w="12700">
            <a:solidFill>
              <a:srgbClr val="D8DFEA"/>
            </a:solidFill>
            <a:prstDash val="solid"/>
          </a:ln>
        </p:spPr>
      </p:sp>
      <p:sp>
        <p:nvSpPr>
          <p:cNvPr id="13" name="Text 10"/>
          <p:cNvSpPr txBox="1"/>
          <p:nvPr/>
        </p:nvSpPr>
        <p:spPr>
          <a:xfrm>
            <a:off x="758952" y="4114800"/>
            <a:ext cx="3090672" cy="822960"/>
          </a:xfrm>
          <a:prstGeom prst="rect">
            <a:avLst/>
          </a:prstGeom>
          <a:noFill/>
          <a:ln/>
        </p:spPr>
        <p:txBody>
          <a:bodyPr wrap="square" lIns="0" tIns="0" rIns="0" bIns="0" rtlCol="0" anchor="ctr"/>
          <a:lstStyle/>
          <a:p>
            <a:pPr indent="0" marL="0">
              <a:lnSpc>
                <a:spcPct val="100000"/>
              </a:lnSpc>
              <a:buNone/>
            </a:pPr>
            <a:r>
              <a:rPr lang="en-US" sz="1000" dirty="0">
                <a:solidFill>
                  <a:srgbClr val="3A404A"/>
                </a:solidFill>
                <a:latin typeface="Calibri" pitchFamily="34" charset="0"/>
                <a:ea typeface="Calibri" pitchFamily="34" charset="-122"/>
                <a:cs typeface="Calibri" pitchFamily="34" charset="-120"/>
              </a:rPr>
              <a:t>The front door — a six-anchor diagnostic that challenges structure, methods and process, then routes to all five offerings.</a:t>
            </a:r>
            <a:endParaRPr lang="en-US" sz="1000" dirty="0"/>
          </a:p>
        </p:txBody>
      </p:sp>
      <p:sp>
        <p:nvSpPr>
          <p:cNvPr id="14" name="Shape 11"/>
          <p:cNvSpPr/>
          <p:nvPr/>
        </p:nvSpPr>
        <p:spPr>
          <a:xfrm>
            <a:off x="4343400" y="1828800"/>
            <a:ext cx="3602736" cy="3200400"/>
          </a:xfrm>
          <a:prstGeom prst="roundRect">
            <a:avLst>
              <a:gd name="adj" fmla="val 2000"/>
            </a:avLst>
          </a:prstGeom>
          <a:solidFill>
            <a:srgbClr val="F4F6FA"/>
          </a:solidFill>
          <a:ln w="9525">
            <a:solidFill>
              <a:srgbClr val="D8DFEA"/>
            </a:solidFill>
            <a:prstDash val="solid"/>
          </a:ln>
        </p:spPr>
      </p:sp>
      <p:sp>
        <p:nvSpPr>
          <p:cNvPr id="15" name="Shape 12"/>
          <p:cNvSpPr/>
          <p:nvPr/>
        </p:nvSpPr>
        <p:spPr>
          <a:xfrm>
            <a:off x="4343400" y="1828800"/>
            <a:ext cx="3602736" cy="1051560"/>
          </a:xfrm>
          <a:prstGeom prst="roundRect">
            <a:avLst>
              <a:gd name="adj" fmla="val 6087"/>
            </a:avLst>
          </a:prstGeom>
          <a:solidFill>
            <a:srgbClr val="13315C"/>
          </a:solidFill>
          <a:ln/>
        </p:spPr>
      </p:sp>
      <p:sp>
        <p:nvSpPr>
          <p:cNvPr id="16" name="Shape 13"/>
          <p:cNvSpPr/>
          <p:nvPr/>
        </p:nvSpPr>
        <p:spPr>
          <a:xfrm>
            <a:off x="4343400" y="2331720"/>
            <a:ext cx="3602736" cy="548640"/>
          </a:xfrm>
          <a:prstGeom prst="rect">
            <a:avLst/>
          </a:prstGeom>
          <a:solidFill>
            <a:srgbClr val="13315C"/>
          </a:solidFill>
          <a:ln/>
        </p:spPr>
      </p:sp>
      <p:pic>
        <p:nvPicPr>
          <p:cNvPr id="17" name="Image 1" descr="/home/claude/p1_a_costiq.png">    </p:cNvPr>
          <p:cNvPicPr>
            <a:picLocks noChangeAspect="1"/>
          </p:cNvPicPr>
          <p:nvPr/>
        </p:nvPicPr>
        <p:blipFill>
          <a:blip r:embed="rId2"/>
          <a:stretch>
            <a:fillRect/>
          </a:stretch>
        </p:blipFill>
        <p:spPr>
          <a:xfrm>
            <a:off x="4599432" y="2103120"/>
            <a:ext cx="502920" cy="502920"/>
          </a:xfrm>
          <a:prstGeom prst="rect">
            <a:avLst/>
          </a:prstGeom>
        </p:spPr>
      </p:pic>
      <p:sp>
        <p:nvSpPr>
          <p:cNvPr id="18" name="Text 14"/>
          <p:cNvSpPr txBox="1"/>
          <p:nvPr/>
        </p:nvSpPr>
        <p:spPr>
          <a:xfrm>
            <a:off x="5239512" y="2048256"/>
            <a:ext cx="2596896" cy="457200"/>
          </a:xfrm>
          <a:prstGeom prst="rect">
            <a:avLst/>
          </a:prstGeom>
          <a:noFill/>
          <a:ln/>
        </p:spPr>
        <p:txBody>
          <a:bodyPr wrap="square" lIns="0" tIns="0" rIns="0" bIns="0" rtlCol="0" anchor="ctr"/>
          <a:lstStyle/>
          <a:p>
            <a:pPr indent="0" marL="0">
              <a:lnSpc>
                <a:spcPct val="88000"/>
              </a:lnSpc>
              <a:buNone/>
            </a:pPr>
            <a:r>
              <a:rPr lang="en-US" sz="1900" b="1" dirty="0">
                <a:solidFill>
                  <a:srgbClr val="FFFFFF"/>
                </a:solidFill>
                <a:latin typeface="Cambria" pitchFamily="34" charset="0"/>
                <a:ea typeface="Cambria" pitchFamily="34" charset="-122"/>
                <a:cs typeface="Cambria" pitchFamily="34" charset="-120"/>
              </a:rPr>
              <a:t>Cost IQ</a:t>
            </a:r>
            <a:endParaRPr lang="en-US" sz="1900" dirty="0"/>
          </a:p>
        </p:txBody>
      </p:sp>
      <p:sp>
        <p:nvSpPr>
          <p:cNvPr id="19" name="Text 15"/>
          <p:cNvSpPr txBox="1"/>
          <p:nvPr/>
        </p:nvSpPr>
        <p:spPr>
          <a:xfrm>
            <a:off x="5257800" y="2542032"/>
            <a:ext cx="2596896" cy="256032"/>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GATED · LTM-LED · LIVE</a:t>
            </a:r>
            <a:endParaRPr lang="en-US" sz="900" dirty="0"/>
          </a:p>
        </p:txBody>
      </p:sp>
      <p:sp>
        <p:nvSpPr>
          <p:cNvPr id="20" name="Text 16"/>
          <p:cNvSpPr txBox="1"/>
          <p:nvPr/>
        </p:nvSpPr>
        <p:spPr>
          <a:xfrm>
            <a:off x="4599432" y="3017520"/>
            <a:ext cx="3090672" cy="960120"/>
          </a:xfrm>
          <a:prstGeom prst="rect">
            <a:avLst/>
          </a:prstGeom>
          <a:noFill/>
          <a:ln/>
        </p:spPr>
        <p:txBody>
          <a:bodyPr wrap="square" lIns="0" tIns="0" rIns="0" bIns="0" rtlCol="0" anchor="ctr"/>
          <a:lstStyle/>
          <a:p>
            <a:pPr indent="0" marL="0">
              <a:lnSpc>
                <a:spcPct val="105000"/>
              </a:lnSpc>
              <a:buNone/>
            </a:pPr>
            <a:r>
              <a:rPr lang="en-US" sz="1300" i="1" dirty="0">
                <a:solidFill>
                  <a:srgbClr val="0B2545"/>
                </a:solidFill>
                <a:latin typeface="Cambria" pitchFamily="34" charset="0"/>
                <a:ea typeface="Cambria" pitchFamily="34" charset="-122"/>
                <a:cs typeface="Cambria" pitchFamily="34" charset="-120"/>
              </a:rPr>
              <a:t>“Where is cost trapped, and what can I release?”</a:t>
            </a:r>
            <a:endParaRPr lang="en-US" sz="1300" dirty="0"/>
          </a:p>
        </p:txBody>
      </p:sp>
      <p:sp>
        <p:nvSpPr>
          <p:cNvPr id="21" name="Shape 17"/>
          <p:cNvSpPr/>
          <p:nvPr/>
        </p:nvSpPr>
        <p:spPr>
          <a:xfrm>
            <a:off x="4599432" y="4041648"/>
            <a:ext cx="3090672" cy="0"/>
          </a:xfrm>
          <a:prstGeom prst="line">
            <a:avLst/>
          </a:prstGeom>
          <a:noFill/>
          <a:ln w="12700">
            <a:solidFill>
              <a:srgbClr val="D8DFEA"/>
            </a:solidFill>
            <a:prstDash val="solid"/>
          </a:ln>
        </p:spPr>
      </p:sp>
      <p:sp>
        <p:nvSpPr>
          <p:cNvPr id="22" name="Text 18"/>
          <p:cNvSpPr txBox="1"/>
          <p:nvPr/>
        </p:nvSpPr>
        <p:spPr>
          <a:xfrm>
            <a:off x="4599432" y="4114800"/>
            <a:ext cx="3090672" cy="822960"/>
          </a:xfrm>
          <a:prstGeom prst="rect">
            <a:avLst/>
          </a:prstGeom>
          <a:noFill/>
          <a:ln/>
        </p:spPr>
        <p:txBody>
          <a:bodyPr wrap="square" lIns="0" tIns="0" rIns="0" bIns="0" rtlCol="0" anchor="ctr"/>
          <a:lstStyle/>
          <a:p>
            <a:pPr indent="0" marL="0">
              <a:lnSpc>
                <a:spcPct val="100000"/>
              </a:lnSpc>
              <a:buNone/>
            </a:pPr>
            <a:r>
              <a:rPr lang="en-US" sz="1000" dirty="0">
                <a:solidFill>
                  <a:srgbClr val="3A404A"/>
                </a:solidFill>
                <a:latin typeface="Calibri" pitchFamily="34" charset="0"/>
                <a:ea typeface="Calibri" pitchFamily="34" charset="-122"/>
                <a:cs typeface="Calibri" pitchFamily="34" charset="-120"/>
              </a:rPr>
              <a:t>The IT Economics depth read — TBM cost transparency, run-cost and SaaS waste, tech-debt cost. Feeds IT Economics (01.1).</a:t>
            </a:r>
            <a:endParaRPr lang="en-US" sz="1000" dirty="0"/>
          </a:p>
        </p:txBody>
      </p:sp>
      <p:sp>
        <p:nvSpPr>
          <p:cNvPr id="23" name="Shape 19"/>
          <p:cNvSpPr/>
          <p:nvPr/>
        </p:nvSpPr>
        <p:spPr>
          <a:xfrm>
            <a:off x="8183880" y="1828800"/>
            <a:ext cx="3602736" cy="3200400"/>
          </a:xfrm>
          <a:prstGeom prst="roundRect">
            <a:avLst>
              <a:gd name="adj" fmla="val 2000"/>
            </a:avLst>
          </a:prstGeom>
          <a:solidFill>
            <a:srgbClr val="F4F6FA"/>
          </a:solidFill>
          <a:ln w="9525">
            <a:solidFill>
              <a:srgbClr val="D8DFEA"/>
            </a:solidFill>
            <a:prstDash val="solid"/>
          </a:ln>
        </p:spPr>
      </p:sp>
      <p:sp>
        <p:nvSpPr>
          <p:cNvPr id="24" name="Shape 20"/>
          <p:cNvSpPr/>
          <p:nvPr/>
        </p:nvSpPr>
        <p:spPr>
          <a:xfrm>
            <a:off x="8183880" y="1828800"/>
            <a:ext cx="3602736" cy="1051560"/>
          </a:xfrm>
          <a:prstGeom prst="roundRect">
            <a:avLst>
              <a:gd name="adj" fmla="val 6087"/>
            </a:avLst>
          </a:prstGeom>
          <a:solidFill>
            <a:srgbClr val="13315C"/>
          </a:solidFill>
          <a:ln/>
        </p:spPr>
      </p:sp>
      <p:sp>
        <p:nvSpPr>
          <p:cNvPr id="25" name="Shape 21"/>
          <p:cNvSpPr/>
          <p:nvPr/>
        </p:nvSpPr>
        <p:spPr>
          <a:xfrm>
            <a:off x="8183880" y="2331720"/>
            <a:ext cx="3602736" cy="548640"/>
          </a:xfrm>
          <a:prstGeom prst="rect">
            <a:avLst/>
          </a:prstGeom>
          <a:solidFill>
            <a:srgbClr val="13315C"/>
          </a:solidFill>
          <a:ln/>
        </p:spPr>
      </p:sp>
      <p:pic>
        <p:nvPicPr>
          <p:cNvPr id="26" name="Image 2" descr="/home/claude/p1_a_more.png">    </p:cNvPr>
          <p:cNvPicPr>
            <a:picLocks noChangeAspect="1"/>
          </p:cNvPicPr>
          <p:nvPr/>
        </p:nvPicPr>
        <p:blipFill>
          <a:blip r:embed="rId3"/>
          <a:stretch>
            <a:fillRect/>
          </a:stretch>
        </p:blipFill>
        <p:spPr>
          <a:xfrm>
            <a:off x="8439912" y="2103120"/>
            <a:ext cx="502920" cy="502920"/>
          </a:xfrm>
          <a:prstGeom prst="rect">
            <a:avLst/>
          </a:prstGeom>
        </p:spPr>
      </p:pic>
      <p:sp>
        <p:nvSpPr>
          <p:cNvPr id="27" name="Text 22"/>
          <p:cNvSpPr txBox="1"/>
          <p:nvPr/>
        </p:nvSpPr>
        <p:spPr>
          <a:xfrm>
            <a:off x="9079992" y="2048256"/>
            <a:ext cx="2596896" cy="457200"/>
          </a:xfrm>
          <a:prstGeom prst="rect">
            <a:avLst/>
          </a:prstGeom>
          <a:noFill/>
          <a:ln/>
        </p:spPr>
        <p:txBody>
          <a:bodyPr wrap="square" lIns="0" tIns="0" rIns="0" bIns="0" rtlCol="0" anchor="ctr"/>
          <a:lstStyle/>
          <a:p>
            <a:pPr indent="0" marL="0">
              <a:lnSpc>
                <a:spcPct val="88000"/>
              </a:lnSpc>
              <a:buNone/>
            </a:pPr>
            <a:r>
              <a:rPr lang="en-US" sz="1350" b="1" dirty="0">
                <a:solidFill>
                  <a:srgbClr val="FFFFFF"/>
                </a:solidFill>
                <a:latin typeface="Cambria" pitchFamily="34" charset="0"/>
                <a:ea typeface="Cambria" pitchFamily="34" charset="-122"/>
                <a:cs typeface="Cambria" pitchFamily="34" charset="-120"/>
              </a:rPr>
              <a:t>Resilience IQ · M&amp;A IQ · Sustainability IQ</a:t>
            </a:r>
            <a:endParaRPr lang="en-US" sz="1350" dirty="0"/>
          </a:p>
        </p:txBody>
      </p:sp>
      <p:sp>
        <p:nvSpPr>
          <p:cNvPr id="28" name="Text 23"/>
          <p:cNvSpPr txBox="1"/>
          <p:nvPr/>
        </p:nvSpPr>
        <p:spPr>
          <a:xfrm>
            <a:off x="9098280" y="2542032"/>
            <a:ext cx="2596896" cy="256032"/>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GATED · IN BUILD</a:t>
            </a:r>
            <a:endParaRPr lang="en-US" sz="900" dirty="0"/>
          </a:p>
        </p:txBody>
      </p:sp>
      <p:sp>
        <p:nvSpPr>
          <p:cNvPr id="29" name="Text 24"/>
          <p:cNvSpPr txBox="1"/>
          <p:nvPr/>
        </p:nvSpPr>
        <p:spPr>
          <a:xfrm>
            <a:off x="8439912" y="3017520"/>
            <a:ext cx="3090672" cy="960120"/>
          </a:xfrm>
          <a:prstGeom prst="rect">
            <a:avLst/>
          </a:prstGeom>
          <a:noFill/>
          <a:ln/>
        </p:spPr>
        <p:txBody>
          <a:bodyPr wrap="square" lIns="0" tIns="0" rIns="0" bIns="0" rtlCol="0" anchor="ctr"/>
          <a:lstStyle/>
          <a:p>
            <a:pPr indent="0" marL="0">
              <a:lnSpc>
                <a:spcPct val="105000"/>
              </a:lnSpc>
              <a:buNone/>
            </a:pPr>
            <a:r>
              <a:rPr lang="en-US" sz="1300" i="1" dirty="0">
                <a:solidFill>
                  <a:srgbClr val="0B2545"/>
                </a:solidFill>
                <a:latin typeface="Cambria" pitchFamily="34" charset="0"/>
                <a:ea typeface="Cambria" pitchFamily="34" charset="-122"/>
                <a:cs typeface="Cambria" pitchFamily="34" charset="-120"/>
              </a:rPr>
              <a:t>“Am I recoverable? Deal-ready? Power-constrained?”</a:t>
            </a:r>
            <a:endParaRPr lang="en-US" sz="1300" dirty="0"/>
          </a:p>
        </p:txBody>
      </p:sp>
      <p:sp>
        <p:nvSpPr>
          <p:cNvPr id="30" name="Shape 25"/>
          <p:cNvSpPr/>
          <p:nvPr/>
        </p:nvSpPr>
        <p:spPr>
          <a:xfrm>
            <a:off x="8439912" y="4041648"/>
            <a:ext cx="3090672" cy="0"/>
          </a:xfrm>
          <a:prstGeom prst="line">
            <a:avLst/>
          </a:prstGeom>
          <a:noFill/>
          <a:ln w="12700">
            <a:solidFill>
              <a:srgbClr val="D8DFEA"/>
            </a:solidFill>
            <a:prstDash val="solid"/>
          </a:ln>
        </p:spPr>
      </p:sp>
      <p:sp>
        <p:nvSpPr>
          <p:cNvPr id="31" name="Text 26"/>
          <p:cNvSpPr txBox="1"/>
          <p:nvPr/>
        </p:nvSpPr>
        <p:spPr>
          <a:xfrm>
            <a:off x="8439912" y="4114800"/>
            <a:ext cx="3090672" cy="822960"/>
          </a:xfrm>
          <a:prstGeom prst="rect">
            <a:avLst/>
          </a:prstGeom>
          <a:noFill/>
          <a:ln/>
        </p:spPr>
        <p:txBody>
          <a:bodyPr wrap="square" lIns="0" tIns="0" rIns="0" bIns="0" rtlCol="0" anchor="ctr"/>
          <a:lstStyle/>
          <a:p>
            <a:pPr indent="0" marL="0">
              <a:lnSpc>
                <a:spcPct val="100000"/>
              </a:lnSpc>
              <a:buNone/>
            </a:pPr>
            <a:r>
              <a:rPr lang="en-US" sz="1000" dirty="0">
                <a:solidFill>
                  <a:srgbClr val="3A404A"/>
                </a:solidFill>
                <a:latin typeface="Calibri" pitchFamily="34" charset="0"/>
                <a:ea typeface="Calibri" pitchFamily="34" charset="-122"/>
                <a:cs typeface="Calibri" pitchFamily="34" charset="-120"/>
              </a:rPr>
              <a:t>Specialist triage for Resilience (01.2), M&amp;A (01.3) and Sustainability (01.4). On the roadmap — published as they ship.</a:t>
            </a:r>
            <a:endParaRPr lang="en-US" sz="1000" dirty="0"/>
          </a:p>
        </p:txBody>
      </p:sp>
      <p:sp>
        <p:nvSpPr>
          <p:cNvPr id="32" name="Shape 27"/>
          <p:cNvSpPr/>
          <p:nvPr/>
        </p:nvSpPr>
        <p:spPr>
          <a:xfrm>
            <a:off x="502920" y="5285232"/>
            <a:ext cx="11183112" cy="658368"/>
          </a:xfrm>
          <a:prstGeom prst="roundRect">
            <a:avLst>
              <a:gd name="adj" fmla="val 8333"/>
            </a:avLst>
          </a:prstGeom>
          <a:solidFill>
            <a:srgbClr val="EAF0F7"/>
          </a:solidFill>
          <a:ln w="9525">
            <a:solidFill>
              <a:srgbClr val="8DA9C4"/>
            </a:solidFill>
            <a:prstDash val="solid"/>
          </a:ln>
        </p:spPr>
      </p:sp>
      <p:sp>
        <p:nvSpPr>
          <p:cNvPr id="33" name="Text 28"/>
          <p:cNvSpPr txBox="1"/>
          <p:nvPr/>
        </p:nvSpPr>
        <p:spPr>
          <a:xfrm>
            <a:off x="777240" y="5394960"/>
            <a:ext cx="10698480" cy="457200"/>
          </a:xfrm>
          <a:prstGeom prst="rect">
            <a:avLst/>
          </a:prstGeom>
          <a:noFill/>
          <a:ln/>
        </p:spPr>
        <p:txBody>
          <a:bodyPr wrap="square" lIns="0" tIns="0" rIns="0" bIns="0" rtlCol="0" anchor="ctr"/>
          <a:lstStyle/>
          <a:p>
            <a:pPr indent="0" marL="0">
              <a:buNone/>
            </a:pPr>
            <a:r>
              <a:rPr lang="en-US" sz="1050" b="1" spc="150" kern="0" dirty="0">
                <a:solidFill>
                  <a:srgbClr val="0B2545"/>
                </a:solidFill>
                <a:latin typeface="Calibri" pitchFamily="34" charset="0"/>
                <a:ea typeface="Calibri" pitchFamily="34" charset="-122"/>
                <a:cs typeface="Calibri" pitchFamily="34" charset="-120"/>
              </a:rPr>
              <a:t>THE PATH   </a:t>
            </a:r>
            <a:pPr indent="0" marL="0">
              <a:buNone/>
            </a:pPr>
            <a:r>
              <a:rPr lang="en-US" sz="1400" i="1" dirty="0">
                <a:solidFill>
                  <a:srgbClr val="13315C"/>
                </a:solidFill>
                <a:latin typeface="Cambria" pitchFamily="34" charset="0"/>
                <a:ea typeface="Cambria" pitchFamily="34" charset="-122"/>
                <a:cs typeface="Cambria" pitchFamily="34" charset="-120"/>
              </a:rPr>
              <a:t>Strategy IQ  →  the anchors that score weakest  →  the offering(s) that close the gap  →  mobilize the transformation</a:t>
            </a:r>
            <a:endParaRPr lang="en-US" sz="1050" dirty="0"/>
          </a:p>
        </p:txBody>
      </p:sp>
      <p:sp>
        <p:nvSpPr>
          <p:cNvPr id="34" name="Text 29"/>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5" name="Text 30"/>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Accelerators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OUT-FUND THE FUTURE.   ·   ENTRY · DIRECT or via Strategy IQ</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01.1   </a:t>
            </a:r>
            <a:pPr indent="0" marL="0">
              <a:buNone/>
            </a:pPr>
            <a:r>
              <a:rPr lang="en-US" sz="2400" b="1" dirty="0">
                <a:solidFill>
                  <a:srgbClr val="1B1F23"/>
                </a:solidFill>
                <a:latin typeface="Cambria" pitchFamily="34" charset="0"/>
                <a:ea typeface="Cambria" pitchFamily="34" charset="-122"/>
                <a:cs typeface="Cambria" pitchFamily="34" charset="-120"/>
              </a:rPr>
              <a:t>IT Economics &amp; Cost Transformation</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STARTS FROM  </a:t>
            </a:r>
            <a:pPr indent="0" marL="0">
              <a:buNone/>
            </a:pPr>
            <a:r>
              <a:rPr lang="en-US" sz="1050" dirty="0">
                <a:solidFill>
                  <a:srgbClr val="44515E"/>
                </a:solidFill>
                <a:latin typeface="Calibri" pitchFamily="34" charset="0"/>
                <a:ea typeface="Calibri" pitchFamily="34" charset="-122"/>
                <a:cs typeface="Calibri" pitchFamily="34" charset="-120"/>
              </a:rPr>
              <a:t>Strategy IQ → Cost IQ      </a:t>
            </a:r>
            <a:pPr indent="0" marL="0">
              <a:buNone/>
            </a:pPr>
            <a:r>
              <a:rPr lang="en-US" sz="900" b="1" spc="100" kern="0" dirty="0">
                <a:solidFill>
                  <a:srgbClr val="8DA9C4"/>
                </a:solidFill>
                <a:latin typeface="Calibri" pitchFamily="34" charset="0"/>
                <a:ea typeface="Calibri" pitchFamily="34" charset="-122"/>
                <a:cs typeface="Calibri" pitchFamily="34" charset="-120"/>
              </a:rPr>
              <a:t>LEADS TO  </a:t>
            </a:r>
            <a:pPr indent="0" marL="0">
              <a:buNone/>
            </a:pPr>
            <a:r>
              <a:rPr lang="en-US" sz="1050" dirty="0">
                <a:solidFill>
                  <a:srgbClr val="44515E"/>
                </a:solidFill>
                <a:latin typeface="Calibri" pitchFamily="34" charset="0"/>
                <a:ea typeface="Calibri" pitchFamily="34" charset="-122"/>
                <a:cs typeface="Calibri" pitchFamily="34" charset="-120"/>
              </a:rPr>
              <a:t>Managed cost-out delivery · application &amp; infrastructure rationalization</a:t>
            </a:r>
            <a:endParaRPr lang="en-US" sz="900" dirty="0"/>
          </a:p>
        </p:txBody>
      </p:sp>
      <p:sp>
        <p:nvSpPr>
          <p:cNvPr id="5" name="Shape 3"/>
          <p:cNvSpPr/>
          <p:nvPr/>
        </p:nvSpPr>
        <p:spPr>
          <a:xfrm>
            <a:off x="502920" y="1737360"/>
            <a:ext cx="5394960" cy="2395728"/>
          </a:xfrm>
          <a:prstGeom prst="roundRect">
            <a:avLst>
              <a:gd name="adj" fmla="val 2290"/>
            </a:avLst>
          </a:prstGeom>
          <a:solidFill>
            <a:srgbClr val="F4F6FA"/>
          </a:solidFill>
          <a:ln w="9525">
            <a:solidFill>
              <a:srgbClr val="D8DFEA"/>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4000"/>
              </a:lnSpc>
              <a:buNone/>
            </a:pPr>
            <a:r>
              <a:rPr lang="en-US" sz="1150" dirty="0">
                <a:solidFill>
                  <a:srgbClr val="2C3440"/>
                </a:solidFill>
                <a:latin typeface="Calibri" pitchFamily="34" charset="0"/>
                <a:ea typeface="Calibri" pitchFamily="34" charset="-122"/>
                <a:cs typeface="Calibri" pitchFamily="34" charset="-120"/>
              </a:rPr>
              <a:t>Turns the whole-estate cost base into a source of growth capital. It establishes cost transparency in the CFO’s language (TBM), takes out run-cost across the non-cloud estate that cloud FinOps misses, and reports IT in unit economics — cost per user, per transaction, per outcome. The point isn’t austerity; it’s releasing trapped capital to fund the AI and modernization agenda, with LTM accountable for delivering the savings, not just forecasting them.</a:t>
            </a:r>
            <a:endParaRPr lang="en-US" sz="1150" dirty="0"/>
          </a:p>
        </p:txBody>
      </p:sp>
      <p:sp>
        <p:nvSpPr>
          <p:cNvPr id="8" name="Shape 6"/>
          <p:cNvSpPr/>
          <p:nvPr/>
        </p:nvSpPr>
        <p:spPr>
          <a:xfrm>
            <a:off x="502920" y="4279392"/>
            <a:ext cx="5394960" cy="1627632"/>
          </a:xfrm>
          <a:prstGeom prst="roundRect">
            <a:avLst>
              <a:gd name="adj" fmla="val 3371"/>
            </a:avLst>
          </a:prstGeom>
          <a:solidFill>
            <a:srgbClr val="0B2545"/>
          </a:solidFill>
          <a:ln w="9525">
            <a:solidFill>
              <a:srgbClr val="0B2545"/>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B8CCE4"/>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3000"/>
              </a:lnSpc>
              <a:buNone/>
            </a:pPr>
            <a:r>
              <a:rPr lang="en-US" sz="1100" dirty="0">
                <a:solidFill>
                  <a:srgbClr val="E4ECF7"/>
                </a:solidFill>
                <a:latin typeface="Calibri" pitchFamily="34" charset="0"/>
                <a:ea typeface="Calibri" pitchFamily="34" charset="-122"/>
                <a:cs typeface="Calibri" pitchFamily="34" charset="-120"/>
              </a:rPr>
              <a:t>IT budgets are growing but concentrating sharply into AI and infrastructure — the capital to fund that shift has to come from the legacy estate, not a fresh budget ask. CIOs who release run-cost and redirect it into the intelligent core fund their own transformation; those who can’t fall behind on both cost and capability.</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7F9AB8"/>
                </a:solidFill>
                <a:latin typeface="Calibri" pitchFamily="34" charset="0"/>
                <a:ea typeface="Calibri" pitchFamily="34" charset="-122"/>
                <a:cs typeface="Calibri" pitchFamily="34" charset="-120"/>
              </a:rPr>
              <a:t>Source: IBM / McKinsey / Gartner / IEA,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8DFEA"/>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The CIO is asked to fund new priorities from a flat budget — but can’t see, govern or release the cost already locked in the estate.</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Cost is opaque — no view by service, tower, application or capability, so every trade-off is argued blind.</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The non-cloud cost pool (assets, contracts, licences, network, infra) is where waste hides, and cloud FinOps doesn’t touch it.</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SaaS sprawl and shadow IT inflate spend through duplication and unreclaimed licences.</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Technical debt silently inflates run-cost, but paydown isn’t prioritized by ROI.</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Cost is reported as “how much we spent,” not “what it produced” — so IT reads as a cost centre.</a:t>
            </a:r>
            <a:endParaRPr lang="en-US" sz="1000" dirty="0"/>
          </a:p>
        </p:txBody>
      </p:sp>
      <p:sp>
        <p:nvSpPr>
          <p:cNvPr id="16" name="Shape 14"/>
          <p:cNvSpPr/>
          <p:nvPr/>
        </p:nvSpPr>
        <p:spPr>
          <a:xfrm>
            <a:off x="6263640" y="4279392"/>
            <a:ext cx="5394960" cy="1627632"/>
          </a:xfrm>
          <a:prstGeom prst="roundRect">
            <a:avLst>
              <a:gd name="adj" fmla="val 3371"/>
            </a:avLst>
          </a:prstGeom>
          <a:solidFill>
            <a:srgbClr val="F4F6FA"/>
          </a:solidFill>
          <a:ln w="9525">
            <a:solidFill>
              <a:srgbClr val="D8DFEA"/>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Cost the CFO accepts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TBM transparency by service, tower and capability, in language finance already uses.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Run-cost released, not just reported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The non-cloud take-out cloud FinOps misses, delivered and held.</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SaaS spend reclaimed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Duplication, shadow IT and unused licences recovered and governed.</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Debt cut where it pays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Technical debt reduced by ROI, so run-cost falls durably.</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Capital redirected to growth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Savings explicitly refunded into the AI and modernization agenda.</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01.1  ·  Overview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01.1   </a:t>
            </a:r>
            <a:pPr indent="0" marL="0">
              <a:buNone/>
            </a:pPr>
            <a:r>
              <a:rPr lang="en-US" sz="2400" b="1" dirty="0">
                <a:solidFill>
                  <a:srgbClr val="1B1F23"/>
                </a:solidFill>
                <a:latin typeface="Cambria" pitchFamily="34" charset="0"/>
                <a:ea typeface="Cambria" pitchFamily="34" charset="-122"/>
                <a:cs typeface="Cambria" pitchFamily="34" charset="-120"/>
              </a:rPr>
              <a:t>IT Economics &amp; Cost Transformation</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4F6FA"/>
          </a:solidFill>
          <a:ln w="9525">
            <a:solidFill>
              <a:srgbClr val="D8DFEA"/>
            </a:solidFill>
            <a:prstDash val="solid"/>
          </a:ln>
        </p:spPr>
      </p:sp>
      <p:sp>
        <p:nvSpPr>
          <p:cNvPr id="6" name="Shape 4"/>
          <p:cNvSpPr/>
          <p:nvPr/>
        </p:nvSpPr>
        <p:spPr>
          <a:xfrm>
            <a:off x="502920" y="1783080"/>
            <a:ext cx="3602736" cy="868680"/>
          </a:xfrm>
          <a:prstGeom prst="roundRect">
            <a:avLst>
              <a:gd name="adj" fmla="val 7368"/>
            </a:avLst>
          </a:prstGeom>
          <a:solidFill>
            <a:srgbClr val="1E4272"/>
          </a:solidFill>
          <a:ln/>
        </p:spPr>
      </p:sp>
      <p:sp>
        <p:nvSpPr>
          <p:cNvPr id="7" name="Shape 5"/>
          <p:cNvSpPr/>
          <p:nvPr/>
        </p:nvSpPr>
        <p:spPr>
          <a:xfrm>
            <a:off x="502920" y="2194560"/>
            <a:ext cx="3602736" cy="457200"/>
          </a:xfrm>
          <a:prstGeom prst="rect">
            <a:avLst/>
          </a:prstGeom>
          <a:solidFill>
            <a:srgbClr val="1E4272"/>
          </a:solidFill>
          <a:ln/>
        </p:spPr>
      </p:sp>
      <p:pic>
        <p:nvPicPr>
          <p:cNvPr id="8" name="Image 0" descr="/home/claude/p1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Establish cost transparency using TBM taxonomy across the whole estate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Analyze the non-cloud cost pool (assets, contracts, licences, network, infra) and SaaS spend</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Surface technical-debt cost and the highest-ROI take-out opportunities</a:t>
            </a:r>
            <a:endParaRPr lang="en-US" sz="1000" dirty="0"/>
          </a:p>
        </p:txBody>
      </p:sp>
      <p:sp>
        <p:nvSpPr>
          <p:cNvPr id="12" name="Shape 9"/>
          <p:cNvSpPr/>
          <p:nvPr/>
        </p:nvSpPr>
        <p:spPr>
          <a:xfrm>
            <a:off x="740664" y="4983480"/>
            <a:ext cx="3127248" cy="0"/>
          </a:xfrm>
          <a:prstGeom prst="line">
            <a:avLst/>
          </a:prstGeom>
          <a:noFill/>
          <a:ln w="12700">
            <a:solidFill>
              <a:srgbClr val="D8DFEA"/>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TBM cost baseline · run-cost &amp; SaaS analysis · prioritized savings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4F6FA"/>
          </a:solidFill>
          <a:ln w="9525">
            <a:solidFill>
              <a:srgbClr val="D8DFEA"/>
            </a:solidFill>
            <a:prstDash val="solid"/>
          </a:ln>
        </p:spPr>
      </p:sp>
      <p:sp>
        <p:nvSpPr>
          <p:cNvPr id="17" name="Shape 14"/>
          <p:cNvSpPr/>
          <p:nvPr/>
        </p:nvSpPr>
        <p:spPr>
          <a:xfrm>
            <a:off x="4343400" y="1783080"/>
            <a:ext cx="3602736" cy="868680"/>
          </a:xfrm>
          <a:prstGeom prst="roundRect">
            <a:avLst>
              <a:gd name="adj" fmla="val 7368"/>
            </a:avLst>
          </a:prstGeom>
          <a:solidFill>
            <a:srgbClr val="13315C"/>
          </a:solidFill>
          <a:ln/>
        </p:spPr>
      </p:sp>
      <p:sp>
        <p:nvSpPr>
          <p:cNvPr id="18" name="Shape 15"/>
          <p:cNvSpPr/>
          <p:nvPr/>
        </p:nvSpPr>
        <p:spPr>
          <a:xfrm>
            <a:off x="4343400" y="2194560"/>
            <a:ext cx="3602736" cy="457200"/>
          </a:xfrm>
          <a:prstGeom prst="rect">
            <a:avLst/>
          </a:prstGeom>
          <a:solidFill>
            <a:srgbClr val="13315C"/>
          </a:solidFill>
          <a:ln/>
        </p:spPr>
      </p:sp>
      <p:pic>
        <p:nvPicPr>
          <p:cNvPr id="19" name="Image 1" descr="/home/claude/p1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the cost-transformation plan — run-cost take-out, SaaS rationalization, debt paydown</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Build IT unit-economics reporting (cost per user / transaction / outcome)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the capital-redirection model (savings → AI &amp; modernization)</a:t>
            </a:r>
            <a:endParaRPr lang="en-US" sz="1000" dirty="0"/>
          </a:p>
        </p:txBody>
      </p:sp>
      <p:sp>
        <p:nvSpPr>
          <p:cNvPr id="23" name="Shape 19"/>
          <p:cNvSpPr/>
          <p:nvPr/>
        </p:nvSpPr>
        <p:spPr>
          <a:xfrm>
            <a:off x="4581144" y="4983480"/>
            <a:ext cx="3127248" cy="0"/>
          </a:xfrm>
          <a:prstGeom prst="line">
            <a:avLst/>
          </a:prstGeom>
          <a:noFill/>
          <a:ln w="12700">
            <a:solidFill>
              <a:srgbClr val="D8DFEA"/>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Cost-transformation plan · unit-economics model · capital-redirection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4F6FA"/>
          </a:solidFill>
          <a:ln w="9525">
            <a:solidFill>
              <a:srgbClr val="D8DFEA"/>
            </a:solidFill>
            <a:prstDash val="solid"/>
          </a:ln>
        </p:spPr>
      </p:sp>
      <p:sp>
        <p:nvSpPr>
          <p:cNvPr id="28" name="Shape 24"/>
          <p:cNvSpPr/>
          <p:nvPr/>
        </p:nvSpPr>
        <p:spPr>
          <a:xfrm>
            <a:off x="8183880" y="1783080"/>
            <a:ext cx="3602736" cy="868680"/>
          </a:xfrm>
          <a:prstGeom prst="roundRect">
            <a:avLst>
              <a:gd name="adj" fmla="val 7368"/>
            </a:avLst>
          </a:prstGeom>
          <a:solidFill>
            <a:srgbClr val="0B2545"/>
          </a:solidFill>
          <a:ln/>
        </p:spPr>
      </p:sp>
      <p:sp>
        <p:nvSpPr>
          <p:cNvPr id="29" name="Shape 25"/>
          <p:cNvSpPr/>
          <p:nvPr/>
        </p:nvSpPr>
        <p:spPr>
          <a:xfrm>
            <a:off x="8183880" y="2194560"/>
            <a:ext cx="3602736" cy="457200"/>
          </a:xfrm>
          <a:prstGeom prst="rect">
            <a:avLst/>
          </a:prstGeom>
          <a:solidFill>
            <a:srgbClr val="0B2545"/>
          </a:solidFill>
          <a:ln/>
        </p:spPr>
      </p:sp>
      <p:pic>
        <p:nvPicPr>
          <p:cNvPr id="30" name="Image 2" descr="/home/claude/p1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Consolidate into an executive-ready cost-transformation roadmap with committed targets</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governance to sustain the savings curve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Executive playback, decision sign-off, first take-out wave</a:t>
            </a:r>
            <a:endParaRPr lang="en-US" sz="1000" dirty="0"/>
          </a:p>
        </p:txBody>
      </p:sp>
      <p:sp>
        <p:nvSpPr>
          <p:cNvPr id="34" name="Shape 29"/>
          <p:cNvSpPr/>
          <p:nvPr/>
        </p:nvSpPr>
        <p:spPr>
          <a:xfrm>
            <a:off x="8421624" y="4983480"/>
            <a:ext cx="3127248" cy="0"/>
          </a:xfrm>
          <a:prstGeom prst="line">
            <a:avLst/>
          </a:prstGeom>
          <a:noFill/>
          <a:ln w="12700">
            <a:solidFill>
              <a:srgbClr val="D8DFEA"/>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Board-ready roadmap · savings governance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01.1  ·  Solution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01.1   </a:t>
            </a:r>
            <a:pPr indent="0" marL="0">
              <a:buNone/>
            </a:pPr>
            <a:r>
              <a:rPr lang="en-US" sz="2400" b="1" dirty="0">
                <a:solidFill>
                  <a:srgbClr val="1B1F23"/>
                </a:solidFill>
                <a:latin typeface="Cambria" pitchFamily="34" charset="0"/>
                <a:ea typeface="Cambria" pitchFamily="34" charset="-122"/>
                <a:cs typeface="Cambria" pitchFamily="34" charset="-120"/>
              </a:rPr>
              <a:t>IT Economics &amp; Cost Transformation</a:t>
            </a:r>
            <a:endParaRPr lang="en-US" sz="2400" dirty="0"/>
          </a:p>
        </p:txBody>
      </p:sp>
      <p:sp>
        <p:nvSpPr>
          <p:cNvPr id="4" name="Shape 2"/>
          <p:cNvSpPr/>
          <p:nvPr/>
        </p:nvSpPr>
        <p:spPr>
          <a:xfrm>
            <a:off x="502920" y="1600200"/>
            <a:ext cx="5394960" cy="4480560"/>
          </a:xfrm>
          <a:prstGeom prst="roundRect">
            <a:avLst>
              <a:gd name="adj" fmla="val 1429"/>
            </a:avLst>
          </a:prstGeom>
          <a:solidFill>
            <a:srgbClr val="0B2545"/>
          </a:solidFill>
          <a:ln/>
        </p:spPr>
      </p:sp>
      <p:pic>
        <p:nvPicPr>
          <p:cNvPr id="5" name="Image 0" descr="/home/claude/p1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B8CCE4"/>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8DA9C4"/>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TBM cost-transparency baseline (whole estate)</a:t>
            </a:r>
            <a:endParaRPr lang="en-US" sz="1150" dirty="0"/>
          </a:p>
        </p:txBody>
      </p:sp>
      <p:sp>
        <p:nvSpPr>
          <p:cNvPr id="11" name="Shape 8"/>
          <p:cNvSpPr/>
          <p:nvPr/>
        </p:nvSpPr>
        <p:spPr>
          <a:xfrm>
            <a:off x="777240" y="3483864"/>
            <a:ext cx="310896" cy="310896"/>
          </a:xfrm>
          <a:prstGeom prst="roundRect">
            <a:avLst>
              <a:gd name="adj" fmla="val 14706"/>
            </a:avLst>
          </a:prstGeom>
          <a:solidFill>
            <a:srgbClr val="8DA9C4"/>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Non-cloud run-cost and SaaS rationalization analysis</a:t>
            </a:r>
            <a:endParaRPr lang="en-US" sz="1150" dirty="0"/>
          </a:p>
        </p:txBody>
      </p:sp>
      <p:sp>
        <p:nvSpPr>
          <p:cNvPr id="14" name="Shape 11"/>
          <p:cNvSpPr/>
          <p:nvPr/>
        </p:nvSpPr>
        <p:spPr>
          <a:xfrm>
            <a:off x="777240" y="4087368"/>
            <a:ext cx="310896" cy="310896"/>
          </a:xfrm>
          <a:prstGeom prst="roundRect">
            <a:avLst>
              <a:gd name="adj" fmla="val 14706"/>
            </a:avLst>
          </a:prstGeom>
          <a:solidFill>
            <a:srgbClr val="8DA9C4"/>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Technical-debt cost and ROI-prioritized paydown view</a:t>
            </a:r>
            <a:endParaRPr lang="en-US" sz="1150" dirty="0"/>
          </a:p>
        </p:txBody>
      </p:sp>
      <p:sp>
        <p:nvSpPr>
          <p:cNvPr id="17" name="Shape 14"/>
          <p:cNvSpPr/>
          <p:nvPr/>
        </p:nvSpPr>
        <p:spPr>
          <a:xfrm>
            <a:off x="777240" y="4690872"/>
            <a:ext cx="310896" cy="310896"/>
          </a:xfrm>
          <a:prstGeom prst="roundRect">
            <a:avLst>
              <a:gd name="adj" fmla="val 14706"/>
            </a:avLst>
          </a:prstGeom>
          <a:solidFill>
            <a:srgbClr val="8DA9C4"/>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IT unit-economics reporting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8DA9C4"/>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Board-ready cost-transformation roadmap with committed savings targets</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Whole-estate cost transparency (TBM taxonomy)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Non-cloud run-cost take-out (assets, contracts, licences, network, infra)</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SaaS spend rationalization and licence reclamation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Technical-debt cost analysis and ROI-prioritized paydown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IT unit-economics reporting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Capital-redirection model and savings governance</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Public cloud cost optimization / FinOps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03.3 FinOps</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 token cost economics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Application modernization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03.4 App Mod</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Operating-model redesign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01.5 TOM</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Managed cost-out run service</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01.1  ·  Deliverables &amp; scope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OUT-LAST THE DISRUPTION.   ·   ENTRY · DIRECT or via Strategy IQ triage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01.2   </a:t>
            </a:r>
            <a:pPr indent="0" marL="0">
              <a:buNone/>
            </a:pPr>
            <a:r>
              <a:rPr lang="en-US" sz="2400" b="1" dirty="0">
                <a:solidFill>
                  <a:srgbClr val="1B1F23"/>
                </a:solidFill>
                <a:latin typeface="Cambria" pitchFamily="34" charset="0"/>
                <a:ea typeface="Cambria" pitchFamily="34" charset="-122"/>
                <a:cs typeface="Cambria" pitchFamily="34" charset="-120"/>
              </a:rPr>
              <a:t>Resilience, Business Continuity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STARTS FROM  </a:t>
            </a:r>
            <a:pPr indent="0" marL="0">
              <a:buNone/>
            </a:pPr>
            <a:r>
              <a:rPr lang="en-US" sz="1050" dirty="0">
                <a:solidFill>
                  <a:srgbClr val="44515E"/>
                </a:solidFill>
                <a:latin typeface="Calibri" pitchFamily="34" charset="0"/>
                <a:ea typeface="Calibri" pitchFamily="34" charset="-122"/>
                <a:cs typeface="Calibri" pitchFamily="34" charset="-120"/>
              </a:rPr>
              <a:t>Strategy IQ → Resilience IQ (to build)      </a:t>
            </a:r>
            <a:pPr indent="0" marL="0">
              <a:buNone/>
            </a:pPr>
            <a:r>
              <a:rPr lang="en-US" sz="900" b="1" spc="100" kern="0" dirty="0">
                <a:solidFill>
                  <a:srgbClr val="8DA9C4"/>
                </a:solidFill>
                <a:latin typeface="Calibri" pitchFamily="34" charset="0"/>
                <a:ea typeface="Calibri" pitchFamily="34" charset="-122"/>
                <a:cs typeface="Calibri" pitchFamily="34" charset="-120"/>
              </a:rPr>
              <a:t>LEADS TO  </a:t>
            </a:r>
            <a:pPr indent="0" marL="0">
              <a:buNone/>
            </a:pPr>
            <a:r>
              <a:rPr lang="en-US" sz="1050" dirty="0">
                <a:solidFill>
                  <a:srgbClr val="44515E"/>
                </a:solidFill>
                <a:latin typeface="Calibri" pitchFamily="34" charset="0"/>
                <a:ea typeface="Calibri" pitchFamily="34" charset="-122"/>
                <a:cs typeface="Calibri" pitchFamily="34" charset="-120"/>
              </a:rPr>
              <a:t>DR &amp; Automated DR implementation · managed recovery services</a:t>
            </a:r>
            <a:endParaRPr lang="en-US" sz="900" dirty="0"/>
          </a:p>
        </p:txBody>
      </p:sp>
      <p:sp>
        <p:nvSpPr>
          <p:cNvPr id="5" name="Shape 3"/>
          <p:cNvSpPr/>
          <p:nvPr/>
        </p:nvSpPr>
        <p:spPr>
          <a:xfrm>
            <a:off x="502920" y="1737360"/>
            <a:ext cx="5394960" cy="2395728"/>
          </a:xfrm>
          <a:prstGeom prst="roundRect">
            <a:avLst>
              <a:gd name="adj" fmla="val 2290"/>
            </a:avLst>
          </a:prstGeom>
          <a:solidFill>
            <a:srgbClr val="F4F6FA"/>
          </a:solidFill>
          <a:ln w="9525">
            <a:solidFill>
              <a:srgbClr val="D8DFEA"/>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4000"/>
              </a:lnSpc>
              <a:buNone/>
            </a:pPr>
            <a:r>
              <a:rPr lang="en-US" sz="1150" dirty="0">
                <a:solidFill>
                  <a:srgbClr val="2C3440"/>
                </a:solidFill>
                <a:latin typeface="Calibri" pitchFamily="34" charset="0"/>
                <a:ea typeface="Calibri" pitchFamily="34" charset="-122"/>
                <a:cs typeface="Calibri" pitchFamily="34" charset="-120"/>
              </a:rPr>
              <a:t>Gives the enterprise a defensible answer to “if we’re hit, can we keep trading — and can I prove it beforehand?” It establishes continuity posture against genuine business criticality, defines the Minimum Viable Company (the smallest set of people, process, technology and third parties needed to keep trading through a severe crisis), and designs recovery from tier-aligned DR through Automated DR — then proves it with real testing, not a paper plan.</a:t>
            </a:r>
            <a:endParaRPr lang="en-US" sz="1150" dirty="0"/>
          </a:p>
        </p:txBody>
      </p:sp>
      <p:sp>
        <p:nvSpPr>
          <p:cNvPr id="8" name="Shape 6"/>
          <p:cNvSpPr/>
          <p:nvPr/>
        </p:nvSpPr>
        <p:spPr>
          <a:xfrm>
            <a:off x="502920" y="4279392"/>
            <a:ext cx="5394960" cy="1627632"/>
          </a:xfrm>
          <a:prstGeom prst="roundRect">
            <a:avLst>
              <a:gd name="adj" fmla="val 3371"/>
            </a:avLst>
          </a:prstGeom>
          <a:solidFill>
            <a:srgbClr val="0B2545"/>
          </a:solidFill>
          <a:ln w="9525">
            <a:solidFill>
              <a:srgbClr val="0B2545"/>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B8CCE4"/>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3000"/>
              </a:lnSpc>
              <a:buNone/>
            </a:pPr>
            <a:r>
              <a:rPr lang="en-US" sz="1100" dirty="0">
                <a:solidFill>
                  <a:srgbClr val="E4ECF7"/>
                </a:solidFill>
                <a:latin typeface="Calibri" pitchFamily="34" charset="0"/>
                <a:ea typeface="Calibri" pitchFamily="34" charset="-122"/>
                <a:cs typeface="Calibri" pitchFamily="34" charset="-120"/>
              </a:rPr>
              <a:t>The average ransomware attack now costs $5.08M and drives 24 days of downtime, with global ransomware damage projected at $74B in 2026; the ransom is only ~15% of the cost — downtime and recovery are the rest. Organizations with tested, automated recovery contain incidents in roughly half the time. Resilience is now a board-level, provable obligation.</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7F9AB8"/>
                </a:solidFill>
                <a:latin typeface="Calibri" pitchFamily="34" charset="0"/>
                <a:ea typeface="Calibri" pitchFamily="34" charset="-122"/>
                <a:cs typeface="Calibri" pitchFamily="34" charset="-120"/>
              </a:rPr>
              <a:t>Source: IBM / McKinsey / Gartner / IEA,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8DFEA"/>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Continuity plans exist on paper, but no one can prove the business would actually survive a severe hit.</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Recovery is tiered on legacy assumptions, not genuine business criticality — the wrong things get protected.</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There’s no defined survival floor — “restore everything” is the plan, which is no plan under real crisis pressure.</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Backups aren’t ransomware-resilient — no immutability, no isolated recovery, so recovery itself is compromised.</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Operational and cyber resilience sit in separate silos, and incidents fall into the gap between owners.</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Plans are untested — the first real recovery is the first live test, which is when it fails.</a:t>
            </a:r>
            <a:endParaRPr lang="en-US" sz="1000" dirty="0"/>
          </a:p>
        </p:txBody>
      </p:sp>
      <p:sp>
        <p:nvSpPr>
          <p:cNvPr id="16" name="Shape 14"/>
          <p:cNvSpPr/>
          <p:nvPr/>
        </p:nvSpPr>
        <p:spPr>
          <a:xfrm>
            <a:off x="6263640" y="4279392"/>
            <a:ext cx="5394960" cy="1627632"/>
          </a:xfrm>
          <a:prstGeom prst="roundRect">
            <a:avLst>
              <a:gd name="adj" fmla="val 3371"/>
            </a:avLst>
          </a:prstGeom>
          <a:solidFill>
            <a:srgbClr val="F4F6FA"/>
          </a:solidFill>
          <a:ln w="9525">
            <a:solidFill>
              <a:srgbClr val="D8DFEA"/>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A defensible survival floor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The Minimum Viable Company — a board-level construct almost no infrastructure vendor articulates.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Recovery aligned to what matters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Criticality-based, not legacy-tiered, so effort protects the right services.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Recovery that survives ransomware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Immutable backups and isolated recovery that assume compromise has already happened.</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Faster recovery, lower cost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Automated DR that fails over in minutes, cutting the 24-day downtime exposure.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Proof before the event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Tabletop and live recovery testing, so the plan is validated, not assumed.</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01.2  ·  Overview</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01.2   </a:t>
            </a:r>
            <a:pPr indent="0" marL="0">
              <a:buNone/>
            </a:pPr>
            <a:r>
              <a:rPr lang="en-US" sz="2400" b="1" dirty="0">
                <a:solidFill>
                  <a:srgbClr val="1B1F23"/>
                </a:solidFill>
                <a:latin typeface="Cambria" pitchFamily="34" charset="0"/>
                <a:ea typeface="Cambria" pitchFamily="34" charset="-122"/>
                <a:cs typeface="Cambria" pitchFamily="34" charset="-120"/>
              </a:rPr>
              <a:t>Resilience, Business Continuity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4F6FA"/>
          </a:solidFill>
          <a:ln w="9525">
            <a:solidFill>
              <a:srgbClr val="D8DFEA"/>
            </a:solidFill>
            <a:prstDash val="solid"/>
          </a:ln>
        </p:spPr>
      </p:sp>
      <p:sp>
        <p:nvSpPr>
          <p:cNvPr id="6" name="Shape 4"/>
          <p:cNvSpPr/>
          <p:nvPr/>
        </p:nvSpPr>
        <p:spPr>
          <a:xfrm>
            <a:off x="502920" y="1783080"/>
            <a:ext cx="3602736" cy="868680"/>
          </a:xfrm>
          <a:prstGeom prst="roundRect">
            <a:avLst>
              <a:gd name="adj" fmla="val 7368"/>
            </a:avLst>
          </a:prstGeom>
          <a:solidFill>
            <a:srgbClr val="1E4272"/>
          </a:solidFill>
          <a:ln/>
        </p:spPr>
      </p:sp>
      <p:sp>
        <p:nvSpPr>
          <p:cNvPr id="7" name="Shape 5"/>
          <p:cNvSpPr/>
          <p:nvPr/>
        </p:nvSpPr>
        <p:spPr>
          <a:xfrm>
            <a:off x="502920" y="2194560"/>
            <a:ext cx="3602736" cy="457200"/>
          </a:xfrm>
          <a:prstGeom prst="rect">
            <a:avLst/>
          </a:prstGeom>
          <a:solidFill>
            <a:srgbClr val="1E4272"/>
          </a:solidFill>
          <a:ln/>
        </p:spPr>
      </p:sp>
      <p:pic>
        <p:nvPicPr>
          <p:cNvPr id="8" name="Image 0" descr="/home/claude/p1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Run Business Impact Analysis; baseline RTO/RPO against genuine criticality</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Assess current DR, backup and recovery posture (incl. ransomware resilience)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Identify operational/cyber resilience gaps and single points of failure</a:t>
            </a:r>
            <a:endParaRPr lang="en-US" sz="1000" dirty="0"/>
          </a:p>
        </p:txBody>
      </p:sp>
      <p:sp>
        <p:nvSpPr>
          <p:cNvPr id="12" name="Shape 9"/>
          <p:cNvSpPr/>
          <p:nvPr/>
        </p:nvSpPr>
        <p:spPr>
          <a:xfrm>
            <a:off x="740664" y="4983480"/>
            <a:ext cx="3127248" cy="0"/>
          </a:xfrm>
          <a:prstGeom prst="line">
            <a:avLst/>
          </a:prstGeom>
          <a:noFill/>
          <a:ln w="12700">
            <a:solidFill>
              <a:srgbClr val="D8DFEA"/>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BIA &amp; criticality baseline · resilience posture assessment · gap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4F6FA"/>
          </a:solidFill>
          <a:ln w="9525">
            <a:solidFill>
              <a:srgbClr val="D8DFEA"/>
            </a:solidFill>
            <a:prstDash val="solid"/>
          </a:ln>
        </p:spPr>
      </p:sp>
      <p:sp>
        <p:nvSpPr>
          <p:cNvPr id="17" name="Shape 14"/>
          <p:cNvSpPr/>
          <p:nvPr/>
        </p:nvSpPr>
        <p:spPr>
          <a:xfrm>
            <a:off x="4343400" y="1783080"/>
            <a:ext cx="3602736" cy="868680"/>
          </a:xfrm>
          <a:prstGeom prst="roundRect">
            <a:avLst>
              <a:gd name="adj" fmla="val 7368"/>
            </a:avLst>
          </a:prstGeom>
          <a:solidFill>
            <a:srgbClr val="13315C"/>
          </a:solidFill>
          <a:ln/>
        </p:spPr>
      </p:sp>
      <p:sp>
        <p:nvSpPr>
          <p:cNvPr id="18" name="Shape 15"/>
          <p:cNvSpPr/>
          <p:nvPr/>
        </p:nvSpPr>
        <p:spPr>
          <a:xfrm>
            <a:off x="4343400" y="2194560"/>
            <a:ext cx="3602736" cy="457200"/>
          </a:xfrm>
          <a:prstGeom prst="rect">
            <a:avLst/>
          </a:prstGeom>
          <a:solidFill>
            <a:srgbClr val="13315C"/>
          </a:solidFill>
          <a:ln/>
        </p:spPr>
      </p:sp>
      <p:pic>
        <p:nvPicPr>
          <p:cNvPr id="19" name="Image 1" descr="/home/claude/p1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the Minimum Viable Company — the defensible survival floor</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recovery: tier-aligned DR through Automated DR; immutable, isolated backup</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Connect operational and cyber resilience under clear ownership</a:t>
            </a:r>
            <a:endParaRPr lang="en-US" sz="1000" dirty="0"/>
          </a:p>
        </p:txBody>
      </p:sp>
      <p:sp>
        <p:nvSpPr>
          <p:cNvPr id="23" name="Shape 19"/>
          <p:cNvSpPr/>
          <p:nvPr/>
        </p:nvSpPr>
        <p:spPr>
          <a:xfrm>
            <a:off x="4581144" y="4983480"/>
            <a:ext cx="3127248" cy="0"/>
          </a:xfrm>
          <a:prstGeom prst="line">
            <a:avLst/>
          </a:prstGeom>
          <a:noFill/>
          <a:ln w="12700">
            <a:solidFill>
              <a:srgbClr val="D8DFEA"/>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MVC definition · target recovery architecture · resilience operating model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4F6FA"/>
          </a:solidFill>
          <a:ln w="9525">
            <a:solidFill>
              <a:srgbClr val="D8DFEA"/>
            </a:solidFill>
            <a:prstDash val="solid"/>
          </a:ln>
        </p:spPr>
      </p:sp>
      <p:sp>
        <p:nvSpPr>
          <p:cNvPr id="28" name="Shape 24"/>
          <p:cNvSpPr/>
          <p:nvPr/>
        </p:nvSpPr>
        <p:spPr>
          <a:xfrm>
            <a:off x="8183880" y="1783080"/>
            <a:ext cx="3602736" cy="868680"/>
          </a:xfrm>
          <a:prstGeom prst="roundRect">
            <a:avLst>
              <a:gd name="adj" fmla="val 7368"/>
            </a:avLst>
          </a:prstGeom>
          <a:solidFill>
            <a:srgbClr val="0B2545"/>
          </a:solidFill>
          <a:ln/>
        </p:spPr>
      </p:sp>
      <p:sp>
        <p:nvSpPr>
          <p:cNvPr id="29" name="Shape 25"/>
          <p:cNvSpPr/>
          <p:nvPr/>
        </p:nvSpPr>
        <p:spPr>
          <a:xfrm>
            <a:off x="8183880" y="2194560"/>
            <a:ext cx="3602736" cy="457200"/>
          </a:xfrm>
          <a:prstGeom prst="rect">
            <a:avLst/>
          </a:prstGeom>
          <a:solidFill>
            <a:srgbClr val="0B2545"/>
          </a:solidFill>
          <a:ln/>
        </p:spPr>
      </p:sp>
      <p:pic>
        <p:nvPicPr>
          <p:cNvPr id="30" name="Image 2" descr="/home/claude/p1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Consolidate into an executive-ready resilience strategy and roadmap</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Prove the plan through tabletop and live recovery testing</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Executive playback, decision sign-off, first-capability mobilization</a:t>
            </a:r>
            <a:endParaRPr lang="en-US" sz="1000" dirty="0"/>
          </a:p>
        </p:txBody>
      </p:sp>
      <p:sp>
        <p:nvSpPr>
          <p:cNvPr id="34" name="Shape 29"/>
          <p:cNvSpPr/>
          <p:nvPr/>
        </p:nvSpPr>
        <p:spPr>
          <a:xfrm>
            <a:off x="8421624" y="4983480"/>
            <a:ext cx="3127248" cy="0"/>
          </a:xfrm>
          <a:prstGeom prst="line">
            <a:avLst/>
          </a:prstGeom>
          <a:noFill/>
          <a:ln w="12700">
            <a:solidFill>
              <a:srgbClr val="D8DFEA"/>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Board-ready resilience strategy · tested recovery playbooks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01.2  ·  Solution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01.2   </a:t>
            </a:r>
            <a:pPr indent="0" marL="0">
              <a:buNone/>
            </a:pPr>
            <a:r>
              <a:rPr lang="en-US" sz="2400" b="1" dirty="0">
                <a:solidFill>
                  <a:srgbClr val="1B1F23"/>
                </a:solidFill>
                <a:latin typeface="Cambria" pitchFamily="34" charset="0"/>
                <a:ea typeface="Cambria" pitchFamily="34" charset="-122"/>
                <a:cs typeface="Cambria" pitchFamily="34" charset="-120"/>
              </a:rPr>
              <a:t>Resilience, Business Continuity</a:t>
            </a:r>
            <a:endParaRPr lang="en-US" sz="2400" dirty="0"/>
          </a:p>
        </p:txBody>
      </p:sp>
      <p:sp>
        <p:nvSpPr>
          <p:cNvPr id="4" name="Shape 2"/>
          <p:cNvSpPr/>
          <p:nvPr/>
        </p:nvSpPr>
        <p:spPr>
          <a:xfrm>
            <a:off x="502920" y="1600200"/>
            <a:ext cx="5394960" cy="4480560"/>
          </a:xfrm>
          <a:prstGeom prst="roundRect">
            <a:avLst>
              <a:gd name="adj" fmla="val 1429"/>
            </a:avLst>
          </a:prstGeom>
          <a:solidFill>
            <a:srgbClr val="0B2545"/>
          </a:solidFill>
          <a:ln/>
        </p:spPr>
      </p:sp>
      <p:pic>
        <p:nvPicPr>
          <p:cNvPr id="5" name="Image 0" descr="/home/claude/p1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B8CCE4"/>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8DA9C4"/>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Business Impact Analysis and RTO/RPO baseline</a:t>
            </a:r>
            <a:endParaRPr lang="en-US" sz="1150" dirty="0"/>
          </a:p>
        </p:txBody>
      </p:sp>
      <p:sp>
        <p:nvSpPr>
          <p:cNvPr id="11" name="Shape 8"/>
          <p:cNvSpPr/>
          <p:nvPr/>
        </p:nvSpPr>
        <p:spPr>
          <a:xfrm>
            <a:off x="777240" y="3483864"/>
            <a:ext cx="310896" cy="310896"/>
          </a:xfrm>
          <a:prstGeom prst="roundRect">
            <a:avLst>
              <a:gd name="adj" fmla="val 14706"/>
            </a:avLst>
          </a:prstGeom>
          <a:solidFill>
            <a:srgbClr val="8DA9C4"/>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Minimum Viable Company definition</a:t>
            </a:r>
            <a:endParaRPr lang="en-US" sz="1150" dirty="0"/>
          </a:p>
        </p:txBody>
      </p:sp>
      <p:sp>
        <p:nvSpPr>
          <p:cNvPr id="14" name="Shape 11"/>
          <p:cNvSpPr/>
          <p:nvPr/>
        </p:nvSpPr>
        <p:spPr>
          <a:xfrm>
            <a:off x="777240" y="4087368"/>
            <a:ext cx="310896" cy="310896"/>
          </a:xfrm>
          <a:prstGeom prst="roundRect">
            <a:avLst>
              <a:gd name="adj" fmla="val 14706"/>
            </a:avLst>
          </a:prstGeom>
          <a:solidFill>
            <a:srgbClr val="8DA9C4"/>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Target recovery architecture (DR → Automated DR, immutable backup)</a:t>
            </a:r>
            <a:endParaRPr lang="en-US" sz="1150" dirty="0"/>
          </a:p>
        </p:txBody>
      </p:sp>
      <p:sp>
        <p:nvSpPr>
          <p:cNvPr id="17" name="Shape 14"/>
          <p:cNvSpPr/>
          <p:nvPr/>
        </p:nvSpPr>
        <p:spPr>
          <a:xfrm>
            <a:off x="777240" y="4690872"/>
            <a:ext cx="310896" cy="310896"/>
          </a:xfrm>
          <a:prstGeom prst="roundRect">
            <a:avLst>
              <a:gd name="adj" fmla="val 14706"/>
            </a:avLst>
          </a:prstGeom>
          <a:solidFill>
            <a:srgbClr val="8DA9C4"/>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Connected operational/cyber resilience operating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8DA9C4"/>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Board-ready resilience strategy with tested playbooks</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Business Impact Analysis and criticality-based RTO/RPO</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Minimum Viable Company definition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DR and Automated DR design; data-resilience / ransomware-recovery patterns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Operational and cyber resilience linkage and ownership</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Tabletop and live recovery testing design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Regulatory / jurisdictional resilience (DORA exit, concentration)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02</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Cyber security services and SOC operations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DR / recovery platform build and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Cloud placement of recovery workloads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03</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Data platform recovery specifics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Data</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01.2  ·  Deliverables &amp; scope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OUT-EXECUTE THE DEAL.   ·   ENTRY · DEAL-TRIGGERED (event-driven side door)</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01.3   </a:t>
            </a:r>
            <a:pPr indent="0" marL="0">
              <a:buNone/>
            </a:pPr>
            <a:r>
              <a:rPr lang="en-US" sz="2400" b="1" dirty="0">
                <a:solidFill>
                  <a:srgbClr val="1B1F23"/>
                </a:solidFill>
                <a:latin typeface="Cambria" pitchFamily="34" charset="0"/>
                <a:ea typeface="Cambria" pitchFamily="34" charset="-122"/>
                <a:cs typeface="Cambria" pitchFamily="34" charset="-120"/>
              </a:rPr>
              <a:t>M&amp;A Advisory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STARTS FROM  </a:t>
            </a:r>
            <a:pPr indent="0" marL="0">
              <a:buNone/>
            </a:pPr>
            <a:r>
              <a:rPr lang="en-US" sz="1050" dirty="0">
                <a:solidFill>
                  <a:srgbClr val="44515E"/>
                </a:solidFill>
                <a:latin typeface="Calibri" pitchFamily="34" charset="0"/>
                <a:ea typeface="Calibri" pitchFamily="34" charset="-122"/>
                <a:cs typeface="Calibri" pitchFamily="34" charset="-120"/>
              </a:rPr>
              <a:t>Deal trigger, or Strategy IQ → M&amp;A IT Readiness IQ (to build)      </a:t>
            </a:r>
            <a:pPr indent="0" marL="0">
              <a:buNone/>
            </a:pPr>
            <a:r>
              <a:rPr lang="en-US" sz="900" b="1" spc="100" kern="0" dirty="0">
                <a:solidFill>
                  <a:srgbClr val="8DA9C4"/>
                </a:solidFill>
                <a:latin typeface="Calibri" pitchFamily="34" charset="0"/>
                <a:ea typeface="Calibri" pitchFamily="34" charset="-122"/>
                <a:cs typeface="Calibri" pitchFamily="34" charset="-120"/>
              </a:rPr>
              <a:t>LEADS TO  </a:t>
            </a:r>
            <a:pPr indent="0" marL="0">
              <a:buNone/>
            </a:pPr>
            <a:r>
              <a:rPr lang="en-US" sz="1050" dirty="0">
                <a:solidFill>
                  <a:srgbClr val="44515E"/>
                </a:solidFill>
                <a:latin typeface="Calibri" pitchFamily="34" charset="0"/>
                <a:ea typeface="Calibri" pitchFamily="34" charset="-122"/>
                <a:cs typeface="Calibri" pitchFamily="34" charset="-120"/>
              </a:rPr>
              <a:t>Carve-out execution · TSA-exit delivery · PMI integration programs</a:t>
            </a:r>
            <a:endParaRPr lang="en-US" sz="900" dirty="0"/>
          </a:p>
        </p:txBody>
      </p:sp>
      <p:sp>
        <p:nvSpPr>
          <p:cNvPr id="5" name="Shape 3"/>
          <p:cNvSpPr/>
          <p:nvPr/>
        </p:nvSpPr>
        <p:spPr>
          <a:xfrm>
            <a:off x="502920" y="1737360"/>
            <a:ext cx="5394960" cy="2395728"/>
          </a:xfrm>
          <a:prstGeom prst="roundRect">
            <a:avLst>
              <a:gd name="adj" fmla="val 2290"/>
            </a:avLst>
          </a:prstGeom>
          <a:solidFill>
            <a:srgbClr val="F4F6FA"/>
          </a:solidFill>
          <a:ln w="9525">
            <a:solidFill>
              <a:srgbClr val="D8DFEA"/>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4000"/>
              </a:lnSpc>
              <a:buNone/>
            </a:pPr>
            <a:r>
              <a:rPr lang="en-US" sz="1150" dirty="0">
                <a:solidFill>
                  <a:srgbClr val="2C3440"/>
                </a:solidFill>
                <a:latin typeface="Calibri" pitchFamily="34" charset="0"/>
                <a:ea typeface="Calibri" pitchFamily="34" charset="-122"/>
                <a:cs typeface="Calibri" pitchFamily="34" charset="-120"/>
              </a:rPr>
              <a:t>Makes IT a source of deal value rather than deal risk. It runs pre-transaction technology due diligence, designs the target operating model across Day-1 / Day-100 / end-state, plans carve-out separation and TSA exit, and tracks realized synergy well past close. Where deal advisors hand over at signing, LTM stays through the separation and integration — which is precisely where deals succeed or fail.</a:t>
            </a:r>
            <a:endParaRPr lang="en-US" sz="1150" dirty="0"/>
          </a:p>
        </p:txBody>
      </p:sp>
      <p:sp>
        <p:nvSpPr>
          <p:cNvPr id="8" name="Shape 6"/>
          <p:cNvSpPr/>
          <p:nvPr/>
        </p:nvSpPr>
        <p:spPr>
          <a:xfrm>
            <a:off x="502920" y="4279392"/>
            <a:ext cx="5394960" cy="1627632"/>
          </a:xfrm>
          <a:prstGeom prst="roundRect">
            <a:avLst>
              <a:gd name="adj" fmla="val 3371"/>
            </a:avLst>
          </a:prstGeom>
          <a:solidFill>
            <a:srgbClr val="0B2545"/>
          </a:solidFill>
          <a:ln w="9525">
            <a:solidFill>
              <a:srgbClr val="0B2545"/>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B8CCE4"/>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3000"/>
              </a:lnSpc>
              <a:buNone/>
            </a:pPr>
            <a:r>
              <a:rPr lang="en-US" sz="1100" dirty="0">
                <a:solidFill>
                  <a:srgbClr val="E4ECF7"/>
                </a:solidFill>
                <a:latin typeface="Calibri" pitchFamily="34" charset="0"/>
                <a:ea typeface="Calibri" pitchFamily="34" charset="-122"/>
                <a:cs typeface="Calibri" pitchFamily="34" charset="-120"/>
              </a:rPr>
              <a:t>Technology integration failures now account for 34% of total deal-value destruction, and 84% of IT integrations hit significant issues — yet companies that track synergies from Day 1 achieve 92% success versus an 83% baseline failure. IT integration typically costs 1–3% of deal value (3–7% for carve-outs). In a deal, IT gates the value.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7F9AB8"/>
                </a:solidFill>
                <a:latin typeface="Calibri" pitchFamily="34" charset="0"/>
                <a:ea typeface="Calibri" pitchFamily="34" charset="-122"/>
                <a:cs typeface="Calibri" pitchFamily="34" charset="-120"/>
              </a:rPr>
              <a:t>Source: IBM / McKinsey / Gartner / IEA,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8DFEA"/>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IT is where the most deal value is destroyed — and it’s the workstream diligence consistently under-examines.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Technology integration drives the largest post-deal value erosion — a third of total deal-value destruction traces to IT.</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Diligence surfaces financial and legal risk but glosses over architecture, tech-debt and integration complexity.</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Carve-outs run on a TSA clock — every missed exit milestone is escalating cost and seller-dependency.</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Synergies are announced, then hoped for — not tracked from Day 1 with owners and dollar values.</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The acquiring team inherits problems it wasn’t budgeted to solve, and remediation eats the synergy case.</a:t>
            </a:r>
            <a:endParaRPr lang="en-US" sz="1000" dirty="0"/>
          </a:p>
        </p:txBody>
      </p:sp>
      <p:sp>
        <p:nvSpPr>
          <p:cNvPr id="16" name="Shape 14"/>
          <p:cNvSpPr/>
          <p:nvPr/>
        </p:nvSpPr>
        <p:spPr>
          <a:xfrm>
            <a:off x="6263640" y="4279392"/>
            <a:ext cx="5394960" cy="1627632"/>
          </a:xfrm>
          <a:prstGeom prst="roundRect">
            <a:avLst>
              <a:gd name="adj" fmla="val 3371"/>
            </a:avLst>
          </a:prstGeom>
          <a:solidFill>
            <a:srgbClr val="F4F6FA"/>
          </a:solidFill>
          <a:ln w="9525">
            <a:solidFill>
              <a:srgbClr val="D8DFEA"/>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Hidden risk surfaced before it’s priced in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Tech due diligence that finds what the data room misses, protecting valuation.</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Day-1 that actually works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Cutover, critical-service continuity and command-centre operations planned, not improvised.</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TSA exits hit on time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Separation sequenced so seller-dependency and escalating cost end on schedule.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Synergies realized, not just announced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Tracked from Day 1 with owners, dollar values and course-correction.</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One team, diligence through integration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The plan starts from what diligence found, not a fresh discovery.</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01.3  ·  Overview</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01.3   </a:t>
            </a:r>
            <a:pPr indent="0" marL="0">
              <a:buNone/>
            </a:pPr>
            <a:r>
              <a:rPr lang="en-US" sz="2400" b="1" dirty="0">
                <a:solidFill>
                  <a:srgbClr val="1B1F23"/>
                </a:solidFill>
                <a:latin typeface="Cambria" pitchFamily="34" charset="0"/>
                <a:ea typeface="Cambria" pitchFamily="34" charset="-122"/>
                <a:cs typeface="Cambria" pitchFamily="34" charset="-120"/>
              </a:rPr>
              <a:t>M&amp;A Advisory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4F6FA"/>
          </a:solidFill>
          <a:ln w="9525">
            <a:solidFill>
              <a:srgbClr val="D8DFEA"/>
            </a:solidFill>
            <a:prstDash val="solid"/>
          </a:ln>
        </p:spPr>
      </p:sp>
      <p:sp>
        <p:nvSpPr>
          <p:cNvPr id="6" name="Shape 4"/>
          <p:cNvSpPr/>
          <p:nvPr/>
        </p:nvSpPr>
        <p:spPr>
          <a:xfrm>
            <a:off x="502920" y="1783080"/>
            <a:ext cx="3602736" cy="868680"/>
          </a:xfrm>
          <a:prstGeom prst="roundRect">
            <a:avLst>
              <a:gd name="adj" fmla="val 7368"/>
            </a:avLst>
          </a:prstGeom>
          <a:solidFill>
            <a:srgbClr val="1E4272"/>
          </a:solidFill>
          <a:ln/>
        </p:spPr>
      </p:sp>
      <p:sp>
        <p:nvSpPr>
          <p:cNvPr id="7" name="Shape 5"/>
          <p:cNvSpPr/>
          <p:nvPr/>
        </p:nvSpPr>
        <p:spPr>
          <a:xfrm>
            <a:off x="502920" y="2194560"/>
            <a:ext cx="3602736" cy="457200"/>
          </a:xfrm>
          <a:prstGeom prst="rect">
            <a:avLst/>
          </a:prstGeom>
          <a:solidFill>
            <a:srgbClr val="1E4272"/>
          </a:solidFill>
          <a:ln/>
        </p:spPr>
      </p:sp>
      <p:pic>
        <p:nvPicPr>
          <p:cNvPr id="8" name="Image 0" descr="/home/claude/p1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Conduct pre-transaction technology due diligence (estate, risk, stranded cost, integration cost)</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Assess carve-out / integration complexity and TSA scope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Baseline synergy opportunity and value-realization levers</a:t>
            </a:r>
            <a:endParaRPr lang="en-US" sz="1000" dirty="0"/>
          </a:p>
        </p:txBody>
      </p:sp>
      <p:sp>
        <p:nvSpPr>
          <p:cNvPr id="12" name="Shape 9"/>
          <p:cNvSpPr/>
          <p:nvPr/>
        </p:nvSpPr>
        <p:spPr>
          <a:xfrm>
            <a:off x="740664" y="4983480"/>
            <a:ext cx="3127248" cy="0"/>
          </a:xfrm>
          <a:prstGeom prst="line">
            <a:avLst/>
          </a:prstGeom>
          <a:noFill/>
          <a:ln w="12700">
            <a:solidFill>
              <a:srgbClr val="D8DFEA"/>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Tech due-diligence findings &amp; risk register · integration/separation assessment · synergy baseline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4F6FA"/>
          </a:solidFill>
          <a:ln w="9525">
            <a:solidFill>
              <a:srgbClr val="D8DFEA"/>
            </a:solidFill>
            <a:prstDash val="solid"/>
          </a:ln>
        </p:spPr>
      </p:sp>
      <p:sp>
        <p:nvSpPr>
          <p:cNvPr id="17" name="Shape 14"/>
          <p:cNvSpPr/>
          <p:nvPr/>
        </p:nvSpPr>
        <p:spPr>
          <a:xfrm>
            <a:off x="4343400" y="1783080"/>
            <a:ext cx="3602736" cy="868680"/>
          </a:xfrm>
          <a:prstGeom prst="roundRect">
            <a:avLst>
              <a:gd name="adj" fmla="val 7368"/>
            </a:avLst>
          </a:prstGeom>
          <a:solidFill>
            <a:srgbClr val="13315C"/>
          </a:solidFill>
          <a:ln/>
        </p:spPr>
      </p:sp>
      <p:sp>
        <p:nvSpPr>
          <p:cNvPr id="18" name="Shape 15"/>
          <p:cNvSpPr/>
          <p:nvPr/>
        </p:nvSpPr>
        <p:spPr>
          <a:xfrm>
            <a:off x="4343400" y="2194560"/>
            <a:ext cx="3602736" cy="457200"/>
          </a:xfrm>
          <a:prstGeom prst="rect">
            <a:avLst/>
          </a:prstGeom>
          <a:solidFill>
            <a:srgbClr val="13315C"/>
          </a:solidFill>
          <a:ln/>
        </p:spPr>
      </p:sp>
      <p:pic>
        <p:nvPicPr>
          <p:cNvPr id="19" name="Image 1" descr="/home/claude/p1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the target technology operating model (Day-1 / Day-100 / end-state)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Plan carve-out separation and TSA exit, or PMI integration</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Build the synergy-tracking and Day-1-readiness plan</a:t>
            </a:r>
            <a:endParaRPr lang="en-US" sz="1000" dirty="0"/>
          </a:p>
        </p:txBody>
      </p:sp>
      <p:sp>
        <p:nvSpPr>
          <p:cNvPr id="23" name="Shape 19"/>
          <p:cNvSpPr/>
          <p:nvPr/>
        </p:nvSpPr>
        <p:spPr>
          <a:xfrm>
            <a:off x="4581144" y="4983480"/>
            <a:ext cx="3127248" cy="0"/>
          </a:xfrm>
          <a:prstGeom prst="line">
            <a:avLst/>
          </a:prstGeom>
          <a:noFill/>
          <a:ln w="12700">
            <a:solidFill>
              <a:srgbClr val="D8DFEA"/>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Target TOM · separation / integration plan · synergy-tracking model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4F6FA"/>
          </a:solidFill>
          <a:ln w="9525">
            <a:solidFill>
              <a:srgbClr val="D8DFEA"/>
            </a:solidFill>
            <a:prstDash val="solid"/>
          </a:ln>
        </p:spPr>
      </p:sp>
      <p:sp>
        <p:nvSpPr>
          <p:cNvPr id="28" name="Shape 24"/>
          <p:cNvSpPr/>
          <p:nvPr/>
        </p:nvSpPr>
        <p:spPr>
          <a:xfrm>
            <a:off x="8183880" y="1783080"/>
            <a:ext cx="3602736" cy="868680"/>
          </a:xfrm>
          <a:prstGeom prst="roundRect">
            <a:avLst>
              <a:gd name="adj" fmla="val 7368"/>
            </a:avLst>
          </a:prstGeom>
          <a:solidFill>
            <a:srgbClr val="0B2545"/>
          </a:solidFill>
          <a:ln/>
        </p:spPr>
      </p:sp>
      <p:sp>
        <p:nvSpPr>
          <p:cNvPr id="29" name="Shape 25"/>
          <p:cNvSpPr/>
          <p:nvPr/>
        </p:nvSpPr>
        <p:spPr>
          <a:xfrm>
            <a:off x="8183880" y="2194560"/>
            <a:ext cx="3602736" cy="457200"/>
          </a:xfrm>
          <a:prstGeom prst="rect">
            <a:avLst/>
          </a:prstGeom>
          <a:solidFill>
            <a:srgbClr val="0B2545"/>
          </a:solidFill>
          <a:ln/>
        </p:spPr>
      </p:sp>
      <p:pic>
        <p:nvPicPr>
          <p:cNvPr id="30" name="Image 2" descr="/home/claude/p1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Consolidate into an executive-ready M&amp;A IT roadmap</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Stand up Day-1 command-centre and integration/separation governance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Executive playback, decision sign-off, mobilization</a:t>
            </a:r>
            <a:endParaRPr lang="en-US" sz="1000" dirty="0"/>
          </a:p>
        </p:txBody>
      </p:sp>
      <p:sp>
        <p:nvSpPr>
          <p:cNvPr id="34" name="Shape 29"/>
          <p:cNvSpPr/>
          <p:nvPr/>
        </p:nvSpPr>
        <p:spPr>
          <a:xfrm>
            <a:off x="8421624" y="4983480"/>
            <a:ext cx="3127248" cy="0"/>
          </a:xfrm>
          <a:prstGeom prst="line">
            <a:avLst/>
          </a:prstGeom>
          <a:noFill/>
          <a:ln w="12700">
            <a:solidFill>
              <a:srgbClr val="D8DFEA"/>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Board-ready M&amp;A IT roadmap · Day-1 readiness pack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01.3  ·  Solution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01.3   </a:t>
            </a:r>
            <a:pPr indent="0" marL="0">
              <a:buNone/>
            </a:pPr>
            <a:r>
              <a:rPr lang="en-US" sz="2400" b="1" dirty="0">
                <a:solidFill>
                  <a:srgbClr val="1B1F23"/>
                </a:solidFill>
                <a:latin typeface="Cambria" pitchFamily="34" charset="0"/>
                <a:ea typeface="Cambria" pitchFamily="34" charset="-122"/>
                <a:cs typeface="Cambria" pitchFamily="34" charset="-120"/>
              </a:rPr>
              <a:t>M&amp;A Advisory</a:t>
            </a:r>
            <a:endParaRPr lang="en-US" sz="2400" dirty="0"/>
          </a:p>
        </p:txBody>
      </p:sp>
      <p:sp>
        <p:nvSpPr>
          <p:cNvPr id="4" name="Shape 2"/>
          <p:cNvSpPr/>
          <p:nvPr/>
        </p:nvSpPr>
        <p:spPr>
          <a:xfrm>
            <a:off x="502920" y="1600200"/>
            <a:ext cx="5394960" cy="4480560"/>
          </a:xfrm>
          <a:prstGeom prst="roundRect">
            <a:avLst>
              <a:gd name="adj" fmla="val 1429"/>
            </a:avLst>
          </a:prstGeom>
          <a:solidFill>
            <a:srgbClr val="0B2545"/>
          </a:solidFill>
          <a:ln/>
        </p:spPr>
      </p:sp>
      <p:pic>
        <p:nvPicPr>
          <p:cNvPr id="5" name="Image 0" descr="/home/claude/p1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B8CCE4"/>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8DA9C4"/>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Technology due-diligence findings and risk register</a:t>
            </a:r>
            <a:endParaRPr lang="en-US" sz="1150" dirty="0"/>
          </a:p>
        </p:txBody>
      </p:sp>
      <p:sp>
        <p:nvSpPr>
          <p:cNvPr id="11" name="Shape 8"/>
          <p:cNvSpPr/>
          <p:nvPr/>
        </p:nvSpPr>
        <p:spPr>
          <a:xfrm>
            <a:off x="777240" y="3483864"/>
            <a:ext cx="310896" cy="310896"/>
          </a:xfrm>
          <a:prstGeom prst="roundRect">
            <a:avLst>
              <a:gd name="adj" fmla="val 14706"/>
            </a:avLst>
          </a:prstGeom>
          <a:solidFill>
            <a:srgbClr val="8DA9C4"/>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Target technology operating model (Day-1 / Day-100 / end-state)</a:t>
            </a:r>
            <a:endParaRPr lang="en-US" sz="1150" dirty="0"/>
          </a:p>
        </p:txBody>
      </p:sp>
      <p:sp>
        <p:nvSpPr>
          <p:cNvPr id="14" name="Shape 11"/>
          <p:cNvSpPr/>
          <p:nvPr/>
        </p:nvSpPr>
        <p:spPr>
          <a:xfrm>
            <a:off x="777240" y="4087368"/>
            <a:ext cx="310896" cy="310896"/>
          </a:xfrm>
          <a:prstGeom prst="roundRect">
            <a:avLst>
              <a:gd name="adj" fmla="val 14706"/>
            </a:avLst>
          </a:prstGeom>
          <a:solidFill>
            <a:srgbClr val="8DA9C4"/>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Carve-out / TSA-exit or PMI integration plan</a:t>
            </a:r>
            <a:endParaRPr lang="en-US" sz="1150" dirty="0"/>
          </a:p>
        </p:txBody>
      </p:sp>
      <p:sp>
        <p:nvSpPr>
          <p:cNvPr id="17" name="Shape 14"/>
          <p:cNvSpPr/>
          <p:nvPr/>
        </p:nvSpPr>
        <p:spPr>
          <a:xfrm>
            <a:off x="777240" y="4690872"/>
            <a:ext cx="310896" cy="310896"/>
          </a:xfrm>
          <a:prstGeom prst="roundRect">
            <a:avLst>
              <a:gd name="adj" fmla="val 14706"/>
            </a:avLst>
          </a:prstGeom>
          <a:solidFill>
            <a:srgbClr val="8DA9C4"/>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Synergy-tracking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8DA9C4"/>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Board-ready M&amp;A IT roadmap and Day-1 readiness pack</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Pre-transaction technology due diligence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Target technology operating model across deal phases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Carve-out separation and TSA-exit planning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Post-merger integration planning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Synergy tracking and Day-1 readiness</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Financial / legal / commercial due diligence</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Client deal advisors</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Carve-out / integration execution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Security posture remediation delivery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Standing (non-deal) operating-model design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01.5 TOM</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Application modernization within integration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03</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01.3  ·  Deliverables &amp; scope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OUT-POWER THE ESTATE.   ·   ENTRY · DIRECT or via Strategy IQ triage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01.4   </a:t>
            </a:r>
            <a:pPr indent="0" marL="0">
              <a:buNone/>
            </a:pPr>
            <a:r>
              <a:rPr lang="en-US" sz="2400" b="1" dirty="0">
                <a:solidFill>
                  <a:srgbClr val="1B1F23"/>
                </a:solidFill>
                <a:latin typeface="Cambria" pitchFamily="34" charset="0"/>
                <a:ea typeface="Cambria" pitchFamily="34" charset="-122"/>
                <a:cs typeface="Cambria" pitchFamily="34" charset="-120"/>
              </a:rPr>
              <a:t>Sustainability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STARTS FROM  </a:t>
            </a:r>
            <a:pPr indent="0" marL="0">
              <a:buNone/>
            </a:pPr>
            <a:r>
              <a:rPr lang="en-US" sz="1050" dirty="0">
                <a:solidFill>
                  <a:srgbClr val="44515E"/>
                </a:solidFill>
                <a:latin typeface="Calibri" pitchFamily="34" charset="0"/>
                <a:ea typeface="Calibri" pitchFamily="34" charset="-122"/>
                <a:cs typeface="Calibri" pitchFamily="34" charset="-120"/>
              </a:rPr>
              <a:t>Strategy IQ → Sustainability IQ (to build)      </a:t>
            </a:r>
            <a:pPr indent="0" marL="0">
              <a:buNone/>
            </a:pPr>
            <a:r>
              <a:rPr lang="en-US" sz="900" b="1" spc="100" kern="0" dirty="0">
                <a:solidFill>
                  <a:srgbClr val="8DA9C4"/>
                </a:solidFill>
                <a:latin typeface="Calibri" pitchFamily="34" charset="0"/>
                <a:ea typeface="Calibri" pitchFamily="34" charset="-122"/>
                <a:cs typeface="Calibri" pitchFamily="34" charset="-120"/>
              </a:rPr>
              <a:t>LEADS TO  </a:t>
            </a:r>
            <a:pPr indent="0" marL="0">
              <a:buNone/>
            </a:pPr>
            <a:r>
              <a:rPr lang="en-US" sz="1050" dirty="0">
                <a:solidFill>
                  <a:srgbClr val="44515E"/>
                </a:solidFill>
                <a:latin typeface="Calibri" pitchFamily="34" charset="0"/>
                <a:ea typeface="Calibri" pitchFamily="34" charset="-122"/>
                <a:cs typeface="Calibri" pitchFamily="34" charset="-120"/>
              </a:rPr>
              <a:t>DC efficiency programs · workload placement &amp; decommissioning · carbon-reporting operations</a:t>
            </a:r>
            <a:endParaRPr lang="en-US" sz="900" dirty="0"/>
          </a:p>
        </p:txBody>
      </p:sp>
      <p:sp>
        <p:nvSpPr>
          <p:cNvPr id="5" name="Shape 3"/>
          <p:cNvSpPr/>
          <p:nvPr/>
        </p:nvSpPr>
        <p:spPr>
          <a:xfrm>
            <a:off x="502920" y="1737360"/>
            <a:ext cx="5394960" cy="2395728"/>
          </a:xfrm>
          <a:prstGeom prst="roundRect">
            <a:avLst>
              <a:gd name="adj" fmla="val 2290"/>
            </a:avLst>
          </a:prstGeom>
          <a:solidFill>
            <a:srgbClr val="F4F6FA"/>
          </a:solidFill>
          <a:ln w="9525">
            <a:solidFill>
              <a:srgbClr val="D8DFEA"/>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4000"/>
              </a:lnSpc>
              <a:buNone/>
            </a:pPr>
            <a:r>
              <a:rPr lang="en-US" sz="1150" dirty="0">
                <a:solidFill>
                  <a:srgbClr val="2C3440"/>
                </a:solidFill>
                <a:latin typeface="Calibri" pitchFamily="34" charset="0"/>
                <a:ea typeface="Calibri" pitchFamily="34" charset="-122"/>
                <a:cs typeface="Calibri" pitchFamily="34" charset="-120"/>
              </a:rPr>
              <a:t>Reframes green IT from a compliance chore into a cost and AI-capacity conversation. It baselines the estate’s energy and carbon profile, identifies efficiency levers, and — critically for 2026 — treats power availability as a hard constraint on AI capacity, advising how to site, schedule and place workloads around it. It also aligns IT sustainability reporting to CSRD-grade audit standards so the numbers survive scrutiny.</a:t>
            </a:r>
            <a:endParaRPr lang="en-US" sz="1150" dirty="0"/>
          </a:p>
        </p:txBody>
      </p:sp>
      <p:sp>
        <p:nvSpPr>
          <p:cNvPr id="8" name="Shape 6"/>
          <p:cNvSpPr/>
          <p:nvPr/>
        </p:nvSpPr>
        <p:spPr>
          <a:xfrm>
            <a:off x="502920" y="4279392"/>
            <a:ext cx="5394960" cy="1627632"/>
          </a:xfrm>
          <a:prstGeom prst="roundRect">
            <a:avLst>
              <a:gd name="adj" fmla="val 3371"/>
            </a:avLst>
          </a:prstGeom>
          <a:solidFill>
            <a:srgbClr val="0B2545"/>
          </a:solidFill>
          <a:ln w="9525">
            <a:solidFill>
              <a:srgbClr val="0B2545"/>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B8CCE4"/>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3000"/>
              </a:lnSpc>
              <a:buNone/>
            </a:pPr>
            <a:r>
              <a:rPr lang="en-US" sz="1100" dirty="0">
                <a:solidFill>
                  <a:srgbClr val="E4ECF7"/>
                </a:solidFill>
                <a:latin typeface="Calibri" pitchFamily="34" charset="0"/>
                <a:ea typeface="Calibri" pitchFamily="34" charset="-122"/>
                <a:cs typeface="Calibri" pitchFamily="34" charset="-120"/>
              </a:rPr>
              <a:t>Data-centre electricity consumption is approaching ~1,050 TWh in 2026 — which would rank data centres the world’s fifth-largest energy consumer — and power availability is now the defining constraint on AI buildout. In parallel, CSRD and the EU Energy Efficiency Directive have moved IT sustainability from voluntary CSR to audited regulatory compliance. Energy is now a cost, a capacity ceiling and a compliance line at once.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7F9AB8"/>
                </a:solidFill>
                <a:latin typeface="Calibri" pitchFamily="34" charset="0"/>
                <a:ea typeface="Calibri" pitchFamily="34" charset="-122"/>
                <a:cs typeface="Calibri" pitchFamily="34" charset="-120"/>
              </a:rPr>
              <a:t>Source: IBM / McKinsey / Gartner / IEA,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8DFEA"/>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Energy has become both a cost line and a capacity ceiling — and IT can’t defend its sustainability numbers when audited.</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Power availability now constrains AI ambition — the grid, not the budget, is increasingly the limit.</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Energy and carbon are poorly baselined across DC, cloud, network and end-user compute.</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Efficiency levers (right-sizing, placement, decommissioning, cooling) are known but not systematically applied.</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Sustainability reporting isn’t audit-grade — it obscures the architectural reality regulators now probe.</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Regulation is tightening — CSRD and the EU Energy Efficiency Directive make disclosure a compliance obligation.</a:t>
            </a:r>
            <a:endParaRPr lang="en-US" sz="1000" dirty="0"/>
          </a:p>
        </p:txBody>
      </p:sp>
      <p:sp>
        <p:nvSpPr>
          <p:cNvPr id="16" name="Shape 14"/>
          <p:cNvSpPr/>
          <p:nvPr/>
        </p:nvSpPr>
        <p:spPr>
          <a:xfrm>
            <a:off x="6263640" y="4279392"/>
            <a:ext cx="5394960" cy="1627632"/>
          </a:xfrm>
          <a:prstGeom prst="roundRect">
            <a:avLst>
              <a:gd name="adj" fmla="val 3371"/>
            </a:avLst>
          </a:prstGeom>
          <a:solidFill>
            <a:srgbClr val="F4F6FA"/>
          </a:solidFill>
          <a:ln w="9525">
            <a:solidFill>
              <a:srgbClr val="D8DFEA"/>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Power treated as a capacity constraint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AI workloads sited, scheduled and placed around real energy limits.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Energy cost taken out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Right-sizing, placement, decommissioning and cooling efficiency, quantified.</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Audit-grade reporting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IT sustainability data aligned to CSRD / EED so it survives scrutiny.</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Efficiency by default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Energy embedded into architecture principles and investment gates, not remediated later.</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Sustainable sourcing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Vendor criteria and contractual clauses that hold partners to commitments.</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01.4  ·  Overview</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01.4   </a:t>
            </a:r>
            <a:pPr indent="0" marL="0">
              <a:buNone/>
            </a:pPr>
            <a:r>
              <a:rPr lang="en-US" sz="2400" b="1" dirty="0">
                <a:solidFill>
                  <a:srgbClr val="1B1F23"/>
                </a:solidFill>
                <a:latin typeface="Cambria" pitchFamily="34" charset="0"/>
                <a:ea typeface="Cambria" pitchFamily="34" charset="-122"/>
                <a:cs typeface="Cambria" pitchFamily="34" charset="-120"/>
              </a:rPr>
              <a:t>Sustainability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4F6FA"/>
          </a:solidFill>
          <a:ln w="9525">
            <a:solidFill>
              <a:srgbClr val="D8DFEA"/>
            </a:solidFill>
            <a:prstDash val="solid"/>
          </a:ln>
        </p:spPr>
      </p:sp>
      <p:sp>
        <p:nvSpPr>
          <p:cNvPr id="6" name="Shape 4"/>
          <p:cNvSpPr/>
          <p:nvPr/>
        </p:nvSpPr>
        <p:spPr>
          <a:xfrm>
            <a:off x="502920" y="1783080"/>
            <a:ext cx="3602736" cy="868680"/>
          </a:xfrm>
          <a:prstGeom prst="roundRect">
            <a:avLst>
              <a:gd name="adj" fmla="val 7368"/>
            </a:avLst>
          </a:prstGeom>
          <a:solidFill>
            <a:srgbClr val="1E4272"/>
          </a:solidFill>
          <a:ln/>
        </p:spPr>
      </p:sp>
      <p:sp>
        <p:nvSpPr>
          <p:cNvPr id="7" name="Shape 5"/>
          <p:cNvSpPr/>
          <p:nvPr/>
        </p:nvSpPr>
        <p:spPr>
          <a:xfrm>
            <a:off x="502920" y="2194560"/>
            <a:ext cx="3602736" cy="457200"/>
          </a:xfrm>
          <a:prstGeom prst="rect">
            <a:avLst/>
          </a:prstGeom>
          <a:solidFill>
            <a:srgbClr val="1E4272"/>
          </a:solidFill>
          <a:ln/>
        </p:spPr>
      </p:sp>
      <p:pic>
        <p:nvPicPr>
          <p:cNvPr id="8" name="Image 0" descr="/home/claude/p1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Baseline energy and carbon across DC, cloud, network and end-user compute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Assess power availability as a constraint on AI capacity</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Identify efficiency levers and reporting gaps against CSRD / EED</a:t>
            </a:r>
            <a:endParaRPr lang="en-US" sz="1000" dirty="0"/>
          </a:p>
        </p:txBody>
      </p:sp>
      <p:sp>
        <p:nvSpPr>
          <p:cNvPr id="12" name="Shape 9"/>
          <p:cNvSpPr/>
          <p:nvPr/>
        </p:nvSpPr>
        <p:spPr>
          <a:xfrm>
            <a:off x="740664" y="4983480"/>
            <a:ext cx="3127248" cy="0"/>
          </a:xfrm>
          <a:prstGeom prst="line">
            <a:avLst/>
          </a:prstGeom>
          <a:noFill/>
          <a:ln w="12700">
            <a:solidFill>
              <a:srgbClr val="D8DFEA"/>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Energy/carbon baseline · power-constraint view · efficiency &amp; reporting-gap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4F6FA"/>
          </a:solidFill>
          <a:ln w="9525">
            <a:solidFill>
              <a:srgbClr val="D8DFEA"/>
            </a:solidFill>
            <a:prstDash val="solid"/>
          </a:ln>
        </p:spPr>
      </p:sp>
      <p:sp>
        <p:nvSpPr>
          <p:cNvPr id="17" name="Shape 14"/>
          <p:cNvSpPr/>
          <p:nvPr/>
        </p:nvSpPr>
        <p:spPr>
          <a:xfrm>
            <a:off x="4343400" y="1783080"/>
            <a:ext cx="3602736" cy="868680"/>
          </a:xfrm>
          <a:prstGeom prst="roundRect">
            <a:avLst>
              <a:gd name="adj" fmla="val 7368"/>
            </a:avLst>
          </a:prstGeom>
          <a:solidFill>
            <a:srgbClr val="13315C"/>
          </a:solidFill>
          <a:ln/>
        </p:spPr>
      </p:sp>
      <p:sp>
        <p:nvSpPr>
          <p:cNvPr id="18" name="Shape 15"/>
          <p:cNvSpPr/>
          <p:nvPr/>
        </p:nvSpPr>
        <p:spPr>
          <a:xfrm>
            <a:off x="4343400" y="2194560"/>
            <a:ext cx="3602736" cy="457200"/>
          </a:xfrm>
          <a:prstGeom prst="rect">
            <a:avLst/>
          </a:prstGeom>
          <a:solidFill>
            <a:srgbClr val="13315C"/>
          </a:solidFill>
          <a:ln/>
        </p:spPr>
      </p:sp>
      <p:pic>
        <p:nvPicPr>
          <p:cNvPr id="19" name="Image 1" descr="/home/claude/p1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the efficiency program (right-sizing, placement, decommissioning, cooling)</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AI-workload siting/scheduling around power constraints</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CSRD/EED-aligned reporting and sustainable-sourcing criteria</a:t>
            </a:r>
            <a:endParaRPr lang="en-US" sz="1000" dirty="0"/>
          </a:p>
        </p:txBody>
      </p:sp>
      <p:sp>
        <p:nvSpPr>
          <p:cNvPr id="23" name="Shape 19"/>
          <p:cNvSpPr/>
          <p:nvPr/>
        </p:nvSpPr>
        <p:spPr>
          <a:xfrm>
            <a:off x="4581144" y="4983480"/>
            <a:ext cx="3127248" cy="0"/>
          </a:xfrm>
          <a:prstGeom prst="line">
            <a:avLst/>
          </a:prstGeom>
          <a:noFill/>
          <a:ln w="12700">
            <a:solidFill>
              <a:srgbClr val="D8DFEA"/>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Efficiency program design · AI-power siting approach · reporting &amp; sourcing model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4F6FA"/>
          </a:solidFill>
          <a:ln w="9525">
            <a:solidFill>
              <a:srgbClr val="D8DFEA"/>
            </a:solidFill>
            <a:prstDash val="solid"/>
          </a:ln>
        </p:spPr>
      </p:sp>
      <p:sp>
        <p:nvSpPr>
          <p:cNvPr id="28" name="Shape 24"/>
          <p:cNvSpPr/>
          <p:nvPr/>
        </p:nvSpPr>
        <p:spPr>
          <a:xfrm>
            <a:off x="8183880" y="1783080"/>
            <a:ext cx="3602736" cy="868680"/>
          </a:xfrm>
          <a:prstGeom prst="roundRect">
            <a:avLst>
              <a:gd name="adj" fmla="val 7368"/>
            </a:avLst>
          </a:prstGeom>
          <a:solidFill>
            <a:srgbClr val="0B2545"/>
          </a:solidFill>
          <a:ln/>
        </p:spPr>
      </p:sp>
      <p:sp>
        <p:nvSpPr>
          <p:cNvPr id="29" name="Shape 25"/>
          <p:cNvSpPr/>
          <p:nvPr/>
        </p:nvSpPr>
        <p:spPr>
          <a:xfrm>
            <a:off x="8183880" y="2194560"/>
            <a:ext cx="3602736" cy="457200"/>
          </a:xfrm>
          <a:prstGeom prst="rect">
            <a:avLst/>
          </a:prstGeom>
          <a:solidFill>
            <a:srgbClr val="0B2545"/>
          </a:solidFill>
          <a:ln/>
        </p:spPr>
      </p:sp>
      <p:pic>
        <p:nvPicPr>
          <p:cNvPr id="30" name="Image 2" descr="/home/claude/p1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Consolidate into an executive-ready sustainability roadmap</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Embed energy efficiency into architecture principles and investment gates</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Executive playback, decision sign-off, mobilization</a:t>
            </a:r>
            <a:endParaRPr lang="en-US" sz="1000" dirty="0"/>
          </a:p>
        </p:txBody>
      </p:sp>
      <p:sp>
        <p:nvSpPr>
          <p:cNvPr id="34" name="Shape 29"/>
          <p:cNvSpPr/>
          <p:nvPr/>
        </p:nvSpPr>
        <p:spPr>
          <a:xfrm>
            <a:off x="8421624" y="4983480"/>
            <a:ext cx="3127248" cy="0"/>
          </a:xfrm>
          <a:prstGeom prst="line">
            <a:avLst/>
          </a:prstGeom>
          <a:noFill/>
          <a:ln w="12700">
            <a:solidFill>
              <a:srgbClr val="D8DFEA"/>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Board-ready sustainability roadmap · embedded-efficiency gates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01.4  ·  Solution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01.4   </a:t>
            </a:r>
            <a:pPr indent="0" marL="0">
              <a:buNone/>
            </a:pPr>
            <a:r>
              <a:rPr lang="en-US" sz="2400" b="1" dirty="0">
                <a:solidFill>
                  <a:srgbClr val="1B1F23"/>
                </a:solidFill>
                <a:latin typeface="Cambria" pitchFamily="34" charset="0"/>
                <a:ea typeface="Cambria" pitchFamily="34" charset="-122"/>
                <a:cs typeface="Cambria" pitchFamily="34" charset="-120"/>
              </a:rPr>
              <a:t>Sustainability</a:t>
            </a:r>
            <a:endParaRPr lang="en-US" sz="2400" dirty="0"/>
          </a:p>
        </p:txBody>
      </p:sp>
      <p:sp>
        <p:nvSpPr>
          <p:cNvPr id="4" name="Shape 2"/>
          <p:cNvSpPr/>
          <p:nvPr/>
        </p:nvSpPr>
        <p:spPr>
          <a:xfrm>
            <a:off x="502920" y="1600200"/>
            <a:ext cx="5394960" cy="4480560"/>
          </a:xfrm>
          <a:prstGeom prst="roundRect">
            <a:avLst>
              <a:gd name="adj" fmla="val 1429"/>
            </a:avLst>
          </a:prstGeom>
          <a:solidFill>
            <a:srgbClr val="0B2545"/>
          </a:solidFill>
          <a:ln/>
        </p:spPr>
      </p:sp>
      <p:pic>
        <p:nvPicPr>
          <p:cNvPr id="5" name="Image 0" descr="/home/claude/p1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B8CCE4"/>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8DA9C4"/>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Estate energy and carbon baseline</a:t>
            </a:r>
            <a:endParaRPr lang="en-US" sz="1150" dirty="0"/>
          </a:p>
        </p:txBody>
      </p:sp>
      <p:sp>
        <p:nvSpPr>
          <p:cNvPr id="11" name="Shape 8"/>
          <p:cNvSpPr/>
          <p:nvPr/>
        </p:nvSpPr>
        <p:spPr>
          <a:xfrm>
            <a:off x="777240" y="3483864"/>
            <a:ext cx="310896" cy="310896"/>
          </a:xfrm>
          <a:prstGeom prst="roundRect">
            <a:avLst>
              <a:gd name="adj" fmla="val 14706"/>
            </a:avLst>
          </a:prstGeom>
          <a:solidFill>
            <a:srgbClr val="8DA9C4"/>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Power-as-AI-capacity constraint analysis</a:t>
            </a:r>
            <a:endParaRPr lang="en-US" sz="1150" dirty="0"/>
          </a:p>
        </p:txBody>
      </p:sp>
      <p:sp>
        <p:nvSpPr>
          <p:cNvPr id="14" name="Shape 11"/>
          <p:cNvSpPr/>
          <p:nvPr/>
        </p:nvSpPr>
        <p:spPr>
          <a:xfrm>
            <a:off x="777240" y="4087368"/>
            <a:ext cx="310896" cy="310896"/>
          </a:xfrm>
          <a:prstGeom prst="roundRect">
            <a:avLst>
              <a:gd name="adj" fmla="val 14706"/>
            </a:avLst>
          </a:prstGeom>
          <a:solidFill>
            <a:srgbClr val="8DA9C4"/>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Efficiency program design (levers, quantified)</a:t>
            </a:r>
            <a:endParaRPr lang="en-US" sz="1150" dirty="0"/>
          </a:p>
        </p:txBody>
      </p:sp>
      <p:sp>
        <p:nvSpPr>
          <p:cNvPr id="17" name="Shape 14"/>
          <p:cNvSpPr/>
          <p:nvPr/>
        </p:nvSpPr>
        <p:spPr>
          <a:xfrm>
            <a:off x="777240" y="4690872"/>
            <a:ext cx="310896" cy="310896"/>
          </a:xfrm>
          <a:prstGeom prst="roundRect">
            <a:avLst>
              <a:gd name="adj" fmla="val 14706"/>
            </a:avLst>
          </a:prstGeom>
          <a:solidFill>
            <a:srgbClr val="8DA9C4"/>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CSRD/EED-aligned reporting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8DA9C4"/>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Board-ready sustainability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Energy and carbon baselining across the estate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Efficiency levers (right-sizing, placement, decommissioning, cooling)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Power-availability constraint modeling for AI capacity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Sustainable sourcing criteria and contractual clauses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CSRD / EED-aligned IT sustainability reporting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Data-centre siting and disposition execution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03.5 DC Strategy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infrastructure / GPU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Corporate (non-IT) ESG strategy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Client sustainability fn</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Cloud cost optimization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03.3 FinOps</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Efficiency program build /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01.4  ·  Deliverables &amp; scope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OUT-DESIGN THE MODEL.   ·   THE PILLAR SPINE · anchored by Strategy IQ</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01.5   </a:t>
            </a:r>
            <a:pPr indent="0" marL="0">
              <a:buNone/>
            </a:pPr>
            <a:r>
              <a:rPr lang="en-US" sz="2400" b="1" dirty="0">
                <a:solidFill>
                  <a:srgbClr val="1B1F23"/>
                </a:solidFill>
                <a:latin typeface="Cambria" pitchFamily="34" charset="0"/>
                <a:ea typeface="Cambria" pitchFamily="34" charset="-122"/>
                <a:cs typeface="Cambria" pitchFamily="34" charset="-120"/>
              </a:rPr>
              <a:t>Target Operating Model</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8DA9C4"/>
                </a:solidFill>
                <a:latin typeface="Calibri" pitchFamily="34" charset="0"/>
                <a:ea typeface="Calibri" pitchFamily="34" charset="-122"/>
                <a:cs typeface="Calibri" pitchFamily="34" charset="-120"/>
              </a:rPr>
              <a:t>STARTS FROM  </a:t>
            </a:r>
            <a:pPr indent="0" marL="0">
              <a:buNone/>
            </a:pPr>
            <a:r>
              <a:rPr lang="en-US" sz="1050" dirty="0">
                <a:solidFill>
                  <a:srgbClr val="44515E"/>
                </a:solidFill>
                <a:latin typeface="Calibri" pitchFamily="34" charset="0"/>
                <a:ea typeface="Calibri" pitchFamily="34" charset="-122"/>
                <a:cs typeface="Calibri" pitchFamily="34" charset="-120"/>
              </a:rPr>
              <a:t>Strategy IQ (the anchor diagnostic)      </a:t>
            </a:r>
            <a:pPr indent="0" marL="0">
              <a:buNone/>
            </a:pPr>
            <a:r>
              <a:rPr lang="en-US" sz="900" b="1" spc="100" kern="0" dirty="0">
                <a:solidFill>
                  <a:srgbClr val="8DA9C4"/>
                </a:solidFill>
                <a:latin typeface="Calibri" pitchFamily="34" charset="0"/>
                <a:ea typeface="Calibri" pitchFamily="34" charset="-122"/>
                <a:cs typeface="Calibri" pitchFamily="34" charset="-120"/>
              </a:rPr>
              <a:t>LEADS TO  </a:t>
            </a:r>
            <a:pPr indent="0" marL="0">
              <a:buNone/>
            </a:pPr>
            <a:r>
              <a:rPr lang="en-US" sz="1050" dirty="0">
                <a:solidFill>
                  <a:srgbClr val="44515E"/>
                </a:solidFill>
                <a:latin typeface="Calibri" pitchFamily="34" charset="0"/>
                <a:ea typeface="Calibri" pitchFamily="34" charset="-122"/>
                <a:cs typeface="Calibri" pitchFamily="34" charset="-120"/>
              </a:rPr>
              <a:t>Operating-model implementation · SIAM integrator role · sustained transformation-office engagement</a:t>
            </a:r>
            <a:endParaRPr lang="en-US" sz="900" dirty="0"/>
          </a:p>
        </p:txBody>
      </p:sp>
      <p:sp>
        <p:nvSpPr>
          <p:cNvPr id="5" name="Shape 3"/>
          <p:cNvSpPr/>
          <p:nvPr/>
        </p:nvSpPr>
        <p:spPr>
          <a:xfrm>
            <a:off x="502920" y="1737360"/>
            <a:ext cx="5394960" cy="2395728"/>
          </a:xfrm>
          <a:prstGeom prst="roundRect">
            <a:avLst>
              <a:gd name="adj" fmla="val 2290"/>
            </a:avLst>
          </a:prstGeom>
          <a:solidFill>
            <a:srgbClr val="F4F6FA"/>
          </a:solidFill>
          <a:ln w="9525">
            <a:solidFill>
              <a:srgbClr val="D8DFEA"/>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4000"/>
              </a:lnSpc>
              <a:buNone/>
            </a:pPr>
            <a:r>
              <a:rPr lang="en-US" sz="1150" dirty="0">
                <a:solidFill>
                  <a:srgbClr val="2C3440"/>
                </a:solidFill>
                <a:latin typeface="Calibri" pitchFamily="34" charset="0"/>
                <a:ea typeface="Calibri" pitchFamily="34" charset="-122"/>
                <a:cs typeface="Calibri" pitchFamily="34" charset="-120"/>
              </a:rPr>
              <a:t>The strategic spine of the pillar — the offering that sets the direction, shape and governance of enterprise IT, then mobilizes the transformation to get there. It defines a business-aligned IT strategy and 3–5 year horizon, designs the operating model (structure, service ownership, decision rights, funding, governance) for hybrid, product-led, AI-augmented working, and designs the multi-vendor/SIAM and sourcing construct so a fragmented estate behaves as one service to the business.</a:t>
            </a:r>
            <a:endParaRPr lang="en-US" sz="1150" dirty="0"/>
          </a:p>
        </p:txBody>
      </p:sp>
      <p:sp>
        <p:nvSpPr>
          <p:cNvPr id="8" name="Shape 6"/>
          <p:cNvSpPr/>
          <p:nvPr/>
        </p:nvSpPr>
        <p:spPr>
          <a:xfrm>
            <a:off x="502920" y="4279392"/>
            <a:ext cx="5394960" cy="1627632"/>
          </a:xfrm>
          <a:prstGeom prst="roundRect">
            <a:avLst>
              <a:gd name="adj" fmla="val 3371"/>
            </a:avLst>
          </a:prstGeom>
          <a:solidFill>
            <a:srgbClr val="0B2545"/>
          </a:solidFill>
          <a:ln w="9525">
            <a:solidFill>
              <a:srgbClr val="0B2545"/>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B8CCE4"/>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3000"/>
              </a:lnSpc>
              <a:buNone/>
            </a:pPr>
            <a:r>
              <a:rPr lang="en-US" sz="1100" dirty="0">
                <a:solidFill>
                  <a:srgbClr val="E4ECF7"/>
                </a:solidFill>
                <a:latin typeface="Calibri" pitchFamily="34" charset="0"/>
                <a:ea typeface="Calibri" pitchFamily="34" charset="-122"/>
                <a:cs typeface="Calibri" pitchFamily="34" charset="-120"/>
              </a:rPr>
              <a:t>Every other pressure in the CIO’s world — cost, AI, resilience, sovereignty — ultimately requires reshaping how IT is run to sustain the answer. Notably, 41% of successful M&amp;A acquirers plan the operating model before the letter of intent — early operating-model design is now the mark of high performers. An operating model built for last decade’s assumptions quietly caps everything else.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7F9AB8"/>
                </a:solidFill>
                <a:latin typeface="Calibri" pitchFamily="34" charset="0"/>
                <a:ea typeface="Calibri" pitchFamily="34" charset="-122"/>
                <a:cs typeface="Calibri" pitchFamily="34" charset="-120"/>
              </a:rPr>
              <a:t>Source: IBM / McKinsey / Gartner / IEA,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8DFEA"/>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The operating model itself is the bottleneck — IT is organized, sourced and governed for a world that no longer exists.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IT strategy is disconnected from business strategy — or years out of date and never refreshed.</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The operating model is project-mode in a product-and-platform world; decision rights and ownership are unclear.</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A fragmented multi-vendor estate behaves as many suppliers, not one service — no SIAM construct holds it together.</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Sourcing is reactive, not intentional; critical capabilities carry key-person and single-point-of-failure risk.</a:t>
            </a:r>
            <a:endParaRPr lang="en-US" sz="1000" dirty="0"/>
          </a:p>
          <a:p>
            <a:pPr marL="152400" indent="-152400">
              <a:lnSpc>
                <a:spcPct val="95000"/>
              </a:lnSpc>
              <a:spcAft>
                <a:spcPts val="400"/>
              </a:spcAft>
              <a:buSzPct val="100000"/>
              <a:buChar char="•"/>
            </a:pPr>
            <a:r>
              <a:rPr lang="en-US" sz="1000" dirty="0">
                <a:solidFill>
                  <a:srgbClr val="2C3440"/>
                </a:solidFill>
                <a:latin typeface="Calibri" pitchFamily="34" charset="0"/>
                <a:ea typeface="Calibri" pitchFamily="34" charset="-122"/>
                <a:cs typeface="Calibri" pitchFamily="34" charset="-120"/>
              </a:rPr>
              <a:t>Investment governance is weak — no stage-gate, no post-hoc value tracking, so spend isn’t steered.</a:t>
            </a:r>
            <a:endParaRPr lang="en-US" sz="1000" dirty="0"/>
          </a:p>
        </p:txBody>
      </p:sp>
      <p:sp>
        <p:nvSpPr>
          <p:cNvPr id="16" name="Shape 14"/>
          <p:cNvSpPr/>
          <p:nvPr/>
        </p:nvSpPr>
        <p:spPr>
          <a:xfrm>
            <a:off x="6263640" y="4279392"/>
            <a:ext cx="5394960" cy="1627632"/>
          </a:xfrm>
          <a:prstGeom prst="roundRect">
            <a:avLst>
              <a:gd name="adj" fmla="val 3371"/>
            </a:avLst>
          </a:prstGeom>
          <a:solidFill>
            <a:srgbClr val="F4F6FA"/>
          </a:solidFill>
          <a:ln w="9525">
            <a:solidFill>
              <a:srgbClr val="D8DFEA"/>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0B2545"/>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A board-fundable strategy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Technology choices converted into funded business outcomes the board will back.</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An operating model fit for now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Product-led, platform-aware, AI-augmented, with clear decision rights.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A fragmented estate made coherent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SIAM / multi-vendor governance so suppliers behave as one service.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Intentional sourcing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Build / buy / partner decided on strategy, with key-person risk mitigated.</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0B2545"/>
                </a:solidFill>
                <a:latin typeface="Calibri" pitchFamily="34" charset="0"/>
                <a:ea typeface="Calibri" pitchFamily="34" charset="-122"/>
                <a:cs typeface="Calibri" pitchFamily="34" charset="-120"/>
              </a:rPr>
              <a:t>Steered investment  </a:t>
            </a:r>
            <a:pPr indent="0" marL="0">
              <a:lnSpc>
                <a:spcPct val="88000"/>
              </a:lnSpc>
              <a:buNone/>
            </a:pPr>
            <a:r>
              <a:rPr lang="en-US" sz="900" dirty="0">
                <a:solidFill>
                  <a:srgbClr val="44515E"/>
                </a:solidFill>
                <a:latin typeface="Calibri" pitchFamily="34" charset="0"/>
                <a:ea typeface="Calibri" pitchFamily="34" charset="-122"/>
                <a:cs typeface="Calibri" pitchFamily="34" charset="-120"/>
              </a:rPr>
              <a:t>— Stage-gate governance and post-hoc value tracking, so spend follows strategy.</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01.5  ·  Overview</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01.5   </a:t>
            </a:r>
            <a:pPr indent="0" marL="0">
              <a:buNone/>
            </a:pPr>
            <a:r>
              <a:rPr lang="en-US" sz="2400" b="1" dirty="0">
                <a:solidFill>
                  <a:srgbClr val="1B1F23"/>
                </a:solidFill>
                <a:latin typeface="Cambria" pitchFamily="34" charset="0"/>
                <a:ea typeface="Cambria" pitchFamily="34" charset="-122"/>
                <a:cs typeface="Cambria" pitchFamily="34" charset="-120"/>
              </a:rPr>
              <a:t>Target Operating Model</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4F6FA"/>
          </a:solidFill>
          <a:ln w="9525">
            <a:solidFill>
              <a:srgbClr val="D8DFEA"/>
            </a:solidFill>
            <a:prstDash val="solid"/>
          </a:ln>
        </p:spPr>
      </p:sp>
      <p:sp>
        <p:nvSpPr>
          <p:cNvPr id="6" name="Shape 4"/>
          <p:cNvSpPr/>
          <p:nvPr/>
        </p:nvSpPr>
        <p:spPr>
          <a:xfrm>
            <a:off x="502920" y="1783080"/>
            <a:ext cx="3602736" cy="868680"/>
          </a:xfrm>
          <a:prstGeom prst="roundRect">
            <a:avLst>
              <a:gd name="adj" fmla="val 7368"/>
            </a:avLst>
          </a:prstGeom>
          <a:solidFill>
            <a:srgbClr val="1E4272"/>
          </a:solidFill>
          <a:ln/>
        </p:spPr>
      </p:sp>
      <p:sp>
        <p:nvSpPr>
          <p:cNvPr id="7" name="Shape 5"/>
          <p:cNvSpPr/>
          <p:nvPr/>
        </p:nvSpPr>
        <p:spPr>
          <a:xfrm>
            <a:off x="502920" y="2194560"/>
            <a:ext cx="3602736" cy="457200"/>
          </a:xfrm>
          <a:prstGeom prst="rect">
            <a:avLst/>
          </a:prstGeom>
          <a:solidFill>
            <a:srgbClr val="1E4272"/>
          </a:solidFill>
          <a:ln/>
        </p:spPr>
      </p:sp>
      <p:pic>
        <p:nvPicPr>
          <p:cNvPr id="8" name="Image 0" descr="/home/claude/p1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Assess business-IT alignment, current operating model and governance maturity</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Baseline the sourcing mix, capability map and key-person risk</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Capture the 3–5 year business direction and technology drivers</a:t>
            </a:r>
            <a:endParaRPr lang="en-US" sz="1000" dirty="0"/>
          </a:p>
        </p:txBody>
      </p:sp>
      <p:sp>
        <p:nvSpPr>
          <p:cNvPr id="12" name="Shape 9"/>
          <p:cNvSpPr/>
          <p:nvPr/>
        </p:nvSpPr>
        <p:spPr>
          <a:xfrm>
            <a:off x="740664" y="4983480"/>
            <a:ext cx="3127248" cy="0"/>
          </a:xfrm>
          <a:prstGeom prst="line">
            <a:avLst/>
          </a:prstGeom>
          <a:noFill/>
          <a:ln w="12700">
            <a:solidFill>
              <a:srgbClr val="D8DFEA"/>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Current-state operating-model assessment · capability &amp; sourcing baseline · driver map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4F6FA"/>
          </a:solidFill>
          <a:ln w="9525">
            <a:solidFill>
              <a:srgbClr val="D8DFEA"/>
            </a:solidFill>
            <a:prstDash val="solid"/>
          </a:ln>
        </p:spPr>
      </p:sp>
      <p:sp>
        <p:nvSpPr>
          <p:cNvPr id="17" name="Shape 14"/>
          <p:cNvSpPr/>
          <p:nvPr/>
        </p:nvSpPr>
        <p:spPr>
          <a:xfrm>
            <a:off x="4343400" y="1783080"/>
            <a:ext cx="3602736" cy="868680"/>
          </a:xfrm>
          <a:prstGeom prst="roundRect">
            <a:avLst>
              <a:gd name="adj" fmla="val 7368"/>
            </a:avLst>
          </a:prstGeom>
          <a:solidFill>
            <a:srgbClr val="13315C"/>
          </a:solidFill>
          <a:ln/>
        </p:spPr>
      </p:sp>
      <p:sp>
        <p:nvSpPr>
          <p:cNvPr id="18" name="Shape 15"/>
          <p:cNvSpPr/>
          <p:nvPr/>
        </p:nvSpPr>
        <p:spPr>
          <a:xfrm>
            <a:off x="4343400" y="2194560"/>
            <a:ext cx="3602736" cy="457200"/>
          </a:xfrm>
          <a:prstGeom prst="rect">
            <a:avLst/>
          </a:prstGeom>
          <a:solidFill>
            <a:srgbClr val="13315C"/>
          </a:solidFill>
          <a:ln/>
        </p:spPr>
      </p:sp>
      <p:pic>
        <p:nvPicPr>
          <p:cNvPr id="19" name="Image 1" descr="/home/claude/p1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the business-aligned IT strategy and 3–5 year horizon</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the target operating model (structure, ownership, decision rights, funding, governance)</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Design the SIAM / multi-vendor and sourcing construct</a:t>
            </a:r>
            <a:endParaRPr lang="en-US" sz="1000" dirty="0"/>
          </a:p>
        </p:txBody>
      </p:sp>
      <p:sp>
        <p:nvSpPr>
          <p:cNvPr id="23" name="Shape 19"/>
          <p:cNvSpPr/>
          <p:nvPr/>
        </p:nvSpPr>
        <p:spPr>
          <a:xfrm>
            <a:off x="4581144" y="4983480"/>
            <a:ext cx="3127248" cy="0"/>
          </a:xfrm>
          <a:prstGeom prst="line">
            <a:avLst/>
          </a:prstGeom>
          <a:noFill/>
          <a:ln w="12700">
            <a:solidFill>
              <a:srgbClr val="D8DFEA"/>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IT strategy &amp; horizon · target operating model · SIAM &amp; sourcing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4F6FA"/>
          </a:solidFill>
          <a:ln w="9525">
            <a:solidFill>
              <a:srgbClr val="D8DFEA"/>
            </a:solidFill>
            <a:prstDash val="solid"/>
          </a:ln>
        </p:spPr>
      </p:sp>
      <p:sp>
        <p:nvSpPr>
          <p:cNvPr id="28" name="Shape 24"/>
          <p:cNvSpPr/>
          <p:nvPr/>
        </p:nvSpPr>
        <p:spPr>
          <a:xfrm>
            <a:off x="8183880" y="1783080"/>
            <a:ext cx="3602736" cy="868680"/>
          </a:xfrm>
          <a:prstGeom prst="roundRect">
            <a:avLst>
              <a:gd name="adj" fmla="val 7368"/>
            </a:avLst>
          </a:prstGeom>
          <a:solidFill>
            <a:srgbClr val="0B2545"/>
          </a:solidFill>
          <a:ln/>
        </p:spPr>
      </p:sp>
      <p:sp>
        <p:nvSpPr>
          <p:cNvPr id="29" name="Shape 25"/>
          <p:cNvSpPr/>
          <p:nvPr/>
        </p:nvSpPr>
        <p:spPr>
          <a:xfrm>
            <a:off x="8183880" y="2194560"/>
            <a:ext cx="3602736" cy="457200"/>
          </a:xfrm>
          <a:prstGeom prst="rect">
            <a:avLst/>
          </a:prstGeom>
          <a:solidFill>
            <a:srgbClr val="0B2545"/>
          </a:solidFill>
          <a:ln/>
        </p:spPr>
      </p:sp>
      <p:pic>
        <p:nvPicPr>
          <p:cNvPr id="30" name="Image 2" descr="/home/claude/p1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B8CCE4"/>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Consolidate into a board-ready strategy narrative and operating-model blueprint</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Define the transition and transformation-office approach</a:t>
            </a:r>
            <a:endParaRPr lang="en-US" sz="1000" dirty="0"/>
          </a:p>
          <a:p>
            <a:pPr marL="152400" indent="-152400">
              <a:lnSpc>
                <a:spcPct val="98000"/>
              </a:lnSpc>
              <a:spcAft>
                <a:spcPts val="700"/>
              </a:spcAft>
              <a:buSzPct val="100000"/>
              <a:buChar char="•"/>
            </a:pPr>
            <a:r>
              <a:rPr lang="en-US" sz="1000" dirty="0">
                <a:solidFill>
                  <a:srgbClr val="2C3440"/>
                </a:solidFill>
                <a:latin typeface="Calibri" pitchFamily="34" charset="0"/>
                <a:ea typeface="Calibri" pitchFamily="34" charset="-122"/>
                <a:cs typeface="Calibri" pitchFamily="34" charset="-120"/>
              </a:rPr>
              <a:t>Executive playback, decision sign-off, mobilization</a:t>
            </a:r>
            <a:endParaRPr lang="en-US" sz="1000" dirty="0"/>
          </a:p>
        </p:txBody>
      </p:sp>
      <p:sp>
        <p:nvSpPr>
          <p:cNvPr id="34" name="Shape 29"/>
          <p:cNvSpPr/>
          <p:nvPr/>
        </p:nvSpPr>
        <p:spPr>
          <a:xfrm>
            <a:off x="8421624" y="4983480"/>
            <a:ext cx="3127248" cy="0"/>
          </a:xfrm>
          <a:prstGeom prst="line">
            <a:avLst/>
          </a:prstGeom>
          <a:noFill/>
          <a:ln w="12700">
            <a:solidFill>
              <a:srgbClr val="D8DFEA"/>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0B2545"/>
                </a:solidFill>
                <a:latin typeface="Calibri" pitchFamily="34" charset="0"/>
                <a:ea typeface="Calibri" pitchFamily="34" charset="-122"/>
                <a:cs typeface="Calibri" pitchFamily="34" charset="-120"/>
              </a:rPr>
              <a:t>Board-ready strategy &amp; TOM blueprint · transition plan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01.5  ·  Solution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0B2545"/>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indent="0" marL="0">
              <a:buNone/>
            </a:pPr>
            <a:r>
              <a:rPr lang="en-US" sz="2400" b="1" dirty="0">
                <a:solidFill>
                  <a:srgbClr val="8DA9C4"/>
                </a:solidFill>
                <a:latin typeface="Cambria" pitchFamily="34" charset="0"/>
                <a:ea typeface="Cambria" pitchFamily="34" charset="-122"/>
                <a:cs typeface="Cambria" pitchFamily="34" charset="-120"/>
              </a:rPr>
              <a:t>01.5   </a:t>
            </a:r>
            <a:pPr indent="0" marL="0">
              <a:buNone/>
            </a:pPr>
            <a:r>
              <a:rPr lang="en-US" sz="2400" b="1" dirty="0">
                <a:solidFill>
                  <a:srgbClr val="1B1F23"/>
                </a:solidFill>
                <a:latin typeface="Cambria" pitchFamily="34" charset="0"/>
                <a:ea typeface="Cambria" pitchFamily="34" charset="-122"/>
                <a:cs typeface="Cambria" pitchFamily="34" charset="-120"/>
              </a:rPr>
              <a:t>Target Operating Model</a:t>
            </a:r>
            <a:endParaRPr lang="en-US" sz="2400" dirty="0"/>
          </a:p>
        </p:txBody>
      </p:sp>
      <p:sp>
        <p:nvSpPr>
          <p:cNvPr id="4" name="Shape 2"/>
          <p:cNvSpPr/>
          <p:nvPr/>
        </p:nvSpPr>
        <p:spPr>
          <a:xfrm>
            <a:off x="502920" y="1600200"/>
            <a:ext cx="5394960" cy="4480560"/>
          </a:xfrm>
          <a:prstGeom prst="roundRect">
            <a:avLst>
              <a:gd name="adj" fmla="val 1429"/>
            </a:avLst>
          </a:prstGeom>
          <a:solidFill>
            <a:srgbClr val="0B2545"/>
          </a:solidFill>
          <a:ln/>
        </p:spPr>
      </p:sp>
      <p:pic>
        <p:nvPicPr>
          <p:cNvPr id="5" name="Image 0" descr="/home/claude/p1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B8CCE4"/>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8DA9C4"/>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Current-state operating-model and governance assessment</a:t>
            </a:r>
            <a:endParaRPr lang="en-US" sz="1150" dirty="0"/>
          </a:p>
        </p:txBody>
      </p:sp>
      <p:sp>
        <p:nvSpPr>
          <p:cNvPr id="11" name="Shape 8"/>
          <p:cNvSpPr/>
          <p:nvPr/>
        </p:nvSpPr>
        <p:spPr>
          <a:xfrm>
            <a:off x="777240" y="3483864"/>
            <a:ext cx="310896" cy="310896"/>
          </a:xfrm>
          <a:prstGeom prst="roundRect">
            <a:avLst>
              <a:gd name="adj" fmla="val 14706"/>
            </a:avLst>
          </a:prstGeom>
          <a:solidFill>
            <a:srgbClr val="8DA9C4"/>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Business-aligned IT strategy and 3–5 year horizon</a:t>
            </a:r>
            <a:endParaRPr lang="en-US" sz="1150" dirty="0"/>
          </a:p>
        </p:txBody>
      </p:sp>
      <p:sp>
        <p:nvSpPr>
          <p:cNvPr id="14" name="Shape 11"/>
          <p:cNvSpPr/>
          <p:nvPr/>
        </p:nvSpPr>
        <p:spPr>
          <a:xfrm>
            <a:off x="777240" y="4087368"/>
            <a:ext cx="310896" cy="310896"/>
          </a:xfrm>
          <a:prstGeom prst="roundRect">
            <a:avLst>
              <a:gd name="adj" fmla="val 14706"/>
            </a:avLst>
          </a:prstGeom>
          <a:solidFill>
            <a:srgbClr val="8DA9C4"/>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Target operating model (structure, ownership, decision rights, funding, governance)</a:t>
            </a:r>
            <a:endParaRPr lang="en-US" sz="1150" dirty="0"/>
          </a:p>
        </p:txBody>
      </p:sp>
      <p:sp>
        <p:nvSpPr>
          <p:cNvPr id="17" name="Shape 14"/>
          <p:cNvSpPr/>
          <p:nvPr/>
        </p:nvSpPr>
        <p:spPr>
          <a:xfrm>
            <a:off x="777240" y="4690872"/>
            <a:ext cx="310896" cy="310896"/>
          </a:xfrm>
          <a:prstGeom prst="roundRect">
            <a:avLst>
              <a:gd name="adj" fmla="val 14706"/>
            </a:avLst>
          </a:prstGeom>
          <a:solidFill>
            <a:srgbClr val="8DA9C4"/>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SIAM / multi-vendor and sourcing construct</a:t>
            </a:r>
            <a:endParaRPr lang="en-US" sz="1150" dirty="0"/>
          </a:p>
        </p:txBody>
      </p:sp>
      <p:sp>
        <p:nvSpPr>
          <p:cNvPr id="20" name="Shape 17"/>
          <p:cNvSpPr/>
          <p:nvPr/>
        </p:nvSpPr>
        <p:spPr>
          <a:xfrm>
            <a:off x="777240" y="5294376"/>
            <a:ext cx="310896" cy="310896"/>
          </a:xfrm>
          <a:prstGeom prst="roundRect">
            <a:avLst>
              <a:gd name="adj" fmla="val 14706"/>
            </a:avLst>
          </a:prstGeom>
          <a:solidFill>
            <a:srgbClr val="8DA9C4"/>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E4ECF7"/>
                </a:solidFill>
                <a:latin typeface="Calibri" pitchFamily="34" charset="0"/>
                <a:ea typeface="Calibri" pitchFamily="34" charset="-122"/>
                <a:cs typeface="Calibri" pitchFamily="34" charset="-120"/>
              </a:rPr>
              <a:t>Board-ready strategy narrative and TOM blueprint</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Business-aligned IT strategy and 3–5 year technology horizon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Target operating model design (structure, ownership, decision rights, funding, governance)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SIAM and multi-vendor governance construct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GCC / capability-sourcing strategy and build/buy/partner</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Workforce and skills shape (target model, phased path)</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Investment-governance and value-tracking design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Operating-model implementation and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Cost take-out delivery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01.1 IT Economics</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Platform / IDP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03.6 Platform Eng</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Vendor-selection advisory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Excluded (LTM is a bidder)</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Deal-specific operating model</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01.3 M&amp;A Advisory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9AA7B4"/>
                </a:solidFill>
                <a:latin typeface="Calibri" pitchFamily="34" charset="0"/>
                <a:ea typeface="Calibri" pitchFamily="34" charset="-122"/>
                <a:cs typeface="Calibri" pitchFamily="34" charset="-120"/>
              </a:rPr>
              <a:t>LTM  ·  Infra Tech Advisory  ·  Enterprise IT Strategy</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9AA7B4"/>
                </a:solidFill>
                <a:latin typeface="Calibri" pitchFamily="34" charset="0"/>
                <a:ea typeface="Calibri" pitchFamily="34" charset="-122"/>
                <a:cs typeface="Calibri" pitchFamily="34" charset="-120"/>
              </a:rPr>
              <a:t>01.5  ·  Deliverables &amp; scope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2026-09-10T12:00:09Z</dcterms:created>
  <dcterms:modified xsi:type="dcterms:W3CDTF">2026-09-10T12:00:09Z</dcterms:modified>
</cp:coreProperties>
</file>
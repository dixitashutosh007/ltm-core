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949529" y="0"/>
            <a:ext cx="11338471" cy="605313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85800"/>
            <a:ext cx="1591568" cy="419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4521101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TECH ADVISORY</a:t>
            </a:r>
            <a:endParaRPr lang="en-US" sz="1650" dirty="0"/>
          </a:p>
        </p:txBody>
      </p:sp>
      <p:sp>
        <p:nvSpPr>
          <p:cNvPr id="5" name="Text 1"/>
          <p:cNvSpPr/>
          <p:nvPr/>
        </p:nvSpPr>
        <p:spPr>
          <a:xfrm>
            <a:off x="914400" y="5044976"/>
            <a:ext cx="12263438" cy="1860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171"/>
              </a:lnSpc>
              <a:buNone/>
            </a:pPr>
            <a:r>
              <a:rPr lang="en-US" sz="69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&amp; Infrastructure Advisory Practice</a:t>
            </a:r>
            <a:endParaRPr lang="en-US" sz="6900" dirty="0"/>
          </a:p>
        </p:txBody>
      </p:sp>
      <p:sp>
        <p:nvSpPr>
          <p:cNvPr id="6" name="Text 2"/>
          <p:cNvSpPr/>
          <p:nvPr/>
        </p:nvSpPr>
        <p:spPr>
          <a:xfrm>
            <a:off x="914400" y="7172325"/>
            <a:ext cx="1128236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right-sized, advisory-led response to sovereignty regulation, cloud complexity and infrastructure modernization — built for CIOs, CTOs and CDOs across the US, UK and Europe.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914400" y="88296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9144000"/>
            <a:ext cx="65174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Offerings · Sales &amp; Client Partner Enablement · 2026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10738098" y="9144000"/>
            <a:ext cx="72990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&amp; Infrastructure Consulting | Cloud &amp; Infrastructure Services (CIS)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CIS Tech Advisory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660327"/>
            <a:ext cx="16678275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IT and infrastructure decisions have become board-level questions — regulatory (DORA, NIS2, EU AI Act), economic (cloud and AI spend) and architectural (where workloads should live) all at once. CIS Tech Advisory gives clients a fast, credible, advisory-led way to answer these questions — and, because we also deliver, a partner who can execute the answer.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914400" y="2879824"/>
            <a:ext cx="181051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ADVISORY PILLARS, ONE DELIVERY MODEL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914400" y="3308449"/>
            <a:ext cx="5359301" cy="231398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08449"/>
            <a:ext cx="5359301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3594199"/>
            <a:ext cx="52665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00150" y="3937099"/>
            <a:ext cx="526658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00150" y="4394299"/>
            <a:ext cx="493143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Regulatory-aligned sovereignty across cloud, data, AI &amp; resilience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64201" y="3308449"/>
            <a:ext cx="5359450" cy="231398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64201" y="3308449"/>
            <a:ext cx="5359450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3" name="Text 11"/>
          <p:cNvSpPr/>
          <p:nvPr/>
        </p:nvSpPr>
        <p:spPr>
          <a:xfrm>
            <a:off x="6749951" y="3594199"/>
            <a:ext cx="52667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49951" y="3937099"/>
            <a:ext cx="52667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6749951" y="4394299"/>
            <a:ext cx="52667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workload placement, FinOps &amp; AI infusion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014150" y="3308449"/>
            <a:ext cx="5359450" cy="231398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14150" y="3308449"/>
            <a:ext cx="5359450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8" name="Text 16"/>
          <p:cNvSpPr/>
          <p:nvPr/>
        </p:nvSpPr>
        <p:spPr>
          <a:xfrm>
            <a:off x="12299900" y="3594199"/>
            <a:ext cx="52667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299900" y="3937099"/>
            <a:ext cx="52667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2299900" y="4394299"/>
            <a:ext cx="52667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cloud, edge computing &amp; on-premise data centre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5812929"/>
            <a:ext cx="5359301" cy="2313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8117384"/>
            <a:ext cx="5359301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5812929"/>
            <a:ext cx="5359301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5812929"/>
            <a:ext cx="9525" cy="2313980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4176" y="5812929"/>
            <a:ext cx="9525" cy="2313980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6" name="Text 24"/>
          <p:cNvSpPr/>
          <p:nvPr/>
        </p:nvSpPr>
        <p:spPr>
          <a:xfrm>
            <a:off x="1209675" y="6098679"/>
            <a:ext cx="52456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09675" y="6441579"/>
            <a:ext cx="524562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 &amp; On-Prem DC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209675" y="6898779"/>
            <a:ext cx="52456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Level 1 offerings in development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64201" y="5812929"/>
            <a:ext cx="5359450" cy="2313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4201" y="8117384"/>
            <a:ext cx="535945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64201" y="5812929"/>
            <a:ext cx="5359450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32" name="Shape 30"/>
          <p:cNvSpPr/>
          <p:nvPr/>
        </p:nvSpPr>
        <p:spPr>
          <a:xfrm>
            <a:off x="6464201" y="5812929"/>
            <a:ext cx="9525" cy="2313980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3" name="Shape 31"/>
          <p:cNvSpPr/>
          <p:nvPr/>
        </p:nvSpPr>
        <p:spPr>
          <a:xfrm>
            <a:off x="11814125" y="5812929"/>
            <a:ext cx="9525" cy="2313980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4" name="Text 32"/>
          <p:cNvSpPr/>
          <p:nvPr/>
        </p:nvSpPr>
        <p:spPr>
          <a:xfrm>
            <a:off x="6759476" y="6098679"/>
            <a:ext cx="52457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59476" y="6441579"/>
            <a:ext cx="52457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Advisory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6759476" y="6898779"/>
            <a:ext cx="52457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SASE / SD-WAN, connectivity &amp; zero-trust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2014150" y="5812929"/>
            <a:ext cx="5359450" cy="2313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14150" y="8117384"/>
            <a:ext cx="535945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9" name="Shape 37"/>
          <p:cNvSpPr/>
          <p:nvPr/>
        </p:nvSpPr>
        <p:spPr>
          <a:xfrm>
            <a:off x="12014150" y="5812929"/>
            <a:ext cx="5359450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40" name="Shape 38"/>
          <p:cNvSpPr/>
          <p:nvPr/>
        </p:nvSpPr>
        <p:spPr>
          <a:xfrm>
            <a:off x="12014150" y="5812929"/>
            <a:ext cx="9525" cy="2313980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41" name="Shape 39"/>
          <p:cNvSpPr/>
          <p:nvPr/>
        </p:nvSpPr>
        <p:spPr>
          <a:xfrm>
            <a:off x="17364075" y="5812929"/>
            <a:ext cx="9525" cy="2313980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42" name="Text 40"/>
          <p:cNvSpPr/>
          <p:nvPr/>
        </p:nvSpPr>
        <p:spPr>
          <a:xfrm>
            <a:off x="12309425" y="6098679"/>
            <a:ext cx="52457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2309425" y="6441579"/>
            <a:ext cx="52457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 Advisory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12309425" y="6898779"/>
            <a:ext cx="52457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agentic AI across the estate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14400" y="8355509"/>
            <a:ext cx="16459200" cy="940891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46" name="Text 44"/>
          <p:cNvSpPr/>
          <p:nvPr/>
        </p:nvSpPr>
        <p:spPr>
          <a:xfrm>
            <a:off x="1200150" y="8546009"/>
            <a:ext cx="151268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2727722" y="8546009"/>
            <a:ext cx="14790932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pillar runs fixed-scope Level 1 engagements on the same </a:t>
            </a:r>
            <a:pPr algn="l" indent="0" marL="0">
              <a:lnSpc>
                <a:spcPct val="122500"/>
              </a:lnSpc>
              <a:buNone/>
            </a:pPr>
            <a:r>
              <a:rPr lang="en-US" sz="15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→ Ideate → Accelerate </a:t>
            </a:r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— fast, fixed-fee, and a natural path into larger transformation work.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5158740" y="9872663"/>
            <a:ext cx="186335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DIFFERENTIATION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LTM for CIS Tech Advisory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660327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reasons sales and clients back our advisory — specific, not generic.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914400" y="2358926"/>
            <a:ext cx="3139380" cy="648979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58926"/>
            <a:ext cx="3139380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7" name="Text 5"/>
          <p:cNvSpPr/>
          <p:nvPr/>
        </p:nvSpPr>
        <p:spPr>
          <a:xfrm>
            <a:off x="1162050" y="2663726"/>
            <a:ext cx="290848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62050" y="3197126"/>
            <a:ext cx="27234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8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years of industry experience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162050" y="3901976"/>
            <a:ext cx="2723403" cy="197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delivery across regulated sectors — BFSI, manufacturing, healthcare, public — in the US, UK and Europe. Advisors who know the operating reality, not just the theory.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44280" y="2358926"/>
            <a:ext cx="3139380" cy="648979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1" name="Shape 9"/>
          <p:cNvSpPr/>
          <p:nvPr/>
        </p:nvSpPr>
        <p:spPr>
          <a:xfrm>
            <a:off x="4244280" y="2358926"/>
            <a:ext cx="3139380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2" name="Text 10"/>
          <p:cNvSpPr/>
          <p:nvPr/>
        </p:nvSpPr>
        <p:spPr>
          <a:xfrm>
            <a:off x="4491930" y="2663726"/>
            <a:ext cx="290848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491930" y="3197126"/>
            <a:ext cx="272340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8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Major-vendor partnerships for accelerators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491930" y="4187726"/>
            <a:ext cx="2723403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alliances with leading hyperscalers and infrastructure partners give every engagement access to proven, co-developed accelerators.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74161" y="2358926"/>
            <a:ext cx="3139529" cy="648979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574161" y="2358926"/>
            <a:ext cx="3139529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7" name="Text 15"/>
          <p:cNvSpPr/>
          <p:nvPr/>
        </p:nvSpPr>
        <p:spPr>
          <a:xfrm>
            <a:off x="7821811" y="2663726"/>
            <a:ext cx="29086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821811" y="3197126"/>
            <a:ext cx="272355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8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accelerators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7821811" y="3901976"/>
            <a:ext cx="2723556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platforms and reusable assessment frameworks — built by LTM, refined across engagements — speed up every phase of delivery.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904190" y="2358926"/>
            <a:ext cx="3139380" cy="648979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04190" y="2358926"/>
            <a:ext cx="3139380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22" name="Text 20"/>
          <p:cNvSpPr/>
          <p:nvPr/>
        </p:nvSpPr>
        <p:spPr>
          <a:xfrm>
            <a:off x="11151840" y="2663726"/>
            <a:ext cx="290848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151840" y="3197126"/>
            <a:ext cx="27234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8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advisory &amp; execution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151840" y="3901976"/>
            <a:ext cx="2723403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hand clients off after the recommendation. The roadmap we propose is one we can build and run — lowering execution risk end to end.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4234071" y="2358926"/>
            <a:ext cx="3139529" cy="648979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6" name="Shape 24"/>
          <p:cNvSpPr/>
          <p:nvPr/>
        </p:nvSpPr>
        <p:spPr>
          <a:xfrm>
            <a:off x="14234071" y="2358926"/>
            <a:ext cx="3139529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27" name="Text 25"/>
          <p:cNvSpPr/>
          <p:nvPr/>
        </p:nvSpPr>
        <p:spPr>
          <a:xfrm>
            <a:off x="14481721" y="2663726"/>
            <a:ext cx="29086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4481721" y="3197126"/>
            <a:ext cx="272355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8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leaders in the space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4481721" y="3901976"/>
            <a:ext cx="2723556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Point-of-view content, regulatory-aligned frameworks and market-facing research keep our advisory ahead of where the market is heading.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9077325"/>
            <a:ext cx="18105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confirm final vendor-partnership names and refresh the "25 years" figure before external client use.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4939665" y="9872663"/>
            <a:ext cx="21043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Differentiation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MODEL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Deliver — Understand · Ideate · Accelerate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660327"/>
            <a:ext cx="1569720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engagement, across every pillar, runs in three phases — right-sized to your budget and delivered largely offshore. Advisory that leads to action, not a shelf-ware report.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914400" y="2714625"/>
            <a:ext cx="5334000" cy="5336084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95625"/>
            <a:ext cx="502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86"/>
              </a:lnSpc>
              <a:buNone/>
            </a:pPr>
            <a:r>
              <a:rPr lang="en-US" sz="42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3800475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4400550"/>
            <a:ext cx="470916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documents, run interviews and intake workshops to map the landscape and exposure.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77000" y="2714625"/>
            <a:ext cx="5334000" cy="5336084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3095625"/>
            <a:ext cx="502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86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0" y="3800475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0" y="4400550"/>
            <a:ext cx="470916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FF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Co-create the solution with your teams through working sessions — priorities, target-state, options.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2039600" y="2714625"/>
            <a:ext cx="5334000" cy="5336084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12420600" y="3095625"/>
            <a:ext cx="502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86"/>
              </a:lnSpc>
              <a:buNone/>
            </a:pPr>
            <a:r>
              <a:rPr lang="en-US" sz="42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420600" y="3800475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420600" y="4400550"/>
            <a:ext cx="470916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final report, executive presentation, final playback and next actions — ready to mobilise.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14400" y="8317409"/>
            <a:ext cx="16459200" cy="978991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18" name="Text 16"/>
          <p:cNvSpPr/>
          <p:nvPr/>
        </p:nvSpPr>
        <p:spPr>
          <a:xfrm>
            <a:off x="1200150" y="8526959"/>
            <a:ext cx="1371898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99730" y="8526959"/>
            <a:ext cx="14922764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weekend checkpoint after each phase confirms findings, manages scope and de-risks delivery — the cadence that reassures clients concerned about offshore delivery.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92871" y="9872663"/>
            <a:ext cx="13858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Model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8229600" y="4631382"/>
            <a:ext cx="10058400" cy="56556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987701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OF 3 — LIVE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914400" y="4549676"/>
            <a:ext cx="18105120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914400" y="5884962"/>
            <a:ext cx="115252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Regulatory-aligned advisory across cloud, data, AI, resilience and third-party risk.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264408" y="9872663"/>
            <a:ext cx="1747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Now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660327"/>
            <a:ext cx="16187738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 has moved from a compliance footnote to a board-level operating question: can we keep running — and keep control of our data and systems — if regulatory or geopolitical conditions change?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914400" y="2638425"/>
            <a:ext cx="181051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DEADLINES CONVERGING IN 2026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914400" y="3067050"/>
            <a:ext cx="5334000" cy="480744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67050"/>
            <a:ext cx="47625" cy="4807446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8" name="Text 6"/>
          <p:cNvSpPr/>
          <p:nvPr/>
        </p:nvSpPr>
        <p:spPr>
          <a:xfrm>
            <a:off x="1304925" y="4766816"/>
            <a:ext cx="5060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04925" y="5176391"/>
            <a:ext cx="506063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304925" y="5881241"/>
            <a:ext cx="506063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62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live supervisory cycle — first fines issued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77000" y="3067050"/>
            <a:ext cx="5334000" cy="480744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0" y="3067050"/>
            <a:ext cx="47625" cy="4807446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3" name="Text 11"/>
          <p:cNvSpPr/>
          <p:nvPr/>
        </p:nvSpPr>
        <p:spPr>
          <a:xfrm>
            <a:off x="6867525" y="4766816"/>
            <a:ext cx="5060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867525" y="5176391"/>
            <a:ext cx="506063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867525" y="5881241"/>
            <a:ext cx="506063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62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system obligations apply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2039600" y="3067050"/>
            <a:ext cx="5334000" cy="480744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39600" y="3067050"/>
            <a:ext cx="47625" cy="4807446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8" name="Text 16"/>
          <p:cNvSpPr/>
          <p:nvPr/>
        </p:nvSpPr>
        <p:spPr>
          <a:xfrm>
            <a:off x="12430125" y="4620220"/>
            <a:ext cx="5060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430125" y="5029795"/>
            <a:ext cx="506063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NIS2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2430125" y="5734645"/>
            <a:ext cx="473859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62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and first penalties; scope widens sharply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14400" y="8141196"/>
            <a:ext cx="1810512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EUCS, GAIA-X and hyperscaler-concentration concerns — and most enterprises have </a:t>
            </a:r>
            <a:pPr algn="l" indent="0" marL="0">
              <a:lnSpc>
                <a:spcPct val="122692"/>
              </a:lnSpc>
              <a:buNone/>
            </a:pPr>
            <a:r>
              <a:rPr lang="en-US" sz="16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single, agreed view across teams</a:t>
            </a:r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14400" y="8635454"/>
            <a:ext cx="16459200" cy="660946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0150" y="8825954"/>
            <a:ext cx="152856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response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42158" y="8825954"/>
            <a:ext cx="14060805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 1 offerings — Quick Sovereignty Posture Assessment, Sovereignty Readiness Assessment, and App Portfolio Mapping &amp; Roadmap.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264408" y="9872663"/>
            <a:ext cx="1747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Offerings at a Glance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660327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accounts start with A, then progress to B and/or C. They can also be sold as a bundle.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914400" y="2320826"/>
            <a:ext cx="2633365" cy="714375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6" name="Shape 4"/>
          <p:cNvSpPr/>
          <p:nvPr/>
        </p:nvSpPr>
        <p:spPr>
          <a:xfrm>
            <a:off x="3547765" y="2320826"/>
            <a:ext cx="4608463" cy="714375"/>
          </a:xfrm>
          <a:prstGeom prst="rect">
            <a:avLst/>
          </a:prstGeom>
          <a:solidFill>
            <a:srgbClr val="E54536"/>
          </a:solidFill>
          <a:ln/>
        </p:spPr>
      </p:sp>
      <p:sp>
        <p:nvSpPr>
          <p:cNvPr id="7" name="Text 5"/>
          <p:cNvSpPr/>
          <p:nvPr/>
        </p:nvSpPr>
        <p:spPr>
          <a:xfrm>
            <a:off x="3814465" y="2530376"/>
            <a:ext cx="42133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Quick Posture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156228" y="2320826"/>
            <a:ext cx="4608463" cy="714375"/>
          </a:xfrm>
          <a:prstGeom prst="rect">
            <a:avLst/>
          </a:prstGeom>
          <a:solidFill>
            <a:srgbClr val="E54536"/>
          </a:solidFill>
          <a:ln/>
        </p:spPr>
      </p:sp>
      <p:sp>
        <p:nvSpPr>
          <p:cNvPr id="9" name="Text 7"/>
          <p:cNvSpPr/>
          <p:nvPr/>
        </p:nvSpPr>
        <p:spPr>
          <a:xfrm>
            <a:off x="8422928" y="2530376"/>
            <a:ext cx="42133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Readiness Assessment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2764691" y="2320826"/>
            <a:ext cx="4608909" cy="714375"/>
          </a:xfrm>
          <a:prstGeom prst="rect">
            <a:avLst/>
          </a:prstGeom>
          <a:solidFill>
            <a:srgbClr val="E54536"/>
          </a:solidFill>
          <a:ln/>
        </p:spPr>
      </p:sp>
      <p:sp>
        <p:nvSpPr>
          <p:cNvPr id="11" name="Text 9"/>
          <p:cNvSpPr/>
          <p:nvPr/>
        </p:nvSpPr>
        <p:spPr>
          <a:xfrm>
            <a:off x="13031391" y="2530376"/>
            <a:ext cx="42137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App Portfolio Mapping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3035201"/>
            <a:ext cx="16459200" cy="1208484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3244751"/>
            <a:ext cx="2178966" cy="827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814465" y="3244751"/>
            <a:ext cx="4213317" cy="827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22928" y="3244751"/>
            <a:ext cx="4213317" cy="827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weeks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031391" y="3244751"/>
            <a:ext cx="4213777" cy="827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14400" y="4243685"/>
            <a:ext cx="16459200" cy="1707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4453235"/>
            <a:ext cx="2178966" cy="132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answered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814465" y="4453235"/>
            <a:ext cx="4213317" cy="132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we stand?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22928" y="4453235"/>
            <a:ext cx="4213317" cy="132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ready — and what will it cost?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031391" y="4453235"/>
            <a:ext cx="4213777" cy="132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we do with each app?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14400" y="5951637"/>
            <a:ext cx="16459200" cy="1208484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" y="6161187"/>
            <a:ext cx="2178966" cy="827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3814465" y="6161187"/>
            <a:ext cx="4213317" cy="827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wants a fast read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422928" y="6161187"/>
            <a:ext cx="4213317" cy="827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Committing budget &amp; mobilising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031391" y="6161187"/>
            <a:ext cx="4213777" cy="827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estate, unclear priorities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7160121"/>
            <a:ext cx="16459200" cy="12086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81100" y="7369671"/>
            <a:ext cx="2178966" cy="827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output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3814465" y="7369671"/>
            <a:ext cx="4213317" cy="827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snapshot + 30/60/90 plan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422928" y="7369671"/>
            <a:ext cx="4213317" cy="827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baseline + costed roadmap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031391" y="7369671"/>
            <a:ext cx="4213777" cy="827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 + wave roadmap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14400" y="8635454"/>
            <a:ext cx="16459200" cy="660946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1200150" y="8825954"/>
            <a:ext cx="1747647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natural progression: </a:t>
            </a:r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diagnostic → costed roadmap → application-level execution plan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5264408" y="9872663"/>
            <a:ext cx="1747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2155373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Sovereignty Posture Assessment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6083260" y="1143000"/>
            <a:ext cx="1290340" cy="485775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5" name="Text 3"/>
          <p:cNvSpPr/>
          <p:nvPr/>
        </p:nvSpPr>
        <p:spPr>
          <a:xfrm>
            <a:off x="16311860" y="1238250"/>
            <a:ext cx="90934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43075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in one week — before you commit budget.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14400" y="2403574"/>
            <a:ext cx="5482530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224"/>
            <a:ext cx="60307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14400" y="3060799"/>
            <a:ext cx="5647006" cy="2311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short, executive-focused advisory engagement that helps leadership understand where they stand on digital sovereignty, what regulations and market forces are creating urgency, and the immediate no-regret actions to take across cloud, data centre, data, AI, network, identity, resilience and third-party dependencies — in days, not months.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663630" y="2403574"/>
            <a:ext cx="5221635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1" name="Text 9"/>
          <p:cNvSpPr/>
          <p:nvPr/>
        </p:nvSpPr>
        <p:spPr>
          <a:xfrm>
            <a:off x="6663630" y="2651224"/>
            <a:ext cx="5743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TO CUSTOMER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663630" y="30607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87480" y="30607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leadership clarity before they commit budget — a fast, board-ready read on exposure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63630" y="37465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87480" y="37465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through the confusion between "data residency" and true sovereignty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63630" y="44323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87480" y="44323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 single common view across teams hearing DORA / EU AI Act / NIS2 separately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63630" y="5118199"/>
            <a:ext cx="266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87480" y="5118199"/>
            <a:ext cx="5299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hyperscaler and vendor-concentration risk early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63630" y="55372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87480" y="55372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 practical, prioritised path from awareness to action (30/60/90-day)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151965" y="2403574"/>
            <a:ext cx="5221486" cy="689282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3" name="Shape 21"/>
          <p:cNvSpPr/>
          <p:nvPr/>
        </p:nvSpPr>
        <p:spPr>
          <a:xfrm>
            <a:off x="12151965" y="2403574"/>
            <a:ext cx="5221486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24" name="Text 22"/>
          <p:cNvSpPr/>
          <p:nvPr/>
        </p:nvSpPr>
        <p:spPr>
          <a:xfrm>
            <a:off x="12418665" y="2651224"/>
            <a:ext cx="51568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PROBLEMS THIS SOLVES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2418665" y="3060799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know which workloads are sovereignty-sensitive."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2418665" y="3792141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"Different teams cite DORA / EU AI Act / EUCS — there's no single view."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2418665" y="4523482"/>
            <a:ext cx="5156895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"We're heavily dependent on one hyperscaler."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2418665" y="4974878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board is asking whether we can keep operating if conditions change."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124384" y="9872663"/>
            <a:ext cx="30011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43"/>
              </a:lnSpc>
              <a:buNone/>
            </a:pPr>
            <a:r>
              <a:rPr lang="en-US" sz="37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Posture Assessment — Deliverables, Scope &amp; Timeline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14400" y="1847850"/>
            <a:ext cx="7531298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95500"/>
            <a:ext cx="82844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914400" y="2905125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05075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0048" y="2524125"/>
            <a:ext cx="37673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Executive Snapshot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4400" y="3448050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4800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40048" y="3067050"/>
            <a:ext cx="332185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Issues (HRI) Risk Matrix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3990975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90925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0048" y="3609975"/>
            <a:ext cx="35634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30/60/90-Day Remediation Roadmap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4533900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33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40048" y="4152900"/>
            <a:ext cx="395940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&amp; Cloud Concentration Scorecard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4676775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0048" y="4695825"/>
            <a:ext cx="267143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Alignment View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712398" y="1847850"/>
            <a:ext cx="4197102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8712398" y="2095500"/>
            <a:ext cx="46168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8712398" y="2505075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9425" y="2524125"/>
            <a:ext cx="37953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read across 7 sovereignty lenses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12398" y="2895600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9425" y="2914650"/>
            <a:ext cx="38499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Interview- and document-based assessment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12398" y="3286125"/>
            <a:ext cx="2189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9425" y="3305175"/>
            <a:ext cx="269351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 hyperscaler / vendor concentration view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12398" y="3933825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69425" y="3952875"/>
            <a:ext cx="2868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30/60/90-day no-regret action list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3176200" y="1847850"/>
            <a:ext cx="4197251" cy="576262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76200" y="1847850"/>
            <a:ext cx="4197251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32" name="Text 30"/>
          <p:cNvSpPr/>
          <p:nvPr/>
        </p:nvSpPr>
        <p:spPr>
          <a:xfrm>
            <a:off x="13404800" y="2095500"/>
            <a:ext cx="41140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3404800" y="2505075"/>
            <a:ext cx="2318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674775" y="2524125"/>
            <a:ext cx="224715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Application-by-application migration planning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404800" y="3152775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674775" y="3171825"/>
            <a:ext cx="32176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legal interpretation of regulations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404800" y="3543300"/>
            <a:ext cx="2318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674775" y="3562350"/>
            <a:ext cx="20667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DORA / EU AI Act compliance programme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404800" y="4191000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674775" y="4210050"/>
            <a:ext cx="30543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cloud landing-zone design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4400" y="7915275"/>
            <a:ext cx="181051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PLAN — 1 WEEK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914400" y="8305800"/>
            <a:ext cx="5448300" cy="59055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43" name="Text 41"/>
          <p:cNvSpPr/>
          <p:nvPr/>
        </p:nvSpPr>
        <p:spPr>
          <a:xfrm>
            <a:off x="1143000" y="8458200"/>
            <a:ext cx="51545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95" kern="0" dirty="0">
                <a:solidFill>
                  <a:srgbClr val="FFFFFF"/>
                </a:solidFill>
                <a:highlight>
                  <a:srgbClr val="28282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UNDERSTAND </a:t>
            </a:r>
            <a:pPr algn="l" indent="0" marL="0">
              <a:buNone/>
            </a:pPr>
            <a:r>
              <a:rPr lang="en-US" sz="1575" spc="95" kern="0" dirty="0">
                <a:solidFill>
                  <a:srgbClr val="B4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1–2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6419850" y="8305800"/>
            <a:ext cx="5448300" cy="59055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45" name="Text 43"/>
          <p:cNvSpPr/>
          <p:nvPr/>
        </p:nvSpPr>
        <p:spPr>
          <a:xfrm>
            <a:off x="6648450" y="8458200"/>
            <a:ext cx="51545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95" kern="0" dirty="0">
                <a:solidFill>
                  <a:srgbClr val="FFFFFF"/>
                </a:solidFill>
                <a:highlight>
                  <a:srgbClr val="FF5E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IDEATE </a:t>
            </a:r>
            <a:pPr algn="l" indent="0" marL="0">
              <a:buNone/>
            </a:pPr>
            <a:r>
              <a:rPr lang="en-US" sz="1575" spc="95" kern="0" dirty="0">
                <a:solidFill>
                  <a:srgbClr val="FF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11925300" y="8305800"/>
            <a:ext cx="5448300" cy="59055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47" name="Text 45"/>
          <p:cNvSpPr/>
          <p:nvPr/>
        </p:nvSpPr>
        <p:spPr>
          <a:xfrm>
            <a:off x="12153900" y="8458200"/>
            <a:ext cx="51545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95" kern="0" dirty="0">
                <a:solidFill>
                  <a:srgbClr val="FFFFFF"/>
                </a:solidFill>
                <a:highlight>
                  <a:srgbClr val="28282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ACCELERATE </a:t>
            </a:r>
            <a:pPr algn="l" indent="0" marL="0">
              <a:buNone/>
            </a:pPr>
            <a:r>
              <a:rPr lang="en-US" sz="1575" spc="95" kern="0" dirty="0">
                <a:solidFill>
                  <a:srgbClr val="B4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4–5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914400" y="90297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anchors the Ideate phase with a single working session; weekend checkpoint confirms findings and recommends progression to B / C.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4124384" y="9872663"/>
            <a:ext cx="30011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A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B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0994008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 Readiness Assessment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5710743" y="1143000"/>
            <a:ext cx="1662857" cy="485775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5" name="Text 3"/>
          <p:cNvSpPr/>
          <p:nvPr/>
        </p:nvSpPr>
        <p:spPr>
          <a:xfrm>
            <a:off x="15939343" y="1238250"/>
            <a:ext cx="1281857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Weeks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43075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awareness to a defensible, costed plan.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14400" y="2403574"/>
            <a:ext cx="5482530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224"/>
            <a:ext cx="60307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14400" y="3060799"/>
            <a:ext cx="5647006" cy="2311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deeper advisory engagement that moves from awareness to an evidence-based readiness position — producing a detailed sovereignty risk register, agreed target-state principles, and a costed, sequenced remediation roadmap aligned to DORA, NIS2, the EU AI Act and EUCS. Builds on the Quick Posture Assessment or stands alone.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663630" y="2403574"/>
            <a:ext cx="5221635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1" name="Text 9"/>
          <p:cNvSpPr/>
          <p:nvPr/>
        </p:nvSpPr>
        <p:spPr>
          <a:xfrm>
            <a:off x="6663630" y="2651224"/>
            <a:ext cx="5743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TO CUSTOMER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663630" y="30607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87480" y="30607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defensible, evidence-based readiness baseline the board and regulators can trust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63630" y="37465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87480" y="37465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target-state sovereignty principles and guardrails — not just a risk list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63630" y="44323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87480" y="44323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costed, sequenced remediation roadmap tied to regulatory deadlines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63630" y="51181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87480" y="51181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vendor-concentration risk with a first-pass exit / multi-vendor strategy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63630" y="58039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87480" y="58039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cross-functional view aligning IT, security, legal and the business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151965" y="2403574"/>
            <a:ext cx="5221486" cy="689282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3" name="Shape 21"/>
          <p:cNvSpPr/>
          <p:nvPr/>
        </p:nvSpPr>
        <p:spPr>
          <a:xfrm>
            <a:off x="12151965" y="2403574"/>
            <a:ext cx="5221486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24" name="Text 22"/>
          <p:cNvSpPr/>
          <p:nvPr/>
        </p:nvSpPr>
        <p:spPr>
          <a:xfrm>
            <a:off x="12418665" y="2651224"/>
            <a:ext cx="51568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PROBLEMS THIS SOLVES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2418665" y="3060799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a high-level view but no detailed, evidence-backed risk register."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2418665" y="3792141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no agreed sovereignty principles or target architecture."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2418665" y="4523482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can't size or sequence remediation — what comes first, and what does it cost?"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2418665" y="5254823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need something audit- and board-defensible ahead of 2026 deadlines."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113818" y="9872663"/>
            <a:ext cx="30127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B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43"/>
              </a:lnSpc>
              <a:buNone/>
            </a:pPr>
            <a:r>
              <a:rPr lang="en-US" sz="37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Assessment — Deliverables, Scope &amp; Timeline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14400" y="1847850"/>
            <a:ext cx="7531298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95500"/>
            <a:ext cx="82844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914400" y="2905125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05075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0048" y="2524125"/>
            <a:ext cx="333504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Sovereignty Risk Register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4400" y="3448050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4800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40048" y="3067050"/>
            <a:ext cx="46624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 vs. Target-State Assessment (7 Lenses)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3990975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90925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0048" y="3609975"/>
            <a:ext cx="40509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 Target Principles &amp; Guardrails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4533900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33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40048" y="4152900"/>
            <a:ext cx="427150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Costed 12–18 Month Remediation Roadmap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4676775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0048" y="4695825"/>
            <a:ext cx="43492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Alignment Mapping + Exit Options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712398" y="1847850"/>
            <a:ext cx="4197102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8712398" y="2095500"/>
            <a:ext cx="46168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8712398" y="2505075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9425" y="2524125"/>
            <a:ext cx="36209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across all 7 sovereignty lenses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12398" y="2895600"/>
            <a:ext cx="2189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9425" y="2914650"/>
            <a:ext cx="288252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 with IT, security, legal and business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12398" y="3543300"/>
            <a:ext cx="2189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9425" y="3562350"/>
            <a:ext cx="294491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 &amp; landing-zone maturity review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12398" y="4191000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69425" y="4210050"/>
            <a:ext cx="40135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concentration &amp; first-pass exit analysis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3176200" y="1847850"/>
            <a:ext cx="4197251" cy="576262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76200" y="1847850"/>
            <a:ext cx="4197251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32" name="Text 30"/>
          <p:cNvSpPr/>
          <p:nvPr/>
        </p:nvSpPr>
        <p:spPr>
          <a:xfrm>
            <a:off x="13404800" y="2095500"/>
            <a:ext cx="41140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3404800" y="2505075"/>
            <a:ext cx="2318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674775" y="2524125"/>
            <a:ext cx="240565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legal opinions or formal compliance certification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404800" y="3152775"/>
            <a:ext cx="2318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674775" y="3171825"/>
            <a:ext cx="259675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landing-zone build or migration execution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404800" y="3800475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674775" y="3819525"/>
            <a:ext cx="16647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testing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404800" y="4191000"/>
            <a:ext cx="2318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674775" y="4210050"/>
            <a:ext cx="319569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renegotiation / procurement implementation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4400" y="7915275"/>
            <a:ext cx="181051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PLAN — 4–8 WEEKS (REPRESENTATIVE 6-WEEK PLAN)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914400" y="8305800"/>
            <a:ext cx="5448300" cy="59055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43" name="Text 41"/>
          <p:cNvSpPr/>
          <p:nvPr/>
        </p:nvSpPr>
        <p:spPr>
          <a:xfrm>
            <a:off x="1143000" y="8458200"/>
            <a:ext cx="51545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95" kern="0" dirty="0">
                <a:solidFill>
                  <a:srgbClr val="FFFFFF"/>
                </a:solidFill>
                <a:highlight>
                  <a:srgbClr val="28282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UNDERSTAND </a:t>
            </a:r>
            <a:pPr algn="l" indent="0" marL="0">
              <a:buNone/>
            </a:pPr>
            <a:r>
              <a:rPr lang="en-US" sz="1575" spc="95" kern="0" dirty="0">
                <a:solidFill>
                  <a:srgbClr val="B4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6419850" y="8305800"/>
            <a:ext cx="8172450" cy="59055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45" name="Text 43"/>
          <p:cNvSpPr/>
          <p:nvPr/>
        </p:nvSpPr>
        <p:spPr>
          <a:xfrm>
            <a:off x="6648450" y="8458200"/>
            <a:ext cx="79604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95" kern="0" dirty="0">
                <a:solidFill>
                  <a:srgbClr val="FFFFFF"/>
                </a:solidFill>
                <a:highlight>
                  <a:srgbClr val="FF5E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IDEATE </a:t>
            </a:r>
            <a:pPr algn="l" indent="0" marL="0">
              <a:buNone/>
            </a:pPr>
            <a:r>
              <a:rPr lang="en-US" sz="1575" spc="95" kern="0" dirty="0">
                <a:solidFill>
                  <a:srgbClr val="FF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3–5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14649450" y="8305800"/>
            <a:ext cx="2724150" cy="59055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47" name="Text 45"/>
          <p:cNvSpPr/>
          <p:nvPr/>
        </p:nvSpPr>
        <p:spPr>
          <a:xfrm>
            <a:off x="14878050" y="8458200"/>
            <a:ext cx="23486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95" kern="0" dirty="0">
                <a:solidFill>
                  <a:srgbClr val="FFFFFF"/>
                </a:solidFill>
                <a:highlight>
                  <a:srgbClr val="28282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ACCELERATE </a:t>
            </a:r>
            <a:pPr algn="l" indent="0" marL="0">
              <a:buNone/>
            </a:pPr>
            <a:r>
              <a:rPr lang="en-US" sz="1575" spc="95" kern="0" dirty="0">
                <a:solidFill>
                  <a:srgbClr val="B4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6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914400" y="90297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delivery workstreams run in parallel with three workshops and a weekend checkpoint each week; scales from 4 to 8 weeks.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4113818" y="9872663"/>
            <a:ext cx="301277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B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C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0604703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Portfolio Mapping &amp; Roadmap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5710743" y="1143000"/>
            <a:ext cx="1662857" cy="485775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5" name="Text 3"/>
          <p:cNvSpPr/>
          <p:nvPr/>
        </p:nvSpPr>
        <p:spPr>
          <a:xfrm>
            <a:off x="15939343" y="1238250"/>
            <a:ext cx="1281857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43075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broad estate into a fundable, sequenced plan.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14400" y="2403574"/>
            <a:ext cx="5482530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224"/>
            <a:ext cx="60307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14400" y="3060799"/>
            <a:ext cx="5647006" cy="1986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advisory engagement that inventories and maps the application portfolio against sovereignty, business-criticality and modernization lenses — producing a clear disposition per application (retain, re-region, re-host, re-platform, replace, retire) and a prioritised, wave-based roadmap that leadership can fund and delivery teams can execute.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663630" y="2403574"/>
            <a:ext cx="5221635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1" name="Text 9"/>
          <p:cNvSpPr/>
          <p:nvPr/>
        </p:nvSpPr>
        <p:spPr>
          <a:xfrm>
            <a:off x="6663630" y="2651224"/>
            <a:ext cx="5743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TO CUSTOMER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663630" y="30607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87480" y="30607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prioritised view of the application estate against sovereignty and criticality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63630" y="37465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87480" y="37465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disposition per app — the "6 Rs" mapped to sovereignty need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63630" y="44323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87480" y="44323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sequenced, wave-based roadmap that de-risks migration and modernization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63630" y="51181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87480" y="51181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identification of sovereignty-sensitive and high-criticality apps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63630" y="5803999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87480" y="5803999"/>
            <a:ext cx="50447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effort, complexity and cost bands — a ready input to the business case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151965" y="2403574"/>
            <a:ext cx="5221486" cy="689282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3" name="Shape 21"/>
          <p:cNvSpPr/>
          <p:nvPr/>
        </p:nvSpPr>
        <p:spPr>
          <a:xfrm>
            <a:off x="12151965" y="2403574"/>
            <a:ext cx="5221486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24" name="Text 22"/>
          <p:cNvSpPr/>
          <p:nvPr/>
        </p:nvSpPr>
        <p:spPr>
          <a:xfrm>
            <a:off x="12418665" y="2651224"/>
            <a:ext cx="51568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PROBLEMS THIS SOLVES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2418665" y="3060799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hundreds of apps and no view of which are sovereignty-sensitive."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2418665" y="3792141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know what to migrate, re-region, replace or retire — or in what order."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2418665" y="4523482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"Business criticality and data sensitivity aren't mapped to our applications."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2418665" y="5254823"/>
            <a:ext cx="482872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can't build a credible business case for the estate."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103251" y="9872663"/>
            <a:ext cx="30243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C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C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43"/>
              </a:lnSpc>
              <a:buNone/>
            </a:pPr>
            <a:r>
              <a:rPr lang="en-US" sz="37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Portfolio Mapping — Deliverables, Scope &amp; Timeline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14400" y="1847850"/>
            <a:ext cx="7531298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95500"/>
            <a:ext cx="82844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914400" y="2905125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05075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0048" y="2524125"/>
            <a:ext cx="32033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Inventory &amp; Data Map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4400" y="3448050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4800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40048" y="3067050"/>
            <a:ext cx="32148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 &amp; Criticality Heatmap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3990975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90925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0048" y="3609975"/>
            <a:ext cx="32268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Per-Application Disposition (6 Rs)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4533900"/>
            <a:ext cx="7531298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33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40048" y="4152900"/>
            <a:ext cx="36391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Wave-Based Modernization Roadmap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4676775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0048" y="4695825"/>
            <a:ext cx="34866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Effort / Cost Bands (ROM)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712398" y="1847850"/>
            <a:ext cx="4197102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8712398" y="2095500"/>
            <a:ext cx="46168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8712398" y="2505075"/>
            <a:ext cx="2189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9425" y="2524125"/>
            <a:ext cx="301052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inventory consolidation from CMDB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12398" y="3152775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9425" y="3171825"/>
            <a:ext cx="31406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Criticality &amp; data-sensitivity mapping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12398" y="3543300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9425" y="3562350"/>
            <a:ext cx="3904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/ jurisdiction mapping; 6R disposition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12398" y="3933825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69425" y="3952875"/>
            <a:ext cx="38936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sequencing; ROM effort / cost banding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3176200" y="1847850"/>
            <a:ext cx="4197251" cy="576262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76200" y="1847850"/>
            <a:ext cx="4197251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32" name="Text 30"/>
          <p:cNvSpPr/>
          <p:nvPr/>
        </p:nvSpPr>
        <p:spPr>
          <a:xfrm>
            <a:off x="13404800" y="2095500"/>
            <a:ext cx="41140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3404800" y="2505075"/>
            <a:ext cx="2318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674775" y="2524125"/>
            <a:ext cx="282488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application discovery or code analysis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404800" y="3152775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674775" y="3171825"/>
            <a:ext cx="26682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TCO / business-case build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404800" y="3543300"/>
            <a:ext cx="2318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674775" y="3562350"/>
            <a:ext cx="214119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migration / modernization execution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404800" y="4191000"/>
            <a:ext cx="2318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674775" y="4210050"/>
            <a:ext cx="191913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negotiation; performance testing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4400" y="7915275"/>
            <a:ext cx="181051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PLAN — 4–6 WEEKS (REPRESENTATIVE 5-WEEK PLAN)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914400" y="8305800"/>
            <a:ext cx="6537871" cy="59055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43" name="Text 41"/>
          <p:cNvSpPr/>
          <p:nvPr/>
        </p:nvSpPr>
        <p:spPr>
          <a:xfrm>
            <a:off x="1143000" y="8458200"/>
            <a:ext cx="62768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95" kern="0" dirty="0">
                <a:solidFill>
                  <a:srgbClr val="FFFFFF"/>
                </a:solidFill>
                <a:highlight>
                  <a:srgbClr val="28282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UNDERSTAND </a:t>
            </a:r>
            <a:pPr algn="l" indent="0" marL="0">
              <a:buNone/>
            </a:pPr>
            <a:r>
              <a:rPr lang="en-US" sz="1575" spc="95" kern="0" dirty="0">
                <a:solidFill>
                  <a:srgbClr val="B4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7509421" y="8305800"/>
            <a:ext cx="6538020" cy="59055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45" name="Text 43"/>
          <p:cNvSpPr/>
          <p:nvPr/>
        </p:nvSpPr>
        <p:spPr>
          <a:xfrm>
            <a:off x="7738021" y="8458200"/>
            <a:ext cx="62769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95" kern="0" dirty="0">
                <a:solidFill>
                  <a:srgbClr val="FFFFFF"/>
                </a:solidFill>
                <a:highlight>
                  <a:srgbClr val="FF5E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IDEATE </a:t>
            </a:r>
            <a:pPr algn="l" indent="0" marL="0">
              <a:buNone/>
            </a:pPr>
            <a:r>
              <a:rPr lang="en-US" sz="1575" spc="95" kern="0" dirty="0">
                <a:solidFill>
                  <a:srgbClr val="FF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3–4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14104590" y="8305800"/>
            <a:ext cx="3269010" cy="59055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47" name="Text 45"/>
          <p:cNvSpPr/>
          <p:nvPr/>
        </p:nvSpPr>
        <p:spPr>
          <a:xfrm>
            <a:off x="14333190" y="8458200"/>
            <a:ext cx="29098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95" kern="0" dirty="0">
                <a:solidFill>
                  <a:srgbClr val="FFFFFF"/>
                </a:solidFill>
                <a:highlight>
                  <a:srgbClr val="28282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ACCELERATE </a:t>
            </a:r>
            <a:pPr algn="l" indent="0" marL="0">
              <a:buNone/>
            </a:pPr>
            <a:r>
              <a:rPr lang="en-US" sz="1575" spc="95" kern="0" dirty="0">
                <a:solidFill>
                  <a:srgbClr val="B4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5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914400" y="90297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workstreams span the phases, with two application-owner workshops and a weekend checkpoint each week.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4103251" y="9872663"/>
            <a:ext cx="30243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— Offering C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Offering, When — and Next Steps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1888927"/>
            <a:ext cx="5334000" cy="2160984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88927"/>
            <a:ext cx="5334000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212777"/>
            <a:ext cx="51968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429"/>
              </a:lnSpc>
              <a:buNone/>
            </a:pPr>
            <a:r>
              <a:rPr lang="en-US" sz="30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19200" y="2708077"/>
            <a:ext cx="51968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Posture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19200" y="3184327"/>
            <a:ext cx="486613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board wants a fast, low-commitment read on exposure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477000" y="1888927"/>
            <a:ext cx="5334000" cy="2160984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77000" y="1888927"/>
            <a:ext cx="5334000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1" name="Text 9"/>
          <p:cNvSpPr/>
          <p:nvPr/>
        </p:nvSpPr>
        <p:spPr>
          <a:xfrm>
            <a:off x="6781800" y="2212777"/>
            <a:ext cx="51968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429"/>
              </a:lnSpc>
              <a:buNone/>
            </a:pPr>
            <a:r>
              <a:rPr lang="en-US" sz="30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81800" y="2708077"/>
            <a:ext cx="51968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Assessment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781800" y="3184327"/>
            <a:ext cx="486613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it's time to commit budget and mobilise — needs an evidence baseline and costed roadmap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2039600" y="1888927"/>
            <a:ext cx="5334000" cy="2160984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39600" y="1888927"/>
            <a:ext cx="5334000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0" y="2212777"/>
            <a:ext cx="51968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429"/>
              </a:lnSpc>
              <a:buNone/>
            </a:pPr>
            <a:r>
              <a:rPr lang="en-US" sz="30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344400" y="2708077"/>
            <a:ext cx="51968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Portfolio Mapping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2344400" y="3184327"/>
            <a:ext cx="486613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estate is large and priorities are unclear — often in parallel with or after B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914400" y="4354711"/>
            <a:ext cx="181051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774383" y="4764286"/>
            <a:ext cx="5550218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that leads to action — we advise and can also deliver the remediation</a:t>
            </a:r>
            <a:endParaRPr lang="en-US" sz="1575" dirty="0"/>
          </a:p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Right-sized: roughly one-third of Tier-1 consulting fees, delivered largely offshore</a:t>
            </a:r>
            <a:endParaRPr lang="en-US" sz="1575" dirty="0"/>
          </a:p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Co-creation and weekly checkpoints keep you in control throughout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14400" y="8193584"/>
            <a:ext cx="16459200" cy="1102816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8441234"/>
            <a:ext cx="1137791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2452241" y="8441234"/>
            <a:ext cx="15055056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Offering A as the low-risk entry point on any account feeling regulatory or hyperscaler-concentration pressure — one week, board-ready output, natural path into B and C.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264408" y="9872663"/>
            <a:ext cx="1747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LTM for Digital Sovereignty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660327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pillar where our differentiation is unusually strong.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914400" y="3137892"/>
            <a:ext cx="1645920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20826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5181600" y="2339876"/>
            <a:ext cx="1255776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for regulated EU / UK enterprises navigating DORA, NIS2, the EU AI Act and EUCS — board-ready guidance ahead of live 2026 deadlines.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4477345"/>
            <a:ext cx="1645920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60279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partnerships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181600" y="3679329"/>
            <a:ext cx="1255776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 with OVHcloud for sovereign cloud &amp; AI in Europe; sovereign private cloud via Nutanix on OVHcloud; SUSE for a European open-source stack.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14400" y="5816798"/>
            <a:ext cx="1645920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999732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 in our DNA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181600" y="5018782"/>
            <a:ext cx="1255776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L&amp;T, which builds in-country data centres and sovereign gigawatt-scale AI-factory infrastructure — so we advise on sovereignty and can help build it.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14400" y="6852493"/>
            <a:ext cx="1645920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6339185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accelerators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5181600" y="6358235"/>
            <a:ext cx="12462495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7-Lens Sovereignty model and regulatory-aligned frameworks structure every engagement for speed and consistency.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14400" y="7374880"/>
            <a:ext cx="412051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+ jurisdictional + platform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181600" y="7393930"/>
            <a:ext cx="11937638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one roof — few competitors can span all three sides of sovereignty; we can. A differentiator, not a talking point.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14400" y="8573542"/>
            <a:ext cx="16459200" cy="722858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20" name="Text 18"/>
          <p:cNvSpPr/>
          <p:nvPr/>
        </p:nvSpPr>
        <p:spPr>
          <a:xfrm>
            <a:off x="1200150" y="8783092"/>
            <a:ext cx="1747647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b="1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pillar to lead with in Europe </a:t>
            </a:r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OVHcloud partnership and L&amp;T sovereign-infrastructure lineage make it hard to counter.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264408" y="9872663"/>
            <a:ext cx="1747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8229600" y="4631382"/>
            <a:ext cx="10058400" cy="56556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80532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OF 3 — LIVE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914400" y="4342507"/>
            <a:ext cx="18105120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914400" y="5677793"/>
            <a:ext cx="107918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workload placement, FinOps and AI infusion for the cloud you already own.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783074" y="9872663"/>
            <a:ext cx="11458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Now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660327"/>
            <a:ext cx="16187738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is no longer "lift everything to one hyperscaler." AI, cost pressure and sovereignty are forcing sharper decisions about what runs where — and how every dollar (and every token) is governed.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914400" y="2638425"/>
            <a:ext cx="5334000" cy="1912441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962275"/>
            <a:ext cx="511302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11"/>
              </a:lnSpc>
              <a:buNone/>
            </a:pPr>
            <a:r>
              <a:rPr lang="en-US" sz="48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~89%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57300" y="3667125"/>
            <a:ext cx="4787646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enterprises already run multicloud — hybrid is the default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6477000" y="2638425"/>
            <a:ext cx="5334000" cy="1912441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9" name="Text 7"/>
          <p:cNvSpPr/>
          <p:nvPr/>
        </p:nvSpPr>
        <p:spPr>
          <a:xfrm>
            <a:off x="6819900" y="2962275"/>
            <a:ext cx="511302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11"/>
              </a:lnSpc>
              <a:buNone/>
            </a:pPr>
            <a:r>
              <a:rPr lang="en-US" sz="48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19900" y="3667125"/>
            <a:ext cx="4787646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workloads is being rebalanced back to private / on-prem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2039600" y="2638425"/>
            <a:ext cx="5334000" cy="1912441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0" y="2962275"/>
            <a:ext cx="511302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11"/>
              </a:lnSpc>
              <a:buNone/>
            </a:pPr>
            <a:r>
              <a:rPr lang="en-US" sz="48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~98%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2382500" y="3667125"/>
            <a:ext cx="4787646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FinOps teams now manage AI spend, not just cloud cost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914400" y="4893766"/>
            <a:ext cx="181051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RESHAPING CLOUD STRATEGY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914400" y="5322391"/>
            <a:ext cx="38100" cy="869752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22391"/>
            <a:ext cx="5265420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exposing the limits of cloud strategy </a:t>
            </a:r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data gravity, latency and cost are reshaping where workloads should run.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6477000" y="5322391"/>
            <a:ext cx="38100" cy="869752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8" name="Text 16"/>
          <p:cNvSpPr/>
          <p:nvPr/>
        </p:nvSpPr>
        <p:spPr>
          <a:xfrm>
            <a:off x="6705600" y="5322391"/>
            <a:ext cx="5265420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Repatriation is real </a:t>
            </a:r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cost, latency and sovereignty are pulling workloads back from public cloud.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2039600" y="5322391"/>
            <a:ext cx="38100" cy="869752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20" name="Text 18"/>
          <p:cNvSpPr/>
          <p:nvPr/>
        </p:nvSpPr>
        <p:spPr>
          <a:xfrm>
            <a:off x="12268200" y="5322391"/>
            <a:ext cx="5265420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has expanded to AI </a:t>
            </a:r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governance and forecasting now outrank pure optimisation.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14400" y="8635454"/>
            <a:ext cx="16459200" cy="660946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22" name="Text 20"/>
          <p:cNvSpPr/>
          <p:nvPr/>
        </p:nvSpPr>
        <p:spPr>
          <a:xfrm>
            <a:off x="1200150" y="8825954"/>
            <a:ext cx="152856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response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2158" y="8825954"/>
            <a:ext cx="10954226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Level 1 offerings spanning placement, FinOps, AI infusion, strategy &amp; roadmap, and well-architected review.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783074" y="9872663"/>
            <a:ext cx="11458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Offerings at a Glance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660327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 and PC4 overlap deliberately — PC1 is the sharp placement decision, PC4 is the full adoption plan.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914400" y="2282726"/>
            <a:ext cx="1810494" cy="8763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6" name="Shape 4"/>
          <p:cNvSpPr/>
          <p:nvPr/>
        </p:nvSpPr>
        <p:spPr>
          <a:xfrm>
            <a:off x="2724894" y="2282726"/>
            <a:ext cx="2929682" cy="876300"/>
          </a:xfrm>
          <a:prstGeom prst="rect">
            <a:avLst/>
          </a:prstGeom>
          <a:solidFill>
            <a:srgbClr val="E54536"/>
          </a:solidFill>
          <a:ln/>
        </p:spPr>
      </p:sp>
      <p:sp>
        <p:nvSpPr>
          <p:cNvPr id="7" name="Text 5"/>
          <p:cNvSpPr/>
          <p:nvPr/>
        </p:nvSpPr>
        <p:spPr>
          <a:xfrm>
            <a:off x="2915394" y="2454176"/>
            <a:ext cx="263657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 · Right Cloud &amp; Placement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54576" y="2282726"/>
            <a:ext cx="2929682" cy="876300"/>
          </a:xfrm>
          <a:prstGeom prst="rect">
            <a:avLst/>
          </a:prstGeom>
          <a:solidFill>
            <a:srgbClr val="E54536"/>
          </a:solidFill>
          <a:ln/>
        </p:spPr>
      </p:sp>
      <p:sp>
        <p:nvSpPr>
          <p:cNvPr id="9" name="Text 7"/>
          <p:cNvSpPr/>
          <p:nvPr/>
        </p:nvSpPr>
        <p:spPr>
          <a:xfrm>
            <a:off x="5845076" y="2454176"/>
            <a:ext cx="263657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PC2 · FinOps Excellence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84257" y="2282726"/>
            <a:ext cx="2929682" cy="876300"/>
          </a:xfrm>
          <a:prstGeom prst="rect">
            <a:avLst/>
          </a:prstGeom>
          <a:solidFill>
            <a:srgbClr val="E54536"/>
          </a:solidFill>
          <a:ln/>
        </p:spPr>
      </p:sp>
      <p:sp>
        <p:nvSpPr>
          <p:cNvPr id="11" name="Text 9"/>
          <p:cNvSpPr/>
          <p:nvPr/>
        </p:nvSpPr>
        <p:spPr>
          <a:xfrm>
            <a:off x="8774757" y="2454176"/>
            <a:ext cx="263657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PC3 · AI Infusion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513939" y="2282726"/>
            <a:ext cx="2929682" cy="876300"/>
          </a:xfrm>
          <a:prstGeom prst="rect">
            <a:avLst/>
          </a:prstGeom>
          <a:solidFill>
            <a:srgbClr val="E54536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439" y="2454176"/>
            <a:ext cx="263657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PC4 · Strategy &amp; Roadmap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443621" y="2282726"/>
            <a:ext cx="2929979" cy="876300"/>
          </a:xfrm>
          <a:prstGeom prst="rect">
            <a:avLst/>
          </a:prstGeom>
          <a:solidFill>
            <a:srgbClr val="E54536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4121" y="2454176"/>
            <a:ext cx="263687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PC5 · Well-Architected Review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3159026"/>
            <a:ext cx="16459200" cy="1010245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3330476"/>
            <a:ext cx="1505694" cy="705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15394" y="3330476"/>
            <a:ext cx="2636572" cy="705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weeks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45076" y="3330476"/>
            <a:ext cx="2636572" cy="705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4757" y="3330476"/>
            <a:ext cx="2636572" cy="705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weeks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04439" y="3330476"/>
            <a:ext cx="2636572" cy="705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4121" y="3330476"/>
            <a:ext cx="2636879" cy="705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weeks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4169271"/>
            <a:ext cx="16459200" cy="1452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04900" y="4340721"/>
            <a:ext cx="1505694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answered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15394" y="4340721"/>
            <a:ext cx="2636572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cloud — and where does each workload run?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45076" y="4340721"/>
            <a:ext cx="2636572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 cloud &amp; AI spend?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74757" y="4340721"/>
            <a:ext cx="2636572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can AI add value on our cloud?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704439" y="4340721"/>
            <a:ext cx="2636572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adoption plan?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4121" y="4340721"/>
            <a:ext cx="2636879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our infra well-architected?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5621536"/>
            <a:ext cx="16459200" cy="1294507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31" name="Text 29"/>
          <p:cNvSpPr/>
          <p:nvPr/>
        </p:nvSpPr>
        <p:spPr>
          <a:xfrm>
            <a:off x="1104900" y="5792986"/>
            <a:ext cx="1505694" cy="989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915394" y="5792986"/>
            <a:ext cx="2636572" cy="989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Contemplating / rebalancing cloud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45076" y="5792986"/>
            <a:ext cx="2636572" cy="989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or opaque cloud bills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74757" y="5792986"/>
            <a:ext cx="2636572" cy="989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cloud, under-using AI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704439" y="5792986"/>
            <a:ext cx="2636572" cy="989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end-to-end adoption plan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634121" y="5792986"/>
            <a:ext cx="2636879" cy="989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workloads needing health-check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14400" y="6916043"/>
            <a:ext cx="16459200" cy="14527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104900" y="7087493"/>
            <a:ext cx="1505694" cy="1147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output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915394" y="7087493"/>
            <a:ext cx="2636572" cy="1147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heatmap + anchor-cloud stance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845076" y="7087493"/>
            <a:ext cx="2636572" cy="1147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baseline + savings + practice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774757" y="7087493"/>
            <a:ext cx="2636572" cy="1147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opportunity map + first wave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1704439" y="7087493"/>
            <a:ext cx="2636572" cy="1147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+ phased migration roadmap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4634121" y="7087493"/>
            <a:ext cx="2636879" cy="1147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+ remediation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14400" y="8635454"/>
            <a:ext cx="16459200" cy="660946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45" name="Text 43"/>
          <p:cNvSpPr/>
          <p:nvPr/>
        </p:nvSpPr>
        <p:spPr>
          <a:xfrm>
            <a:off x="1200150" y="8825954"/>
            <a:ext cx="1747647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Cross-sell: </a:t>
            </a:r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 and AI Act lenses run through every offering — a natural cross-sell into the Digital Sovereignty pillar.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5783074" y="9872663"/>
            <a:ext cx="11458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— PC1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319461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32"/>
              </a:lnSpc>
              <a:buNone/>
            </a:pPr>
            <a:r>
              <a:rPr lang="en-US" sz="39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Cloud Strategy &amp; Workload Placement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5710743" y="1123950"/>
            <a:ext cx="1662857" cy="485775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5" name="Text 3"/>
          <p:cNvSpPr/>
          <p:nvPr/>
        </p:nvSpPr>
        <p:spPr>
          <a:xfrm>
            <a:off x="15939343" y="1219200"/>
            <a:ext cx="1281857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Weeks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24025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cloud, and the right home for every workload.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14400" y="2384524"/>
            <a:ext cx="5482530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32174"/>
            <a:ext cx="60307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14400" y="3022699"/>
            <a:ext cx="5647006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customers decide their right primary (anchor) cloud, the deliberate balance across multiple clouds, and where each workload should live — weighed across value, resilience, compliance / sovereignty, latency and data gravity.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4861024"/>
            <a:ext cx="5482530" cy="1341834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11" name="Text 9"/>
          <p:cNvSpPr/>
          <p:nvPr/>
        </p:nvSpPr>
        <p:spPr>
          <a:xfrm>
            <a:off x="1162050" y="5070574"/>
            <a:ext cx="54859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2050" y="5413474"/>
            <a:ext cx="5136847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contemplating their first serious cloud move, or rebalancing an existing multicloud estate.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6663630" y="2384524"/>
            <a:ext cx="5221635" cy="691187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663630" y="2384524"/>
            <a:ext cx="5221635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15" name="Text 13"/>
          <p:cNvSpPr/>
          <p:nvPr/>
        </p:nvSpPr>
        <p:spPr>
          <a:xfrm>
            <a:off x="6930330" y="2632174"/>
            <a:ext cx="51570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SOLVES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930330" y="3041749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real rationale for our primary cloud — chosen by inertia or one team."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930330" y="3793034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"Accidentally multicloud, paying for complexity never designed."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930330" y="4544318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know which workloads should be public vs. private vs. repatriated."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2151965" y="2384524"/>
            <a:ext cx="5221486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51965" y="2632174"/>
            <a:ext cx="57436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2151965" y="3445073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12151965" y="3051274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2545913" y="3060799"/>
            <a:ext cx="452290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Placement Decision Framework (weighted)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2151965" y="3991273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12151965" y="3597473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2545913" y="3606998"/>
            <a:ext cx="46493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Anchor-cloud &amp; multicloud stance recommendation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2151965" y="4537472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12151965" y="4143673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2545913" y="4153198"/>
            <a:ext cx="27903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Placement Heatmap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2151965" y="5083671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/>
          <p:nvPr/>
        </p:nvSpPr>
        <p:spPr>
          <a:xfrm>
            <a:off x="12151965" y="4689872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2545913" y="4699397"/>
            <a:ext cx="39051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Cloud Operating Model &amp; guardrails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12151965" y="5236071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2545913" y="5245596"/>
            <a:ext cx="278226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 &amp; exit-risk assessment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116175" y="9872663"/>
            <a:ext cx="19101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— PC1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— PC2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212410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32"/>
              </a:lnSpc>
              <a:buNone/>
            </a:pPr>
            <a:r>
              <a:rPr lang="en-US" sz="39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Excellence (Cultural + Technical)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5710743" y="1123950"/>
            <a:ext cx="1662857" cy="485775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5" name="Text 3"/>
          <p:cNvSpPr/>
          <p:nvPr/>
        </p:nvSpPr>
        <p:spPr>
          <a:xfrm>
            <a:off x="15939343" y="1219200"/>
            <a:ext cx="1281857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24025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 for every dollar — and every token — on cloud.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14400" y="2384524"/>
            <a:ext cx="5482530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32174"/>
            <a:ext cx="60307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14400" y="3022699"/>
            <a:ext cx="5647006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the technical (usage analysis, bill reduction, optimisation) with the cultural (building a durable in-house FinOps practice) — starting with a maturity assessment, then a Crawl-Walk-Run path to elevate it.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4546699"/>
            <a:ext cx="5482530" cy="1341834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11" name="Text 9"/>
          <p:cNvSpPr/>
          <p:nvPr/>
        </p:nvSpPr>
        <p:spPr>
          <a:xfrm>
            <a:off x="1162050" y="4756249"/>
            <a:ext cx="54859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2050" y="5099149"/>
            <a:ext cx="5136847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with rising or opaque cloud bills and no durable FinOps culture or ownership.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6663630" y="2384524"/>
            <a:ext cx="5221635" cy="691187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663630" y="2384524"/>
            <a:ext cx="5221635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15" name="Text 13"/>
          <p:cNvSpPr/>
          <p:nvPr/>
        </p:nvSpPr>
        <p:spPr>
          <a:xfrm>
            <a:off x="6930330" y="2632174"/>
            <a:ext cx="51570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SOLVES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930330" y="3041749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"Cloud bill keeps rising and can't be explained or forecast."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930330" y="3793034"/>
            <a:ext cx="5157058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"Unallocated waste with no showback / chargeback."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930330" y="4254401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/ GenAI spend is now material and completely ungoverned."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2151965" y="2384524"/>
            <a:ext cx="5221486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51965" y="2632174"/>
            <a:ext cx="57436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2151965" y="3445073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12151965" y="3051274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2545913" y="3060799"/>
            <a:ext cx="35953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Maturity Assessment (5 stages)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2151965" y="3991273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12151965" y="3597473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2545913" y="3606998"/>
            <a:ext cx="4408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Bill &amp; Usage Analysis with $ impact bands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2151965" y="4537472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12151965" y="4143673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2545913" y="4153198"/>
            <a:ext cx="34392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Crawl–Walk–Run Elevation Roadmap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2151965" y="5083671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/>
          <p:nvPr/>
        </p:nvSpPr>
        <p:spPr>
          <a:xfrm>
            <a:off x="12151965" y="4689872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2545913" y="4699397"/>
            <a:ext cx="4111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Operating Model &amp; Practice Blueprint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12151965" y="5236071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2545913" y="5245596"/>
            <a:ext cx="39106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/ skills-gap plan + KPI scorecard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116175" y="9872663"/>
            <a:ext cx="19101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— PC2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— PC3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599509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32"/>
              </a:lnSpc>
              <a:buNone/>
            </a:pPr>
            <a:r>
              <a:rPr lang="en-US" sz="39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 Advisory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5710743" y="1123950"/>
            <a:ext cx="1662857" cy="485775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5" name="Text 3"/>
          <p:cNvSpPr/>
          <p:nvPr/>
        </p:nvSpPr>
        <p:spPr>
          <a:xfrm>
            <a:off x="15939343" y="1219200"/>
            <a:ext cx="1281857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Weeks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24025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cloud you already own into AI that moves the numbers.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14400" y="2384524"/>
            <a:ext cx="5482530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32174"/>
            <a:ext cx="60307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14400" y="3022699"/>
            <a:ext cx="5647006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high-value, low-friction AI and GenAI use cases, assesses cloud and data readiness to support them, and lays out a pragmatic, governed adoption path — built for organisations already on cloud but under-using it for AI.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4546699"/>
            <a:ext cx="5482530" cy="1341834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11" name="Text 9"/>
          <p:cNvSpPr/>
          <p:nvPr/>
        </p:nvSpPr>
        <p:spPr>
          <a:xfrm>
            <a:off x="1162050" y="4756249"/>
            <a:ext cx="54859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2050" y="5099149"/>
            <a:ext cx="5136847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already on cloud but under-using it for AI, or overwhelmed by scattered pilots.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6663630" y="2384524"/>
            <a:ext cx="5221635" cy="691187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663630" y="2384524"/>
            <a:ext cx="5221635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15" name="Text 13"/>
          <p:cNvSpPr/>
          <p:nvPr/>
        </p:nvSpPr>
        <p:spPr>
          <a:xfrm>
            <a:off x="6930330" y="2632174"/>
            <a:ext cx="51570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SOLVES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930330" y="3041749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 cloud but barely using it for AI — unclear where to start."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930330" y="3793034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"Scattered AI experiments with no prioritisation or business case."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930330" y="4544318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"Unclear if our data / cloud foundation can support AI at scale."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2151965" y="2384524"/>
            <a:ext cx="5221486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51965" y="2632174"/>
            <a:ext cx="57436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2151965" y="3445073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12151965" y="3051274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2545913" y="3060799"/>
            <a:ext cx="437053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 Opportunity Map (value / effort / risk)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2151965" y="3991273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12151965" y="3597473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2545913" y="3606998"/>
            <a:ext cx="368776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Data Readiness snapshot for AI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2151965" y="4537472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12151965" y="4143673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2545913" y="4153198"/>
            <a:ext cx="35150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Prioritised first-wave use-case shortlist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2151965" y="5083671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/>
          <p:nvPr/>
        </p:nvSpPr>
        <p:spPr>
          <a:xfrm>
            <a:off x="12151965" y="4689872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2545913" y="4699397"/>
            <a:ext cx="39969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enablement approach (build-buy-partner)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12151965" y="5236071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2545913" y="5245596"/>
            <a:ext cx="41568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Responsible-AI, cost &amp; sovereignty guardrails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116175" y="9872663"/>
            <a:ext cx="19101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— PC3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— PC4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188017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32"/>
              </a:lnSpc>
              <a:buNone/>
            </a:pPr>
            <a:r>
              <a:rPr lang="en-US" sz="39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Strategy Assessment &amp; Roadmap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5710743" y="1123950"/>
            <a:ext cx="1662857" cy="485775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5" name="Text 3"/>
          <p:cNvSpPr/>
          <p:nvPr/>
        </p:nvSpPr>
        <p:spPr>
          <a:xfrm>
            <a:off x="15939343" y="1219200"/>
            <a:ext cx="1281857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24025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credible, end-to-end plan to adopt and advance cloud.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14400" y="2384524"/>
            <a:ext cx="5482530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32174"/>
            <a:ext cx="60307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14400" y="3022699"/>
            <a:ext cx="5647006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assessment of cloud adoption readiness and current state, producing a clear cloud strategy and a migration / modernization roadmap with actionable Immediate / Short-term / Long-term plans.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4546699"/>
            <a:ext cx="5482530" cy="1341834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11" name="Text 9"/>
          <p:cNvSpPr/>
          <p:nvPr/>
        </p:nvSpPr>
        <p:spPr>
          <a:xfrm>
            <a:off x="1162050" y="4756249"/>
            <a:ext cx="54859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2050" y="5099149"/>
            <a:ext cx="5136847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who want a credible, end-to-end plan to adopt or advance cloud with confidence.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6663630" y="2384524"/>
            <a:ext cx="5221635" cy="691187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663630" y="2384524"/>
            <a:ext cx="5221635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15" name="Text 13"/>
          <p:cNvSpPr/>
          <p:nvPr/>
        </p:nvSpPr>
        <p:spPr>
          <a:xfrm>
            <a:off x="6930330" y="2632174"/>
            <a:ext cx="51570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SOLVES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930330" y="3041749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want to adopt or advance cloud but have no agreed strategy or roadmap."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930330" y="3793034"/>
            <a:ext cx="5157058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"Cloud efforts are fragmented and stalling."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930330" y="4254401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lack the foundations: landing zone, security, operating model, cost control."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2151965" y="2384524"/>
            <a:ext cx="5221486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51965" y="2632174"/>
            <a:ext cx="57436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2151965" y="3445073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12151965" y="3051274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2545913" y="3060799"/>
            <a:ext cx="42256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Readiness &amp; Current-State Assessment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2151965" y="3991273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12151965" y="3597473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2545913" y="3606998"/>
            <a:ext cx="39051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Cloud Strategy &amp; Guiding Principles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2151965" y="4537472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12151965" y="4143673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2545913" y="4153198"/>
            <a:ext cx="37332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Migration Approach (6R / 7R)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2151965" y="5083671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/>
          <p:nvPr/>
        </p:nvSpPr>
        <p:spPr>
          <a:xfrm>
            <a:off x="12151965" y="4689872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2545913" y="4699397"/>
            <a:ext cx="450052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Roadmap: Immediate / Short / Long-term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12151965" y="5236071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2545913" y="5245596"/>
            <a:ext cx="4117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recommendations + cost bands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116175" y="9872663"/>
            <a:ext cx="19101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— PC4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— PC5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0863367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32"/>
              </a:lnSpc>
              <a:buNone/>
            </a:pPr>
            <a:r>
              <a:rPr lang="en-US" sz="39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Well-Architected Review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5710743" y="1123950"/>
            <a:ext cx="1662857" cy="485775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5" name="Text 3"/>
          <p:cNvSpPr/>
          <p:nvPr/>
        </p:nvSpPr>
        <p:spPr>
          <a:xfrm>
            <a:off x="15939343" y="1219200"/>
            <a:ext cx="1281857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Weeks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24025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six-pillar health-check of infra &amp; workloads, accelerated by AI.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14400" y="2384524"/>
            <a:ext cx="5482530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32174"/>
            <a:ext cx="60307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14400" y="3022699"/>
            <a:ext cx="5647006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Assesses cloud infrastructure and priority workloads against hyperscaler well-architected principles — Reliability, Security, Cost, Operations, Performance and Sustainability — with AI-assisted analysis accelerating and broadening coverage.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4861024"/>
            <a:ext cx="5482530" cy="1341834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11" name="Text 9"/>
          <p:cNvSpPr/>
          <p:nvPr/>
        </p:nvSpPr>
        <p:spPr>
          <a:xfrm>
            <a:off x="1162050" y="5070574"/>
            <a:ext cx="54859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2050" y="5413474"/>
            <a:ext cx="5136847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workloads needing an objective, fast, broad-coverage architecture health-check.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6663630" y="2384524"/>
            <a:ext cx="5221635" cy="691187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663630" y="2384524"/>
            <a:ext cx="5221635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15" name="Text 13"/>
          <p:cNvSpPr/>
          <p:nvPr/>
        </p:nvSpPr>
        <p:spPr>
          <a:xfrm>
            <a:off x="6930330" y="2632174"/>
            <a:ext cx="51570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SOLVES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930330" y="3041749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know if workloads actually follow cloud best practice."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930330" y="3793034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suspect over-spend, fragility or security gaps but can't pinpoint them."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930330" y="4544318"/>
            <a:ext cx="482888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"Manual well-architected reviews are slow and only cover a sample."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2151965" y="2384524"/>
            <a:ext cx="5221486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51965" y="2632174"/>
            <a:ext cx="57436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2151965" y="3445073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12151965" y="3051274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2545913" y="3060799"/>
            <a:ext cx="35340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Well-Architected Scorecard (six pillars)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2151965" y="3991273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12151965" y="3597473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2545913" y="3606998"/>
            <a:ext cx="32288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Prioritised Findings &amp; Risk Register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2151965" y="4537472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12151965" y="4143673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2545913" y="4153198"/>
            <a:ext cx="312671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Remediation Roadmap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2151965" y="5083671"/>
            <a:ext cx="5221486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/>
          <p:nvPr/>
        </p:nvSpPr>
        <p:spPr>
          <a:xfrm>
            <a:off x="12151965" y="4689872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2545913" y="4699397"/>
            <a:ext cx="37783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Cost-optimization &amp; security quick-win list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12151965" y="5236071"/>
            <a:ext cx="31774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2545913" y="5245596"/>
            <a:ext cx="32295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sustainability observations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116175" y="9872663"/>
            <a:ext cx="19101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— PC5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8229600" y="4631382"/>
            <a:ext cx="10058400" cy="56556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80532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OF 3 — LIVE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914400" y="4342507"/>
            <a:ext cx="18105120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914400" y="5677793"/>
            <a:ext cx="1226343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cloud, edge computing and the on-premise data centre — modernised for an AI-, cost- and sovereignty-driven era.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264557" y="9872663"/>
            <a:ext cx="174695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1630516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 — Pillar Overview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6444466" y="1143000"/>
            <a:ext cx="929134" cy="485775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5" name="Text 3"/>
          <p:cNvSpPr/>
          <p:nvPr/>
        </p:nvSpPr>
        <p:spPr>
          <a:xfrm>
            <a:off x="16673066" y="1238250"/>
            <a:ext cx="548134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43075"/>
            <a:ext cx="1810512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estate that stays close to the business.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14400" y="2403574"/>
            <a:ext cx="8096250" cy="3810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224"/>
            <a:ext cx="89058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COVERS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14400" y="3041749"/>
            <a:ext cx="833913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across the infrastructure that stays close to the business — private cloud, edge computing and the on-premise data centre — modernised for an AI-, cost- and sovereignty-driven era.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4251424"/>
            <a:ext cx="8096250" cy="38100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99074"/>
            <a:ext cx="89058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OFFERINGS UNDER THIS PILLAR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914400" y="5308699"/>
            <a:ext cx="80962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908649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0998" y="4927699"/>
            <a:ext cx="43184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 &amp; VMware-Alternative Advisory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5851624"/>
            <a:ext cx="80962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451574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0998" y="5470624"/>
            <a:ext cx="47229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 Strategy &amp; Workload Placement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5994499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0998" y="6013549"/>
            <a:ext cx="399481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Centre Modernization / Exit Advisory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277350" y="2403574"/>
            <a:ext cx="8096250" cy="283071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9277350" y="2403574"/>
            <a:ext cx="8096250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22" name="Text 20"/>
          <p:cNvSpPr/>
          <p:nvPr/>
        </p:nvSpPr>
        <p:spPr>
          <a:xfrm>
            <a:off x="9544050" y="2651224"/>
            <a:ext cx="83191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OF THE HOUR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544050" y="3060799"/>
            <a:ext cx="276225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00"/>
              </a:lnSpc>
              <a:buNone/>
            </a:pPr>
            <a:r>
              <a:rPr lang="en-US" sz="157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9877425" y="3060799"/>
            <a:ext cx="7446359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~76% of CIOs are negative on Broadcom's VMware changes; ~67% are pursuing alternatives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9544050" y="3793034"/>
            <a:ext cx="276225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00"/>
              </a:lnSpc>
              <a:buNone/>
            </a:pPr>
            <a:r>
              <a:rPr lang="en-US" sz="157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9877425" y="3793034"/>
            <a:ext cx="6378669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~56% of enterprises now run or plan AI inference on private cloud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9544050" y="4235351"/>
            <a:ext cx="276225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00"/>
              </a:lnSpc>
              <a:buNone/>
            </a:pPr>
            <a:r>
              <a:rPr lang="en-US" sz="157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9877425" y="4235351"/>
            <a:ext cx="7301835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Latency-sensitive, data-gravity workloads are pushing compute to the edge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9544050" y="4677668"/>
            <a:ext cx="276225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00"/>
              </a:lnSpc>
              <a:buNone/>
            </a:pPr>
            <a:r>
              <a:rPr lang="en-US" sz="1575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9877425" y="4677668"/>
            <a:ext cx="7301999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Data-centre modernization and exit decisions need a hybrid-by-design plan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9277350" y="5500985"/>
            <a:ext cx="8096250" cy="1631752"/>
          </a:xfrm>
          <a:prstGeom prst="rect">
            <a:avLst/>
          </a:prstGeom>
          <a:solidFill>
            <a:srgbClr val="FCF0EE"/>
          </a:solidFill>
          <a:ln/>
        </p:spPr>
      </p:sp>
      <p:sp>
        <p:nvSpPr>
          <p:cNvPr id="32" name="Text 30"/>
          <p:cNvSpPr/>
          <p:nvPr/>
        </p:nvSpPr>
        <p:spPr>
          <a:xfrm>
            <a:off x="9544050" y="5710535"/>
            <a:ext cx="8319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544050" y="6053435"/>
            <a:ext cx="7789736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is open for client conversations now. Detailed Level 1 engagement packaging — duration, deliverables and scope — is in development, following the same Understand → Ideate → Accelerate model as Digital Sovereignty and Public Cloud.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5264557" y="9872663"/>
            <a:ext cx="174695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ROADMAP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181051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7"/>
              </a:lnSpc>
              <a:buNone/>
            </a:pPr>
            <a:r>
              <a:rPr lang="en-US" sz="405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 — Coming Soon Pillars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1660327"/>
            <a:ext cx="1728787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1725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additional advisory pillars are framed and in development, extending CIS Tech Advisory across the rest of the enterprise IT estate.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914400" y="9286875"/>
            <a:ext cx="53340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20826"/>
            <a:ext cx="5334000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320826"/>
            <a:ext cx="9525" cy="6975574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8" name="Shape 6"/>
          <p:cNvSpPr/>
          <p:nvPr/>
        </p:nvSpPr>
        <p:spPr>
          <a:xfrm>
            <a:off x="6238875" y="2320826"/>
            <a:ext cx="9525" cy="6975574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9" name="Text 7"/>
          <p:cNvSpPr/>
          <p:nvPr/>
        </p:nvSpPr>
        <p:spPr>
          <a:xfrm>
            <a:off x="1228725" y="2644676"/>
            <a:ext cx="51758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28725" y="3044726"/>
            <a:ext cx="484651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878"/>
              </a:lnSpc>
              <a:buNone/>
            </a:pPr>
            <a:r>
              <a:rPr lang="en-US" sz="21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 &amp; On-Premise Data Centre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28725" y="3860006"/>
            <a:ext cx="484651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Level 1 offerings for the private-cloud and on-premise estate, building on the Core Infrastructure pillar.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28725" y="4917281"/>
            <a:ext cx="51758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OF THE HOUR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28725" y="5317331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33525" y="5317331"/>
            <a:ext cx="45325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VMware-alternative pressure is accelerating private-cloud decisions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8725" y="5965031"/>
            <a:ext cx="266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33525" y="5965031"/>
            <a:ext cx="48219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inference workloads are moving back on-premise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8725" y="6346031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33525" y="6346031"/>
            <a:ext cx="45325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Data-centre exit and consolidation plans need a clear roadmap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77000" y="9286875"/>
            <a:ext cx="53340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7000" y="2320826"/>
            <a:ext cx="5334000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7000" y="2320826"/>
            <a:ext cx="9525" cy="6975574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01475" y="2320826"/>
            <a:ext cx="9525" cy="6975574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3" name="Text 21"/>
          <p:cNvSpPr/>
          <p:nvPr/>
        </p:nvSpPr>
        <p:spPr>
          <a:xfrm>
            <a:off x="6791325" y="2644676"/>
            <a:ext cx="51758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91325" y="3044726"/>
            <a:ext cx="517588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878"/>
              </a:lnSpc>
              <a:buNone/>
            </a:pPr>
            <a:r>
              <a:rPr lang="en-US" sz="21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Advisory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6791325" y="3528566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Modernising the enterprise network for a cloud-, AI- and hybrid-work-first world.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91325" y="4309616"/>
            <a:ext cx="51758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OF THE HOUR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91325" y="4709666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96125" y="4709666"/>
            <a:ext cx="45325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decisive shift from appliance-based WAN toward SASE / SSE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91325" y="5357366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96125" y="5357366"/>
            <a:ext cx="45325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work and multicloud are straining legacy network designs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91325" y="6005066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96125" y="6005066"/>
            <a:ext cx="45325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edge traffic are reshaping bandwidth and latency needs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2039600" y="9286875"/>
            <a:ext cx="53340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39600" y="2320826"/>
            <a:ext cx="5334000" cy="38100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39600" y="2320826"/>
            <a:ext cx="9525" cy="6975574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6" name="Shape 34"/>
          <p:cNvSpPr/>
          <p:nvPr/>
        </p:nvSpPr>
        <p:spPr>
          <a:xfrm>
            <a:off x="17364075" y="2320826"/>
            <a:ext cx="9525" cy="6975574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37" name="Text 35"/>
          <p:cNvSpPr/>
          <p:nvPr/>
        </p:nvSpPr>
        <p:spPr>
          <a:xfrm>
            <a:off x="12353925" y="2644676"/>
            <a:ext cx="51758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2353925" y="3044726"/>
            <a:ext cx="517588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878"/>
              </a:lnSpc>
              <a:buNone/>
            </a:pPr>
            <a:r>
              <a:rPr lang="en-US" sz="2175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 Advisory</a:t>
            </a:r>
            <a:endParaRPr lang="en-US" sz="2175" dirty="0"/>
          </a:p>
        </p:txBody>
      </p:sp>
      <p:sp>
        <p:nvSpPr>
          <p:cNvPr id="39" name="Text 37"/>
          <p:cNvSpPr/>
          <p:nvPr/>
        </p:nvSpPr>
        <p:spPr>
          <a:xfrm>
            <a:off x="12353925" y="3528566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pillar to infuse GenAI and agentic AI across processes, applications and the infrastructure estate.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2353925" y="4309616"/>
            <a:ext cx="51758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E5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OF THE HOUR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2353925" y="4709666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2658725" y="4709666"/>
            <a:ext cx="45325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~98% of FinOps teams manage AI cost; AI value management is the #1 hiring skill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2353925" y="5357366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2658725" y="5357366"/>
            <a:ext cx="45325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AI pilots with no prioritisation or path to production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2353925" y="6005066"/>
            <a:ext cx="266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2658725" y="6005066"/>
            <a:ext cx="45325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obligations (from Aug 2026) demand governance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9872663"/>
            <a:ext cx="2469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Advisory Practice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5285541" y="9872663"/>
            <a:ext cx="17238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Roadmap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7119402" y="9848850"/>
            <a:ext cx="33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4117330"/>
            <a:ext cx="10972800" cy="6169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30426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F5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START THE CONVERSATION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914400" y="3492401"/>
            <a:ext cx="14716125" cy="17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5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Offering A as the easy first step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914400" y="5481042"/>
            <a:ext cx="125730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week. Board-ready output. A natural path into the full advisory practice.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914400" y="6428780"/>
            <a:ext cx="4610100" cy="28575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6647855"/>
            <a:ext cx="5071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14400" y="7076480"/>
            <a:ext cx="507111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B4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Posture Assessment — 1 week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5753100" y="6428780"/>
            <a:ext cx="4610100" cy="28575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0" name="Text 7"/>
          <p:cNvSpPr/>
          <p:nvPr/>
        </p:nvSpPr>
        <p:spPr>
          <a:xfrm>
            <a:off x="5753100" y="6647855"/>
            <a:ext cx="5071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753100" y="7076480"/>
            <a:ext cx="507111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B4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Cloud &amp; Placement — 3–5 weeks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0591800" y="6428780"/>
            <a:ext cx="4610100" cy="28575"/>
          </a:xfrm>
          <a:prstGeom prst="rect">
            <a:avLst/>
          </a:prstGeom>
          <a:solidFill>
            <a:srgbClr val="FF5E4F"/>
          </a:solidFill>
          <a:ln/>
        </p:spPr>
      </p:sp>
      <p:sp>
        <p:nvSpPr>
          <p:cNvPr id="13" name="Text 10"/>
          <p:cNvSpPr/>
          <p:nvPr/>
        </p:nvSpPr>
        <p:spPr>
          <a:xfrm>
            <a:off x="10591800" y="6647855"/>
            <a:ext cx="5071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Account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591800" y="7076480"/>
            <a:ext cx="507111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B4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offer to sales &amp; client partners today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9872663"/>
            <a:ext cx="71109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| Cloud &amp; Infrastructure Services | IT &amp; Infrastructure Consulting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6072396" y="9858375"/>
            <a:ext cx="1301204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2026-07-15T11:42:23Z</dcterms:created>
  <dcterms:modified xsi:type="dcterms:W3CDTF">2026-07-15T11:42:23Z</dcterms:modified>
</cp:coreProperties>
</file>
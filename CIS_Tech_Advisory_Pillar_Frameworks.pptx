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0"/>
            <a:ext cx="54864" cy="6858000"/>
          </a:xfrm>
          <a:prstGeom prst="rect">
            <a:avLst/>
          </a:prstGeom>
          <a:solidFill>
            <a:srgbClr val="F15F53"/>
          </a:solidFill>
          <a:ln w="12700">
            <a:solidFill>
              <a:srgbClr val="F15F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0"/>
            <a:ext cx="27432" cy="6858000"/>
          </a:xfrm>
          <a:prstGeom prst="rect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TECH ADVISORY  ·  PRACTICE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the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practice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frameworks for organising overlapping capability pillars — with a recommendation for a client-facing vs internal split.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3657600" cy="0"/>
          </a:xfrm>
          <a:prstGeom prst="line">
            <a:avLst/>
          </a:prstGeom>
          <a:noFill/>
          <a:ln w="19050">
            <a:solidFill>
              <a:srgbClr val="F15F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035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Head of Cloud Consulting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working document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LTIMindtree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structure frameworks  |  Internal working document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capability areas, deep overlaps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pillar list obscures how much shared expertise the practice really needs.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scope inventory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28016" cy="128016"/>
          </a:xfrm>
          <a:prstGeom prst="ellipse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14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migration, modernisation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53512"/>
            <a:ext cx="128016" cy="128016"/>
          </a:xfrm>
          <a:prstGeom prst="ellipse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80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880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residency, regulated workloads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19272"/>
            <a:ext cx="128016" cy="128016"/>
          </a:xfrm>
          <a:prstGeom prst="ellipse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3246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cloud, edge, data centre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128016" cy="128016"/>
          </a:xfrm>
          <a:prstGeom prst="ellipse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611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SD-WAN, SASE, connectivity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50792"/>
            <a:ext cx="128016" cy="128016"/>
          </a:xfrm>
          <a:prstGeom prst="ellipse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14600" y="3977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Zero-trust, controls, resilience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16552"/>
            <a:ext cx="128016" cy="128016"/>
          </a:xfrm>
          <a:prstGeom prst="ellipse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343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4343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Automation, observability, DevOps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82312"/>
            <a:ext cx="128016" cy="128016"/>
          </a:xfrm>
          <a:prstGeom prst="ellipse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709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14600" y="4709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GenAI, MLOps, agentic workflows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148072"/>
            <a:ext cx="128016" cy="128016"/>
          </a:xfrm>
          <a:prstGeom prst="ellipse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074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 future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14600" y="5074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tech, workplace, VDI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513832"/>
            <a:ext cx="128016" cy="128016"/>
          </a:xfrm>
          <a:prstGeom prst="ellipse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440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network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14600" y="5440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workplace, end-user compute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2148840"/>
            <a:ext cx="5577840" cy="40233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overlap problem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examples where one pillar depends on several others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3017520"/>
            <a:ext cx="365760" cy="365760"/>
          </a:xfrm>
          <a:prstGeom prst="ellipse">
            <a:avLst/>
          </a:prstGeom>
          <a:solidFill>
            <a:srgbClr val="F15F53"/>
          </a:solidFill>
          <a:ln w="12700">
            <a:solidFill>
              <a:srgbClr val="F15F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66560" y="2971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is everywhere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66560" y="32918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domain needs automation, observability and DevOps — but the deep expertise sits in one central team.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4069080"/>
            <a:ext cx="365760" cy="365760"/>
          </a:xfrm>
          <a:prstGeom prst="ellipse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766560" y="4023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 cuts across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66560" y="4343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up in public cloud, security, IT for future — hard to sell as a stand-alone or as a wrapper.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5120640"/>
            <a:ext cx="365760" cy="365760"/>
          </a:xfrm>
          <a:prstGeom prst="ellipse">
            <a:avLst/>
          </a:prstGeom>
          <a:solidFill>
            <a:srgbClr val="442671"/>
          </a:solidFill>
          <a:ln w="12700">
            <a:solidFill>
              <a:srgbClr val="4426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766560" y="5074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 spans four pillars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66560" y="5394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cloud, public cloud, data centre and security all carry sovereignty obligations — no single owner.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FOUR OPTIONS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LTIMindtree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structure frameworks  |  Internal working document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organise the pillars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option resolves the overlap differently and speaks to a different audience.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949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→ domains →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vertical stack. Shared services on the floor, pillar practices in the middle, business outcomes on top.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3703320"/>
            <a:ext cx="475488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narrative, hiring briefs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53949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423160"/>
            <a:ext cx="502920" cy="502920"/>
          </a:xfrm>
          <a:prstGeom prst="rect">
            <a:avLst/>
          </a:prstGeom>
          <a:solidFill>
            <a:srgbClr val="F15F53"/>
          </a:solidFill>
          <a:ln w="12700">
            <a:solidFill>
              <a:srgbClr val="F15F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7804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&amp; spoke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2743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expertise, domain spokes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core team of enablers (tooling, security, governance) feeds every domain pillar.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3703320"/>
            <a:ext cx="475488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6948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heads, staffing model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53949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663440"/>
            <a:ext cx="502920" cy="502920"/>
          </a:xfrm>
          <a:prstGeom prst="rect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0876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matrix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08760" y="4983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each pillar need what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5349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grid showing exactly which enabler each pillar depends on, and how intensely.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8680" y="5943600"/>
            <a:ext cx="475488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989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00200" y="5989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planning, ops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4389120"/>
            <a:ext cx="53949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4663440"/>
            <a:ext cx="502920" cy="502920"/>
          </a:xfrm>
          <a:prstGeom prst="rect">
            <a:avLst/>
          </a:prstGeom>
          <a:solidFill>
            <a:srgbClr val="442671"/>
          </a:solidFill>
          <a:ln w="12700">
            <a:solidFill>
              <a:srgbClr val="4426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7804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streams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78040" y="4983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26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Organised by client outcome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37960" y="5349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efficiency, risk &amp; compliance, innovation velocity — pillars flow in as means, not ends.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37960" y="5943600"/>
            <a:ext cx="475488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5989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9480" y="5989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CXO conversations, RFPs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MODEL 1  ·  LAYERED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LTIMindtree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structure frameworks  |  Internal working document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→ pillar practices → business outcomes. A clean vertical stack.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6766560" cy="640080"/>
          </a:xfrm>
          <a:prstGeom prst="rect">
            <a:avLst/>
          </a:prstGeom>
          <a:solidFill>
            <a:srgbClr val="442671"/>
          </a:solidFill>
          <a:ln w="12700">
            <a:solidFill>
              <a:srgbClr val="4426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945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outcomes  ·  cost, resilience, innovation velocity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133600" cy="54864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26664"/>
            <a:ext cx="185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64408"/>
            <a:ext cx="185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strategy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65120" y="2971800"/>
            <a:ext cx="2133600" cy="54864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2280" y="3026664"/>
            <a:ext cx="185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02280" y="3264408"/>
            <a:ext cx="185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81600" y="2971800"/>
            <a:ext cx="2133600" cy="54864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8760" y="3026664"/>
            <a:ext cx="185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18760" y="3264408"/>
            <a:ext cx="185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&amp; private cloud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2133600" cy="548640"/>
          </a:xfrm>
          <a:prstGeom prst="rect">
            <a:avLst/>
          </a:prstGeom>
          <a:solidFill>
            <a:srgbClr val="1E7F91"/>
          </a:solidFill>
          <a:ln w="12700">
            <a:solidFill>
              <a:srgbClr val="1E7F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66744"/>
            <a:ext cx="185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904488"/>
            <a:ext cx="185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65120" y="3611880"/>
            <a:ext cx="2133600" cy="548640"/>
          </a:xfrm>
          <a:prstGeom prst="rect">
            <a:avLst/>
          </a:prstGeom>
          <a:solidFill>
            <a:srgbClr val="1E7F91"/>
          </a:solidFill>
          <a:ln w="12700">
            <a:solidFill>
              <a:srgbClr val="1E7F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02280" y="3666744"/>
            <a:ext cx="185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02280" y="3904488"/>
            <a:ext cx="185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81600" y="3611880"/>
            <a:ext cx="2133600" cy="548640"/>
          </a:xfrm>
          <a:prstGeom prst="rect">
            <a:avLst/>
          </a:prstGeom>
          <a:solidFill>
            <a:srgbClr val="1E7F91"/>
          </a:solidFill>
          <a:ln w="12700">
            <a:solidFill>
              <a:srgbClr val="1E7F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18760" y="3666744"/>
            <a:ext cx="185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 future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18760" y="3904488"/>
            <a:ext cx="185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tech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676656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343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·  Tooling  ·  Security  ·  Governance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47091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 that every pillar draws on — kept central for depth of expertise.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52360" y="2194560"/>
            <a:ext cx="731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275320" y="2194560"/>
            <a:ext cx="3291840" cy="2971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2331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2560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hierarchy. Easy to brief. Maps to how a services P&amp;L is actually run.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3291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0392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show how foundation cuts through every pillar — reads as three tidy floors.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03920" y="4251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480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senior leadership on the operating structure or writing hiring plans.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solidFill>
            <a:srgbClr val="022544"/>
          </a:solidFill>
          <a:ln w="12700">
            <a:solidFill>
              <a:srgbClr val="0225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6235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94560" y="56235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above the foundation depends on what's below it — the practice is built on shared services, not on a collection of independent pillars.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MODEL 2  ·  HUB &amp; SPOKE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LTIMindtree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structure frameworks  |  Internal working document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&amp; spoke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central team of enablers; specialised pillar practices as the spokes.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80360" y="3337560"/>
            <a:ext cx="1554480" cy="1554480"/>
          </a:xfrm>
          <a:prstGeom prst="ellipse">
            <a:avLst/>
          </a:prstGeom>
          <a:solidFill>
            <a:srgbClr val="F15F53"/>
          </a:solidFill>
          <a:ln w="12700">
            <a:solidFill>
              <a:srgbClr val="F15F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3337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5029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 ·  Security  ·  Governance  ·  AI CoE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H="1" flipV="1">
            <a:off x="1371600" y="2628900"/>
            <a:ext cx="2286000" cy="1485900"/>
          </a:xfrm>
          <a:prstGeom prst="line">
            <a:avLst/>
          </a:prstGeom>
          <a:noFill/>
          <a:ln w="9525">
            <a:solidFill>
              <a:srgbClr val="9AA4A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2377440"/>
            <a:ext cx="1463040" cy="5029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V="1">
            <a:off x="3657600" y="2628900"/>
            <a:ext cx="2286000" cy="1485900"/>
          </a:xfrm>
          <a:prstGeom prst="line">
            <a:avLst/>
          </a:prstGeom>
          <a:noFill/>
          <a:ln w="9525">
            <a:solidFill>
              <a:srgbClr val="9AA4A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212080" y="2377440"/>
            <a:ext cx="1463040" cy="5029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1371600" y="4114800"/>
            <a:ext cx="2286000" cy="68580"/>
          </a:xfrm>
          <a:prstGeom prst="line">
            <a:avLst/>
          </a:prstGeom>
          <a:noFill/>
          <a:ln w="9525">
            <a:solidFill>
              <a:srgbClr val="9AA4A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3931920"/>
            <a:ext cx="1463040" cy="5029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31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4114800"/>
            <a:ext cx="2286000" cy="68580"/>
          </a:xfrm>
          <a:prstGeom prst="line">
            <a:avLst/>
          </a:prstGeom>
          <a:noFill/>
          <a:ln w="9525">
            <a:solidFill>
              <a:srgbClr val="9AA4A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212080" y="3931920"/>
            <a:ext cx="1463040" cy="5029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931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1371600" y="4114800"/>
            <a:ext cx="2286000" cy="1623060"/>
          </a:xfrm>
          <a:prstGeom prst="line">
            <a:avLst/>
          </a:prstGeom>
          <a:noFill/>
          <a:ln w="9525">
            <a:solidFill>
              <a:srgbClr val="9AA4A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40080" y="5486400"/>
            <a:ext cx="1463040" cy="5029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86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4114800"/>
            <a:ext cx="2286000" cy="1623060"/>
          </a:xfrm>
          <a:prstGeom prst="line">
            <a:avLst/>
          </a:prstGeom>
          <a:noFill/>
          <a:ln w="9525">
            <a:solidFill>
              <a:srgbClr val="9AA4AF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212080" y="5486400"/>
            <a:ext cx="1463040" cy="5029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5486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 future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75320" y="2194560"/>
            <a:ext cx="3291840" cy="2971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2331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2560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deep expertise centrally while giving each domain its own P&amp;L and go-to-market.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3291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imply every engagement needs the whole hub — creates staffing overhead.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251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480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the staffing model or planning capability investments across pillars.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solidFill>
            <a:srgbClr val="022544"/>
          </a:solidFill>
          <a:ln w="12700">
            <a:solidFill>
              <a:srgbClr val="0225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6235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94560" y="56235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in the hub, ownership in the spokes — the model most consultancies actually run, but easy to over-centralise.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MODEL 3  ·  CAPABILITY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LTIMindtree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structure frameworks  |  Internal working document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matrix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pillar needs which enabler, and how intensely — a heat map you can plan against.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mgmt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32304" y="2688336"/>
            <a:ext cx="713232" cy="310896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26883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55264" y="2688336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26883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78224" y="2688336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78224" y="26883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01184" y="2688336"/>
            <a:ext cx="713232" cy="310896"/>
          </a:xfrm>
          <a:prstGeom prst="rect">
            <a:avLst/>
          </a:prstGeom>
          <a:solidFill>
            <a:srgbClr val="D6DB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26883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24144" y="2688336"/>
            <a:ext cx="713232" cy="310896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4144" y="26883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0358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32304" y="3072384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32304" y="30723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55264" y="3072384"/>
            <a:ext cx="713232" cy="310896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5264" y="30723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78224" y="3072384"/>
            <a:ext cx="713232" cy="310896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78224" y="30723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01184" y="3072384"/>
            <a:ext cx="713232" cy="310896"/>
          </a:xfrm>
          <a:prstGeom prst="rect">
            <a:avLst/>
          </a:prstGeom>
          <a:solidFill>
            <a:srgbClr val="D6DB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30723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24144" y="3072384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24144" y="30723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3419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32304" y="3456432"/>
            <a:ext cx="713232" cy="310896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32304" y="345643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55264" y="3456432"/>
            <a:ext cx="713232" cy="310896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55264" y="345643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78224" y="3456432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78224" y="345643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01184" y="3456432"/>
            <a:ext cx="713232" cy="310896"/>
          </a:xfrm>
          <a:prstGeom prst="rect">
            <a:avLst/>
          </a:prstGeom>
          <a:solidFill>
            <a:srgbClr val="D6DB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345643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724144" y="3456432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24144" y="345643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38039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432304" y="3840480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32304" y="384048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55264" y="3840480"/>
            <a:ext cx="713232" cy="310896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55264" y="384048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078224" y="3840480"/>
            <a:ext cx="713232" cy="310896"/>
          </a:xfrm>
          <a:prstGeom prst="rect">
            <a:avLst/>
          </a:prstGeom>
          <a:solidFill>
            <a:srgbClr val="D6DB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78224" y="384048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901184" y="3840480"/>
            <a:ext cx="713232" cy="310896"/>
          </a:xfrm>
          <a:prstGeom prst="rect">
            <a:avLst/>
          </a:prstGeom>
          <a:solidFill>
            <a:srgbClr val="D6DB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01184" y="384048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724144" y="3840480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24144" y="384048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8640" y="4187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432304" y="4224528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32304" y="42245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55264" y="4224528"/>
            <a:ext cx="713232" cy="310896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55264" y="42245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078224" y="4224528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78224" y="42245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901184" y="4224528"/>
            <a:ext cx="713232" cy="310896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01184" y="42245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724144" y="4224528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24144" y="42245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48640" y="4572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 future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432304" y="4608576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432304" y="460857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255264" y="4608576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55264" y="460857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078224" y="4608576"/>
            <a:ext cx="713232" cy="310896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78224" y="460857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901184" y="4608576"/>
            <a:ext cx="713232" cy="310896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01184" y="460857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724144" y="4608576"/>
            <a:ext cx="713232" cy="310896"/>
          </a:xfrm>
          <a:prstGeom prst="rect">
            <a:avLst/>
          </a:prstGeom>
          <a:solidFill>
            <a:srgbClr val="D6DB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24144" y="460857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48640" y="5230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737360" y="5257800"/>
            <a:ext cx="256032" cy="201168"/>
          </a:xfrm>
          <a:prstGeom prst="rect">
            <a:avLst/>
          </a:prstGeom>
          <a:solidFill>
            <a:srgbClr val="F15F53"/>
          </a:solidFill>
          <a:ln w="12700">
            <a:solidFill>
              <a:srgbClr val="F15F5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057400" y="5230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 Critical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200400" y="5257800"/>
            <a:ext cx="256032" cy="201168"/>
          </a:xfrm>
          <a:prstGeom prst="rect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20440" y="5230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 Moderate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663440" y="5257800"/>
            <a:ext cx="256032" cy="201168"/>
          </a:xfrm>
          <a:prstGeom prst="rect">
            <a:avLst/>
          </a:prstGeom>
          <a:solidFill>
            <a:srgbClr val="D6DBE1"/>
          </a:solidFill>
          <a:ln w="12700">
            <a:solidFill>
              <a:srgbClr val="D6DB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83480" y="5230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 Light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8275320" y="2194560"/>
            <a:ext cx="3291840" cy="2971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503920" y="2331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503920" y="2560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Precise. Turns the overlap problem into a capability planning exercise.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503920" y="3291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50392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dense for a CXO conversation — internal working artefact, not a sales asset.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8503920" y="4251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503920" y="4480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cross-training, engagement staffing, or measuring capability gaps.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solidFill>
            <a:srgbClr val="022544"/>
          </a:solidFill>
          <a:ln w="12700">
            <a:solidFill>
              <a:srgbClr val="02254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77240" y="56235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2194560" y="56235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 and AI infusion carry the heaviest cross-cutting load — expect them to consume shared-services time disproportionately.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MODEL 4  ·  VALUE STREAMS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LTIMindtree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structure frameworks  |  Internal working document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streams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 around client outcomes; pillars flow in as means, not ends.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3657600" cy="1051560"/>
          </a:xfrm>
          <a:prstGeom prst="rect">
            <a:avLst/>
          </a:prstGeom>
          <a:solidFill>
            <a:srgbClr val="442671"/>
          </a:solidFill>
          <a:ln w="12700">
            <a:solidFill>
              <a:srgbClr val="4426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efficiency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FinOps, optimisation, consolidation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426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PILLARS THAT DELIVER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3749040"/>
            <a:ext cx="32004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49040"/>
            <a:ext cx="73152" cy="411480"/>
          </a:xfrm>
          <a:prstGeom prst="rect">
            <a:avLst/>
          </a:prstGeom>
          <a:solidFill>
            <a:srgbClr val="442671"/>
          </a:solidFill>
          <a:ln w="12700">
            <a:solidFill>
              <a:srgbClr val="4426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32004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51960"/>
            <a:ext cx="73152" cy="411480"/>
          </a:xfrm>
          <a:prstGeom prst="rect">
            <a:avLst/>
          </a:prstGeom>
          <a:solidFill>
            <a:srgbClr val="442671"/>
          </a:solidFill>
          <a:ln w="12700">
            <a:solidFill>
              <a:srgbClr val="4426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infrastructure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54880"/>
            <a:ext cx="73152" cy="411480"/>
          </a:xfrm>
          <a:prstGeom prst="rect">
            <a:avLst/>
          </a:prstGeom>
          <a:solidFill>
            <a:srgbClr val="442671"/>
          </a:solidFill>
          <a:ln w="12700">
            <a:solidFill>
              <a:srgbClr val="4426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3400" y="2148840"/>
            <a:ext cx="3657600" cy="1051560"/>
          </a:xfrm>
          <a:prstGeom prst="rect">
            <a:avLst/>
          </a:prstGeom>
          <a:solidFill>
            <a:srgbClr val="F15F53"/>
          </a:solidFill>
          <a:ln w="12700">
            <a:solidFill>
              <a:srgbClr val="F15F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Sovereignty, security, audit-readiness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PILLARS THAT DELIVER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3749040"/>
            <a:ext cx="32004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749040"/>
            <a:ext cx="73152" cy="411480"/>
          </a:xfrm>
          <a:prstGeom prst="rect">
            <a:avLst/>
          </a:prstGeom>
          <a:solidFill>
            <a:srgbClr val="F15F53"/>
          </a:solidFill>
          <a:ln w="12700">
            <a:solidFill>
              <a:srgbClr val="F15F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sovereignty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4251960"/>
            <a:ext cx="32004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4251960"/>
            <a:ext cx="73152" cy="411480"/>
          </a:xfrm>
          <a:prstGeom prst="rect">
            <a:avLst/>
          </a:prstGeom>
          <a:solidFill>
            <a:srgbClr val="F15F53"/>
          </a:solidFill>
          <a:ln w="12700">
            <a:solidFill>
              <a:srgbClr val="F15F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4754880"/>
            <a:ext cx="32004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4754880"/>
            <a:ext cx="73152" cy="411480"/>
          </a:xfrm>
          <a:prstGeom prst="rect">
            <a:avLst/>
          </a:prstGeom>
          <a:solidFill>
            <a:srgbClr val="F15F53"/>
          </a:solidFill>
          <a:ln w="12700">
            <a:solidFill>
              <a:srgbClr val="F15F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38160" y="2148840"/>
            <a:ext cx="3657600" cy="1051560"/>
          </a:xfrm>
          <a:prstGeom prst="rect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velocity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36676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market, differentiation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66760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PILLARS THAT DELIVER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366760" y="3749040"/>
            <a:ext cx="32004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6760" y="3749040"/>
            <a:ext cx="73152" cy="411480"/>
          </a:xfrm>
          <a:prstGeom prst="rect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infusion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366760" y="4251960"/>
            <a:ext cx="32004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6760" y="4251960"/>
            <a:ext cx="73152" cy="411480"/>
          </a:xfrm>
          <a:prstGeom prst="rect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 future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4754880"/>
            <a:ext cx="320040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66760" y="4754880"/>
            <a:ext cx="73152" cy="411480"/>
          </a:xfrm>
          <a:prstGeom prst="rect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5212080"/>
            <a:ext cx="1106424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5212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Cross-stream enablers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749040" y="5212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 ·  Security  ·  Governance  ·  Cost management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022544"/>
          </a:solidFill>
          <a:ln w="12700">
            <a:solidFill>
              <a:srgbClr val="0225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5943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194560" y="594360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Pillars are how we deliver — outcomes are what the client is actually buying. This is the advisory-first framing.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LTIMindtree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structure frameworks  |  Internal working document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models compare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models solve different problems — the question is where each earns its keep.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286000"/>
            <a:ext cx="2194560" cy="502920"/>
          </a:xfrm>
          <a:prstGeom prst="rect">
            <a:avLst/>
          </a:prstGeom>
          <a:solidFill>
            <a:srgbClr val="0038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2194560" cy="502920"/>
          </a:xfrm>
          <a:prstGeom prst="rect">
            <a:avLst/>
          </a:prstGeom>
          <a:solidFill>
            <a:srgbClr val="F15F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&amp; spoke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194560" cy="502920"/>
          </a:xfrm>
          <a:prstGeom prst="rect">
            <a:avLst/>
          </a:prstGeom>
          <a:solidFill>
            <a:srgbClr val="FBAE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09760" y="2286000"/>
            <a:ext cx="2103120" cy="502920"/>
          </a:xfrm>
          <a:prstGeom prst="rect">
            <a:avLst/>
          </a:prstGeom>
          <a:solidFill>
            <a:srgbClr val="4426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streams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237744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optimises for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278892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of hierarchy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278892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× specialisation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278892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precision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509760" y="278892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 narrative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audience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329184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leadership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329184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heads, HR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329184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ops team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509760" y="329184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692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CXOs, procurement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3794760"/>
            <a:ext cx="237744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379476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324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shared foundations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379476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Specialised teams, shared skills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0" y="379476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where we overlap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509760" y="379476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4692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solve for your outcomes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4297680"/>
            <a:ext cx="237744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4297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treatment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26080" y="429768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63240" y="4297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layer holds it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20640" y="429768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7800" y="4297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owns the shared skill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15200" y="429768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4297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explicit as intensities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509760" y="429768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4692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Naturally resolved by outcome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" y="4800600"/>
            <a:ext cx="237744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4800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when misused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926080" y="480060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63240" y="4800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cross-cutting reality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120640" y="480060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57800" y="4800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Over-centralises delivery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315200" y="480060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52360" y="4800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as a checklist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509760" y="480060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46920" y="4800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Loses technical credibility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solidFill>
            <a:srgbClr val="022544"/>
          </a:solidFill>
          <a:ln w="12700">
            <a:solidFill>
              <a:srgbClr val="0225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7240" y="56235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194560" y="56235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model wins. We recommend running two side by side — one for what we say to clients, one for how we run the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RECOMMENDATION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LTIMindtree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6350">
            <a:solidFill>
              <a:srgbClr val="D6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structure frameworks  |  Internal working document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two models in parallel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streams face the client. Layered architecture runs the practice.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486400" cy="4160520"/>
          </a:xfrm>
          <a:prstGeom prst="rect">
            <a:avLst/>
          </a:prstGeom>
          <a:solidFill>
            <a:srgbClr val="442671"/>
          </a:solidFill>
          <a:ln w="12700">
            <a:solidFill>
              <a:srgbClr val="4426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streams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3200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D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proposals, decks, discovery conversations and the website.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794760"/>
            <a:ext cx="4846320" cy="0"/>
          </a:xfrm>
          <a:prstGeom prst="line">
            <a:avLst/>
          </a:prstGeom>
          <a:noFill/>
          <a:ln w="9525">
            <a:solidFill>
              <a:srgbClr val="8570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say 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organise around your business outcomes — cost, risk, innovation — and bring the right combination of cloud, infrastructure and emerging-tech expertise for each."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148840"/>
            <a:ext cx="5486400" cy="416052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LTM leadership briefings, hiring plans, capability planning.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794760"/>
            <a:ext cx="4846320" cy="0"/>
          </a:xfrm>
          <a:prstGeom prst="line">
            <a:avLst/>
          </a:prstGeom>
          <a:noFill/>
          <a:ln w="9525">
            <a:solidFill>
              <a:srgbClr val="5A7F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run 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4325112"/>
            <a:ext cx="109728" cy="109728"/>
          </a:xfrm>
          <a:prstGeom prst="ellipse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251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— Tooling, Security, Governance, FinOps as shared services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4919472"/>
            <a:ext cx="109728" cy="109728"/>
          </a:xfrm>
          <a:prstGeom prst="ellipse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846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domain-led practices with their own P&amp;L and go-to-market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5513832"/>
            <a:ext cx="109728" cy="109728"/>
          </a:xfrm>
          <a:prstGeom prst="ellipse">
            <a:avLst/>
          </a:prstGeom>
          <a:solidFill>
            <a:srgbClr val="FBAE40"/>
          </a:solidFill>
          <a:ln w="12700">
            <a:solidFill>
              <a:srgbClr val="FBAE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5440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used quarterly to check where capability gaps are opening 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TECH ADVISORY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LTIMindtree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A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we'd build next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concrete artefacts that operationalise the recommendation.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566160" cy="3108960"/>
          </a:xfrm>
          <a:prstGeom prst="rect">
            <a:avLst/>
          </a:prstGeom>
          <a:solidFill>
            <a:srgbClr val="0F3E5C"/>
          </a:solidFill>
          <a:ln w="9525">
            <a:solidFill>
              <a:srgbClr val="1E5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68680" y="3794760"/>
            <a:ext cx="914400" cy="0"/>
          </a:xfrm>
          <a:prstGeom prst="line">
            <a:avLst/>
          </a:prstGeom>
          <a:noFill/>
          <a:ln w="19050">
            <a:solidFill>
              <a:srgbClr val="FBAE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931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 outcomes matrix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one-page value-stream × pillar table that sits in every proposal and on the CIS Tech Advisory webpage.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651760"/>
            <a:ext cx="3566160" cy="3108960"/>
          </a:xfrm>
          <a:prstGeom prst="rect">
            <a:avLst/>
          </a:prstGeom>
          <a:solidFill>
            <a:srgbClr val="0F3E5C"/>
          </a:solidFill>
          <a:ln w="9525">
            <a:solidFill>
              <a:srgbClr val="1E55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4617720" y="3794760"/>
            <a:ext cx="914400" cy="0"/>
          </a:xfrm>
          <a:prstGeom prst="line">
            <a:avLst/>
          </a:prstGeom>
          <a:noFill/>
          <a:ln w="19050">
            <a:solidFill>
              <a:srgbClr val="FBAE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931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capability stack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4709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layered diagram, drawn with owners and headcount, for LTM leadership briefings and hiring plans.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2651760"/>
            <a:ext cx="3566160" cy="3108960"/>
          </a:xfrm>
          <a:prstGeom prst="rect">
            <a:avLst/>
          </a:prstGeom>
          <a:solidFill>
            <a:srgbClr val="0F3E5C"/>
          </a:solidFill>
          <a:ln w="9525">
            <a:solidFill>
              <a:srgbClr val="1E5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5F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8366760" y="3794760"/>
            <a:ext cx="914400" cy="0"/>
          </a:xfrm>
          <a:prstGeom prst="line">
            <a:avLst/>
          </a:prstGeom>
          <a:noFill/>
          <a:ln w="19050">
            <a:solidFill>
              <a:srgbClr val="FBAE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931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model reference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66760" y="4709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of how a typical three-pillar engagement unfolds — which enablers activate at Understand, Ideate, Accelerate.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172200"/>
            <a:ext cx="11064240" cy="0"/>
          </a:xfrm>
          <a:prstGeom prst="line">
            <a:avLst/>
          </a:prstGeom>
          <a:noFill/>
          <a:ln w="12700">
            <a:solidFill>
              <a:srgbClr val="F15F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 ·  Ready when you 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Tech Advisory — Pillar Structure Frameworks</dc:title>
  <dc:subject>PptxGenJS Presentation</dc:subject>
  <dc:creator>LTIMindtree</dc:creator>
  <cp:lastModifiedBy>LTIMindtree</cp:lastModifiedBy>
  <cp:revision>1</cp:revision>
  <dcterms:created xsi:type="dcterms:W3CDTF">2026-07-28T10:36:23Z</dcterms:created>
  <dcterms:modified xsi:type="dcterms:W3CDTF">2026-07-28T10:36:24Z</dcterms:modified>
</cp:coreProperties>
</file>
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utosh Dixit" userId="ab6c3e37-306d-4503-aec7-51ddf0a52e19" providerId="ADAL" clId="{1B01D6BE-C5B3-5E1A-B22F-D7D7CA513B36}"/>
    <pc:docChg chg="modSld">
      <pc:chgData name="Ashutosh Dixit" userId="ab6c3e37-306d-4503-aec7-51ddf0a52e19" providerId="ADAL" clId="{1B01D6BE-C5B3-5E1A-B22F-D7D7CA513B36}" dt="2026-09-09T09:08:08.930" v="0" actId="14100"/>
      <pc:docMkLst>
        <pc:docMk/>
      </pc:docMkLst>
      <pc:sldChg chg="modSp mod">
        <pc:chgData name="Ashutosh Dixit" userId="ab6c3e37-306d-4503-aec7-51ddf0a52e19" providerId="ADAL" clId="{1B01D6BE-C5B3-5E1A-B22F-D7D7CA513B36}" dt="2026-09-09T09:08:08.930" v="0" actId="14100"/>
        <pc:sldMkLst>
          <pc:docMk/>
          <pc:sldMk cId="0" sldId="257"/>
        </pc:sldMkLst>
        <pc:spChg chg="mod">
          <ac:chgData name="Ashutosh Dixit" userId="ab6c3e37-306d-4503-aec7-51ddf0a52e19" providerId="ADAL" clId="{1B01D6BE-C5B3-5E1A-B22F-D7D7CA513B36}" dt="2026-09-09T09:08:08.930" v="0" actId="14100"/>
          <ac:spMkLst>
            <pc:docMk/>
            <pc:sldMk cId="0" sldId="257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5455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048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858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E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03  ·  INFRA TECH ADVISORY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24128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Cloud &amp; Modernization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7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get speed, modernity and unit-economics discipline out of my estate?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3464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&amp; Modernization serves two customer populations — those already in the cloud who need to optimize what’s running, and those still deciding, migrating or deliberately hybrid. A single diagnostic front door tells them apart, then routes each to the offerings that fit where they actually are on the journey.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366760" y="272491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$850B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8394192" y="31272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6D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public cloud spend in 2026, up 21.3% — IaaS fastest at +24%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366760" y="35112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8394192" y="39136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6D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cloud spend wasted — a five-year high, driven by AI workloads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42976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8394192" y="470001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6D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large orgs will run platform-engineering teams by end-2026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285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E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JOURNEYS, ONE FRONT DOOR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596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IQ sorts the customer — then routes to Optimize (already on cloud) or Decide &amp; Modernize (still on the journey).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08990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A · FinOps · Multi-Cloud · Platform Engineering    │    Journey B · Right Cloud · App Modernization · Data Centre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6108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D89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Gartner / Flexera, 2026.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ENGAGEMENT FINDS ITS PATH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766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front door, two journeys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diagnostic’s first job is to tell the two customer populations apart — then route within the right journey.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0" y="1572768"/>
            <a:ext cx="3959352" cy="566928"/>
          </a:xfrm>
          <a:prstGeom prst="roundRect">
            <a:avLst>
              <a:gd name="adj" fmla="val 9677"/>
            </a:avLst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114800" y="1572768"/>
            <a:ext cx="3959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IQ   </a:t>
            </a:r>
            <a:r>
              <a:rPr lang="en-US" sz="1100" i="1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self-assessment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2157984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are you on the journey, and what hurts?”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flipH="1">
            <a:off x="2642716" y="2395728"/>
            <a:ext cx="2295044" cy="384048"/>
          </a:xfrm>
          <a:prstGeom prst="line">
            <a:avLst/>
          </a:prstGeom>
          <a:noFill/>
          <a:ln w="19050">
            <a:solidFill>
              <a:srgbClr val="B0481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223760" y="2395728"/>
            <a:ext cx="1828800" cy="329184"/>
          </a:xfrm>
          <a:prstGeom prst="line">
            <a:avLst/>
          </a:prstGeom>
          <a:noFill/>
          <a:ln w="19050">
            <a:solidFill>
              <a:srgbClr val="B0481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31520" y="28712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JOURNEY A · OPTIMIZE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14553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on cloud / mid-migration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5204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deepen with FinOps IQ (cost)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858768"/>
            <a:ext cx="5394960" cy="512064"/>
          </a:xfrm>
          <a:prstGeom prst="roundRect">
            <a:avLst>
              <a:gd name="adj" fmla="val 8929"/>
            </a:avLst>
          </a:prstGeom>
          <a:solidFill>
            <a:srgbClr val="FBEDE6"/>
          </a:solidFill>
          <a:ln w="9525">
            <a:solidFill>
              <a:srgbClr val="EEB0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31520" y="385876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03.3 FinOps Excellence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462272"/>
            <a:ext cx="5394960" cy="512064"/>
          </a:xfrm>
          <a:prstGeom prst="roundRect">
            <a:avLst>
              <a:gd name="adj" fmla="val 8929"/>
            </a:avLst>
          </a:prstGeom>
          <a:solidFill>
            <a:srgbClr val="FBEDE6"/>
          </a:solidFill>
          <a:ln w="9525">
            <a:solidFill>
              <a:srgbClr val="EEB0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31520" y="446227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03.2 Hybrid &amp; Multi-Cloud Mgmt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5065776"/>
            <a:ext cx="5394960" cy="512064"/>
          </a:xfrm>
          <a:prstGeom prst="roundRect">
            <a:avLst>
              <a:gd name="adj" fmla="val 8929"/>
            </a:avLst>
          </a:prstGeom>
          <a:solidFill>
            <a:srgbClr val="FBEDE6"/>
          </a:solidFill>
          <a:ln w="9525">
            <a:solidFill>
              <a:srgbClr val="EEB0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31520" y="506577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03.6 Platform Engineering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2788920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92240" y="28712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JOURNEY B · DECIDE &amp; MODERNIZE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14553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 / tentative / hybrid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5204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deepen with Modernization IQ (estate)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3858768"/>
            <a:ext cx="5394960" cy="512064"/>
          </a:xfrm>
          <a:prstGeom prst="roundRect">
            <a:avLst>
              <a:gd name="adj" fmla="val 8929"/>
            </a:avLst>
          </a:prstGeom>
          <a:solidFill>
            <a:srgbClr val="FBEDE6"/>
          </a:solidFill>
          <a:ln w="9525">
            <a:solidFill>
              <a:srgbClr val="EEB0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492240" y="385876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03.1 Right Cloud Strategy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4462272"/>
            <a:ext cx="5394960" cy="512064"/>
          </a:xfrm>
          <a:prstGeom prst="roundRect">
            <a:avLst>
              <a:gd name="adj" fmla="val 8929"/>
            </a:avLst>
          </a:prstGeom>
          <a:solidFill>
            <a:srgbClr val="FBEDE6"/>
          </a:solidFill>
          <a:ln w="9525">
            <a:solidFill>
              <a:srgbClr val="EEB0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492240" y="446227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03.4 Application Modernization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63640" y="5065776"/>
            <a:ext cx="5394960" cy="512064"/>
          </a:xfrm>
          <a:prstGeom prst="roundRect">
            <a:avLst>
              <a:gd name="adj" fmla="val 8929"/>
            </a:avLst>
          </a:prstGeom>
          <a:solidFill>
            <a:srgbClr val="FBEDE6"/>
          </a:solidFill>
          <a:ln w="9525">
            <a:solidFill>
              <a:srgbClr val="EEB0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492240" y="506577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03.5 Data Centre Strategy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5742432"/>
            <a:ext cx="1118311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777240" y="57424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SHARED ACROSS BOTH JOURNEYS   </a:t>
            </a:r>
            <a:r>
              <a:rPr lang="en-US" sz="1250" i="1" dirty="0">
                <a:solidFill>
                  <a:srgbClr val="2C3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Modernization (03.4) and Platform Engineering (03.6) appear on either path, depending on where the customer starts.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map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ENGAGEMENT SPINE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766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journeys, one delivery discipline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journey runs its own left-to-right motion. Every offering is standalone-sellable — clients can enter at any step.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A · OPTIMIZE WHAT’S RUNNING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2157984"/>
            <a:ext cx="2487168" cy="1298448"/>
          </a:xfrm>
          <a:prstGeom prst="roundRect">
            <a:avLst>
              <a:gd name="adj" fmla="val 5634"/>
            </a:avLst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49808" y="22677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660904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02666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IQ → FinOps IQ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2807208"/>
            <a:ext cx="274320" cy="0"/>
          </a:xfrm>
          <a:prstGeom prst="line">
            <a:avLst/>
          </a:prstGeom>
          <a:noFill/>
          <a:ln w="25400">
            <a:solidFill>
              <a:srgbClr val="6B5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28416" y="2157984"/>
            <a:ext cx="2487168" cy="1298448"/>
          </a:xfrm>
          <a:prstGeom prst="roundRect">
            <a:avLst>
              <a:gd name="adj" fmla="val 5634"/>
            </a:avLst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511296" y="22677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660904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302666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Excellence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70448" y="2807208"/>
            <a:ext cx="274320" cy="0"/>
          </a:xfrm>
          <a:prstGeom prst="line">
            <a:avLst/>
          </a:prstGeom>
          <a:noFill/>
          <a:ln w="25400">
            <a:solidFill>
              <a:srgbClr val="6B5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9904" y="2157984"/>
            <a:ext cx="2487168" cy="1298448"/>
          </a:xfrm>
          <a:prstGeom prst="roundRect">
            <a:avLst>
              <a:gd name="adj" fmla="val 5634"/>
            </a:avLst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272784" y="22677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660904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02666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· Platform Eng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31936" y="2807208"/>
            <a:ext cx="274320" cy="0"/>
          </a:xfrm>
          <a:prstGeom prst="line">
            <a:avLst/>
          </a:prstGeom>
          <a:noFill/>
          <a:ln w="25400">
            <a:solidFill>
              <a:srgbClr val="6B5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851392" y="2157984"/>
            <a:ext cx="2487168" cy="1298448"/>
          </a:xfrm>
          <a:prstGeom prst="roundRect">
            <a:avLst>
              <a:gd name="adj" fmla="val 5634"/>
            </a:avLst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034272" y="22677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070848" y="2660904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070848" y="302666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operations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977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F3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B · DECIDE &amp; MODERNIZE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4306824"/>
            <a:ext cx="2487168" cy="1298448"/>
          </a:xfrm>
          <a:prstGeom prst="roundRect">
            <a:avLst>
              <a:gd name="adj" fmla="val 5634"/>
            </a:avLst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49808" y="44165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" y="4809744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" y="517550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IQ → Modernization IQ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08960" y="4956048"/>
            <a:ext cx="274320" cy="0"/>
          </a:xfrm>
          <a:prstGeom prst="line">
            <a:avLst/>
          </a:prstGeom>
          <a:noFill/>
          <a:ln w="25400">
            <a:solidFill>
              <a:srgbClr val="6B5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328416" y="4306824"/>
            <a:ext cx="2487168" cy="1298448"/>
          </a:xfrm>
          <a:prstGeom prst="roundRect">
            <a:avLst>
              <a:gd name="adj" fmla="val 5634"/>
            </a:avLst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3511296" y="44165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3547872" y="4809744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3547872" y="517550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Cloud Strategy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70448" y="4956048"/>
            <a:ext cx="274320" cy="0"/>
          </a:xfrm>
          <a:prstGeom prst="line">
            <a:avLst/>
          </a:prstGeom>
          <a:noFill/>
          <a:ln w="25400">
            <a:solidFill>
              <a:srgbClr val="6B5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089904" y="4306824"/>
            <a:ext cx="2487168" cy="1298448"/>
          </a:xfrm>
          <a:prstGeom prst="roundRect">
            <a:avLst>
              <a:gd name="adj" fmla="val 5634"/>
            </a:avLst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6272784" y="44165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6309360" y="4809744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Modernize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6309360" y="517550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 · Data Centre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631936" y="4956048"/>
            <a:ext cx="274320" cy="0"/>
          </a:xfrm>
          <a:prstGeom prst="line">
            <a:avLst/>
          </a:prstGeom>
          <a:noFill/>
          <a:ln w="25400">
            <a:solidFill>
              <a:srgbClr val="6B5A5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851392" y="4306824"/>
            <a:ext cx="2487168" cy="1298448"/>
          </a:xfrm>
          <a:prstGeom prst="roundRect">
            <a:avLst>
              <a:gd name="adj" fmla="val 5634"/>
            </a:avLst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9034272" y="44165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3" name="Text 41"/>
          <p:cNvSpPr txBox="1"/>
          <p:nvPr/>
        </p:nvSpPr>
        <p:spPr>
          <a:xfrm>
            <a:off x="9070848" y="4809744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9070848" y="517550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&amp; delivery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offerings — Application Modernization and Platform Engineering — can appear on either journey.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spine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ENGAGEMENT BEGINS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766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accelerators. Sort, then deepen.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self-assessment sorts the customer into a journey; a deeper read pinpoints the constraint; the evidence chooses the offering.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602736" cy="3200400"/>
          </a:xfrm>
          <a:prstGeom prst="roundRect">
            <a:avLst>
              <a:gd name="adj" fmla="val 2000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602736" cy="1051560"/>
          </a:xfrm>
          <a:prstGeom prst="roundRect">
            <a:avLst>
              <a:gd name="adj" fmla="val 6087"/>
            </a:avLst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2331720"/>
            <a:ext cx="3602736" cy="548640"/>
          </a:xfrm>
          <a:prstGeom prst="rect">
            <a:avLst/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p3_a_cloudi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1031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99032" y="2066544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IQ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46888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SELF-SERVE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58952" y="3017520"/>
            <a:ext cx="3090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B04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“Where am I on the cloud journey, and what’s my binding constraint?”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" y="4041648"/>
            <a:ext cx="3090672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58952" y="4114800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front door. Sorts the customer into Journey A (optimize) or Journey B (decide &amp; modernize), and flags the entry offering.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43400" y="1828800"/>
            <a:ext cx="3602736" cy="3200400"/>
          </a:xfrm>
          <a:prstGeom prst="roundRect">
            <a:avLst>
              <a:gd name="adj" fmla="val 2000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43400" y="1828800"/>
            <a:ext cx="3602736" cy="1051560"/>
          </a:xfrm>
          <a:prstGeom prst="roundRect">
            <a:avLst>
              <a:gd name="adj" fmla="val 6087"/>
            </a:avLst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343400" y="2331720"/>
            <a:ext cx="3602736" cy="548640"/>
          </a:xfrm>
          <a:prstGeom prst="rect">
            <a:avLst/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/home/claude/p3_a_finopsi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10312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239512" y="2066544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FinOps IQ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5257800" y="246888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· LTM-LED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4599432" y="3017520"/>
            <a:ext cx="3090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B04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much am I wasting, and where is the spend actually going?”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599432" y="4041648"/>
            <a:ext cx="3090672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4599432" y="4114800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A depth read — cost and unit-economics. Feeds FinOps Excellence (03.3) and the run-optimize offerings.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183880" y="1828800"/>
            <a:ext cx="3602736" cy="3200400"/>
          </a:xfrm>
          <a:prstGeom prst="roundRect">
            <a:avLst>
              <a:gd name="adj" fmla="val 2000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8183880" y="1828800"/>
            <a:ext cx="3602736" cy="1051560"/>
          </a:xfrm>
          <a:prstGeom prst="roundRect">
            <a:avLst>
              <a:gd name="adj" fmla="val 6087"/>
            </a:avLst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8183880" y="2331720"/>
            <a:ext cx="3602736" cy="548640"/>
          </a:xfrm>
          <a:prstGeom prst="rect">
            <a:avLst/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/home/claude/p3_a_modi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2103120"/>
            <a:ext cx="502920" cy="50292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079992" y="2066544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Modernization IQ</a:t>
            </a:r>
            <a:endParaRPr lang="en-US" sz="1900" dirty="0"/>
          </a:p>
        </p:txBody>
      </p:sp>
      <p:sp>
        <p:nvSpPr>
          <p:cNvPr id="28" name="Text 23"/>
          <p:cNvSpPr txBox="1"/>
          <p:nvPr/>
        </p:nvSpPr>
        <p:spPr>
          <a:xfrm>
            <a:off x="9098280" y="246888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· LTM-LED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8439912" y="3017520"/>
            <a:ext cx="3090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B04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in my estate should move, modernize or be re-sited — and in what order?”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8439912" y="4041648"/>
            <a:ext cx="3090672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 txBox="1"/>
          <p:nvPr/>
        </p:nvSpPr>
        <p:spPr>
          <a:xfrm>
            <a:off x="8439912" y="4114800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B depth read — application estate and data-centre disposition. Feeds Right Cloud (03.1), App Mod (03.4), Data Centre (03.5).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02920" y="5285232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FBEDE6"/>
          </a:solidFill>
          <a:ln w="9525">
            <a:solidFill>
              <a:srgbClr val="EEB0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 txBox="1"/>
          <p:nvPr/>
        </p:nvSpPr>
        <p:spPr>
          <a:xfrm>
            <a:off x="777240" y="5394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  </a:t>
            </a:r>
            <a:r>
              <a:rPr lang="en-US" sz="1400" i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IQ  →  sort into a journey  →  FinOps IQ / Modernization IQ  →  the offering the evidence points to  →  delivery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35" name="Text 30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 ·  OUT-PLACE EVERY WORKLOAD.   ·   JOURNEY B · anchor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03.1   </a:t>
            </a:r>
            <a:r>
              <a:rPr lang="en-US" sz="2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Cloud Strategy &amp; Workload Placement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6187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E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 </a:t>
            </a:r>
            <a:r>
              <a:rPr lang="en-US" sz="105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IQ → Modernization IQ      </a:t>
            </a:r>
            <a:r>
              <a:rPr lang="en-US" sz="900" b="1" kern="0" spc="100" dirty="0">
                <a:solidFill>
                  <a:srgbClr val="EE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 </a:t>
            </a:r>
            <a:r>
              <a:rPr lang="en-US" sz="105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03.4 Application Modernization · 03.5 Data Centre Strategy → migration delivery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394960" cy="2395728"/>
          </a:xfrm>
          <a:prstGeom prst="roundRect">
            <a:avLst>
              <a:gd name="adj" fmla="val 2290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9019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CIO a business-anchored answer to what goes where, and why — before a single workload moves. It sets hybrid and multi-cloud direction against cost, speed, resilience, sovereignty and AI-readiness, then places each workload across hyperscaler, sovereign, private, colocation and edge on evidence rather than vendor preference — including honest repatriation calls. It’s the strategy that stops a migration becoming an expensive accident.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4279392"/>
            <a:ext cx="5394960" cy="1627632"/>
          </a:xfrm>
          <a:prstGeom prst="roundRect">
            <a:avLst>
              <a:gd name="adj" fmla="val 3371"/>
            </a:avLst>
          </a:prstGeom>
          <a:solidFill>
            <a:srgbClr val="B0481E"/>
          </a:solidFill>
          <a:ln w="9525">
            <a:solidFill>
              <a:srgbClr val="B048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42569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700016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end-user spending is forecast at $850B in 2026, up 21.3%, with IaaS the fastest-growing segment at +24%. But cloud repatriation is now a documented 2026 CIO motion — misplaced workloads are being brought back. Placing workloads correctly before the move is the difference between the growth case and the regret case.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65099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0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Gartner / Flexera / FinOps Foundation, 2026.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5394960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92240" y="19019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WE SOLVE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1579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Enterprises are pushed to “move to cloud” without a defensible basis for what should move, where, or whether it should move at all.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69748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decisions are driven by hyperscaler incentives or internal politics, not workload economics.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view of cost, latency, data-gravity and regulatory fit per workload, so the estate ends up misplaced.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Lift-and-shift without a strategy inflates the cloud bill and disappoints on speed — the classic post-migration regret.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Repatriation is a live question, but there’s no framework to decide it rationally.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 or hybrid-by-choice customers have no roadmap to sequence a move they can fund.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4279392"/>
            <a:ext cx="5394960" cy="1627632"/>
          </a:xfrm>
          <a:prstGeom prst="roundRect">
            <a:avLst>
              <a:gd name="adj" fmla="val 3371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92240" y="44074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TO THE CUSTOMER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6817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placement decision you can defend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workload sited on cost, latency, data-gravity and regulatory evidence, not vendor push.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91581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regret avoided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strategy that prevents the inflated-bill, disappointing-speed outcome before it happens.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5149901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repatriation calls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Because LTM isn’t compensated on hyperscaler consumption.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383987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fundable wave plan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Sequenced adoption with per-wave business cases and go / no-go gates.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561807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 by design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Foundations placed for GPU-capable and data-gravity-aware workloads from the start.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 ·  Overview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 ·  THE JUMP START WAY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03.1   </a:t>
            </a:r>
            <a:r>
              <a:rPr lang="en-US" sz="2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Cloud Strategy &amp; Workload Placement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→ Ideate → Outcreate — every action falls into one of three phases.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602736" cy="868680"/>
          </a:xfrm>
          <a:prstGeom prst="roundRect">
            <a:avLst>
              <a:gd name="adj" fmla="val 7368"/>
            </a:avLst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3602736" cy="457200"/>
          </a:xfrm>
          <a:prstGeom prst="rect">
            <a:avLst/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p3_pe_underst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002536"/>
            <a:ext cx="438912" cy="4389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07592" y="19659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2951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· 1–2 wks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40664" y="2825496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business objectives — cost, speed, resilience, sovereignty, AI-readiness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AI-powered well-architected review across the estate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workload fit, cost, latency, data-gravity and regulatory constraints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0664" y="4983480"/>
            <a:ext cx="3127248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40664" y="505663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OUTPUTS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" y="527608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3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baseline · workload-fit assessment · constraint map · Understand Playback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087368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343400" y="178308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43400" y="1783080"/>
            <a:ext cx="3602736" cy="868680"/>
          </a:xfrm>
          <a:prstGeom prst="roundRect">
            <a:avLst>
              <a:gd name="adj" fmla="val 7368"/>
            </a:avLst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343400" y="2194560"/>
            <a:ext cx="3602736" cy="457200"/>
          </a:xfrm>
          <a:prstGeom prst="rect">
            <a:avLst/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/home/claude/p3_pe_ide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002536"/>
            <a:ext cx="438912" cy="43891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148072" y="19659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IDEATE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5166360" y="22951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4–8 wks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581144" y="2825496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hybrid / multi-cloud strategy anchored to business goals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workloads across hyperscaler / sovereign / private / colo / edge — incl. repatriation calls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wave-plan adoption roadmap with per-wave business cases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81144" y="4983480"/>
            <a:ext cx="3127248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4581144" y="505663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OUTPUTS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581144" y="527608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3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placement model · hybrid/multi-cloud strategy · wave-plan roadmap · advisory PoV · Ideate Playback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7927848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8183880" y="178308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8183880" y="1783080"/>
            <a:ext cx="3602736" cy="868680"/>
          </a:xfrm>
          <a:prstGeom prst="roundRect">
            <a:avLst>
              <a:gd name="adj" fmla="val 7368"/>
            </a:avLst>
          </a:prstGeom>
          <a:solidFill>
            <a:srgbClr val="6E2C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8183880" y="2194560"/>
            <a:ext cx="3602736" cy="457200"/>
          </a:xfrm>
          <a:prstGeom prst="rect">
            <a:avLst/>
          </a:prstGeom>
          <a:solidFill>
            <a:srgbClr val="6E2C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2" descr="/home/claude/p3_pe_outcre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002536"/>
            <a:ext cx="438912" cy="43891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988552" y="19659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OUTCREATE</a:t>
            </a:r>
            <a:endParaRPr lang="en-US" sz="1700" dirty="0"/>
          </a:p>
        </p:txBody>
      </p:sp>
      <p:sp>
        <p:nvSpPr>
          <p:cNvPr id="32" name="Text 27"/>
          <p:cNvSpPr txBox="1"/>
          <p:nvPr/>
        </p:nvSpPr>
        <p:spPr>
          <a:xfrm>
            <a:off x="9006840" y="22951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· final 2 wks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8421624" y="2825496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into an executive-ready cloud strategy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hybrid orchestration and control model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playback, decision sign-off, first-wave mobilization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8421624" y="4983480"/>
            <a:ext cx="3127248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 txBox="1"/>
          <p:nvPr/>
        </p:nvSpPr>
        <p:spPr>
          <a:xfrm>
            <a:off x="8421624" y="505663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OUTPUTS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8421624" y="527608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3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cloud strategy · orchestration model · mobilization plan · Executive Playback · Closure Pack</a:t>
            </a:r>
            <a:endParaRPr lang="en-US" sz="950" dirty="0"/>
          </a:p>
        </p:txBody>
      </p:sp>
      <p:sp>
        <p:nvSpPr>
          <p:cNvPr id="37" name="Text 3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38" name="Text 33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 ·  Solution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 ·  DELIVERABLES &amp; 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03.1   </a:t>
            </a:r>
            <a:r>
              <a:rPr lang="en-US" sz="2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Cloud Strategy &amp; Workload Placement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4480560"/>
          </a:xfrm>
          <a:prstGeom prst="roundRect">
            <a:avLst>
              <a:gd name="adj" fmla="val 1429"/>
            </a:avLst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3_pe_deli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8562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44168" y="19293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DELIVERABLES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artifacts you keep from the engagement.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77240" y="288036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16152" y="28437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baseline and AI-powered well-architected review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348386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3483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16152" y="34472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Per-workload placement model (incl. repatriation calls)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" y="40873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7724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16152" y="40507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/ multi-cloud target strategy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7240" y="469087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77240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216152" y="465429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Wave-plan adoption roadmap with per-wave business cases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77240" y="52943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777240" y="5294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216152" y="52578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cloud strategy and mobilization plan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63640" y="160020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EEF6F0"/>
          </a:solidFill>
          <a:ln w="9525">
            <a:solidFill>
              <a:srgbClr val="BFE3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/home/claude/x_chk_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1801368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976872" y="18379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6537960" y="225856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Business-anchored hybrid / multi-cloud strategy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Well-architected review and workload-fit assessment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Per-workload placement (hyperscaler / sovereign / private / colo / edge) incl. repatriation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Wave-plan adoption roadmap and business cases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orchestration and control model</a:t>
            </a:r>
            <a:endParaRPr lang="en-US" sz="970" dirty="0"/>
          </a:p>
        </p:txBody>
      </p:sp>
      <p:sp>
        <p:nvSpPr>
          <p:cNvPr id="27" name="Shape 23"/>
          <p:cNvSpPr/>
          <p:nvPr/>
        </p:nvSpPr>
        <p:spPr>
          <a:xfrm>
            <a:off x="6263640" y="4023360"/>
            <a:ext cx="5394960" cy="2057400"/>
          </a:xfrm>
          <a:prstGeom prst="roundRect">
            <a:avLst>
              <a:gd name="adj" fmla="val 3111"/>
            </a:avLst>
          </a:prstGeom>
          <a:solidFill>
            <a:srgbClr val="FBF1EE"/>
          </a:solidFill>
          <a:ln w="9525">
            <a:solidFill>
              <a:srgbClr val="EC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/home/claude/x_chk_o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4206240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976872" y="42428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6537960" y="4663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factory build and execution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Separate delivery</a:t>
            </a:r>
            <a:endParaRPr lang="en-US" sz="970" dirty="0"/>
          </a:p>
        </p:txBody>
      </p:sp>
      <p:sp>
        <p:nvSpPr>
          <p:cNvPr id="31" name="Text 26"/>
          <p:cNvSpPr txBox="1"/>
          <p:nvPr/>
        </p:nvSpPr>
        <p:spPr>
          <a:xfrm>
            <a:off x="653796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cost-optimization program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03.3 FinOps</a:t>
            </a:r>
            <a:endParaRPr lang="en-US" sz="970" dirty="0"/>
          </a:p>
        </p:txBody>
      </p:sp>
      <p:sp>
        <p:nvSpPr>
          <p:cNvPr id="32" name="Text 27"/>
          <p:cNvSpPr txBox="1"/>
          <p:nvPr/>
        </p:nvSpPr>
        <p:spPr>
          <a:xfrm>
            <a:off x="6537960" y="5212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refactoring / re-platforming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03.4 App Mod</a:t>
            </a:r>
            <a:endParaRPr lang="en-US" sz="97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486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Data-centre exit and AI-compute siting detail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03.5 DC Strategy</a:t>
            </a:r>
            <a:endParaRPr lang="en-US" sz="970" dirty="0"/>
          </a:p>
        </p:txBody>
      </p:sp>
      <p:sp>
        <p:nvSpPr>
          <p:cNvPr id="34" name="Text 29"/>
          <p:cNvSpPr txBox="1"/>
          <p:nvPr/>
        </p:nvSpPr>
        <p:spPr>
          <a:xfrm>
            <a:off x="6537960" y="5760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posture and geopatriation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Pillar 02</a:t>
            </a:r>
            <a:endParaRPr lang="en-US" sz="970" dirty="0"/>
          </a:p>
        </p:txBody>
      </p:sp>
      <p:sp>
        <p:nvSpPr>
          <p:cNvPr id="35" name="Text 3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36" name="Text 31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 ·  Deliverables &amp; scope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 ·  OUT-RUN THE SPRAWL.   ·   JOURNEY 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03.2   </a:t>
            </a:r>
            <a:r>
              <a:rPr lang="en-US" sz="2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&amp; Multi-Cloud Management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6187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E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 </a:t>
            </a:r>
            <a:r>
              <a:rPr lang="en-US" sz="105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IQ → FinOps IQ      </a:t>
            </a:r>
            <a:r>
              <a:rPr lang="en-US" sz="900" b="1" kern="0" spc="100" dirty="0">
                <a:solidFill>
                  <a:srgbClr val="EE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 </a:t>
            </a:r>
            <a:r>
              <a:rPr lang="en-US" sz="105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multi-cloud operations · 03.6 Platform Engineering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394960" cy="2395728"/>
          </a:xfrm>
          <a:prstGeom prst="roundRect">
            <a:avLst>
              <a:gd name="adj" fmla="val 2290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9019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CIO a single, governable operating model across a genuinely mixed estate. It turns fragmented hyperscaler, private and on-prem environments into one managed service to the business — consistent controls, visibility and orchestration — so multi-cloud is a deliberate advantage rather than accidental complexity nobody owns.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4279392"/>
            <a:ext cx="5394960" cy="1627632"/>
          </a:xfrm>
          <a:prstGeom prst="roundRect">
            <a:avLst>
              <a:gd name="adj" fmla="val 3371"/>
            </a:avLst>
          </a:prstGeom>
          <a:solidFill>
            <a:srgbClr val="B0481E"/>
          </a:solidFill>
          <a:ln w="9525">
            <a:solidFill>
              <a:srgbClr val="B048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42569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700016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of enterprises now operate across two or more cloud providers, and unified cost and control visibility is the #1 cited FinOps challenge. As AI workloads multiply environments further, the estate that isn’t governed as one becomes ungovernable.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65099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0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Gartner / Flexera / FinOps Foundation, 2026.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5394960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92240" y="19019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WE SOLVE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1579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Multi-cloud happened by accretion, not design — and now no one can govern it as one estate.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69748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of enterprises now run two or more clouds, but tooling, controls and visibility are siloed per provider.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security, identity and policy across clouds create gaps and audit pain.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 of cost, performance or compliance — each cloud is its own island.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stretched thin across providers; operational toil compounds with every new environment.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(cloud + on-prem) estates have no coherent orchestration or control plane.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4279392"/>
            <a:ext cx="5394960" cy="1627632"/>
          </a:xfrm>
          <a:prstGeom prst="roundRect">
            <a:avLst>
              <a:gd name="adj" fmla="val 3371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92240" y="44074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TO THE CUSTOMER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6817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estate, not many islands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Consistent controls, identity and policy across every cloud and on-prem.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91581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visibility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Cost, performance and compliance in a single pane, not per-provider spreadsheets.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5149901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 reduced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Orchestration and automation that cut the operational load of a mixed estate.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383987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multi-cloud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deliberate-advantage version, not the accidental-complexity version.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561807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consistency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Controls that hold up across providers when a regulator asks.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 ·  Overview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 ·  THE JUMP START WAY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03.2   </a:t>
            </a:r>
            <a:r>
              <a:rPr lang="en-US" sz="2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&amp; Multi-Cloud Management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→ Ideate → Outcreate — every action falls into one of three phases.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602736" cy="868680"/>
          </a:xfrm>
          <a:prstGeom prst="roundRect">
            <a:avLst>
              <a:gd name="adj" fmla="val 7368"/>
            </a:avLst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3602736" cy="457200"/>
          </a:xfrm>
          <a:prstGeom prst="rect">
            <a:avLst/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p3_pe_underst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002536"/>
            <a:ext cx="438912" cy="4389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07592" y="19659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2951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· 1–2 wks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40664" y="2825496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the hybrid / multi-cloud estate, tooling and controls per environment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consistency gaps in security, identity, policy and visibility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operating model and toil sources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0664" y="4983480"/>
            <a:ext cx="3127248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40664" y="505663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OUTPUTS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" y="527608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3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&amp; tooling inventory · consistency-gap assessment · operating baseline · Understand Playback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087368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343400" y="178308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43400" y="1783080"/>
            <a:ext cx="3602736" cy="868680"/>
          </a:xfrm>
          <a:prstGeom prst="roundRect">
            <a:avLst>
              <a:gd name="adj" fmla="val 7368"/>
            </a:avLst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343400" y="2194560"/>
            <a:ext cx="3602736" cy="457200"/>
          </a:xfrm>
          <a:prstGeom prst="rect">
            <a:avLst/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/home/claude/p3_pe_ide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002536"/>
            <a:ext cx="438912" cy="43891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148072" y="19659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IDEATE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5166360" y="22951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4–8 wks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581144" y="2825496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unified operating model — controls, identity, policy, observability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orchestration and control-plane architecture across clouds and on-prem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cost, performance and compliance visibility in a single pane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81144" y="4983480"/>
            <a:ext cx="3127248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4581144" y="505663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OUTPUTS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581144" y="527608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3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operating model · orchestration architecture · unified-visibility design · advisory PoV · Ideate Playback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7927848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8183880" y="178308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8183880" y="1783080"/>
            <a:ext cx="3602736" cy="868680"/>
          </a:xfrm>
          <a:prstGeom prst="roundRect">
            <a:avLst>
              <a:gd name="adj" fmla="val 7368"/>
            </a:avLst>
          </a:prstGeom>
          <a:solidFill>
            <a:srgbClr val="6E2C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8183880" y="2194560"/>
            <a:ext cx="3602736" cy="457200"/>
          </a:xfrm>
          <a:prstGeom prst="rect">
            <a:avLst/>
          </a:prstGeom>
          <a:solidFill>
            <a:srgbClr val="6E2C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2" descr="/home/claude/p3_pe_outcre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002536"/>
            <a:ext cx="438912" cy="43891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988552" y="19659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OUTCREATE</a:t>
            </a:r>
            <a:endParaRPr lang="en-US" sz="1700" dirty="0"/>
          </a:p>
        </p:txBody>
      </p:sp>
      <p:sp>
        <p:nvSpPr>
          <p:cNvPr id="32" name="Text 27"/>
          <p:cNvSpPr txBox="1"/>
          <p:nvPr/>
        </p:nvSpPr>
        <p:spPr>
          <a:xfrm>
            <a:off x="9006840" y="22951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· final 2 wks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8421624" y="2825496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into an executive-ready multi-cloud management blueprint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governance, ownership and the run model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playback, decision sign-off, mobilization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8421624" y="4983480"/>
            <a:ext cx="3127248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 txBox="1"/>
          <p:nvPr/>
        </p:nvSpPr>
        <p:spPr>
          <a:xfrm>
            <a:off x="8421624" y="505663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OUTPUTS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8421624" y="527608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3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blueprint · governance &amp; run model · mobilization plan · Executive Playback · Closure Pack</a:t>
            </a:r>
            <a:endParaRPr lang="en-US" sz="950" dirty="0"/>
          </a:p>
        </p:txBody>
      </p:sp>
      <p:sp>
        <p:nvSpPr>
          <p:cNvPr id="37" name="Text 3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38" name="Text 33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 ·  Solution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 ·  DELIVERABLES &amp; 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03.2   </a:t>
            </a:r>
            <a:r>
              <a:rPr lang="en-US" sz="2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&amp; Multi-Cloud Management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4480560"/>
          </a:xfrm>
          <a:prstGeom prst="roundRect">
            <a:avLst>
              <a:gd name="adj" fmla="val 1429"/>
            </a:avLst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3_pe_deli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8562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44168" y="19293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DELIVERABLES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artifacts you keep from the engagement.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77240" y="288036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16152" y="28437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/ multi-cloud estate and tooling inventory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348386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3483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16152" y="34472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Consistency-gap assessment (security, identity, policy, visibility)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" y="40873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7724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16152" y="40507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unified operating model and orchestration architecture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7240" y="469087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77240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216152" y="465429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cost / performance / compliance visibility design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77240" y="52943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777240" y="5294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216152" y="52578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multi-cloud management blueprint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63640" y="160020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EEF6F0"/>
          </a:solidFill>
          <a:ln w="9525">
            <a:solidFill>
              <a:srgbClr val="BFE3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/home/claude/x_chk_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1801368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976872" y="18379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6537960" y="225856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and hybrid operating-model design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Cross-cloud controls, identity and policy consistency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and control-plane architecture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visibility (cost / performance / compliance) design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and run-model definition</a:t>
            </a:r>
            <a:endParaRPr lang="en-US" sz="970" dirty="0"/>
          </a:p>
        </p:txBody>
      </p:sp>
      <p:sp>
        <p:nvSpPr>
          <p:cNvPr id="27" name="Shape 23"/>
          <p:cNvSpPr/>
          <p:nvPr/>
        </p:nvSpPr>
        <p:spPr>
          <a:xfrm>
            <a:off x="6263640" y="4023360"/>
            <a:ext cx="5394960" cy="2057400"/>
          </a:xfrm>
          <a:prstGeom prst="roundRect">
            <a:avLst>
              <a:gd name="adj" fmla="val 3111"/>
            </a:avLst>
          </a:prstGeom>
          <a:solidFill>
            <a:srgbClr val="FBF1EE"/>
          </a:solidFill>
          <a:ln w="9525">
            <a:solidFill>
              <a:srgbClr val="EC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/home/claude/x_chk_o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4206240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976872" y="42428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6537960" y="4663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strategy and workload placement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03.1 Right Cloud</a:t>
            </a:r>
            <a:endParaRPr lang="en-US" sz="970" dirty="0"/>
          </a:p>
        </p:txBody>
      </p:sp>
      <p:sp>
        <p:nvSpPr>
          <p:cNvPr id="31" name="Text 26"/>
          <p:cNvSpPr txBox="1"/>
          <p:nvPr/>
        </p:nvSpPr>
        <p:spPr>
          <a:xfrm>
            <a:off x="653796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cost-optimization delivery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03.3 FinOps</a:t>
            </a:r>
            <a:endParaRPr lang="en-US" sz="970" dirty="0"/>
          </a:p>
        </p:txBody>
      </p:sp>
      <p:sp>
        <p:nvSpPr>
          <p:cNvPr id="32" name="Text 27"/>
          <p:cNvSpPr txBox="1"/>
          <p:nvPr/>
        </p:nvSpPr>
        <p:spPr>
          <a:xfrm>
            <a:off x="6537960" y="5212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 build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03.6 Platform Eng</a:t>
            </a:r>
            <a:endParaRPr lang="en-US" sz="97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486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/ security operations services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LTM Security</a:t>
            </a:r>
            <a:endParaRPr lang="en-US" sz="970" dirty="0"/>
          </a:p>
        </p:txBody>
      </p:sp>
      <p:sp>
        <p:nvSpPr>
          <p:cNvPr id="34" name="Text 29"/>
          <p:cNvSpPr txBox="1"/>
          <p:nvPr/>
        </p:nvSpPr>
        <p:spPr>
          <a:xfrm>
            <a:off x="6537960" y="5760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managed-run service itself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Separate delivery</a:t>
            </a:r>
            <a:endParaRPr lang="en-US" sz="970" dirty="0"/>
          </a:p>
        </p:txBody>
      </p:sp>
      <p:sp>
        <p:nvSpPr>
          <p:cNvPr id="35" name="Text 3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36" name="Text 31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 ·  Deliverables &amp; scope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 ·  OUT-SMART THE SPEND.   ·   JOURNEY A · anchor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03.3   </a:t>
            </a:r>
            <a:r>
              <a:rPr lang="en-US" sz="2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FinOps Excellence &amp; Cloud Unit Economics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6187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E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 </a:t>
            </a:r>
            <a:r>
              <a:rPr lang="en-US" sz="105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IQ → FinOps IQ      </a:t>
            </a:r>
            <a:r>
              <a:rPr lang="en-US" sz="900" b="1" kern="0" spc="100" dirty="0">
                <a:solidFill>
                  <a:srgbClr val="EE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 </a:t>
            </a:r>
            <a:r>
              <a:rPr lang="en-US" sz="105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FinOps services · continuous optimization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394960" cy="2395728"/>
          </a:xfrm>
          <a:prstGeom prst="roundRect">
            <a:avLst>
              <a:gd name="adj" fmla="val 2290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9019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cloud spend from an untracked liability into a governed, unit-economics-driven asset. It baselines FinOps maturity, delivers near-term cost-out, and embeds cost accountability where cost is incurred — linking spend to business unit economics (cost per customer, per feature, per AI workload) so the conversation moves from how much we spent to what it produced.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4279392"/>
            <a:ext cx="5394960" cy="1627632"/>
          </a:xfrm>
          <a:prstGeom prst="roundRect">
            <a:avLst>
              <a:gd name="adj" fmla="val 3371"/>
            </a:avLst>
          </a:prstGeom>
          <a:solidFill>
            <a:srgbClr val="B0481E"/>
          </a:solidFill>
          <a:ln w="9525">
            <a:solidFill>
              <a:srgbClr val="B048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42569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700016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Flexera’s 2026 report puts wasted cloud spend at 29% — the first rise in five years — as AI makes cost structurally harder to forecast. 85% of decision-makers now cite spend management as a top problem, ahead of security. On a $10M annual cloud bill, that waste is $2.5–3.5M of avoidable cost every year.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65099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0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Gartner / Flexera / FinOps Foundation, 2026.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5394960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92240" y="19019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WE SOLVE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1579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spend is growing faster than the ability to see, govern or justify it.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69748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of cloud spend is wasted — a five-year high, driven by AI workloads outrunning finance’s ability to forecast.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exceed cloud budgets by ~17%, a gap that compounds fast at scale.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visibility, not overspend, is the #1 problem — 77% can’t see where spend happens or who owns it.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are incentivized to ship, not optimize — cost decisions are made after the fact, if at all.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GPU spend is the fastest-growing waste category, with idle accelerators at 30–40% utilization.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4279392"/>
            <a:ext cx="5394960" cy="1627632"/>
          </a:xfrm>
          <a:prstGeom prst="roundRect">
            <a:avLst>
              <a:gd name="adj" fmla="val 3371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92240" y="44074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TO THE CUSTOMER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6817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cost-out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Mature FinOps cuts waste from ~29% to 15–20%; typical programs report 25–30% monthly savings.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91581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Visibility, finally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Spend seen by service, team, feature and AI workload, with clear ownership.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5149901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decisions at the source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FinOps embedded in engineering, so waste is prevented, not just reported.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383987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economics, not raw bills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Cost per customer / feature / AI workload, tying spend to value.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561807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 under control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Governance over the fastest-growing, least-predictable spend.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03.3  ·  Overview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 ·  THE JUMP START WAY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03.3   </a:t>
            </a:r>
            <a:r>
              <a:rPr lang="en-US" sz="2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FinOps Excellence &amp; Cloud Unit Economics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→ Ideate → Outcreate — every action falls into one of three phases.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602736" cy="868680"/>
          </a:xfrm>
          <a:prstGeom prst="roundRect">
            <a:avLst>
              <a:gd name="adj" fmla="val 7368"/>
            </a:avLst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3602736" cy="457200"/>
          </a:xfrm>
          <a:prstGeom prst="rect">
            <a:avLst/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p3_pe_underst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002536"/>
            <a:ext cx="438912" cy="4389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07592" y="19659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2951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· 1–2 wks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40664" y="2825496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FinOps maturity against the FinOps Foundation model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bill and usage; identify the highest-yield cost-out opportunities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waste concentration (idle, over-provisioned, orphaned, AI/GPU)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0664" y="4983480"/>
            <a:ext cx="3127248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40664" y="505663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OUTPUTS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" y="527608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3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maturity baseline · prioritized savings register · waste-concentration view · Understand Playback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087368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343400" y="178308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43400" y="1783080"/>
            <a:ext cx="3602736" cy="868680"/>
          </a:xfrm>
          <a:prstGeom prst="roundRect">
            <a:avLst>
              <a:gd name="adj" fmla="val 7368"/>
            </a:avLst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343400" y="2194560"/>
            <a:ext cx="3602736" cy="457200"/>
          </a:xfrm>
          <a:prstGeom prst="rect">
            <a:avLst/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/home/claude/p3_pe_ide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002536"/>
            <a:ext cx="438912" cy="43891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148072" y="19659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IDEATE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5166360" y="22951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4–8 wks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581144" y="2825496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FinOps operating model — roles, cadence, tooling, showback/chargeback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unit-economics reporting (cost per customer / feature / workload)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cost-aware architecture patterns and automated guardrails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81144" y="4983480"/>
            <a:ext cx="3127248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4581144" y="505663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OUTPUTS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581144" y="527608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3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operating model · unit-economics reporting design · guardrail patterns · advisory PoV · Ideate Playback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7927848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8183880" y="178308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8183880" y="1783080"/>
            <a:ext cx="3602736" cy="868680"/>
          </a:xfrm>
          <a:prstGeom prst="roundRect">
            <a:avLst>
              <a:gd name="adj" fmla="val 7368"/>
            </a:avLst>
          </a:prstGeom>
          <a:solidFill>
            <a:srgbClr val="6E2C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8183880" y="2194560"/>
            <a:ext cx="3602736" cy="457200"/>
          </a:xfrm>
          <a:prstGeom prst="rect">
            <a:avLst/>
          </a:prstGeom>
          <a:solidFill>
            <a:srgbClr val="6E2C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2" descr="/home/claude/p3_pe_outcre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002536"/>
            <a:ext cx="438912" cy="43891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988552" y="19659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OUTCREATE</a:t>
            </a:r>
            <a:endParaRPr lang="en-US" sz="1700" dirty="0"/>
          </a:p>
        </p:txBody>
      </p:sp>
      <p:sp>
        <p:nvSpPr>
          <p:cNvPr id="32" name="Text 27"/>
          <p:cNvSpPr txBox="1"/>
          <p:nvPr/>
        </p:nvSpPr>
        <p:spPr>
          <a:xfrm>
            <a:off x="9006840" y="22951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· final 2 wks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8421624" y="2825496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into an executive-ready FinOps roadmap with committed savings targets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governance forums and sustaining discipline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playback, decision sign-off, first cost-out wave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8421624" y="4983480"/>
            <a:ext cx="3127248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 txBox="1"/>
          <p:nvPr/>
        </p:nvSpPr>
        <p:spPr>
          <a:xfrm>
            <a:off x="8421624" y="505663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OUTPUTS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8421624" y="527608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3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FinOps roadmap · governance model · mobilization plan · Executive Playback · Closure Pack</a:t>
            </a:r>
            <a:endParaRPr lang="en-US" sz="950" dirty="0"/>
          </a:p>
        </p:txBody>
      </p:sp>
      <p:sp>
        <p:nvSpPr>
          <p:cNvPr id="37" name="Text 3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38" name="Text 33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03.3  ·  Solution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 ·  DELIVERABLES &amp; 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03.3   </a:t>
            </a:r>
            <a:r>
              <a:rPr lang="en-US" sz="2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FinOps Excellence &amp; Cloud Unit Economics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4480560"/>
          </a:xfrm>
          <a:prstGeom prst="roundRect">
            <a:avLst>
              <a:gd name="adj" fmla="val 1429"/>
            </a:avLst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3_pe_deli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8562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44168" y="19293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DELIVERABLES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artifacts you keep from the engagement.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77240" y="288036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16152" y="28437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maturity baseline and prioritized savings register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348386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3483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16152" y="34472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operating model (roles, cadence, showback/chargeback)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" y="40873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7724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16152" y="40507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unit-economics reporting design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7240" y="469087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77240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216152" y="465429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architecture and guardrail patterns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77240" y="52943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777240" y="5294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216152" y="52578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FinOps roadmap with committed savings targets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63640" y="160020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EEF6F0"/>
          </a:solidFill>
          <a:ln w="9525">
            <a:solidFill>
              <a:srgbClr val="BFE3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/home/claude/x_chk_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1801368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976872" y="18379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6537960" y="225856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maturity assessment and savings identification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/ usage analytics and waste-concentration analysis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operating-model and showback/chargeback design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unit-economics reporting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architecture and guardrail design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GPU cost-governance framing</a:t>
            </a:r>
            <a:endParaRPr lang="en-US" sz="970" dirty="0"/>
          </a:p>
        </p:txBody>
      </p:sp>
      <p:sp>
        <p:nvSpPr>
          <p:cNvPr id="27" name="Shape 23"/>
          <p:cNvSpPr/>
          <p:nvPr/>
        </p:nvSpPr>
        <p:spPr>
          <a:xfrm>
            <a:off x="6263640" y="4023360"/>
            <a:ext cx="5394960" cy="2057400"/>
          </a:xfrm>
          <a:prstGeom prst="roundRect">
            <a:avLst>
              <a:gd name="adj" fmla="val 3111"/>
            </a:avLst>
          </a:prstGeom>
          <a:solidFill>
            <a:srgbClr val="FBF1EE"/>
          </a:solidFill>
          <a:ln w="9525">
            <a:solidFill>
              <a:srgbClr val="EC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/home/claude/x_chk_o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4206240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976872" y="42428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6537960" y="4663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Non-cloud IT cost and TBM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Pillar 01</a:t>
            </a:r>
            <a:endParaRPr lang="en-US" sz="970" dirty="0"/>
          </a:p>
        </p:txBody>
      </p:sp>
      <p:sp>
        <p:nvSpPr>
          <p:cNvPr id="31" name="Text 26"/>
          <p:cNvSpPr txBox="1"/>
          <p:nvPr/>
        </p:nvSpPr>
        <p:spPr>
          <a:xfrm>
            <a:off x="653796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token economics deep-dive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Pillar 04</a:t>
            </a:r>
            <a:endParaRPr lang="en-US" sz="970" dirty="0"/>
          </a:p>
        </p:txBody>
      </p:sp>
      <p:sp>
        <p:nvSpPr>
          <p:cNvPr id="32" name="Text 27"/>
          <p:cNvSpPr txBox="1"/>
          <p:nvPr/>
        </p:nvSpPr>
        <p:spPr>
          <a:xfrm>
            <a:off x="6537960" y="5212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FinOps run service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Separate delivery</a:t>
            </a:r>
            <a:endParaRPr lang="en-US" sz="97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486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remediation build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Separate delivery</a:t>
            </a:r>
            <a:endParaRPr lang="en-US" sz="970" dirty="0"/>
          </a:p>
        </p:txBody>
      </p:sp>
      <p:sp>
        <p:nvSpPr>
          <p:cNvPr id="34" name="Text 29"/>
          <p:cNvSpPr txBox="1"/>
          <p:nvPr/>
        </p:nvSpPr>
        <p:spPr>
          <a:xfrm>
            <a:off x="6537960" y="5760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placement strategy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03.1 Right Cloud</a:t>
            </a:r>
            <a:endParaRPr lang="en-US" sz="970" dirty="0"/>
          </a:p>
        </p:txBody>
      </p:sp>
      <p:sp>
        <p:nvSpPr>
          <p:cNvPr id="35" name="Text 3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36" name="Text 31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03.3  ·  Deliverables &amp; scope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 ·  OUT-MODERNIZE THE DRAG.   ·   SHARED · A + 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03.4   </a:t>
            </a:r>
            <a:r>
              <a:rPr lang="en-US" sz="2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Modernization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6187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E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 </a:t>
            </a:r>
            <a:r>
              <a:rPr lang="en-US" sz="105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IQ → Modernization IQ (or from 03.1 Right Cloud Strategy)      </a:t>
            </a:r>
            <a:r>
              <a:rPr lang="en-US" sz="900" b="1" kern="0" spc="100" dirty="0">
                <a:solidFill>
                  <a:srgbClr val="EE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 </a:t>
            </a:r>
            <a:r>
              <a:rPr lang="en-US" sz="105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factory delivery · post-modernization managed services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394960" cy="2395728"/>
          </a:xfrm>
          <a:prstGeom prst="roundRect">
            <a:avLst>
              <a:gd name="adj" fmla="val 2290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9019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Rationalizes the application portfolio and sequences a modernization plan that lands business value early. It decides — per application — retain, refactor, rehost, replatform, replace or retire, on cost, business value and complexity; engineers workload performance; and removes the technical debt modernization exposes, so run-cost falls durably rather than temporarily.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4279392"/>
            <a:ext cx="5394960" cy="1627632"/>
          </a:xfrm>
          <a:prstGeom prst="roundRect">
            <a:avLst>
              <a:gd name="adj" fmla="val 3371"/>
            </a:avLst>
          </a:prstGeom>
          <a:solidFill>
            <a:srgbClr val="B0481E"/>
          </a:solidFill>
          <a:ln w="9525">
            <a:solidFill>
              <a:srgbClr val="B048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42569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700016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raising the bar on every application while legacy drag holds enterprises back; data-centre and modernization spend is climbing as estates rebuild their foundations. Modernizing the portfolio deliberately — value-first, debt-aware — is what frees capacity and capital for the AI agenda.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65099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0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Gartner / Flexera / FinOps Foundation, 2026.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5394960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92240" y="19019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WE SOLVE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1579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applications are the drag on every new initiative — but there’s no evidenced plan to modernize them without breaking the business.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69748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 is undocumented and un-rationalized — no consistent view of value, cost and modernization complexity.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decisions are made app-by-app on instinct, not a consistent 6R/7R disposition.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inflates run-cost and slows delivery, but paydown isn’t prioritized by ROI.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Big-bang modernization is too risky to fund; value lands (if ever) only at program end.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and cost outcomes aren’t measured — success is counted in migrations, not business results.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4279392"/>
            <a:ext cx="5394960" cy="1627632"/>
          </a:xfrm>
          <a:prstGeom prst="roundRect">
            <a:avLst>
              <a:gd name="adj" fmla="val 3371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92240" y="44074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TO THE CUSTOMER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6817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rationalized portfolio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app dispositioned (retain / refactor / rehost / replatform / replace / retire) on consistent criteria.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91581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early, not at program end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Wave-sequenced so business-critical workloads modernize first.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5149901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run-cost reduction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Technical debt removed as modernization exposes it, not left to regrow.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383987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engineered in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Throughput up, latency and run-cost per transaction down.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561807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measured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Release frequency, latency, unit run-cost — not migration counts.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03.4  ·  Overview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 ·  THE JUMP START WAY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03.4   </a:t>
            </a:r>
            <a:r>
              <a:rPr lang="en-US" sz="2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Modernization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→ Ideate → Outcreate — every action falls into one of three phases.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602736" cy="868680"/>
          </a:xfrm>
          <a:prstGeom prst="roundRect">
            <a:avLst>
              <a:gd name="adj" fmla="val 7368"/>
            </a:avLst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3602736" cy="457200"/>
          </a:xfrm>
          <a:prstGeom prst="rect">
            <a:avLst/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p3_pe_underst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002536"/>
            <a:ext cx="438912" cy="4389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07592" y="19659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2951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· 1–2 wks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40664" y="2825496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and profile the application portfolio (value, cost, complexity, dependencies)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technical debt and performance constraints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business priorities and modernization drivers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0664" y="4983480"/>
            <a:ext cx="3127248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40664" y="505663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OUTPUTS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" y="527608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3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inventory · tech-debt &amp; performance assessment · driver map · Understand Playback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087368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343400" y="178308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43400" y="1783080"/>
            <a:ext cx="3602736" cy="868680"/>
          </a:xfrm>
          <a:prstGeom prst="roundRect">
            <a:avLst>
              <a:gd name="adj" fmla="val 7368"/>
            </a:avLst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343400" y="2194560"/>
            <a:ext cx="3602736" cy="457200"/>
          </a:xfrm>
          <a:prstGeom prst="rect">
            <a:avLst/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/home/claude/p3_pe_ide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002536"/>
            <a:ext cx="438912" cy="43891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148072" y="19659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IDEATE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5166360" y="22951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4–8 wks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581144" y="2825496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6R/7R disposition per application on consistent criteria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workload performance-engineering and debt-paydown approach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the modernization wave-plan, value-first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81144" y="4983480"/>
            <a:ext cx="3127248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4581144" y="505663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OUTPUTS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581144" y="527608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3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model · performance &amp; debt plan · modernization wave-plan · advisory PoV · Ideate Playback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7927848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8183880" y="178308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8183880" y="1783080"/>
            <a:ext cx="3602736" cy="868680"/>
          </a:xfrm>
          <a:prstGeom prst="roundRect">
            <a:avLst>
              <a:gd name="adj" fmla="val 7368"/>
            </a:avLst>
          </a:prstGeom>
          <a:solidFill>
            <a:srgbClr val="6E2C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8183880" y="2194560"/>
            <a:ext cx="3602736" cy="457200"/>
          </a:xfrm>
          <a:prstGeom prst="rect">
            <a:avLst/>
          </a:prstGeom>
          <a:solidFill>
            <a:srgbClr val="6E2C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2" descr="/home/claude/p3_pe_outcre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002536"/>
            <a:ext cx="438912" cy="43891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988552" y="19659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OUTCREATE</a:t>
            </a:r>
            <a:endParaRPr lang="en-US" sz="1700" dirty="0"/>
          </a:p>
        </p:txBody>
      </p:sp>
      <p:sp>
        <p:nvSpPr>
          <p:cNvPr id="32" name="Text 27"/>
          <p:cNvSpPr txBox="1"/>
          <p:nvPr/>
        </p:nvSpPr>
        <p:spPr>
          <a:xfrm>
            <a:off x="9006840" y="22951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· final 2 wks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8421624" y="2825496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into an executive-ready modernization roadmap tied to measurable outcomes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wave business cases and success metrics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playback, decision sign-off, first-wave mobilization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8421624" y="4983480"/>
            <a:ext cx="3127248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 txBox="1"/>
          <p:nvPr/>
        </p:nvSpPr>
        <p:spPr>
          <a:xfrm>
            <a:off x="8421624" y="505663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OUTPUTS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8421624" y="527608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3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modernization roadmap · outcome metrics · mobilization plan · Executive Playback · Closure Pack</a:t>
            </a:r>
            <a:endParaRPr lang="en-US" sz="950" dirty="0"/>
          </a:p>
        </p:txBody>
      </p:sp>
      <p:sp>
        <p:nvSpPr>
          <p:cNvPr id="37" name="Text 3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38" name="Text 33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03.4  ·  Solution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 ·  DELIVERABLES &amp; 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03.4   </a:t>
            </a:r>
            <a:r>
              <a:rPr lang="en-US" sz="2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Modernization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4480560"/>
          </a:xfrm>
          <a:prstGeom prst="roundRect">
            <a:avLst>
              <a:gd name="adj" fmla="val 1429"/>
            </a:avLst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3_pe_deli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8562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44168" y="19293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DELIVERABLES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artifacts you keep from the engagement.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77240" y="288036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16152" y="28437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portfolio inventory and profiling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348386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3483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16152" y="34472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Technical-debt and performance assessment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" y="40873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7724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16152" y="40507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Per-application 6R/7R disposition model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7240" y="469087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77240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216152" y="465429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Value-first modernization wave-plan with outcome metrics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77240" y="52943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777240" y="5294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216152" y="52578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modernization roadmap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63640" y="160020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EEF6F0"/>
          </a:solidFill>
          <a:ln w="9525">
            <a:solidFill>
              <a:srgbClr val="BFE3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/home/claude/x_chk_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1801368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976872" y="18379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6537960" y="225856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portfolio rationalization (6R/7R)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Technical-debt and performance assessment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performance-engineering approach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 modernization strategy (modernize / encapsulate / migrate / sustain)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Value-first wave sequencing and outcome definition</a:t>
            </a:r>
            <a:endParaRPr lang="en-US" sz="970" dirty="0"/>
          </a:p>
        </p:txBody>
      </p:sp>
      <p:sp>
        <p:nvSpPr>
          <p:cNvPr id="27" name="Shape 23"/>
          <p:cNvSpPr/>
          <p:nvPr/>
        </p:nvSpPr>
        <p:spPr>
          <a:xfrm>
            <a:off x="6263640" y="4023360"/>
            <a:ext cx="5394960" cy="2057400"/>
          </a:xfrm>
          <a:prstGeom prst="roundRect">
            <a:avLst>
              <a:gd name="adj" fmla="val 3111"/>
            </a:avLst>
          </a:prstGeom>
          <a:solidFill>
            <a:srgbClr val="FBF1EE"/>
          </a:solidFill>
          <a:ln w="9525">
            <a:solidFill>
              <a:srgbClr val="EC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/home/claude/x_chk_o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4206240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976872" y="42428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6537960" y="4663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re-engineering / modernization build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Separate delivery</a:t>
            </a:r>
            <a:endParaRPr lang="en-US" sz="970" dirty="0"/>
          </a:p>
        </p:txBody>
      </p:sp>
      <p:sp>
        <p:nvSpPr>
          <p:cNvPr id="31" name="Text 26"/>
          <p:cNvSpPr txBox="1"/>
          <p:nvPr/>
        </p:nvSpPr>
        <p:spPr>
          <a:xfrm>
            <a:off x="653796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Sovereignty-driven application disposition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02.4 (Pillar 02)</a:t>
            </a:r>
            <a:endParaRPr lang="en-US" sz="970" dirty="0"/>
          </a:p>
        </p:txBody>
      </p:sp>
      <p:sp>
        <p:nvSpPr>
          <p:cNvPr id="32" name="Text 27"/>
          <p:cNvSpPr txBox="1"/>
          <p:nvPr/>
        </p:nvSpPr>
        <p:spPr>
          <a:xfrm>
            <a:off x="6537960" y="5212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and data quality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LTM Data</a:t>
            </a:r>
            <a:endParaRPr lang="en-US" sz="97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486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placement strategy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03.1 Right Cloud</a:t>
            </a:r>
            <a:endParaRPr lang="en-US" sz="970" dirty="0"/>
          </a:p>
        </p:txBody>
      </p:sp>
      <p:sp>
        <p:nvSpPr>
          <p:cNvPr id="34" name="Text 29"/>
          <p:cNvSpPr txBox="1"/>
          <p:nvPr/>
        </p:nvSpPr>
        <p:spPr>
          <a:xfrm>
            <a:off x="6537960" y="5760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Cost-optimization program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03.3 FinOps</a:t>
            </a:r>
            <a:endParaRPr lang="en-US" sz="970" dirty="0"/>
          </a:p>
        </p:txBody>
      </p:sp>
      <p:sp>
        <p:nvSpPr>
          <p:cNvPr id="35" name="Text 3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36" name="Text 31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03.4  ·  Deliverables &amp; scope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 ·  OUT-SITE THE COMPUTE.   ·   JOURNEY 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03.5   </a:t>
            </a:r>
            <a:r>
              <a:rPr lang="en-US" sz="2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Centre &amp; Compute Capacity Strategy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6187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E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 </a:t>
            </a:r>
            <a:r>
              <a:rPr lang="en-US" sz="105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IQ → Modernization IQ      </a:t>
            </a:r>
            <a:r>
              <a:rPr lang="en-US" sz="900" b="1" kern="0" spc="100" dirty="0">
                <a:solidFill>
                  <a:srgbClr val="EE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 </a:t>
            </a:r>
            <a:r>
              <a:rPr lang="en-US" sz="105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migration &amp; decommissioning · AI infrastructure build · hosting managed services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394960" cy="2395728"/>
          </a:xfrm>
          <a:prstGeom prst="roundRect">
            <a:avLst>
              <a:gd name="adj" fmla="val 2290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9019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the live 2026 question: where does compute — including AI compute — physically go, and is there power for it? It assesses the data-centre estate, decides disposition per facility (exit, consolidate, colocate, relocate, retain-and-invest), and plans AI/GPU capacity against the real constraints of power, cost, latency and sovereignty.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4279392"/>
            <a:ext cx="5394960" cy="1627632"/>
          </a:xfrm>
          <a:prstGeom prst="roundRect">
            <a:avLst>
              <a:gd name="adj" fmla="val 3371"/>
            </a:avLst>
          </a:prstGeom>
          <a:solidFill>
            <a:srgbClr val="B0481E"/>
          </a:solidFill>
          <a:ln w="9525">
            <a:solidFill>
              <a:srgbClr val="B048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42569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700016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Data-centre systems spending is set to grow 55.8% in 2026, surpassing $788B, as AI compute demand explodes — Gartner calls building AI compute capacity “the largest infrastructure project ever attempted.” The live question is siting and powering that compute, not just exiting legacy DC.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65099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0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Gartner / Flexera / FinOps Foundation, 2026.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5394960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92240" y="19019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WE SOLVE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1579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data-centre question has flipped from “how do we exit?” to “where does AI compute go, and can the estate power it?”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69748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DC estate is poorly understood — assets, contracts, power envelope, dependencies and residual value are unclear.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GPU capacity demand is arriving faster than the estate or the grid can support it.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and cooling are now the binding constraint, not floor space — and it’s rarely modeled honestly.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decisions (exit / consolidate / colocate / retain) are made per contract, not per strategy.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Exit-only thinking is backward-looking in a year when data-centre systems spend is growing 55.8%.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4279392"/>
            <a:ext cx="5394960" cy="1627632"/>
          </a:xfrm>
          <a:prstGeom prst="roundRect">
            <a:avLst>
              <a:gd name="adj" fmla="val 3371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92240" y="44074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TO THE CUSTOMER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6817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disposition decision per facility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Exit, consolidate, colocate, relocate or retain — on evidence.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91581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compute sited correctly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GPU and accelerated capacity placed against power, cost, latency and sovereignty.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5149901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constraint modeled honestly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Including where ambition exceeds what the estate or grid can support.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383987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locked, sprawl prevented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Architecture principles and governance that stop shadow-DC re-emergence.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561807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question, asked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Siting AI compute, not the backward-looking “DC exit” framing.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03.5  ·  Overview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 ·  THE JUMP START WAY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03.5   </a:t>
            </a:r>
            <a:r>
              <a:rPr lang="en-US" sz="2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Centre &amp; Compute Capacity Strategy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→ Ideate → Outcreate — every action falls into one of three phases.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602736" cy="868680"/>
          </a:xfrm>
          <a:prstGeom prst="roundRect">
            <a:avLst>
              <a:gd name="adj" fmla="val 7368"/>
            </a:avLst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3602736" cy="457200"/>
          </a:xfrm>
          <a:prstGeom prst="rect">
            <a:avLst/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p3_pe_underst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002536"/>
            <a:ext cx="438912" cy="4389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07592" y="19659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2951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· 1–2 wks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40664" y="2825496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DC estate — assets, workloads, contracts, power envelope, residual value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AI / GPU capacity demand from the use-case pipeline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power and cooling constraint honestly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0664" y="4983480"/>
            <a:ext cx="3127248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40664" y="505663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OUTPUTS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" y="527608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3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estate assessment · AI-capacity demand baseline · power-constraint model · Understand Playback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087368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343400" y="178308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43400" y="1783080"/>
            <a:ext cx="3602736" cy="868680"/>
          </a:xfrm>
          <a:prstGeom prst="roundRect">
            <a:avLst>
              <a:gd name="adj" fmla="val 7368"/>
            </a:avLst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343400" y="2194560"/>
            <a:ext cx="3602736" cy="457200"/>
          </a:xfrm>
          <a:prstGeom prst="rect">
            <a:avLst/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/home/claude/p3_pe_ide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002536"/>
            <a:ext cx="438912" cy="43891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148072" y="19659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IDEATE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5166360" y="22951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4–8 wks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581144" y="2825496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per-facility disposition (exit / consolidate / colocate / relocate / retain)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AI compute siting against power, cost, latency, sovereignty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transition, exit and asset-disposition approach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81144" y="4983480"/>
            <a:ext cx="3127248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4581144" y="505663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OUTPUTS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581144" y="527608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3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strategy · AI-compute siting plan · transition approach · advisory PoV · Ideate Playback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7927848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8183880" y="178308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8183880" y="1783080"/>
            <a:ext cx="3602736" cy="868680"/>
          </a:xfrm>
          <a:prstGeom prst="roundRect">
            <a:avLst>
              <a:gd name="adj" fmla="val 7368"/>
            </a:avLst>
          </a:prstGeom>
          <a:solidFill>
            <a:srgbClr val="6E2C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8183880" y="2194560"/>
            <a:ext cx="3602736" cy="457200"/>
          </a:xfrm>
          <a:prstGeom prst="rect">
            <a:avLst/>
          </a:prstGeom>
          <a:solidFill>
            <a:srgbClr val="6E2C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2" descr="/home/claude/p3_pe_outcre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002536"/>
            <a:ext cx="438912" cy="43891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988552" y="19659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OUTCREATE</a:t>
            </a:r>
            <a:endParaRPr lang="en-US" sz="1700" dirty="0"/>
          </a:p>
        </p:txBody>
      </p:sp>
      <p:sp>
        <p:nvSpPr>
          <p:cNvPr id="32" name="Text 27"/>
          <p:cNvSpPr txBox="1"/>
          <p:nvPr/>
        </p:nvSpPr>
        <p:spPr>
          <a:xfrm>
            <a:off x="9006840" y="22951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· final 2 wks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8421624" y="2825496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into an executive-ready capacity strategy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governance to lock savings and prevent shadow-DC re-emergence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playback, decision sign-off, first-move mobilization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8421624" y="4983480"/>
            <a:ext cx="3127248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 txBox="1"/>
          <p:nvPr/>
        </p:nvSpPr>
        <p:spPr>
          <a:xfrm>
            <a:off x="8421624" y="505663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OUTPUTS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8421624" y="527608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3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capacity strategy · governance model · mobilization plan · Executive Playback · Closure Pack</a:t>
            </a:r>
            <a:endParaRPr lang="en-US" sz="950" dirty="0"/>
          </a:p>
        </p:txBody>
      </p:sp>
      <p:sp>
        <p:nvSpPr>
          <p:cNvPr id="37" name="Text 3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38" name="Text 33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03.5  ·  Solution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 ·  DELIVERABLES &amp; 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03.5   </a:t>
            </a:r>
            <a:r>
              <a:rPr lang="en-US" sz="2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Centre &amp; Compute Capacity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4480560"/>
          </a:xfrm>
          <a:prstGeom prst="roundRect">
            <a:avLst>
              <a:gd name="adj" fmla="val 1429"/>
            </a:avLst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3_pe_deli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8562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44168" y="19293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DELIVERABLES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artifacts you keep from the engagement.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77240" y="288036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16152" y="28437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estate assessment and power-constraint model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348386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3483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16152" y="34472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GPU capacity demand baseline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" y="40873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7724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16152" y="40507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Per-facility disposition strategy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7240" y="469087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77240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216152" y="465429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AI-compute siting plan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77240" y="52943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777240" y="5294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216152" y="52578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capacity strategy and transition approach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63640" y="160020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EEF6F0"/>
          </a:solidFill>
          <a:ln w="9525">
            <a:solidFill>
              <a:srgbClr val="BFE3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/home/claude/x_chk_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1801368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976872" y="18379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6537960" y="225856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estate assessment (assets, contracts, power, residual value)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Per-facility disposition strategy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GPU capacity planning and siting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and cooling constraint modeling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Transition, exit and asset-disposition planning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Sustaining governance to prevent shadow-DC</a:t>
            </a:r>
            <a:endParaRPr lang="en-US" sz="970" dirty="0"/>
          </a:p>
        </p:txBody>
      </p:sp>
      <p:sp>
        <p:nvSpPr>
          <p:cNvPr id="27" name="Shape 23"/>
          <p:cNvSpPr/>
          <p:nvPr/>
        </p:nvSpPr>
        <p:spPr>
          <a:xfrm>
            <a:off x="6263640" y="4023360"/>
            <a:ext cx="5394960" cy="2057400"/>
          </a:xfrm>
          <a:prstGeom prst="roundRect">
            <a:avLst>
              <a:gd name="adj" fmla="val 3111"/>
            </a:avLst>
          </a:prstGeom>
          <a:solidFill>
            <a:srgbClr val="FBF1EE"/>
          </a:solidFill>
          <a:ln w="9525">
            <a:solidFill>
              <a:srgbClr val="EC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/home/claude/x_chk_o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4206240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976872" y="42428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6537960" y="4663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migration / decommissioning execution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Separate delivery</a:t>
            </a:r>
            <a:endParaRPr lang="en-US" sz="970" dirty="0"/>
          </a:p>
        </p:txBody>
      </p:sp>
      <p:sp>
        <p:nvSpPr>
          <p:cNvPr id="31" name="Text 26"/>
          <p:cNvSpPr txBox="1"/>
          <p:nvPr/>
        </p:nvSpPr>
        <p:spPr>
          <a:xfrm>
            <a:off x="653796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infrastructure build and GPU operations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Pillar 04</a:t>
            </a:r>
            <a:endParaRPr lang="en-US" sz="970" dirty="0"/>
          </a:p>
        </p:txBody>
      </p:sp>
      <p:sp>
        <p:nvSpPr>
          <p:cNvPr id="32" name="Text 27"/>
          <p:cNvSpPr txBox="1"/>
          <p:nvPr/>
        </p:nvSpPr>
        <p:spPr>
          <a:xfrm>
            <a:off x="6537960" y="5212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facility relocation strategy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Pillar 02</a:t>
            </a:r>
            <a:endParaRPr lang="en-US" sz="97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486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disposition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03.4 App Mod</a:t>
            </a:r>
            <a:endParaRPr lang="en-US" sz="970" dirty="0"/>
          </a:p>
        </p:txBody>
      </p:sp>
      <p:sp>
        <p:nvSpPr>
          <p:cNvPr id="34" name="Text 29"/>
          <p:cNvSpPr txBox="1"/>
          <p:nvPr/>
        </p:nvSpPr>
        <p:spPr>
          <a:xfrm>
            <a:off x="6537960" y="5760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/ carbon reporting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Pillar 01</a:t>
            </a:r>
            <a:endParaRPr lang="en-US" sz="970" dirty="0"/>
          </a:p>
        </p:txBody>
      </p:sp>
      <p:sp>
        <p:nvSpPr>
          <p:cNvPr id="35" name="Text 3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36" name="Text 31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03.5  ·  Deliverables &amp; scope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 ·  OUT-PACE THE DELIVERY.   ·   SHARED · A + 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03.6   </a:t>
            </a:r>
            <a:r>
              <a:rPr lang="en-US" sz="2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Engineering &amp; Developer Experience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6187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E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 </a:t>
            </a:r>
            <a:r>
              <a:rPr lang="en-US" sz="105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IQ → FinOps IQ (or from 03.2 Multi-Cloud Management)      </a:t>
            </a:r>
            <a:r>
              <a:rPr lang="en-US" sz="900" b="1" kern="0" spc="100" dirty="0">
                <a:solidFill>
                  <a:srgbClr val="EE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 </a:t>
            </a:r>
            <a:r>
              <a:rPr lang="en-US" sz="105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build &amp; rollout · platform-engineering managed services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394960" cy="2395728"/>
          </a:xfrm>
          <a:prstGeom prst="roundRect">
            <a:avLst>
              <a:gd name="adj" fmla="val 2290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9019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the internal developer platform that lets the estate change at business pace. It diagnoses developer experience on evidence, designs the golden paths and self-service that reduce cognitive load, and establishes a platform-as-a-product operating model — with security, compliance and observability inherited by default rather than bolted 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4279392"/>
            <a:ext cx="5394960" cy="1627632"/>
          </a:xfrm>
          <a:prstGeom prst="roundRect">
            <a:avLst>
              <a:gd name="adj" fmla="val 3371"/>
            </a:avLst>
          </a:prstGeom>
          <a:solidFill>
            <a:srgbClr val="B0481E"/>
          </a:solidFill>
          <a:ln w="9525">
            <a:solidFill>
              <a:srgbClr val="B048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42569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700016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projects 80% of large software organizations will run platform teams by end-2026 (up from 45% in 2022), and internal developer platform usage is near-universal. But adoption failure is rampant — one $4.2M IDP saw 64% of engineers bypass it. Getting platform-as-a-product right is now the differentiator between speed and wasted spend.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65099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0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Gartner / Flexera / FinOps Foundation, 2026.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5394960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92240" y="19019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WE SOLVE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1579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productivity is throttled by infrastructure complexity — and most platform efforts fail silently on adoption.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69748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spend more time fighting infrastructure than shipping — Kubernetes, CI/CD, IaC, observability, all self-assembled.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efforts are infrastructure-led, not product-led — bypass rates as high as 64% where developers route around the platform.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golden paths or paved roads — every team reinvents the same setup, multiplying toil.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compliance are bolted on per stream, not inherited from the platform.</a:t>
            </a:r>
            <a:endParaRPr lang="en-US" sz="1000" dirty="0"/>
          </a:p>
          <a:p>
            <a:pPr marL="152400" indent="-1524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isn’t measured — ~30% of platform teams track no metrics, so ROI can’t be shown.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4279392"/>
            <a:ext cx="5394960" cy="1627632"/>
          </a:xfrm>
          <a:prstGeom prst="roundRect">
            <a:avLst>
              <a:gd name="adj" fmla="val 3371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92240" y="44074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TO THE CUSTOMER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6817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delivery, measured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Golden paths and self-service that cut lead time and time-to-first-deploy.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91581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that sticks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product-led platform developers choose, not one they route around.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5149901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load reduced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Developers ship features, not infrastructure.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383987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 by default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Inherited from the platform, not bolted onto every stream.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561807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950" b="1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you can show  </a:t>
            </a:r>
            <a:r>
              <a:rPr lang="en-US" sz="900" dirty="0">
                <a:solidFill>
                  <a:srgbClr val="5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Flow metrics and adoption tracked, so the investment is defensible.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03.6  ·  Overview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 ·  THE JUMP START WAY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03.6   </a:t>
            </a:r>
            <a:r>
              <a:rPr lang="en-US" sz="2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Engineering &amp; Developer Experience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→ Ideate → Outcreate — every action falls into one of three phases.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602736" cy="868680"/>
          </a:xfrm>
          <a:prstGeom prst="roundRect">
            <a:avLst>
              <a:gd name="adj" fmla="val 7368"/>
            </a:avLst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3602736" cy="457200"/>
          </a:xfrm>
          <a:prstGeom prst="rect">
            <a:avLst/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p3_pe_underst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002536"/>
            <a:ext cx="438912" cy="4389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07592" y="19659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2951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· 1–2 wks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40664" y="2825496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developer experience — flow metrics, toil sources, cognitive load, lead-time drivers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current tooling, golden-path maturity and bypass behavior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platform’s target internal customers and their needs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0664" y="4983480"/>
            <a:ext cx="3127248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40664" y="505663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OUTPUTS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" y="527608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3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DevEx diagnostic · toil &amp; bypass assessment · needs map · Understand Playback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087368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343400" y="178308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43400" y="1783080"/>
            <a:ext cx="3602736" cy="868680"/>
          </a:xfrm>
          <a:prstGeom prst="roundRect">
            <a:avLst>
              <a:gd name="adj" fmla="val 7368"/>
            </a:avLst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343400" y="2194560"/>
            <a:ext cx="3602736" cy="457200"/>
          </a:xfrm>
          <a:prstGeom prst="rect">
            <a:avLst/>
          </a:prstGeom>
          <a:solidFill>
            <a:srgbClr val="8F3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/home/claude/p3_pe_ide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002536"/>
            <a:ext cx="438912" cy="43891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148072" y="19659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IDEATE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5166360" y="22951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4–8 wks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581144" y="2825496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internal developer platform — golden paths, self-service, paved roads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platform-as-a-product operating model (ownership, SLOs, roadmap)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security, compliance and observability as platform defaults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81144" y="4983480"/>
            <a:ext cx="3127248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4581144" y="505663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OUTPUTS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581144" y="527608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3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design · platform-as-a-product operating model · embedded-controls design · advisory PoV · Ideate Playback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7927848" y="3520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8183880" y="178308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FAF4F1"/>
          </a:solidFill>
          <a:ln w="9525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8183880" y="1783080"/>
            <a:ext cx="3602736" cy="868680"/>
          </a:xfrm>
          <a:prstGeom prst="roundRect">
            <a:avLst>
              <a:gd name="adj" fmla="val 7368"/>
            </a:avLst>
          </a:prstGeom>
          <a:solidFill>
            <a:srgbClr val="6E2C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8183880" y="2194560"/>
            <a:ext cx="3602736" cy="457200"/>
          </a:xfrm>
          <a:prstGeom prst="rect">
            <a:avLst/>
          </a:prstGeom>
          <a:solidFill>
            <a:srgbClr val="6E2C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2" descr="/home/claude/p3_pe_outcre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002536"/>
            <a:ext cx="438912" cy="43891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988552" y="19659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OUTCREATE</a:t>
            </a:r>
            <a:endParaRPr lang="en-US" sz="1700" dirty="0"/>
          </a:p>
        </p:txBody>
      </p:sp>
      <p:sp>
        <p:nvSpPr>
          <p:cNvPr id="32" name="Text 27"/>
          <p:cNvSpPr txBox="1"/>
          <p:nvPr/>
        </p:nvSpPr>
        <p:spPr>
          <a:xfrm>
            <a:off x="9006840" y="229514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· final 2 wks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8421624" y="2825496"/>
            <a:ext cx="3127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into an executive-ready platform roadmap with adoption metrics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rollout, enablement and the funding model</a:t>
            </a:r>
            <a:endParaRPr lang="en-US" sz="100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playback, decision sign-off, first-capability mobilization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8421624" y="4983480"/>
            <a:ext cx="3127248" cy="0"/>
          </a:xfrm>
          <a:prstGeom prst="line">
            <a:avLst/>
          </a:prstGeom>
          <a:noFill/>
          <a:ln w="12700">
            <a:solidFill>
              <a:srgbClr val="EA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 txBox="1"/>
          <p:nvPr/>
        </p:nvSpPr>
        <p:spPr>
          <a:xfrm>
            <a:off x="8421624" y="505663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OUTPUTS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8421624" y="527608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F3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platform roadmap · adoption-metric framework · mobilization plan · Executive Playback · Closure Pack</a:t>
            </a:r>
            <a:endParaRPr lang="en-US" sz="950" dirty="0"/>
          </a:p>
        </p:txBody>
      </p:sp>
      <p:sp>
        <p:nvSpPr>
          <p:cNvPr id="37" name="Text 3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38" name="Text 33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03.6  ·  Solution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4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 ·  DELIVERABLES &amp; 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B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03.6   </a:t>
            </a:r>
            <a:r>
              <a:rPr lang="en-US" sz="2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Engineering &amp; Developer Experience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4480560"/>
          </a:xfrm>
          <a:prstGeom prst="roundRect">
            <a:avLst>
              <a:gd name="adj" fmla="val 1429"/>
            </a:avLst>
          </a:prstGeom>
          <a:solidFill>
            <a:srgbClr val="B048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3_pe_deli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8562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44168" y="19293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DELIVERABLES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4D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artifacts you keep from the engagement.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77240" y="288036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16152" y="28437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Developer-experience diagnostic (flow metrics, toil, bypass)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348386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3483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16152" y="34472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 design (golden paths, self-service)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" y="40873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7724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16152" y="40507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Platform-as-a-product operating model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7240" y="469087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77240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216152" y="465429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security / compliance / observability design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77240" y="52943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EB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777240" y="5294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3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216152" y="52578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1150" dirty="0">
                <a:solidFill>
                  <a:srgbClr val="FB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platform roadmap with adoption metrics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63640" y="160020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EEF6F0"/>
          </a:solidFill>
          <a:ln w="9525">
            <a:solidFill>
              <a:srgbClr val="BFE3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/home/claude/x_chk_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1801368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976872" y="18379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6537960" y="225856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Developer-experience diagnosis (evidence-based)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 design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Platform-as-a-product operating-model design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paths, self-service and paved-road definition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security / compliance / observability design</a:t>
            </a:r>
            <a:endParaRPr lang="en-US" sz="970" dirty="0"/>
          </a:p>
          <a:p>
            <a:pPr marL="177800" indent="-177800">
              <a:lnSpc>
                <a:spcPct val="95000"/>
              </a:lnSpc>
              <a:spcAft>
                <a:spcPts val="350"/>
              </a:spcAft>
              <a:buSzPct val="100000"/>
              <a:buChar char="✓"/>
            </a:pPr>
            <a:r>
              <a:rPr lang="en-US" sz="970" dirty="0">
                <a:solidFill>
                  <a:srgbClr val="2C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Adoption-metric and funding-model framing</a:t>
            </a:r>
            <a:endParaRPr lang="en-US" sz="970" dirty="0"/>
          </a:p>
        </p:txBody>
      </p:sp>
      <p:sp>
        <p:nvSpPr>
          <p:cNvPr id="27" name="Shape 23"/>
          <p:cNvSpPr/>
          <p:nvPr/>
        </p:nvSpPr>
        <p:spPr>
          <a:xfrm>
            <a:off x="6263640" y="4023360"/>
            <a:ext cx="5394960" cy="2057400"/>
          </a:xfrm>
          <a:prstGeom prst="roundRect">
            <a:avLst>
              <a:gd name="adj" fmla="val 3111"/>
            </a:avLst>
          </a:prstGeom>
          <a:solidFill>
            <a:srgbClr val="FBF1EE"/>
          </a:solidFill>
          <a:ln w="9525">
            <a:solidFill>
              <a:srgbClr val="ECC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/home/claude/x_chk_o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4206240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976872" y="42428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6537960" y="4663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build, rollout and platform operation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Separate delivery</a:t>
            </a:r>
            <a:endParaRPr lang="en-US" sz="970" dirty="0"/>
          </a:p>
        </p:txBody>
      </p:sp>
      <p:sp>
        <p:nvSpPr>
          <p:cNvPr id="31" name="Text 26"/>
          <p:cNvSpPr txBox="1"/>
          <p:nvPr/>
        </p:nvSpPr>
        <p:spPr>
          <a:xfrm>
            <a:off x="653796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control-plane architecture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03.2 Multi-Cloud</a:t>
            </a:r>
            <a:endParaRPr lang="en-US" sz="970" dirty="0"/>
          </a:p>
        </p:txBody>
      </p:sp>
      <p:sp>
        <p:nvSpPr>
          <p:cNvPr id="32" name="Text 27"/>
          <p:cNvSpPr txBox="1"/>
          <p:nvPr/>
        </p:nvSpPr>
        <p:spPr>
          <a:xfrm>
            <a:off x="6537960" y="5212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modernization disposition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03.4 App Mod</a:t>
            </a:r>
            <a:endParaRPr lang="en-US" sz="97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486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tooling and SOC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LTM Security</a:t>
            </a:r>
            <a:endParaRPr lang="en-US" sz="970" dirty="0"/>
          </a:p>
        </p:txBody>
      </p:sp>
      <p:sp>
        <p:nvSpPr>
          <p:cNvPr id="34" name="Text 29"/>
          <p:cNvSpPr txBox="1"/>
          <p:nvPr/>
        </p:nvSpPr>
        <p:spPr>
          <a:xfrm>
            <a:off x="6537960" y="5760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70" dirty="0">
                <a:solidFill>
                  <a:srgbClr val="3A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Agentic-ops / AIOps</a:t>
            </a:r>
            <a:r>
              <a:rPr lang="en-US" sz="900" i="1" dirty="0">
                <a:solidFill>
                  <a:srgbClr val="9A5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Pillar 04</a:t>
            </a:r>
            <a:endParaRPr lang="en-US" sz="970" dirty="0"/>
          </a:p>
        </p:txBody>
      </p:sp>
      <p:sp>
        <p:nvSpPr>
          <p:cNvPr id="35" name="Text 3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 ·  Infra Tech Advisory  ·  Public Cloud &amp; Modernization</a:t>
            </a:r>
            <a:endParaRPr lang="en-US" sz="950" dirty="0"/>
          </a:p>
        </p:txBody>
      </p:sp>
      <p:sp>
        <p:nvSpPr>
          <p:cNvPr id="36" name="Text 31"/>
          <p:cNvSpPr txBox="1"/>
          <p:nvPr/>
        </p:nvSpPr>
        <p:spPr>
          <a:xfrm>
            <a:off x="8961120" y="647395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03.6  ·  Deliverables &amp; scope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5046</Words>
  <Application>Microsoft Macintosh PowerPoint</Application>
  <PresentationFormat>Widescreen</PresentationFormat>
  <Paragraphs>583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Ashutosh Dixit</cp:lastModifiedBy>
  <cp:revision>2</cp:revision>
  <dcterms:created xsi:type="dcterms:W3CDTF">2026-09-08T14:30:28Z</dcterms:created>
  <dcterms:modified xsi:type="dcterms:W3CDTF">2026-09-09T09:08:18Z</dcterms:modified>
</cp:coreProperties>
</file>
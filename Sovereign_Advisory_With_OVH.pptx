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4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B3A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2B3A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560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07008" y="27432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OFFERING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07008" y="438912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Sovereign Exposure &amp; Exit Readiness Assessment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966960" y="310896"/>
            <a:ext cx="1764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D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 + OVHcloud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225296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advisory-led diagnostic that assesses the full estate, isolates the workloads that genuinely demand sovereignty, and delivers a costed, board-ready roadmap to exit that critical subset to OVHcloud.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365760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CBD8E6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783080"/>
            <a:ext cx="82296" cy="2788920"/>
          </a:xfrm>
          <a:prstGeom prst="rect">
            <a:avLst/>
          </a:prstGeom>
          <a:solidFill>
            <a:srgbClr val="12B3A6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1892808"/>
            <a:ext cx="3328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6656" y="2240280"/>
            <a:ext cx="3273552" cy="2221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defensible view of sovereignty exposure across the whole estate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the workloads that truly require sovereignty — not “move everything”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OVHcloud fitment &amp; exit complexity for that critical subset only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costed, wave-based exit roadmap + board/regulator evidence pack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51960" y="1783080"/>
            <a:ext cx="3703320" cy="1517904"/>
          </a:xfrm>
          <a:prstGeom prst="roundRect">
            <a:avLst>
              <a:gd name="adj" fmla="val 5422"/>
            </a:avLst>
          </a:prstGeom>
          <a:solidFill>
            <a:srgbClr val="FBE6E6"/>
          </a:solidFill>
          <a:ln w="12700">
            <a:solidFill>
              <a:srgbClr val="CBD8E6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51960" y="1783080"/>
            <a:ext cx="82296" cy="151790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4453128" y="1892808"/>
            <a:ext cx="3374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it solves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471416" y="2240280"/>
            <a:ext cx="3319272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workloads actually demand sovereignty — and which don’t?</a:t>
            </a:r>
            <a:endParaRPr lang="en-US" sz="10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our real hyperscaler concentration &amp; extraterritorial-law exposure?</a:t>
            </a:r>
            <a:endParaRPr lang="en-US" sz="10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regulator asked us to exit tomorrow — what moves, how hard, what cost?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4251960" y="3419856"/>
            <a:ext cx="3703320" cy="1335024"/>
          </a:xfrm>
          <a:prstGeom prst="roundRect">
            <a:avLst>
              <a:gd name="adj" fmla="val 6164"/>
            </a:avLst>
          </a:prstGeom>
          <a:solidFill>
            <a:srgbClr val="E9F5EE"/>
          </a:solidFill>
          <a:ln w="12700">
            <a:solidFill>
              <a:srgbClr val="CBD8E6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51960" y="3419856"/>
            <a:ext cx="82296" cy="1335024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20" name="Text 18"/>
          <p:cNvSpPr/>
          <p:nvPr/>
        </p:nvSpPr>
        <p:spPr>
          <a:xfrm>
            <a:off x="4453128" y="3529584"/>
            <a:ext cx="3374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to the customer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471416" y="3877056"/>
            <a:ext cx="331927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only where sovereignty is genuinely required</a:t>
            </a:r>
            <a:endParaRPr lang="en-US" sz="10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Board-ready exit roadmap to OVHcloud with cost bands</a:t>
            </a:r>
            <a:endParaRPr lang="en-US" sz="10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Regulator- &amp; audit-ready evidence; credible reversibility position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8092440" y="1783080"/>
            <a:ext cx="3639312" cy="2788920"/>
          </a:xfrm>
          <a:prstGeom prst="roundRect">
            <a:avLst>
              <a:gd name="adj" fmla="val 2951"/>
            </a:avLst>
          </a:prstGeom>
          <a:solidFill>
            <a:srgbClr val="EDE9FB"/>
          </a:solidFill>
          <a:ln w="12700">
            <a:solidFill>
              <a:srgbClr val="CBD8E6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92440" y="1783080"/>
            <a:ext cx="82296" cy="2788920"/>
          </a:xfrm>
          <a:prstGeom prst="rect">
            <a:avLst/>
          </a:prstGeom>
          <a:solidFill>
            <a:srgbClr val="6B4CD6"/>
          </a:solidFill>
          <a:ln/>
        </p:spPr>
      </p:sp>
      <p:sp>
        <p:nvSpPr>
          <p:cNvPr id="24" name="Text 22"/>
          <p:cNvSpPr/>
          <p:nvPr/>
        </p:nvSpPr>
        <p:spPr>
          <a:xfrm>
            <a:off x="8293608" y="1892808"/>
            <a:ext cx="3310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11896" y="2240280"/>
            <a:ext cx="3255264" cy="2221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is live: DORA in force; EU AI Act high-risk from Aug 2026; NIS2 widening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is a board issue: over-reliance on non-EU providers = resilience risk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pressure is real: VMware/Broadcom economics &amp; cloud-cost shock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sovereign target exists: OVHcloud is a credible European exit destination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75488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0B2442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754880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Advisory-only 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8–10 weeks, fixed scope  ·  EU &amp; UK regulated enterprises  ·  Understand → Ideate → Outcreate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advisory concept  ·  CIS Tech Advisory · Cloud &amp; Infrastructure Advisory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4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B3A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2B3A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560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07008" y="27432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APPROACH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07008" y="438912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phases &amp; activities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966960" y="310896"/>
            <a:ext cx="1764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D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 + OVHcloud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225296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fixed-scope engagement of 8–10 weeks across three phases — each with defined activities and key outcomes.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3712464" cy="603504"/>
          </a:xfrm>
          <a:prstGeom prst="roundRect">
            <a:avLst>
              <a:gd name="adj" fmla="val 12121"/>
            </a:avLst>
          </a:prstGeom>
          <a:solidFill>
            <a:srgbClr val="0B244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37944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· Understand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026664" y="1911096"/>
            <a:ext cx="10058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96312"/>
            <a:ext cx="371246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BD8E6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606040"/>
            <a:ext cx="3346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B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" y="2880360"/>
            <a:ext cx="332841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Kick-off, scope &amp; stakeholder alignment</a:t>
            </a:r>
            <a:endParaRPr lang="en-US" sz="1050" dirty="0"/>
          </a:p>
          <a:p>
            <a:pPr marL="152400" indent="-152400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workload inventory intake</a:t>
            </a:r>
            <a:endParaRPr lang="en-US" sz="1050" dirty="0"/>
          </a:p>
          <a:p>
            <a:pPr marL="152400" indent="-152400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app &amp; third-party dependency capture</a:t>
            </a:r>
            <a:endParaRPr lang="en-US" sz="1050" dirty="0"/>
          </a:p>
          <a:p>
            <a:pPr marL="152400" indent="-152400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trigger mapping (GDPR, DORA, NIS2, EU AI Act, EUCS, UK GDPR)</a:t>
            </a:r>
            <a:endParaRPr lang="en-US" sz="1050" dirty="0"/>
          </a:p>
          <a:p>
            <a:pPr marL="152400" indent="-152400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critical-workload candidate list (40–80)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782312"/>
            <a:ext cx="3712464" cy="1417320"/>
          </a:xfrm>
          <a:prstGeom prst="roundRect">
            <a:avLst>
              <a:gd name="adj" fmla="val 5161"/>
            </a:avLst>
          </a:prstGeom>
          <a:solidFill>
            <a:srgbClr val="EDF4FB"/>
          </a:solidFill>
          <a:ln w="12700">
            <a:solidFill>
              <a:srgbClr val="CBD8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873752"/>
            <a:ext cx="3346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B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" y="5129784"/>
            <a:ext cx="33284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scope &amp; workload universe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obligation heat map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candidate critical list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51376" y="1911096"/>
            <a:ext cx="201168" cy="347472"/>
          </a:xfrm>
          <a:prstGeom prst="chevron">
            <a:avLst/>
          </a:prstGeom>
          <a:solidFill>
            <a:srgbClr val="0B2442"/>
          </a:solidFill>
          <a:ln/>
        </p:spPr>
      </p:sp>
      <p:sp>
        <p:nvSpPr>
          <p:cNvPr id="20" name="Shape 18"/>
          <p:cNvSpPr/>
          <p:nvPr/>
        </p:nvSpPr>
        <p:spPr>
          <a:xfrm>
            <a:off x="4224528" y="1783080"/>
            <a:ext cx="3712464" cy="603504"/>
          </a:xfrm>
          <a:prstGeom prst="roundRect">
            <a:avLst>
              <a:gd name="adj" fmla="val 12121"/>
            </a:avLst>
          </a:prstGeom>
          <a:solidFill>
            <a:srgbClr val="0E8F86"/>
          </a:solidFill>
          <a:ln/>
        </p:spPr>
      </p:sp>
      <p:sp>
        <p:nvSpPr>
          <p:cNvPr id="21" name="Text 19"/>
          <p:cNvSpPr/>
          <p:nvPr/>
        </p:nvSpPr>
        <p:spPr>
          <a:xfrm>
            <a:off x="4407408" y="1837944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· Ideate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793992" y="1911096"/>
            <a:ext cx="10058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weeks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24528" y="2496312"/>
            <a:ext cx="371246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BD8E6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407408" y="2606040"/>
            <a:ext cx="3346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425696" y="2880360"/>
            <a:ext cx="332841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1: 7-lens sovereignty scoring across estate</a:t>
            </a:r>
            <a:endParaRPr lang="en-US" sz="1050" dirty="0"/>
          </a:p>
          <a:p>
            <a:pPr marL="152400" indent="-152400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to sovereignty-critical workloads</a:t>
            </a:r>
            <a:endParaRPr lang="en-US" sz="1050" dirty="0"/>
          </a:p>
          <a:p>
            <a:pPr marL="152400" indent="-152400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2: OVHcloud fitment &amp; exit-complexity</a:t>
            </a:r>
            <a:endParaRPr lang="en-US" sz="1050" dirty="0"/>
          </a:p>
          <a:p>
            <a:pPr marL="152400" indent="-152400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Reversibility, dependency &amp; data-gravity analysis</a:t>
            </a:r>
            <a:endParaRPr lang="en-US" sz="1050" dirty="0"/>
          </a:p>
          <a:p>
            <a:pPr marL="152400" indent="-152400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placement &amp; wave assignment; cost banding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24528" y="4782312"/>
            <a:ext cx="3712464" cy="1417320"/>
          </a:xfrm>
          <a:prstGeom prst="roundRect">
            <a:avLst>
              <a:gd name="adj" fmla="val 5161"/>
            </a:avLst>
          </a:prstGeom>
          <a:solidFill>
            <a:srgbClr val="EDF4FB"/>
          </a:solidFill>
          <a:ln w="12700">
            <a:solidFill>
              <a:srgbClr val="CBD8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07408" y="4873752"/>
            <a:ext cx="3346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425696" y="5129784"/>
            <a:ext cx="33284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 exposure register (full estate)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critical-workload shortlist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OVHcloud fitment &amp; exit-complexity view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918704" y="1911096"/>
            <a:ext cx="201168" cy="347472"/>
          </a:xfrm>
          <a:prstGeom prst="chevron">
            <a:avLst/>
          </a:prstGeom>
          <a:solidFill>
            <a:srgbClr val="0E8F86"/>
          </a:solidFill>
          <a:ln/>
        </p:spPr>
      </p:sp>
      <p:sp>
        <p:nvSpPr>
          <p:cNvPr id="30" name="Shape 28"/>
          <p:cNvSpPr/>
          <p:nvPr/>
        </p:nvSpPr>
        <p:spPr>
          <a:xfrm>
            <a:off x="7991856" y="1783080"/>
            <a:ext cx="3712464" cy="603504"/>
          </a:xfrm>
          <a:prstGeom prst="roundRect">
            <a:avLst>
              <a:gd name="adj" fmla="val 12121"/>
            </a:avLst>
          </a:prstGeom>
          <a:solidFill>
            <a:srgbClr val="6B4CD6"/>
          </a:solidFill>
          <a:ln/>
        </p:spPr>
      </p:sp>
      <p:sp>
        <p:nvSpPr>
          <p:cNvPr id="31" name="Text 29"/>
          <p:cNvSpPr/>
          <p:nvPr/>
        </p:nvSpPr>
        <p:spPr>
          <a:xfrm>
            <a:off x="8174736" y="1837944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 · Outcreate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0561320" y="1911096"/>
            <a:ext cx="10058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4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991856" y="2496312"/>
            <a:ext cx="371246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BD8E6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174736" y="2606040"/>
            <a:ext cx="3346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4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93024" y="2880360"/>
            <a:ext cx="332841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costed, wave-based exit roadmap</a:t>
            </a:r>
            <a:endParaRPr lang="en-US" sz="1050" dirty="0"/>
          </a:p>
          <a:p>
            <a:pPr marL="152400" indent="-152400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board-ready evidence pack</a:t>
            </a:r>
            <a:endParaRPr lang="en-US" sz="1050" dirty="0"/>
          </a:p>
          <a:p>
            <a:pPr marL="152400" indent="-152400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pre-conditions &amp; handover to build/vertical</a:t>
            </a:r>
            <a:endParaRPr lang="en-US" sz="1050" dirty="0"/>
          </a:p>
          <a:p>
            <a:pPr marL="152400" indent="-152400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playback &amp; decision workshop</a:t>
            </a:r>
            <a:endParaRPr lang="en-US" sz="1050" dirty="0"/>
          </a:p>
          <a:p>
            <a:pPr marL="152400" indent="-152400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 recommendations &amp; next steps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991856" y="4782312"/>
            <a:ext cx="3712464" cy="1417320"/>
          </a:xfrm>
          <a:prstGeom prst="roundRect">
            <a:avLst>
              <a:gd name="adj" fmla="val 5161"/>
            </a:avLst>
          </a:prstGeom>
          <a:solidFill>
            <a:srgbClr val="EDF4FB"/>
          </a:solidFill>
          <a:ln w="12700">
            <a:solidFill>
              <a:srgbClr val="CBD8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74736" y="4873752"/>
            <a:ext cx="3346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4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193024" y="5129784"/>
            <a:ext cx="33284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Costed exit-to-OVHcloud roadmap (waves)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/ regulator evidence pack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pre-conditions &amp; handover plan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checkpoint at each phase boundary — Understand → Ideate → Outcreate, with weekend progress checkpoints.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4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B3A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2B3A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560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07008" y="27432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RECEIVE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07008" y="438912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deliverables &amp; scope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966960" y="310896"/>
            <a:ext cx="1764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D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 + OVHcloud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5989320" cy="484632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 w="12700">
            <a:solidFill>
              <a:srgbClr val="CBD8E6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536192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deliverables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19933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2B3A6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993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07008" y="1965960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 Exposure Register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207008" y="2212848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Full-estate 7-lens scoring of every in-scope workload.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26700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CD6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670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07008" y="2642616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Obligation Heat Map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07008" y="2889504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Workload-to-regulation mapping across the six frameworks.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334670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8F86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3467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07008" y="3319272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Workload Shortlist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207008" y="356616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list of workloads that genuinely demand sovereignty.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40233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A33D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07008" y="3995928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OVHcloud Fitment &amp; Exit-Complexity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207008" y="4242816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fitment and migration complexity for the subset.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5800" y="470001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8E5A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7000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07008" y="4672584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Costed Exit-to-OVHcloud Roadmap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207008" y="491947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Wave-based sequence with pre-conditions &amp; cost bands.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85800" y="537667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2345D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5376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207008" y="5349240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Board-Ready Evidence Pack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207008" y="5596128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Narrative, data-flow maps &amp; proof for board, regulator, audit.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629400" y="1371600"/>
            <a:ext cx="5102352" cy="1783080"/>
          </a:xfrm>
          <a:prstGeom prst="roundRect">
            <a:avLst>
              <a:gd name="adj" fmla="val 4615"/>
            </a:avLst>
          </a:prstGeom>
          <a:solidFill>
            <a:srgbClr val="E1F3F1"/>
          </a:solidFill>
          <a:ln w="12700">
            <a:solidFill>
              <a:srgbClr val="CBD8E6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629400" y="1371600"/>
            <a:ext cx="82296" cy="1783080"/>
          </a:xfrm>
          <a:prstGeom prst="rect">
            <a:avLst/>
          </a:prstGeom>
          <a:solidFill>
            <a:srgbClr val="12B3A6"/>
          </a:solidFill>
          <a:ln/>
        </p:spPr>
      </p:sp>
      <p:sp>
        <p:nvSpPr>
          <p:cNvPr id="37" name="Text 35"/>
          <p:cNvSpPr/>
          <p:nvPr/>
        </p:nvSpPr>
        <p:spPr>
          <a:xfrm>
            <a:off x="6830568" y="1481328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scope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48856" y="1828800"/>
            <a:ext cx="4718304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Estate-wide sovereignty exposure assessment</a:t>
            </a:r>
            <a:endParaRPr lang="en-US" sz="10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40–80 priority workloads agreed at kick-off</a:t>
            </a:r>
            <a:endParaRPr lang="en-US" sz="10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mapping across named frameworks</a:t>
            </a:r>
            <a:endParaRPr lang="en-US" sz="10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Critical-workload ranking &amp; OVHcloud fitment</a:t>
            </a:r>
            <a:endParaRPr lang="en-US" sz="10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Costed, wave-based exit roadmap + evidence pack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6629400" y="3291840"/>
            <a:ext cx="5102352" cy="1783080"/>
          </a:xfrm>
          <a:prstGeom prst="roundRect">
            <a:avLst>
              <a:gd name="adj" fmla="val 4615"/>
            </a:avLst>
          </a:prstGeom>
          <a:solidFill>
            <a:srgbClr val="FBE6E6"/>
          </a:solidFill>
          <a:ln w="12700">
            <a:solidFill>
              <a:srgbClr val="CBD8E6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629400" y="3291840"/>
            <a:ext cx="82296" cy="1783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1" name="Text 39"/>
          <p:cNvSpPr/>
          <p:nvPr/>
        </p:nvSpPr>
        <p:spPr>
          <a:xfrm>
            <a:off x="6830568" y="3401568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 of scope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48856" y="3749040"/>
            <a:ext cx="4718304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or landing-zone build &amp; execution</a:t>
            </a:r>
            <a:endParaRPr lang="en-US" sz="10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renegotiation with providers</a:t>
            </a:r>
            <a:endParaRPr lang="en-US" sz="10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legal opinion or certification</a:t>
            </a:r>
            <a:endParaRPr lang="en-US" sz="10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/ security assurance testing</a:t>
            </a:r>
            <a:endParaRPr lang="en-US" sz="10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 re-architecture · 24×7 run or managed ops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6629400" y="5193792"/>
            <a:ext cx="5102352" cy="1024128"/>
          </a:xfrm>
          <a:prstGeom prst="roundRect">
            <a:avLst>
              <a:gd name="adj" fmla="val 7143"/>
            </a:avLst>
          </a:prstGeom>
          <a:solidFill>
            <a:srgbClr val="0B2442"/>
          </a:solidFill>
          <a:ln/>
        </p:spPr>
      </p:sp>
      <p:sp>
        <p:nvSpPr>
          <p:cNvPr id="44" name="Text 42"/>
          <p:cNvSpPr/>
          <p:nvPr/>
        </p:nvSpPr>
        <p:spPr>
          <a:xfrm>
            <a:off x="6812280" y="5285232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Qualifiers &amp; disqualifiers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12280" y="5522976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BE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Qualify: </a:t>
            </a:r>
            <a:pPr indent="0" marL="0">
              <a:buNone/>
            </a:pPr>
            <a:r>
              <a:rPr lang="en-US" sz="1050" dirty="0">
                <a:solidFill>
                  <a:srgbClr val="D8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EU/UK footprint · regulatory or concentration trigger · exec sponsor · inventory access.  </a:t>
            </a:r>
            <a:pPr indent="0" marL="0">
              <a:buNone/>
            </a:pPr>
            <a:r>
              <a:rPr lang="en-US" sz="1050" b="1" dirty="0">
                <a:solidFill>
                  <a:srgbClr val="F3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Disqualify: </a:t>
            </a:r>
            <a:pPr indent="0" marL="0">
              <a:buNone/>
            </a:pPr>
            <a:r>
              <a:rPr lang="en-US" sz="1050" dirty="0">
                <a:solidFill>
                  <a:srgbClr val="D8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full migration now · legal-only ask · no sponsor.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advisory concept  ·  CIS Tech Advisory · Cloud &amp; Infrastructure Advisory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4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B3A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2B3A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560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07008" y="27432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07008" y="45720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whole journey &amp; path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1469571" cy="1463040"/>
          </a:xfrm>
          <a:prstGeom prst="roundRect">
            <a:avLst>
              <a:gd name="adj" fmla="val 6250"/>
            </a:avLst>
          </a:prstGeom>
          <a:solidFill>
            <a:srgbClr val="12345D"/>
          </a:solidFill>
          <a:ln w="15875">
            <a:solidFill>
              <a:srgbClr val="12B3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5954" y="1563624"/>
            <a:ext cx="512064" cy="512064"/>
          </a:xfrm>
          <a:prstGeom prst="ellipse">
            <a:avLst/>
          </a:prstGeom>
          <a:solidFill>
            <a:srgbClr val="12B3A6"/>
          </a:solidFill>
          <a:ln/>
        </p:spPr>
      </p:sp>
      <p:sp>
        <p:nvSpPr>
          <p:cNvPr id="10" name="Text 8"/>
          <p:cNvSpPr/>
          <p:nvPr/>
        </p:nvSpPr>
        <p:spPr>
          <a:xfrm>
            <a:off x="935954" y="156362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3776" y="2148840"/>
            <a:ext cx="139641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" y="2459736"/>
            <a:ext cx="135984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BC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workload, data, hosting, dependencies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1908483" y="2020824"/>
            <a:ext cx="182880" cy="256032"/>
          </a:xfrm>
          <a:prstGeom prst="chevron">
            <a:avLst/>
          </a:prstGeom>
          <a:solidFill>
            <a:srgbClr val="5C6E8C"/>
          </a:solidFill>
          <a:ln/>
        </p:spPr>
      </p:sp>
      <p:sp>
        <p:nvSpPr>
          <p:cNvPr id="14" name="Shape 12"/>
          <p:cNvSpPr/>
          <p:nvPr/>
        </p:nvSpPr>
        <p:spPr>
          <a:xfrm>
            <a:off x="2091363" y="1417320"/>
            <a:ext cx="1469571" cy="1463040"/>
          </a:xfrm>
          <a:prstGeom prst="roundRect">
            <a:avLst>
              <a:gd name="adj" fmla="val 6250"/>
            </a:avLst>
          </a:prstGeom>
          <a:solidFill>
            <a:srgbClr val="12345D"/>
          </a:solidFill>
          <a:ln w="15875">
            <a:solidFill>
              <a:srgbClr val="12B3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70117" y="1563624"/>
            <a:ext cx="512064" cy="512064"/>
          </a:xfrm>
          <a:prstGeom prst="ellipse">
            <a:avLst/>
          </a:prstGeom>
          <a:solidFill>
            <a:srgbClr val="12B3A6"/>
          </a:solidFill>
          <a:ln/>
        </p:spPr>
      </p:sp>
      <p:sp>
        <p:nvSpPr>
          <p:cNvPr id="16" name="Text 14"/>
          <p:cNvSpPr/>
          <p:nvPr/>
        </p:nvSpPr>
        <p:spPr>
          <a:xfrm>
            <a:off x="2570117" y="156362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127939" y="2148840"/>
            <a:ext cx="139641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46227" y="2459736"/>
            <a:ext cx="135984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BC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7 sovereignty lenses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3542647" y="2020824"/>
            <a:ext cx="182880" cy="256032"/>
          </a:xfrm>
          <a:prstGeom prst="chevron">
            <a:avLst/>
          </a:prstGeom>
          <a:solidFill>
            <a:srgbClr val="5C6E8C"/>
          </a:solidFill>
          <a:ln/>
        </p:spPr>
      </p:sp>
      <p:sp>
        <p:nvSpPr>
          <p:cNvPr id="20" name="Shape 18"/>
          <p:cNvSpPr/>
          <p:nvPr/>
        </p:nvSpPr>
        <p:spPr>
          <a:xfrm>
            <a:off x="3725527" y="1417320"/>
            <a:ext cx="1469571" cy="1463040"/>
          </a:xfrm>
          <a:prstGeom prst="roundRect">
            <a:avLst>
              <a:gd name="adj" fmla="val 6250"/>
            </a:avLst>
          </a:prstGeom>
          <a:solidFill>
            <a:srgbClr val="12345D"/>
          </a:solidFill>
          <a:ln w="15875">
            <a:solidFill>
              <a:srgbClr val="8A9B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04281" y="1563624"/>
            <a:ext cx="512064" cy="512064"/>
          </a:xfrm>
          <a:prstGeom prst="ellipse">
            <a:avLst/>
          </a:prstGeom>
          <a:solidFill>
            <a:srgbClr val="8A9BB5"/>
          </a:solidFill>
          <a:ln/>
        </p:spPr>
      </p:sp>
      <p:sp>
        <p:nvSpPr>
          <p:cNvPr id="22" name="Text 20"/>
          <p:cNvSpPr/>
          <p:nvPr/>
        </p:nvSpPr>
        <p:spPr>
          <a:xfrm>
            <a:off x="4204281" y="156362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762103" y="2148840"/>
            <a:ext cx="139641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80391" y="2459736"/>
            <a:ext cx="135984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BC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→ proceed · Low/Med → leave in place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5176810" y="2020824"/>
            <a:ext cx="182880" cy="256032"/>
          </a:xfrm>
          <a:prstGeom prst="chevron">
            <a:avLst/>
          </a:prstGeom>
          <a:solidFill>
            <a:srgbClr val="5C6E8C"/>
          </a:solidFill>
          <a:ln/>
        </p:spPr>
      </p:sp>
      <p:sp>
        <p:nvSpPr>
          <p:cNvPr id="26" name="Shape 24"/>
          <p:cNvSpPr/>
          <p:nvPr/>
        </p:nvSpPr>
        <p:spPr>
          <a:xfrm>
            <a:off x="5359690" y="1417320"/>
            <a:ext cx="1469571" cy="1463040"/>
          </a:xfrm>
          <a:prstGeom prst="roundRect">
            <a:avLst>
              <a:gd name="adj" fmla="val 6250"/>
            </a:avLst>
          </a:prstGeom>
          <a:solidFill>
            <a:srgbClr val="12345D"/>
          </a:solidFill>
          <a:ln w="15875">
            <a:solidFill>
              <a:srgbClr val="0E8F8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38444" y="1563624"/>
            <a:ext cx="512064" cy="512064"/>
          </a:xfrm>
          <a:prstGeom prst="ellipse">
            <a:avLst/>
          </a:prstGeom>
          <a:solidFill>
            <a:srgbClr val="0E8F86"/>
          </a:solidFill>
          <a:ln/>
        </p:spPr>
      </p:sp>
      <p:sp>
        <p:nvSpPr>
          <p:cNvPr id="28" name="Text 26"/>
          <p:cNvSpPr/>
          <p:nvPr/>
        </p:nvSpPr>
        <p:spPr>
          <a:xfrm>
            <a:off x="5838444" y="156362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396266" y="2148840"/>
            <a:ext cx="139641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14554" y="2459736"/>
            <a:ext cx="135984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BC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Fitment, complexity, reversibility, effort, cost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6810974" y="2020824"/>
            <a:ext cx="182880" cy="256032"/>
          </a:xfrm>
          <a:prstGeom prst="chevron">
            <a:avLst/>
          </a:prstGeom>
          <a:solidFill>
            <a:srgbClr val="5C6E8C"/>
          </a:solidFill>
          <a:ln/>
        </p:spPr>
      </p:sp>
      <p:sp>
        <p:nvSpPr>
          <p:cNvPr id="32" name="Shape 30"/>
          <p:cNvSpPr/>
          <p:nvPr/>
        </p:nvSpPr>
        <p:spPr>
          <a:xfrm>
            <a:off x="6993854" y="1417320"/>
            <a:ext cx="1469571" cy="1463040"/>
          </a:xfrm>
          <a:prstGeom prst="roundRect">
            <a:avLst>
              <a:gd name="adj" fmla="val 6250"/>
            </a:avLst>
          </a:prstGeom>
          <a:solidFill>
            <a:srgbClr val="12345D"/>
          </a:solidFill>
          <a:ln w="15875">
            <a:solidFill>
              <a:srgbClr val="6B4C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72607" y="1563624"/>
            <a:ext cx="512064" cy="512064"/>
          </a:xfrm>
          <a:prstGeom prst="ellipse">
            <a:avLst/>
          </a:prstGeom>
          <a:solidFill>
            <a:srgbClr val="6B4CD6"/>
          </a:solidFill>
          <a:ln/>
        </p:spPr>
      </p:sp>
      <p:sp>
        <p:nvSpPr>
          <p:cNvPr id="34" name="Text 32"/>
          <p:cNvSpPr/>
          <p:nvPr/>
        </p:nvSpPr>
        <p:spPr>
          <a:xfrm>
            <a:off x="7472607" y="156362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030430" y="2148840"/>
            <a:ext cx="139641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Placement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48718" y="2459736"/>
            <a:ext cx="135984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BC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vs. complexity → wave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8445137" y="2020824"/>
            <a:ext cx="182880" cy="256032"/>
          </a:xfrm>
          <a:prstGeom prst="chevron">
            <a:avLst/>
          </a:prstGeom>
          <a:solidFill>
            <a:srgbClr val="5C6E8C"/>
          </a:solidFill>
          <a:ln/>
        </p:spPr>
      </p:sp>
      <p:sp>
        <p:nvSpPr>
          <p:cNvPr id="38" name="Shape 36"/>
          <p:cNvSpPr/>
          <p:nvPr/>
        </p:nvSpPr>
        <p:spPr>
          <a:xfrm>
            <a:off x="8628017" y="1417320"/>
            <a:ext cx="1469571" cy="1463040"/>
          </a:xfrm>
          <a:prstGeom prst="roundRect">
            <a:avLst>
              <a:gd name="adj" fmla="val 6250"/>
            </a:avLst>
          </a:prstGeom>
          <a:solidFill>
            <a:srgbClr val="12345D"/>
          </a:solidFill>
          <a:ln w="15875">
            <a:solidFill>
              <a:srgbClr val="6B4CD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06771" y="1563624"/>
            <a:ext cx="512064" cy="512064"/>
          </a:xfrm>
          <a:prstGeom prst="ellipse">
            <a:avLst/>
          </a:prstGeom>
          <a:solidFill>
            <a:srgbClr val="6B4CD6"/>
          </a:solidFill>
          <a:ln/>
        </p:spPr>
      </p:sp>
      <p:sp>
        <p:nvSpPr>
          <p:cNvPr id="40" name="Text 38"/>
          <p:cNvSpPr/>
          <p:nvPr/>
        </p:nvSpPr>
        <p:spPr>
          <a:xfrm>
            <a:off x="9106771" y="156362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8664593" y="2148840"/>
            <a:ext cx="139641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+ pre-conditions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682881" y="2459736"/>
            <a:ext cx="135984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BC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with dependencies resolved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10079301" y="2020824"/>
            <a:ext cx="182880" cy="256032"/>
          </a:xfrm>
          <a:prstGeom prst="chevron">
            <a:avLst/>
          </a:prstGeom>
          <a:solidFill>
            <a:srgbClr val="5C6E8C"/>
          </a:solidFill>
          <a:ln/>
        </p:spPr>
      </p:sp>
      <p:sp>
        <p:nvSpPr>
          <p:cNvPr id="44" name="Shape 42"/>
          <p:cNvSpPr/>
          <p:nvPr/>
        </p:nvSpPr>
        <p:spPr>
          <a:xfrm>
            <a:off x="10262181" y="1417320"/>
            <a:ext cx="1469571" cy="1463040"/>
          </a:xfrm>
          <a:prstGeom prst="roundRect">
            <a:avLst>
              <a:gd name="adj" fmla="val 6250"/>
            </a:avLst>
          </a:prstGeom>
          <a:solidFill>
            <a:srgbClr val="12345D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740934" y="1563624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6" name="Text 44"/>
          <p:cNvSpPr/>
          <p:nvPr/>
        </p:nvSpPr>
        <p:spPr>
          <a:xfrm>
            <a:off x="10740934" y="156362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10298757" y="2148840"/>
            <a:ext cx="139641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+ evidence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317045" y="2459736"/>
            <a:ext cx="135984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BC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up to roadmap &amp; board pack</a:t>
            </a:r>
            <a:endParaRPr lang="en-US" sz="830" dirty="0"/>
          </a:p>
        </p:txBody>
      </p:sp>
      <p:sp>
        <p:nvSpPr>
          <p:cNvPr id="49" name="Shape 47"/>
          <p:cNvSpPr/>
          <p:nvPr/>
        </p:nvSpPr>
        <p:spPr>
          <a:xfrm>
            <a:off x="457200" y="3154680"/>
            <a:ext cx="740664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A0B8">
                <a:alpha val="3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85800" y="3291840"/>
            <a:ext cx="6949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 — AML / financial-crime screening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685800" y="3675888"/>
            <a:ext cx="6995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Intake:  </a:t>
            </a:r>
            <a:pPr indent="0" marL="0">
              <a:buNone/>
            </a:pPr>
            <a:r>
              <a:rPr lang="en-US" sz="103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screening + case DB on a US hyperscaler (EU region); PII, transactions, watchlist; depends on payments feed, sanctions SaaS, SIEM.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85800" y="4178808"/>
            <a:ext cx="6995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1:  </a:t>
            </a:r>
            <a:pPr indent="0" marL="0">
              <a:buNone/>
            </a:pPr>
            <a:r>
              <a:rPr lang="en-US" sz="103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on sensitivity, regulation, residency, op-sovereignty &amp; criticality → weighted 4.7 → CRITICAL.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85800" y="4681728"/>
            <a:ext cx="6995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2:  </a:t>
            </a:r>
            <a:pPr indent="0" marL="0">
              <a:buNone/>
            </a:pPr>
            <a:r>
              <a:rPr lang="en-US" sz="103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OVHcloud fitment; medium complexity (payments-feed); replatform → Exit Complexity MEDIUM (2.8).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85800" y="5184648"/>
            <a:ext cx="6995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Placement:  </a:t>
            </a:r>
            <a:pPr indent="0" marL="0">
              <a:buNone/>
            </a:pPr>
            <a:r>
              <a:rPr lang="en-US" sz="103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demand + medium complexity → Wave 2.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85800" y="5687568"/>
            <a:ext cx="6995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Pre-conditions:  </a:t>
            </a:r>
            <a:pPr indent="0" marL="0">
              <a:buNone/>
            </a:pPr>
            <a:r>
              <a:rPr lang="en-US" sz="103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sanctions-feed residency; in-region admin/support; keys on OVHcloud KMS.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046720" y="3154680"/>
            <a:ext cx="3685032" cy="3063240"/>
          </a:xfrm>
          <a:prstGeom prst="roundRect">
            <a:avLst>
              <a:gd name="adj" fmla="val 2985"/>
            </a:avLst>
          </a:prstGeom>
          <a:solidFill>
            <a:srgbClr val="12345D"/>
          </a:solidFill>
          <a:ln w="15875">
            <a:solidFill>
              <a:srgbClr val="12B3A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29600" y="3291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E3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Repeatable path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8229600" y="3639312"/>
            <a:ext cx="333756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5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Intake</a:t>
            </a:r>
            <a:endParaRPr lang="en-US" sz="1150" dirty="0"/>
          </a:p>
          <a:p>
            <a:pPr indent="0" marL="0">
              <a:spcAft>
                <a:spcPts val="55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Gate 1 — sovereignty score</a:t>
            </a:r>
            <a:endParaRPr lang="en-US" sz="1150" dirty="0"/>
          </a:p>
          <a:p>
            <a:pPr indent="0" marL="0">
              <a:spcAft>
                <a:spcPts val="55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Filter</a:t>
            </a:r>
            <a:endParaRPr lang="en-US" sz="1150" dirty="0"/>
          </a:p>
          <a:p>
            <a:pPr indent="0" marL="0">
              <a:spcAft>
                <a:spcPts val="55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Gate 2 — exit readiness</a:t>
            </a:r>
            <a:endParaRPr lang="en-US" sz="1150" dirty="0"/>
          </a:p>
          <a:p>
            <a:pPr indent="0" marL="0">
              <a:spcAft>
                <a:spcPts val="55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2×2 placement</a:t>
            </a:r>
            <a:endParaRPr lang="en-US" sz="1150" dirty="0"/>
          </a:p>
          <a:p>
            <a:pPr indent="0" marL="0">
              <a:spcAft>
                <a:spcPts val="55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Wave + pre-conditions</a:t>
            </a:r>
            <a:endParaRPr lang="en-US" sz="1150" dirty="0"/>
          </a:p>
          <a:p>
            <a:pPr indent="0" marL="0">
              <a:spcAft>
                <a:spcPts val="55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Roadmap + evidence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8229600" y="5650992"/>
            <a:ext cx="3319272" cy="438912"/>
          </a:xfrm>
          <a:prstGeom prst="roundRect">
            <a:avLst>
              <a:gd name="adj" fmla="val 14583"/>
            </a:avLst>
          </a:prstGeom>
          <a:solidFill>
            <a:srgbClr val="12B3A6"/>
          </a:solidFill>
          <a:ln/>
        </p:spPr>
      </p:sp>
      <p:sp>
        <p:nvSpPr>
          <p:cNvPr id="60" name="Text 58"/>
          <p:cNvSpPr/>
          <p:nvPr/>
        </p:nvSpPr>
        <p:spPr>
          <a:xfrm>
            <a:off x="8229600" y="5650992"/>
            <a:ext cx="33192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Gate 1 → documented &amp; left in place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advisory concept  ·  LTM + OVHcloud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LTM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PptxGenJS Presentation</dc:title>
  <dc:subject>PptxGenJS Presentation</dc:subject>
  <dc:creator>Ashutosh Dixit</dc:creator>
  <lastModifiedBy>Ashutosh Dixit</lastModifiedBy>
  <revision>1</revision>
  <dcterms:created xsi:type="dcterms:W3CDTF">2026-09-10T09:48:26.9165499Z</dcterms:created>
  <dcterms:modified xsi:type="dcterms:W3CDTF">2026-09-10T09:48:26.9165499Z</dcterms:modified>
</coreProperties>
</file>